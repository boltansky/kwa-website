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wmf" ContentType="image/x-wmf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4.bin" ContentType="application/vnd.openxmlformats-officedocument.oleObject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Microsoft_Equation10.bin" ContentType="application/vnd.openxmlformats-officedocument.oleObject"/>
  <Override PartName="/ppt/embeddings/Microsoft_Equation5.bin" ContentType="application/vnd.openxmlformats-officedocument.oleObject"/>
  <Override PartName="/ppt/embeddings/Microsoft_Equation7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embeddings/Microsoft_Equation9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Default Extension="rels" ContentType="application/vnd.openxmlformats-package.relationships+xml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16"/>
  </p:notesMasterIdLst>
  <p:sldIdLst>
    <p:sldId id="277" r:id="rId2"/>
    <p:sldId id="293" r:id="rId3"/>
    <p:sldId id="294" r:id="rId4"/>
    <p:sldId id="295" r:id="rId5"/>
    <p:sldId id="286" r:id="rId6"/>
    <p:sldId id="296" r:id="rId7"/>
    <p:sldId id="298" r:id="rId8"/>
    <p:sldId id="297" r:id="rId9"/>
    <p:sldId id="299" r:id="rId10"/>
    <p:sldId id="300" r:id="rId11"/>
    <p:sldId id="301" r:id="rId12"/>
    <p:sldId id="302" r:id="rId13"/>
    <p:sldId id="303" r:id="rId14"/>
    <p:sldId id="304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5620"/>
    <p:restoredTop sz="94660"/>
  </p:normalViewPr>
  <p:slideViewPr>
    <p:cSldViewPr>
      <p:cViewPr>
        <p:scale>
          <a:sx n="90" d="100"/>
          <a:sy n="90" d="100"/>
        </p:scale>
        <p:origin x="-2784" y="-1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slide" Target="slides/slide13.xml"/><Relationship Id="rId20" Type="http://schemas.openxmlformats.org/officeDocument/2006/relationships/theme" Target="theme/theme1.xml"/><Relationship Id="rId4" Type="http://schemas.openxmlformats.org/officeDocument/2006/relationships/slide" Target="slides/slide3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2" Type="http://schemas.openxmlformats.org/officeDocument/2006/relationships/slide" Target="slides/slide11.xml"/><Relationship Id="rId17" Type="http://schemas.openxmlformats.org/officeDocument/2006/relationships/printerSettings" Target="printerSettings/printerSettings1.bin"/><Relationship Id="rId19" Type="http://schemas.openxmlformats.org/officeDocument/2006/relationships/viewProps" Target="viewProp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6.wmf"/><Relationship Id="rId4" Type="http://schemas.openxmlformats.org/officeDocument/2006/relationships/image" Target="../media/image4.wmf"/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5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3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3" Type="http://schemas.openxmlformats.org/officeDocument/2006/relationships/image" Target="../media/image17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9EF5C-CBDD-4EEE-992B-82C16AD328B9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D0D90-0E97-4F4B-85BE-F34323D68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357166"/>
            <a:ext cx="7929618" cy="57150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tx2">
                    <a:lumMod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64294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6.bin"/><Relationship Id="rId4" Type="http://schemas.openxmlformats.org/officeDocument/2006/relationships/oleObject" Target="../embeddings/Microsoft_Equation2.bin"/><Relationship Id="rId5" Type="http://schemas.openxmlformats.org/officeDocument/2006/relationships/oleObject" Target="../embeddings/Microsoft_Equation3.bin"/><Relationship Id="rId7" Type="http://schemas.openxmlformats.org/officeDocument/2006/relationships/oleObject" Target="../embeddings/Microsoft_Equation5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.bin"/><Relationship Id="rId6" Type="http://schemas.openxmlformats.org/officeDocument/2006/relationships/oleObject" Target="../embeddings/Microsoft_Equation4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8.bin"/><Relationship Id="rId4" Type="http://schemas.openxmlformats.org/officeDocument/2006/relationships/image" Target="../media/image9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7.bin"/><Relationship Id="rId5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0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9.bin"/><Relationship Id="rId5" Type="http://schemas.openxmlformats.org/officeDocument/2006/relationships/oleObject" Target="../embeddings/Microsoft_Equation11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14.bin"/><Relationship Id="rId4" Type="http://schemas.openxmlformats.org/officeDocument/2006/relationships/oleObject" Target="../embeddings/Microsoft_Equation12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18.png"/><Relationship Id="rId5" Type="http://schemas.openxmlformats.org/officeDocument/2006/relationships/oleObject" Target="../embeddings/Microsoft_Equation1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5.bin"/><Relationship Id="rId1" Type="http://schemas.openxmlformats.org/officeDocument/2006/relationships/vmlDrawing" Target="../drawings/vmlDrawing5.v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6.bin"/><Relationship Id="rId5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7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6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6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image" Target="../media/image35.png"/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7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6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image" Target="../media/image53.png"/><Relationship Id="rId4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5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2285992"/>
            <a:ext cx="7929618" cy="571504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Lecture 5: Description of BEC in a trap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BEC in a harmonic trap</a:t>
            </a:r>
            <a:endParaRPr lang="ko-KR" altLang="en-US" dirty="0"/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285852" y="2071678"/>
          <a:ext cx="5313363" cy="782637"/>
        </p:xfrm>
        <a:graphic>
          <a:graphicData uri="http://schemas.openxmlformats.org/presentationml/2006/ole">
            <p:oleObj spid="_x0000_s58374" name="Equation" r:id="rId3" imgW="3276360" imgH="482400" progId="Equation.3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28662" y="1571612"/>
            <a:ext cx="1428760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GP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4" y="1071546"/>
            <a:ext cx="5286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N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bosonic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particles in a trap with trapping potential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8375" name="Object 7"/>
          <p:cNvGraphicFramePr>
            <a:graphicFrameLocks noChangeAspect="1"/>
          </p:cNvGraphicFramePr>
          <p:nvPr/>
        </p:nvGraphicFramePr>
        <p:xfrm>
          <a:off x="5619311" y="954668"/>
          <a:ext cx="1643074" cy="585045"/>
        </p:xfrm>
        <a:graphic>
          <a:graphicData uri="http://schemas.openxmlformats.org/presentationml/2006/ole">
            <p:oleObj spid="_x0000_s58375" name="Equation" r:id="rId4" imgW="1104840" imgH="393480" progId="Equation.3">
              <p:embed/>
            </p:oleObj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28662" y="3000372"/>
            <a:ext cx="1928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Stationary solution,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8376" name="Object 8"/>
          <p:cNvGraphicFramePr>
            <a:graphicFrameLocks noChangeAspect="1"/>
          </p:cNvGraphicFramePr>
          <p:nvPr/>
        </p:nvGraphicFramePr>
        <p:xfrm>
          <a:off x="3000364" y="3000372"/>
          <a:ext cx="1771650" cy="369887"/>
        </p:xfrm>
        <a:graphic>
          <a:graphicData uri="http://schemas.openxmlformats.org/presentationml/2006/ole">
            <p:oleObj spid="_x0000_s58376" name="Equation" r:id="rId5" imgW="1091880" imgH="228600" progId="Equation.3">
              <p:embed/>
            </p:oleObj>
          </a:graphicData>
        </a:graphic>
      </p:graphicFrame>
      <p:graphicFrame>
        <p:nvGraphicFramePr>
          <p:cNvPr id="58377" name="Object 9"/>
          <p:cNvGraphicFramePr>
            <a:graphicFrameLocks noChangeAspect="1"/>
          </p:cNvGraphicFramePr>
          <p:nvPr/>
        </p:nvGraphicFramePr>
        <p:xfrm>
          <a:off x="1785918" y="3500438"/>
          <a:ext cx="4305300" cy="782638"/>
        </p:xfrm>
        <a:graphic>
          <a:graphicData uri="http://schemas.openxmlformats.org/presentationml/2006/ole">
            <p:oleObj spid="_x0000_s58377" name="Equation" r:id="rId6" imgW="2654280" imgH="482400" progId="Equation.3">
              <p:embed/>
            </p:oleObj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46935" y="4429132"/>
            <a:ext cx="5643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Chemical potential 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  <a:sym typeface="Symbol"/>
              </a:rPr>
              <a:t> is determined by number condition,  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8378" name="Object 10"/>
          <p:cNvGraphicFramePr>
            <a:graphicFrameLocks noChangeAspect="1"/>
          </p:cNvGraphicFramePr>
          <p:nvPr/>
        </p:nvGraphicFramePr>
        <p:xfrm>
          <a:off x="6143636" y="4357694"/>
          <a:ext cx="1503362" cy="474662"/>
        </p:xfrm>
        <a:graphic>
          <a:graphicData uri="http://schemas.openxmlformats.org/presentationml/2006/ole">
            <p:oleObj spid="_x0000_s58378" name="Equation" r:id="rId7" imgW="927000" imgH="291960" progId="Equation.3">
              <p:embed/>
            </p:oleObj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78834" y="5000636"/>
            <a:ext cx="2071702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Non-interacting case</a:t>
            </a:r>
          </a:p>
        </p:txBody>
      </p:sp>
      <p:graphicFrame>
        <p:nvGraphicFramePr>
          <p:cNvPr id="58379" name="Object 11"/>
          <p:cNvGraphicFramePr>
            <a:graphicFrameLocks noChangeAspect="1"/>
          </p:cNvGraphicFramePr>
          <p:nvPr/>
        </p:nvGraphicFramePr>
        <p:xfrm>
          <a:off x="3214678" y="5000636"/>
          <a:ext cx="2863850" cy="1603375"/>
        </p:xfrm>
        <a:graphic>
          <a:graphicData uri="http://schemas.openxmlformats.org/presentationml/2006/ole">
            <p:oleObj spid="_x0000_s58379" name="Equation" r:id="rId8" imgW="1765080" imgH="9903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1"/>
      <p:bldP spid="20" grpId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BEC in a harmonic trap</a:t>
            </a:r>
            <a:endParaRPr lang="ko-KR" altLang="en-US" dirty="0"/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2143108" y="2071678"/>
          <a:ext cx="3605022" cy="1071560"/>
        </p:xfrm>
        <a:graphic>
          <a:graphicData uri="http://schemas.openxmlformats.org/presentationml/2006/ole">
            <p:oleObj spid="_x0000_s59394" name="Equation" r:id="rId3" imgW="1879560" imgH="558720" progId="Equation.3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57224" y="1071546"/>
            <a:ext cx="6929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Interparticle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interactions deform the condensate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wavefunction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7224" y="1571612"/>
            <a:ext cx="6929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Interaction-dominated regime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940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5400000">
            <a:off x="901842" y="3376546"/>
            <a:ext cx="3268348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9401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5400000">
            <a:off x="4662641" y="3341355"/>
            <a:ext cx="3251724" cy="3433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3" name="그룹 22"/>
          <p:cNvGrpSpPr/>
          <p:nvPr/>
        </p:nvGrpSpPr>
        <p:grpSpPr>
          <a:xfrm>
            <a:off x="5929322" y="4071942"/>
            <a:ext cx="3071834" cy="785818"/>
            <a:chOff x="6357950" y="2428868"/>
            <a:chExt cx="3071834" cy="785818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6357950" y="2428868"/>
              <a:ext cx="3071834" cy="78581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59402" name="Object 10"/>
            <p:cNvGraphicFramePr>
              <a:graphicFrameLocks noChangeAspect="1"/>
            </p:cNvGraphicFramePr>
            <p:nvPr/>
          </p:nvGraphicFramePr>
          <p:xfrm>
            <a:off x="7643834" y="2468407"/>
            <a:ext cx="1571636" cy="722814"/>
          </p:xfrm>
          <a:graphic>
            <a:graphicData uri="http://schemas.openxmlformats.org/presentationml/2006/ole">
              <p:oleObj spid="_x0000_s59402" name="Equation" r:id="rId6" imgW="939600" imgH="431640" progId="Equation.3">
                <p:embed/>
              </p:oleObj>
            </a:graphicData>
          </a:graphic>
        </p:graphicFrame>
        <p:sp>
          <p:nvSpPr>
            <p:cNvPr id="19" name="TextBox 18"/>
            <p:cNvSpPr txBox="1"/>
            <p:nvPr/>
          </p:nvSpPr>
          <p:spPr>
            <a:xfrm>
              <a:off x="6429388" y="2643182"/>
              <a:ext cx="1571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latin typeface="Arial" pitchFamily="34" charset="0"/>
                  <a:cs typeface="Arial" pitchFamily="34" charset="0"/>
                </a:rPr>
                <a:t>Collapse at</a:t>
              </a:r>
              <a:endParaRPr lang="ko-KR" altLang="en-US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500826" y="2143116"/>
            <a:ext cx="2143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N ~ 10</a:t>
            </a:r>
            <a:r>
              <a:rPr lang="en-US" altLang="ko-KR" sz="1600" baseline="300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5</a:t>
            </a:r>
            <a:r>
              <a:rPr lang="en-US" altLang="ko-KR" sz="16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~10</a:t>
            </a:r>
            <a:r>
              <a:rPr lang="en-US" altLang="ko-KR" sz="1600" baseline="300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6</a:t>
            </a:r>
          </a:p>
          <a:p>
            <a:r>
              <a:rPr lang="en-US" altLang="ko-KR" sz="16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a ~ 100 a</a:t>
            </a:r>
            <a:r>
              <a:rPr lang="en-US" altLang="ko-KR" sz="1600" baseline="-250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0</a:t>
            </a:r>
            <a:r>
              <a:rPr lang="en-US" altLang="ko-KR" sz="16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 ~ nm</a:t>
            </a:r>
          </a:p>
          <a:p>
            <a:r>
              <a:rPr lang="en-US" altLang="ko-KR" sz="1600" dirty="0" err="1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a</a:t>
            </a:r>
            <a:r>
              <a:rPr lang="en-US" altLang="ko-KR" sz="1600" baseline="-25000" dirty="0" err="1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ho</a:t>
            </a:r>
            <a:r>
              <a:rPr lang="en-US" altLang="ko-KR" sz="16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 ~ um  </a:t>
            </a:r>
            <a:r>
              <a:rPr lang="ko-KR" altLang="en-US" sz="1600" dirty="0" smtClean="0">
                <a:latin typeface="Adobe 명조 Std M" pitchFamily="18" charset="-127"/>
                <a:ea typeface="Adobe 명조 Std M" pitchFamily="18" charset="-127"/>
                <a:cs typeface="Arial" pitchFamily="34" charset="0"/>
              </a:rPr>
              <a:t> </a:t>
            </a:r>
            <a:endParaRPr lang="ko-KR" altLang="en-US" sz="1600" dirty="0">
              <a:latin typeface="Adobe 명조 Std M" pitchFamily="18" charset="-127"/>
              <a:ea typeface="Adobe 명조 Std M" pitchFamily="18" charset="-127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In-situ density profiles of trapped BECs</a:t>
            </a:r>
            <a:endParaRPr lang="ko-KR" altLang="en-US" dirty="0"/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071678"/>
            <a:ext cx="4096581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857224" y="1571612"/>
            <a:ext cx="2071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>
                <a:latin typeface="Arial" pitchFamily="34" charset="0"/>
                <a:cs typeface="Arial" pitchFamily="34" charset="0"/>
              </a:rPr>
              <a:t>Hau</a:t>
            </a:r>
            <a:r>
              <a:rPr lang="en-US" altLang="ko-KR" sz="1200" dirty="0" smtClean="0">
                <a:latin typeface="Arial" pitchFamily="34" charset="0"/>
                <a:cs typeface="Arial" pitchFamily="34" charset="0"/>
              </a:rPr>
              <a:t> et al., PRA 58 (1998)</a:t>
            </a:r>
            <a:endParaRPr lang="ko-KR" altLang="en-US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2910" y="5715016"/>
            <a:ext cx="3929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Using near-resonant imaging techniques 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2071678"/>
            <a:ext cx="3417841" cy="4610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5429256" y="1071546"/>
            <a:ext cx="3071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Arial" pitchFamily="34" charset="0"/>
                <a:cs typeface="Arial" pitchFamily="34" charset="0"/>
              </a:rPr>
              <a:t>Bradley et al., PRL 78 (1997)</a:t>
            </a:r>
            <a:endParaRPr lang="ko-KR" altLang="en-US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29256" y="1428736"/>
            <a:ext cx="2643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Observation of BEC of </a:t>
            </a:r>
            <a:r>
              <a:rPr lang="en-US" altLang="ko-KR" sz="1600" baseline="30000" dirty="0" smtClean="0">
                <a:latin typeface="Arial" pitchFamily="34" charset="0"/>
                <a:cs typeface="Arial" pitchFamily="34" charset="0"/>
              </a:rPr>
              <a:t>7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Li </a:t>
            </a:r>
          </a:p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with attractive interactions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Thomas-Fermi (TF) approximation with large N</a:t>
            </a:r>
            <a:endParaRPr lang="ko-KR" altLang="en-US" dirty="0"/>
          </a:p>
        </p:txBody>
      </p:sp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2336156" y="1000108"/>
          <a:ext cx="907428" cy="716318"/>
        </p:xfrm>
        <a:graphic>
          <a:graphicData uri="http://schemas.openxmlformats.org/presentationml/2006/ole">
            <p:oleObj spid="_x0000_s35846" name="Equation" r:id="rId3" imgW="545760" imgH="431640" progId="Equation.3">
              <p:embed/>
            </p:oleObj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1836090" y="1854371"/>
          <a:ext cx="4305300" cy="782637"/>
        </p:xfrm>
        <a:graphic>
          <a:graphicData uri="http://schemas.openxmlformats.org/presentationml/2006/ole">
            <p:oleObj spid="_x0000_s35847" name="Equation" r:id="rId4" imgW="2654280" imgH="482400" progId="Equation.3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78834" y="1142984"/>
            <a:ext cx="1428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In the limit of 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rot="5400000" flipH="1" flipV="1">
            <a:off x="1978966" y="1925809"/>
            <a:ext cx="1071570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1366" y="2804694"/>
            <a:ext cx="6072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Neglect  the quantum pressure term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w.r.t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. interaction energy.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2239963" y="3357563"/>
          <a:ext cx="3086100" cy="1285875"/>
        </p:xfrm>
        <a:graphic>
          <a:graphicData uri="http://schemas.openxmlformats.org/presentationml/2006/ole">
            <p:oleObj spid="_x0000_s35848" name="Equation" r:id="rId5" imgW="1739880" imgH="723600" progId="Equation.3">
              <p:embed/>
            </p:oleObj>
          </a:graphicData>
        </a:graphic>
      </p:graphicFrame>
      <p:sp>
        <p:nvSpPr>
          <p:cNvPr id="29" name="오른쪽 화살표 28"/>
          <p:cNvSpPr/>
          <p:nvPr/>
        </p:nvSpPr>
        <p:spPr>
          <a:xfrm>
            <a:off x="1407462" y="3714752"/>
            <a:ext cx="500066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764784" y="4714884"/>
            <a:ext cx="1714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Local density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08056" y="3643314"/>
            <a:ext cx="2428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Local chemical potential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1" name="직선 화살표 연결선 40"/>
          <p:cNvCxnSpPr>
            <a:stCxn id="39" idx="1"/>
          </p:cNvCxnSpPr>
          <p:nvPr/>
        </p:nvCxnSpPr>
        <p:spPr>
          <a:xfrm rot="10800000" flipV="1">
            <a:off x="5357818" y="3812591"/>
            <a:ext cx="550238" cy="161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 rot="16200000" flipV="1">
            <a:off x="2528377" y="4618723"/>
            <a:ext cx="357190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85786" y="5357826"/>
            <a:ext cx="4357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i="1" u="sng" dirty="0" smtClean="0">
                <a:latin typeface="Arial" pitchFamily="34" charset="0"/>
                <a:cs typeface="Arial" pitchFamily="34" charset="0"/>
              </a:rPr>
              <a:t>?? Local density approximation (LDA)</a:t>
            </a:r>
            <a:endParaRPr lang="ko-KR" altLang="en-US" i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142976" y="5715016"/>
            <a:ext cx="68580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David" pitchFamily="34" charset="-79"/>
                <a:cs typeface="David" pitchFamily="34" charset="-79"/>
              </a:rPr>
              <a:t>Approximate the exchange-correlation energy functional in density functional theory (DFT) as a functional depends solely upon the value of the electronic density at each point in space. </a:t>
            </a:r>
            <a:endParaRPr lang="ko-KR" altLang="en-US" dirty="0">
              <a:latin typeface="David" pitchFamily="34" charset="-79"/>
              <a:cs typeface="David" pitchFamily="3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9" grpId="0" animBg="1"/>
      <p:bldP spid="30" grpId="0"/>
      <p:bldP spid="39" grpId="0"/>
      <p:bldP spid="45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Validity of TF approximation</a:t>
            </a:r>
            <a:endParaRPr lang="ko-KR" altLang="en-US" dirty="0"/>
          </a:p>
        </p:txBody>
      </p:sp>
      <p:pic>
        <p:nvPicPr>
          <p:cNvPr id="31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629950" y="1656010"/>
            <a:ext cx="4026447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5072066" y="1449715"/>
            <a:ext cx="1857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R 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: TF radius,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s.t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. 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4" name="Object 12"/>
          <p:cNvGraphicFramePr>
            <a:graphicFrameLocks noChangeAspect="1"/>
          </p:cNvGraphicFramePr>
          <p:nvPr/>
        </p:nvGraphicFramePr>
        <p:xfrm>
          <a:off x="6786578" y="1449715"/>
          <a:ext cx="1036638" cy="360363"/>
        </p:xfrm>
        <a:graphic>
          <a:graphicData uri="http://schemas.openxmlformats.org/presentationml/2006/ole">
            <p:oleObj spid="_x0000_s61445" name="Equation" r:id="rId4" imgW="583920" imgH="203040" progId="Equation.3">
              <p:embed/>
            </p:oleObj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929190" y="3449979"/>
            <a:ext cx="3714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Near </a:t>
            </a:r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r ~ R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, TF approx. is not valid.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29190" y="3807169"/>
            <a:ext cx="3714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Violating surface thickness ~ </a:t>
            </a:r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d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8" name="Object 13"/>
          <p:cNvGraphicFramePr>
            <a:graphicFrameLocks noChangeAspect="1"/>
          </p:cNvGraphicFramePr>
          <p:nvPr/>
        </p:nvGraphicFramePr>
        <p:xfrm>
          <a:off x="5211949" y="4278329"/>
          <a:ext cx="2616200" cy="1579563"/>
        </p:xfrm>
        <a:graphic>
          <a:graphicData uri="http://schemas.openxmlformats.org/presentationml/2006/ole">
            <p:oleObj spid="_x0000_s61446" name="Equation" r:id="rId5" imgW="1473120" imgH="888840" progId="Equation.3">
              <p:embed/>
            </p:oleObj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5214942" y="1878343"/>
          <a:ext cx="1643074" cy="1359693"/>
        </p:xfrm>
        <a:graphic>
          <a:graphicData uri="http://schemas.openxmlformats.org/presentationml/2006/ole">
            <p:oleObj spid="_x0000_s61447" name="Equation" r:id="rId6" imgW="1104840" imgH="914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Healing length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000628" y="2000240"/>
            <a:ext cx="3000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Arial" pitchFamily="34" charset="0"/>
                <a:cs typeface="Arial" pitchFamily="34" charset="0"/>
              </a:rPr>
              <a:t>Healing length ~ </a:t>
            </a:r>
            <a:r>
              <a:rPr lang="en-US" altLang="ko-KR" sz="2000" dirty="0" smtClean="0">
                <a:latin typeface="Arial" pitchFamily="34" charset="0"/>
                <a:cs typeface="Arial" pitchFamily="34" charset="0"/>
                <a:sym typeface="Symbol"/>
              </a:rPr>
              <a:t></a:t>
            </a:r>
            <a:endParaRPr lang="ko-KR" altLang="en-US" sz="2000" i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8" name="Object 13"/>
          <p:cNvGraphicFramePr>
            <a:graphicFrameLocks noChangeAspect="1"/>
          </p:cNvGraphicFramePr>
          <p:nvPr/>
        </p:nvGraphicFramePr>
        <p:xfrm>
          <a:off x="5143504" y="2857496"/>
          <a:ext cx="2314592" cy="1928826"/>
        </p:xfrm>
        <a:graphic>
          <a:graphicData uri="http://schemas.openxmlformats.org/presentationml/2006/ole">
            <p:oleObj spid="_x0000_s77827" name="Equation" r:id="rId3" imgW="1066680" imgH="888840" progId="Equation.3">
              <p:embed/>
            </p:oleObj>
          </a:graphicData>
        </a:graphic>
      </p:graphicFrame>
      <p:cxnSp>
        <p:nvCxnSpPr>
          <p:cNvPr id="11" name="직선 연결선 10"/>
          <p:cNvCxnSpPr/>
          <p:nvPr/>
        </p:nvCxnSpPr>
        <p:spPr>
          <a:xfrm rot="5400000">
            <a:off x="2820974" y="3289944"/>
            <a:ext cx="221457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rot="10800000">
            <a:off x="1070743" y="4397233"/>
            <a:ext cx="285752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142181" y="2754159"/>
            <a:ext cx="1571636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자유형 17"/>
          <p:cNvSpPr/>
          <p:nvPr/>
        </p:nvSpPr>
        <p:spPr>
          <a:xfrm>
            <a:off x="2713817" y="2740209"/>
            <a:ext cx="1214446" cy="1694121"/>
          </a:xfrm>
          <a:custGeom>
            <a:avLst/>
            <a:gdLst>
              <a:gd name="connsiteX0" fmla="*/ 0 w 1860698"/>
              <a:gd name="connsiteY0" fmla="*/ 10632 h 1694121"/>
              <a:gd name="connsiteX1" fmla="*/ 148856 w 1860698"/>
              <a:gd name="connsiteY1" fmla="*/ 42530 h 1694121"/>
              <a:gd name="connsiteX2" fmla="*/ 425302 w 1860698"/>
              <a:gd name="connsiteY2" fmla="*/ 265814 h 1694121"/>
              <a:gd name="connsiteX3" fmla="*/ 882502 w 1860698"/>
              <a:gd name="connsiteY3" fmla="*/ 1010093 h 1694121"/>
              <a:gd name="connsiteX4" fmla="*/ 1360967 w 1860698"/>
              <a:gd name="connsiteY4" fmla="*/ 1584251 h 1694121"/>
              <a:gd name="connsiteX5" fmla="*/ 1860698 w 1860698"/>
              <a:gd name="connsiteY5" fmla="*/ 1669311 h 1694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0698" h="1694121">
                <a:moveTo>
                  <a:pt x="0" y="10632"/>
                </a:moveTo>
                <a:cubicBezTo>
                  <a:pt x="38986" y="5316"/>
                  <a:pt x="77972" y="0"/>
                  <a:pt x="148856" y="42530"/>
                </a:cubicBezTo>
                <a:cubicBezTo>
                  <a:pt x="219740" y="85060"/>
                  <a:pt x="303028" y="104554"/>
                  <a:pt x="425302" y="265814"/>
                </a:cubicBezTo>
                <a:cubicBezTo>
                  <a:pt x="547576" y="427074"/>
                  <a:pt x="726558" y="790353"/>
                  <a:pt x="882502" y="1010093"/>
                </a:cubicBezTo>
                <a:cubicBezTo>
                  <a:pt x="1038446" y="1229833"/>
                  <a:pt x="1197934" y="1474381"/>
                  <a:pt x="1360967" y="1584251"/>
                </a:cubicBezTo>
                <a:cubicBezTo>
                  <a:pt x="1524000" y="1694121"/>
                  <a:pt x="1811080" y="1687032"/>
                  <a:pt x="1860698" y="1669311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2928131" y="2396969"/>
            <a:ext cx="92869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71351" y="1857364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Arial" pitchFamily="34" charset="0"/>
                <a:cs typeface="Arial" pitchFamily="34" charset="0"/>
                <a:sym typeface="Symbol"/>
              </a:rPr>
              <a:t></a:t>
            </a:r>
            <a:endParaRPr lang="ko-KR" altLang="en-US" sz="2000" i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What we can learn from density profiles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14348" y="1058275"/>
            <a:ext cx="7786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In the thermodynamic limit, i.e. N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  <a:sym typeface="Symbol"/>
              </a:rPr>
              <a:t>, 0, the local density approximation is valid.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2357422" y="1558341"/>
          <a:ext cx="3643338" cy="574198"/>
        </p:xfrm>
        <a:graphic>
          <a:graphicData uri="http://schemas.openxmlformats.org/presentationml/2006/ole">
            <p:oleObj spid="_x0000_s62469" name="Equation" r:id="rId3" imgW="1447560" imgH="228600" progId="Equation.3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57224" y="2201283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If we measure the density profile of a given sample in a given potential with great precision, we can firmly determine the density of states of the system.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247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4214818"/>
            <a:ext cx="2786082" cy="882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857224" y="3357562"/>
            <a:ext cx="357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Ex) Beyond mean-field correction</a:t>
            </a:r>
          </a:p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      for Bose gases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4414" y="5429264"/>
            <a:ext cx="2786082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Lee-Huang-Yang correction </a:t>
            </a:r>
          </a:p>
          <a:p>
            <a:r>
              <a:rPr lang="en-US" altLang="ko-KR" sz="1200" dirty="0" smtClean="0">
                <a:latin typeface="Arial" pitchFamily="34" charset="0"/>
                <a:cs typeface="Arial" pitchFamily="34" charset="0"/>
              </a:rPr>
              <a:t>Physical Review  </a:t>
            </a:r>
            <a:r>
              <a:rPr lang="en-US" altLang="ko-KR" sz="1200" b="1" dirty="0" smtClean="0">
                <a:latin typeface="Arial" pitchFamily="34" charset="0"/>
                <a:cs typeface="Arial" pitchFamily="34" charset="0"/>
              </a:rPr>
              <a:t>106</a:t>
            </a:r>
            <a:r>
              <a:rPr lang="en-US" altLang="ko-KR" sz="1200" dirty="0" smtClean="0">
                <a:latin typeface="Arial" pitchFamily="34" charset="0"/>
                <a:cs typeface="Arial" pitchFamily="34" charset="0"/>
              </a:rPr>
              <a:t>, 1135 (1957)</a:t>
            </a:r>
            <a:endParaRPr lang="ko-KR" altLang="en-US" sz="12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rot="5400000" flipH="1" flipV="1">
            <a:off x="2714612" y="5143512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47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6248" y="2857496"/>
            <a:ext cx="4000528" cy="3774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5786446" y="6581001"/>
            <a:ext cx="235745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Arial" pitchFamily="34" charset="0"/>
                <a:cs typeface="Arial" pitchFamily="34" charset="0"/>
              </a:rPr>
              <a:t>Y. Shin et al., PRL </a:t>
            </a:r>
            <a:r>
              <a:rPr lang="en-US" altLang="ko-KR" sz="1200" b="1" dirty="0" smtClean="0">
                <a:latin typeface="Arial" pitchFamily="34" charset="0"/>
                <a:cs typeface="Arial" pitchFamily="34" charset="0"/>
              </a:rPr>
              <a:t>101</a:t>
            </a:r>
            <a:r>
              <a:rPr lang="en-US" altLang="ko-KR" sz="1200" dirty="0" smtClean="0">
                <a:latin typeface="Arial" pitchFamily="34" charset="0"/>
                <a:cs typeface="Arial" pitchFamily="34" charset="0"/>
              </a:rPr>
              <a:t> (2008)</a:t>
            </a:r>
            <a:endParaRPr lang="ko-KR" altLang="en-US" sz="1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928670"/>
            <a:ext cx="7072677" cy="2209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357562"/>
            <a:ext cx="4105280" cy="2844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8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57818" y="3786190"/>
            <a:ext cx="3009908" cy="154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연결선 5"/>
          <p:cNvCxnSpPr/>
          <p:nvPr/>
        </p:nvCxnSpPr>
        <p:spPr>
          <a:xfrm>
            <a:off x="1571604" y="5265122"/>
            <a:ext cx="3429024" cy="158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907396" y="5450530"/>
            <a:ext cx="4143404" cy="158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928662" y="5643578"/>
            <a:ext cx="428628" cy="158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Many-body </a:t>
            </a:r>
            <a:r>
              <a:rPr lang="en-US" altLang="ko-KR" dirty="0" err="1" smtClean="0"/>
              <a:t>wavefunction</a:t>
            </a:r>
            <a:endParaRPr lang="ko-KR" altLang="en-US" dirty="0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2128780" y="14305"/>
            <a:ext cx="743037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5264876" y="235794"/>
            <a:ext cx="971701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5400000">
            <a:off x="2419668" y="652110"/>
            <a:ext cx="589888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10" y="2950962"/>
            <a:ext cx="8420222" cy="1549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500694" y="4714884"/>
            <a:ext cx="3429024" cy="1018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9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00100" y="5214950"/>
            <a:ext cx="3500462" cy="542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80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71538" y="5857892"/>
            <a:ext cx="4000504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모서리가 둥근 직사각형 9"/>
          <p:cNvSpPr/>
          <p:nvPr/>
        </p:nvSpPr>
        <p:spPr>
          <a:xfrm>
            <a:off x="8215338" y="3786190"/>
            <a:ext cx="857256" cy="71438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Quantized fields</a:t>
            </a:r>
            <a:endParaRPr lang="ko-KR" altLang="en-US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3660342" y="-1517258"/>
            <a:ext cx="1466126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2643182"/>
            <a:ext cx="5072098" cy="171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09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4414" y="4500570"/>
            <a:ext cx="2857520" cy="564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09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57884" y="4500570"/>
            <a:ext cx="1719466" cy="48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090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71538" y="5357826"/>
            <a:ext cx="2643206" cy="1161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090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429124" y="5286388"/>
            <a:ext cx="1500198" cy="119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Quantized </a:t>
            </a:r>
            <a:r>
              <a:rPr lang="en-US" altLang="ko-KR" dirty="0" err="1" smtClean="0"/>
              <a:t>fileds</a:t>
            </a:r>
            <a:endParaRPr lang="ko-KR" altLang="en-US" dirty="0"/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85926"/>
            <a:ext cx="2633296" cy="857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1785926"/>
            <a:ext cx="4071966" cy="845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5400000">
            <a:off x="3866196" y="1062970"/>
            <a:ext cx="911541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26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5400000">
            <a:off x="3713129" y="2430483"/>
            <a:ext cx="789048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오른쪽 화살표 8"/>
          <p:cNvSpPr/>
          <p:nvPr/>
        </p:nvSpPr>
        <p:spPr>
          <a:xfrm>
            <a:off x="3786182" y="200024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643438" y="2857496"/>
            <a:ext cx="3460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dobe Kaiti Std R" pitchFamily="18" charset="-128"/>
                <a:ea typeface="Adobe Kaiti Std R" pitchFamily="18" charset="-128"/>
              </a:rPr>
              <a:t>Creation/ Annihilation operator</a:t>
            </a:r>
            <a:endParaRPr lang="ko-KR" altLang="en-US" dirty="0">
              <a:latin typeface="Adobe Kaiti Std R" pitchFamily="18" charset="-128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8662" y="1071546"/>
            <a:ext cx="2857520" cy="564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Quantized fields</a:t>
            </a:r>
            <a:endParaRPr lang="ko-KR" altLang="en-US" dirty="0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285860"/>
            <a:ext cx="2165312" cy="1233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1214422"/>
            <a:ext cx="2886082" cy="712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1928802"/>
            <a:ext cx="4186244" cy="262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9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4414" y="2888586"/>
            <a:ext cx="3929090" cy="152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95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8662" y="4857760"/>
            <a:ext cx="7167577" cy="825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71538" y="5857892"/>
            <a:ext cx="1858923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Quantized fields</a:t>
            </a:r>
            <a:endParaRPr lang="ko-KR" altLang="en-US" dirty="0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2483311" y="-411664"/>
            <a:ext cx="2558103" cy="56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1466455" y="3748463"/>
            <a:ext cx="1516602" cy="24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5929330"/>
            <a:ext cx="5610239" cy="505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5400000">
            <a:off x="7224080" y="5134638"/>
            <a:ext cx="966788" cy="1841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71868" y="4214818"/>
            <a:ext cx="3357586" cy="603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13137</TotalTime>
  <Words>338</Words>
  <Application>Microsoft Office PowerPoint</Application>
  <PresentationFormat>On-screen Show (4:3)</PresentationFormat>
  <Paragraphs>48</Paragraphs>
  <Slides>14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테마</vt:lpstr>
      <vt:lpstr>Equation</vt:lpstr>
      <vt:lpstr>Lecture 5: Description of BEC in a trap</vt:lpstr>
      <vt:lpstr>BEC in a harmonic trap</vt:lpstr>
      <vt:lpstr>BEC in a harmonic trap</vt:lpstr>
      <vt:lpstr>In-situ density profiles of trapped BECs</vt:lpstr>
      <vt:lpstr>Thomas-Fermi (TF) approximation with large N</vt:lpstr>
      <vt:lpstr>Validity of TF approximation</vt:lpstr>
      <vt:lpstr>Healing length</vt:lpstr>
      <vt:lpstr>What we can learn from density profiles</vt:lpstr>
      <vt:lpstr>Slide 9</vt:lpstr>
      <vt:lpstr>Many-body wavefunction</vt:lpstr>
      <vt:lpstr>Quantized fields</vt:lpstr>
      <vt:lpstr>Quantized fileds</vt:lpstr>
      <vt:lpstr>Quantized fields</vt:lpstr>
      <vt:lpstr>Quantized fields</vt:lpstr>
    </vt:vector>
  </TitlesOfParts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BEC 05</dc:title>
  <dc:creator>Yong-il Shin</dc:creator>
  <cp:keywords/>
  <cp:lastModifiedBy>경원 안</cp:lastModifiedBy>
  <cp:revision>781</cp:revision>
  <dcterms:created xsi:type="dcterms:W3CDTF">2009-10-08T05:47:27Z</dcterms:created>
  <dcterms:modified xsi:type="dcterms:W3CDTF">2009-10-08T05:47:52Z</dcterms:modified>
</cp:coreProperties>
</file>