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Default Extension="wmf" ContentType="image/x-wmf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0.bin" ContentType="application/vnd.openxmlformats-officedocument.oleObject"/>
  <Override PartName="/ppt/embeddings/Microsoft_Equation4.bin" ContentType="application/vnd.openxmlformats-officedocument.oleObject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embeddings/Microsoft_Equation10.bin" ContentType="application/vnd.openxmlformats-officedocument.oleObject"/>
  <Override PartName="/ppt/embeddings/Microsoft_Equation5.bin" ContentType="application/vnd.openxmlformats-officedocument.oleObje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Default Extension="jpeg" ContentType="image/jpeg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slides/slide8.xml" ContentType="application/vnd.openxmlformats-officedocument.presentationml.slide+xml"/>
  <Override PartName="/ppt/embeddings/Microsoft_Equation9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Default Extension="rels" ContentType="application/vnd.openxmlformats-package.relationships+xml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>
  <p:sldMasterIdLst>
    <p:sldMasterId id="2147483648" r:id="rId1"/>
  </p:sldMasterIdLst>
  <p:notesMasterIdLst>
    <p:notesMasterId r:id="rId16"/>
  </p:notesMasterIdLst>
  <p:sldIdLst>
    <p:sldId id="277" r:id="rId2"/>
    <p:sldId id="297" r:id="rId3"/>
    <p:sldId id="296" r:id="rId4"/>
    <p:sldId id="303" r:id="rId5"/>
    <p:sldId id="298" r:id="rId6"/>
    <p:sldId id="293" r:id="rId7"/>
    <p:sldId id="294" r:id="rId8"/>
    <p:sldId id="295" r:id="rId9"/>
    <p:sldId id="299" r:id="rId10"/>
    <p:sldId id="301" r:id="rId11"/>
    <p:sldId id="304" r:id="rId12"/>
    <p:sldId id="300" r:id="rId13"/>
    <p:sldId id="305" r:id="rId14"/>
    <p:sldId id="302" r:id="rId1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webPr allowPng="1" organizeInFolders="0" useLongFilenames="0" imgSz="1024x768" encoding="windows-1252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>
      <p:cViewPr>
        <p:scale>
          <a:sx n="90" d="100"/>
          <a:sy n="90" d="100"/>
        </p:scale>
        <p:origin x="-2784" y="-12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slide" Target="slides/slide13.xml"/><Relationship Id="rId20" Type="http://schemas.openxmlformats.org/officeDocument/2006/relationships/theme" Target="theme/theme1.xml"/><Relationship Id="rId4" Type="http://schemas.openxmlformats.org/officeDocument/2006/relationships/slide" Target="slides/slide3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2" Type="http://schemas.openxmlformats.org/officeDocument/2006/relationships/slide" Target="slides/slide11.xml"/><Relationship Id="rId17" Type="http://schemas.openxmlformats.org/officeDocument/2006/relationships/printerSettings" Target="printerSettings/printerSettings1.bin"/><Relationship Id="rId19" Type="http://schemas.openxmlformats.org/officeDocument/2006/relationships/viewProps" Target="viewProp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Relationship Id="rId18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4" Type="http://schemas.openxmlformats.org/officeDocument/2006/relationships/image" Target="../media/image14.wmf"/><Relationship Id="rId5" Type="http://schemas.openxmlformats.org/officeDocument/2006/relationships/image" Target="../media/image15.wmf"/><Relationship Id="rId7" Type="http://schemas.openxmlformats.org/officeDocument/2006/relationships/image" Target="../media/image17.wmf"/><Relationship Id="rId1" Type="http://schemas.openxmlformats.org/officeDocument/2006/relationships/image" Target="../media/image11.wmf"/><Relationship Id="rId2" Type="http://schemas.openxmlformats.org/officeDocument/2006/relationships/image" Target="../media/image12.wmf"/><Relationship Id="rId3" Type="http://schemas.openxmlformats.org/officeDocument/2006/relationships/image" Target="../media/image13.wmf"/><Relationship Id="rId6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3" Type="http://schemas.openxmlformats.org/officeDocument/2006/relationships/image" Target="../media/image21.wmf"/><Relationship Id="rId1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31.wmf"/><Relationship Id="rId1" Type="http://schemas.openxmlformats.org/officeDocument/2006/relationships/image" Target="../media/image28.wmf"/><Relationship Id="rId2" Type="http://schemas.openxmlformats.org/officeDocument/2006/relationships/image" Target="../media/image29.wmf"/><Relationship Id="rId3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42.wmf"/><Relationship Id="rId1" Type="http://schemas.openxmlformats.org/officeDocument/2006/relationships/image" Target="../media/image39.wmf"/><Relationship Id="rId2" Type="http://schemas.openxmlformats.org/officeDocument/2006/relationships/image" Target="../media/image40.wmf"/><Relationship Id="rId3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69EF5C-CBDD-4EEE-992B-82C16AD328B9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FD0D90-0E97-4F4B-85BE-F34323D68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357166"/>
            <a:ext cx="7929618" cy="571504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tx2">
                    <a:lumMod val="75000"/>
                  </a:schemeClr>
                </a:solidFill>
                <a:latin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428604"/>
            <a:ext cx="8229600" cy="64294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D3D9C-E84B-41A8-B253-F52EA3330964}" type="datetimeFigureOut">
              <a:rPr lang="ko-KR" altLang="en-US" smtClean="0"/>
              <a:pPr/>
              <a:t>09.10.8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E701A-D551-4786-9CF6-E0BDB7ED9B7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upload.wikimedia.org/wikipedia/en/4/46/Coherence_g1.png" TargetMode="External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7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6.xml"/><Relationship Id="rId9" Type="http://schemas.openxmlformats.org/officeDocument/2006/relationships/image" Target="../media/image7.png"/><Relationship Id="rId3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hyperlink" Target="http://upload.wikimedia.org/wikipedia/en/0/06/Coherence_g2.png" TargetMode="External"/><Relationship Id="rId5" Type="http://schemas.openxmlformats.org/officeDocument/2006/relationships/image" Target="../media/image9.png"/><Relationship Id="rId7" Type="http://schemas.openxmlformats.org/officeDocument/2006/relationships/image" Target="../media/image10.png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2.bin"/><Relationship Id="rId6" Type="http://schemas.openxmlformats.org/officeDocument/2006/relationships/hyperlink" Target="http://upload.wikimedia.org/wikipedia/en/e/eb/Subpoissonian.png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4" Type="http://schemas.openxmlformats.org/officeDocument/2006/relationships/oleObject" Target="../embeddings/Microsoft_Equation4.bin"/><Relationship Id="rId10" Type="http://schemas.openxmlformats.org/officeDocument/2006/relationships/oleObject" Target="../embeddings/Microsoft_Equation9.bin"/><Relationship Id="rId5" Type="http://schemas.openxmlformats.org/officeDocument/2006/relationships/oleObject" Target="../embeddings/Microsoft_Equation5.bin"/><Relationship Id="rId7" Type="http://schemas.openxmlformats.org/officeDocument/2006/relationships/oleObject" Target="../embeddings/Microsoft_Equation7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6.xml"/><Relationship Id="rId9" Type="http://schemas.openxmlformats.org/officeDocument/2006/relationships/oleObject" Target="../embeddings/Microsoft_Equation8.bin"/><Relationship Id="rId3" Type="http://schemas.openxmlformats.org/officeDocument/2006/relationships/oleObject" Target="../embeddings/Microsoft_Equation3.bin"/><Relationship Id="rId6" Type="http://schemas.openxmlformats.org/officeDocument/2006/relationships/oleObject" Target="../embeddings/Microsoft_Equation6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12.bin"/><Relationship Id="rId4" Type="http://schemas.openxmlformats.org/officeDocument/2006/relationships/image" Target="../media/image22.jpeg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1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5" Type="http://schemas.openxmlformats.org/officeDocument/2006/relationships/oleObject" Target="../embeddings/Microsoft_Equation13.bin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5.bin"/><Relationship Id="rId5" Type="http://schemas.openxmlformats.org/officeDocument/2006/relationships/oleObject" Target="../embeddings/Microsoft_Equation16.bin"/><Relationship Id="rId7" Type="http://schemas.openxmlformats.org/officeDocument/2006/relationships/image" Target="../media/image32.png"/><Relationship Id="rId1" Type="http://schemas.openxmlformats.org/officeDocument/2006/relationships/vmlDrawing" Target="../drawings/vmlDrawing6.vml"/><Relationship Id="rId2" Type="http://schemas.openxmlformats.org/officeDocument/2006/relationships/slideLayout" Target="../slideLayouts/slideLayout6.xml"/><Relationship Id="rId3" Type="http://schemas.openxmlformats.org/officeDocument/2006/relationships/oleObject" Target="../embeddings/Microsoft_Equation14.bin"/><Relationship Id="rId6" Type="http://schemas.openxmlformats.org/officeDocument/2006/relationships/oleObject" Target="../embeddings/Microsoft_Equation17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ng"/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5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21.bin"/><Relationship Id="rId4" Type="http://schemas.openxmlformats.org/officeDocument/2006/relationships/image" Target="../media/image44.png"/><Relationship Id="rId5" Type="http://schemas.openxmlformats.org/officeDocument/2006/relationships/oleObject" Target="../embeddings/Microsoft_Equation18.bin"/><Relationship Id="rId7" Type="http://schemas.openxmlformats.org/officeDocument/2006/relationships/oleObject" Target="../embeddings/Microsoft_Equation20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6.xml"/><Relationship Id="rId3" Type="http://schemas.openxmlformats.org/officeDocument/2006/relationships/image" Target="../media/image43.png"/><Relationship Id="rId6" Type="http://schemas.openxmlformats.org/officeDocument/2006/relationships/oleObject" Target="../embeddings/Microsoft_Equation19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14348" y="2285992"/>
            <a:ext cx="7929618" cy="571504"/>
          </a:xfrm>
        </p:spPr>
        <p:txBody>
          <a:bodyPr>
            <a:normAutofit fontScale="90000"/>
          </a:bodyPr>
          <a:lstStyle/>
          <a:p>
            <a:r>
              <a:rPr lang="en-US" altLang="ko-KR" dirty="0" smtClean="0"/>
              <a:t>Lecture 6: Phase coherence of BEC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 smtClean="0"/>
              <a:t>Hanbury</a:t>
            </a:r>
            <a:r>
              <a:rPr lang="en-US" altLang="ko-KR" dirty="0" smtClean="0"/>
              <a:t> Brown – </a:t>
            </a:r>
            <a:r>
              <a:rPr lang="en-US" altLang="ko-KR" dirty="0" err="1" smtClean="0"/>
              <a:t>Twiss</a:t>
            </a:r>
            <a:r>
              <a:rPr lang="en-US" altLang="ko-KR" dirty="0" smtClean="0"/>
              <a:t> Effect</a:t>
            </a:r>
            <a:endParaRPr lang="ko-KR" altLang="en-US" dirty="0"/>
          </a:p>
        </p:txBody>
      </p:sp>
      <p:pic>
        <p:nvPicPr>
          <p:cNvPr id="78854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1357298"/>
            <a:ext cx="5786478" cy="338147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TextBox 13"/>
          <p:cNvSpPr txBox="1"/>
          <p:nvPr/>
        </p:nvSpPr>
        <p:spPr>
          <a:xfrm>
            <a:off x="1571604" y="4714884"/>
            <a:ext cx="36433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Hanbury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Brown &amp; </a:t>
            </a:r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Twiss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, Nature 177 (1956)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14480" y="5214950"/>
            <a:ext cx="50720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Photon bunching in light emitted by a chaotic source</a:t>
            </a:r>
          </a:p>
          <a:p>
            <a:pPr>
              <a:buFont typeface="Wingdings"/>
              <a:buChar char="è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Highlight the importance of two-photon correlations</a:t>
            </a:r>
          </a:p>
          <a:p>
            <a:pPr>
              <a:buFont typeface="Wingdings"/>
              <a:buChar char="è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 Modern quantum optics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Quantum theory of optical coherence</a:t>
            </a:r>
            <a:endParaRPr lang="ko-KR" altLang="en-US" dirty="0"/>
          </a:p>
        </p:txBody>
      </p:sp>
      <p:pic>
        <p:nvPicPr>
          <p:cNvPr id="78858" name="Picture 1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57818" y="3139140"/>
            <a:ext cx="3642829" cy="1251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TextBox 19"/>
          <p:cNvSpPr txBox="1"/>
          <p:nvPr/>
        </p:nvSpPr>
        <p:spPr>
          <a:xfrm>
            <a:off x="4929190" y="928670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err="1" smtClean="0">
                <a:latin typeface="Arial" pitchFamily="34" charset="0"/>
                <a:cs typeface="Arial" pitchFamily="34" charset="0"/>
              </a:rPr>
              <a:t>Glauber</a:t>
            </a:r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, PRL 10 (1963)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8860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2214554"/>
            <a:ext cx="2824699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61" name="Picture 1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57224" y="1571612"/>
            <a:ext cx="2280626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862" name="Picture 1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43372" y="1571612"/>
            <a:ext cx="2318987" cy="519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8863" name="Object 15"/>
          <p:cNvGraphicFramePr>
            <a:graphicFrameLocks noChangeAspect="1"/>
          </p:cNvGraphicFramePr>
          <p:nvPr/>
        </p:nvGraphicFramePr>
        <p:xfrm>
          <a:off x="714348" y="3496330"/>
          <a:ext cx="4407320" cy="541372"/>
        </p:xfrm>
        <a:graphic>
          <a:graphicData uri="http://schemas.openxmlformats.org/presentationml/2006/ole">
            <p:oleObj spid="_x0000_s78863" name="Equation" r:id="rId7" imgW="2273040" imgH="279360" progId="Equation.3">
              <p:embed/>
            </p:oleObj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642910" y="3067702"/>
            <a:ext cx="3286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First-order coherence function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857356" y="4639338"/>
            <a:ext cx="4286280" cy="2075810"/>
            <a:chOff x="1857356" y="4639338"/>
            <a:chExt cx="4286280" cy="2075810"/>
          </a:xfrm>
        </p:grpSpPr>
        <p:pic>
          <p:nvPicPr>
            <p:cNvPr id="78868" name="Picture 20" descr="File:Coherence g1.png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1857356" y="4639338"/>
              <a:ext cx="4214842" cy="2075810"/>
            </a:xfrm>
            <a:prstGeom prst="rect">
              <a:avLst/>
            </a:prstGeom>
            <a:noFill/>
          </p:spPr>
        </p:pic>
        <p:sp>
          <p:nvSpPr>
            <p:cNvPr id="35" name="TextBox 34"/>
            <p:cNvSpPr txBox="1"/>
            <p:nvPr/>
          </p:nvSpPr>
          <p:spPr>
            <a:xfrm>
              <a:off x="5000628" y="4996528"/>
              <a:ext cx="11430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Arial" pitchFamily="34" charset="0"/>
                  <a:cs typeface="Arial" pitchFamily="34" charset="0"/>
                </a:rPr>
                <a:t>Laser light</a:t>
              </a:r>
              <a:endParaRPr lang="ko-KR" alt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43438" y="5925222"/>
              <a:ext cx="14287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Arial" pitchFamily="34" charset="0"/>
                  <a:cs typeface="Arial" pitchFamily="34" charset="0"/>
                </a:rPr>
                <a:t>Chaotic light</a:t>
              </a:r>
              <a:endParaRPr lang="ko-KR" alt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  <p:cxnSp>
        <p:nvCxnSpPr>
          <p:cNvPr id="21" name="직선 화살표 연결선 20"/>
          <p:cNvCxnSpPr/>
          <p:nvPr/>
        </p:nvCxnSpPr>
        <p:spPr>
          <a:xfrm rot="16200000" flipH="1">
            <a:off x="2643174" y="2285992"/>
            <a:ext cx="35719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 rot="5400000">
            <a:off x="1643042" y="2285992"/>
            <a:ext cx="357190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571603" y="2357430"/>
            <a:ext cx="595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Arial" pitchFamily="34" charset="0"/>
                <a:cs typeface="Arial" pitchFamily="34" charset="0"/>
              </a:rPr>
              <a:t>a</a:t>
            </a:r>
            <a:endParaRPr lang="ko-KR" alt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14612" y="2357430"/>
            <a:ext cx="714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>
                <a:latin typeface="Arial" pitchFamily="34" charset="0"/>
                <a:cs typeface="Arial" pitchFamily="34" charset="0"/>
              </a:rPr>
              <a:t>a</a:t>
            </a:r>
            <a:r>
              <a:rPr lang="en-US" altLang="ko-KR" sz="2800" baseline="30000" dirty="0" smtClean="0">
                <a:latin typeface="Arial" pitchFamily="34" charset="0"/>
                <a:cs typeface="Arial" pitchFamily="34" charset="0"/>
              </a:rPr>
              <a:t>+</a:t>
            </a:r>
            <a:endParaRPr lang="ko-KR" altLang="en-US" sz="2800" baseline="30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5786" y="928670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How to describe the state of light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8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1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Quantum theory of optical coherence</a:t>
            </a:r>
            <a:endParaRPr lang="ko-KR" altLang="en-US" dirty="0"/>
          </a:p>
        </p:txBody>
      </p:sp>
      <p:graphicFrame>
        <p:nvGraphicFramePr>
          <p:cNvPr id="78864" name="Object 16"/>
          <p:cNvGraphicFramePr>
            <a:graphicFrameLocks noChangeAspect="1"/>
          </p:cNvGraphicFramePr>
          <p:nvPr/>
        </p:nvGraphicFramePr>
        <p:xfrm>
          <a:off x="928662" y="2285992"/>
          <a:ext cx="6671711" cy="541372"/>
        </p:xfrm>
        <a:graphic>
          <a:graphicData uri="http://schemas.openxmlformats.org/presentationml/2006/ole">
            <p:oleObj spid="_x0000_s100355" name="Equation" r:id="rId3" imgW="3441600" imgH="279360" progId="Equation.3">
              <p:embed/>
            </p:oleObj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785786" y="1857364"/>
            <a:ext cx="40005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Second-order coherence function</a:t>
            </a:r>
            <a:endParaRPr lang="ko-KR" altLang="en-US" sz="16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8870" name="Picture 22" descr="File:Coherence g2.png">
            <a:hlinkClick r:id="rId4"/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1406" y="3571876"/>
            <a:ext cx="4589405" cy="2260283"/>
          </a:xfrm>
          <a:prstGeom prst="rect">
            <a:avLst/>
          </a:prstGeom>
          <a:noFill/>
        </p:spPr>
      </p:pic>
      <p:pic>
        <p:nvPicPr>
          <p:cNvPr id="78872" name="Picture 24" descr="File:Subpoissonian.png">
            <a:hlinkClick r:id="rId6"/>
          </p:cNvPr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357686" y="3714752"/>
            <a:ext cx="4479355" cy="2071703"/>
          </a:xfrm>
          <a:prstGeom prst="rect">
            <a:avLst/>
          </a:prstGeom>
          <a:noFill/>
        </p:spPr>
      </p:pic>
      <p:sp>
        <p:nvSpPr>
          <p:cNvPr id="37" name="TextBox 36"/>
          <p:cNvSpPr txBox="1"/>
          <p:nvPr/>
        </p:nvSpPr>
        <p:spPr>
          <a:xfrm>
            <a:off x="7358082" y="4143380"/>
            <a:ext cx="1785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Fluorescence </a:t>
            </a:r>
          </a:p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From a single atom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71736" y="4786322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Laser light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714612" y="3857628"/>
            <a:ext cx="14287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Chaotic light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5786" y="928670"/>
            <a:ext cx="435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How to describe the state of light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29190" y="928670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err="1" smtClean="0">
                <a:latin typeface="Arial" pitchFamily="34" charset="0"/>
                <a:cs typeface="Arial" pitchFamily="34" charset="0"/>
              </a:rPr>
              <a:t>Glauber</a:t>
            </a:r>
            <a:r>
              <a:rPr lang="en-US" altLang="ko-KR" i="1" dirty="0" smtClean="0">
                <a:latin typeface="Arial" pitchFamily="34" charset="0"/>
                <a:cs typeface="Arial" pitchFamily="34" charset="0"/>
              </a:rPr>
              <a:t>, PRL 10 (1963)</a:t>
            </a:r>
            <a:endParaRPr lang="ko-KR" altLang="en-US" i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8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8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7" grpId="0"/>
      <p:bldP spid="19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Correlations in many-body systems 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857224" y="857232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First-order coherence 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00" name="Object 4"/>
          <p:cNvGraphicFramePr>
            <a:graphicFrameLocks noChangeAspect="1"/>
          </p:cNvGraphicFramePr>
          <p:nvPr/>
        </p:nvGraphicFramePr>
        <p:xfrm>
          <a:off x="1000100" y="1357298"/>
          <a:ext cx="3063875" cy="495300"/>
        </p:xfrm>
        <a:graphic>
          <a:graphicData uri="http://schemas.openxmlformats.org/presentationml/2006/ole">
            <p:oleObj spid="_x0000_s80900" name="Equation" r:id="rId3" imgW="1726920" imgH="279360" progId="Equation.3">
              <p:embed/>
            </p:oleObj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357686" y="1428736"/>
            <a:ext cx="2786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one-particle density matrix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01" name="Object 5"/>
          <p:cNvGraphicFramePr>
            <a:graphicFrameLocks noChangeAspect="1"/>
          </p:cNvGraphicFramePr>
          <p:nvPr/>
        </p:nvGraphicFramePr>
        <p:xfrm>
          <a:off x="1000100" y="2000240"/>
          <a:ext cx="2928938" cy="563563"/>
        </p:xfrm>
        <a:graphic>
          <a:graphicData uri="http://schemas.openxmlformats.org/presentationml/2006/ole">
            <p:oleObj spid="_x0000_s80901" name="Equation" r:id="rId4" imgW="1650960" imgH="31716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214810" y="2071678"/>
            <a:ext cx="2786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: condensate fraction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21" name="Object 13"/>
          <p:cNvGraphicFramePr>
            <a:graphicFrameLocks noChangeAspect="1"/>
          </p:cNvGraphicFramePr>
          <p:nvPr/>
        </p:nvGraphicFramePr>
        <p:xfrm>
          <a:off x="785786" y="2643182"/>
          <a:ext cx="3700268" cy="738191"/>
        </p:xfrm>
        <a:graphic>
          <a:graphicData uri="http://schemas.openxmlformats.org/presentationml/2006/ole">
            <p:oleObj spid="_x0000_s80905" name="Equation" r:id="rId5" imgW="2489040" imgH="495000" progId="Equation.3">
              <p:embed/>
            </p:oleObj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786314" y="2786058"/>
            <a:ext cx="37862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Normalized first-order coherence function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7224" y="3500438"/>
            <a:ext cx="3786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For a translational invariant system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06" name="Object 10"/>
          <p:cNvGraphicFramePr>
            <a:graphicFrameLocks noChangeAspect="1"/>
          </p:cNvGraphicFramePr>
          <p:nvPr/>
        </p:nvGraphicFramePr>
        <p:xfrm>
          <a:off x="6500826" y="4071942"/>
          <a:ext cx="2103438" cy="782637"/>
        </p:xfrm>
        <a:graphic>
          <a:graphicData uri="http://schemas.openxmlformats.org/presentationml/2006/ole">
            <p:oleObj spid="_x0000_s80906" name="Equation" r:id="rId6" imgW="1295280" imgH="482400" progId="Equation.3">
              <p:embed/>
            </p:oleObj>
          </a:graphicData>
        </a:graphic>
      </p:graphicFrame>
      <p:graphicFrame>
        <p:nvGraphicFramePr>
          <p:cNvPr id="80907" name="Object 11"/>
          <p:cNvGraphicFramePr>
            <a:graphicFrameLocks noChangeAspect="1"/>
          </p:cNvGraphicFramePr>
          <p:nvPr/>
        </p:nvGraphicFramePr>
        <p:xfrm>
          <a:off x="7215206" y="3429000"/>
          <a:ext cx="1216025" cy="638175"/>
        </p:xfrm>
        <a:graphic>
          <a:graphicData uri="http://schemas.openxmlformats.org/presentationml/2006/ole">
            <p:oleObj spid="_x0000_s80907" name="Equation" r:id="rId7" imgW="749160" imgH="393480" progId="Equation.3">
              <p:embed/>
            </p:oleObj>
          </a:graphicData>
        </a:graphic>
      </p:graphicFrame>
      <p:pic>
        <p:nvPicPr>
          <p:cNvPr id="80908" name="Picture 1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1472" y="4000504"/>
            <a:ext cx="3857620" cy="252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5286380" y="3643314"/>
            <a:ext cx="2500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For a classical gas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09" name="Object 13"/>
          <p:cNvGraphicFramePr>
            <a:graphicFrameLocks noChangeAspect="1"/>
          </p:cNvGraphicFramePr>
          <p:nvPr/>
        </p:nvGraphicFramePr>
        <p:xfrm>
          <a:off x="6572264" y="5786454"/>
          <a:ext cx="1982788" cy="519112"/>
        </p:xfrm>
        <a:graphic>
          <a:graphicData uri="http://schemas.openxmlformats.org/presentationml/2006/ole">
            <p:oleObj spid="_x0000_s80909" name="Equation" r:id="rId9" imgW="1117440" imgH="291960" progId="Equation.3">
              <p:embed/>
            </p:oleObj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5143504" y="5786454"/>
            <a:ext cx="142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With a BEC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29256" y="5072074"/>
            <a:ext cx="928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At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T~T</a:t>
            </a:r>
            <a:r>
              <a:rPr lang="en-US" altLang="ko-KR" sz="1600" baseline="-25000" dirty="0" err="1" smtClean="0">
                <a:latin typeface="Arial" pitchFamily="34" charset="0"/>
                <a:cs typeface="Arial" pitchFamily="34" charset="0"/>
              </a:rPr>
              <a:t>c</a:t>
            </a:r>
            <a:endParaRPr lang="ko-KR" altLang="en-US" baseline="-250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10" name="Object 14"/>
          <p:cNvGraphicFramePr>
            <a:graphicFrameLocks noChangeAspect="1"/>
          </p:cNvGraphicFramePr>
          <p:nvPr/>
        </p:nvGraphicFramePr>
        <p:xfrm>
          <a:off x="6500826" y="4905638"/>
          <a:ext cx="2145443" cy="707572"/>
        </p:xfrm>
        <a:graphic>
          <a:graphicData uri="http://schemas.openxmlformats.org/presentationml/2006/ole">
            <p:oleObj spid="_x0000_s80910" name="Equation" r:id="rId10" imgW="1384200" imgH="457200" progId="Equation.3">
              <p:embed/>
            </p:oleObj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786182" y="6357958"/>
            <a:ext cx="14287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r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8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8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8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27" grpId="0"/>
      <p:bldP spid="28" grpId="0"/>
      <p:bldP spid="30" grpId="0"/>
      <p:bldP spid="31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Why this is BEC?</a:t>
            </a:r>
            <a:endParaRPr lang="ko-KR" altLang="en-US" dirty="0"/>
          </a:p>
        </p:txBody>
      </p:sp>
      <p:graphicFrame>
        <p:nvGraphicFramePr>
          <p:cNvPr id="43016" name="Object 8"/>
          <p:cNvGraphicFramePr>
            <a:graphicFrameLocks noChangeAspect="1"/>
          </p:cNvGraphicFramePr>
          <p:nvPr/>
        </p:nvGraphicFramePr>
        <p:xfrm>
          <a:off x="1056258" y="3643314"/>
          <a:ext cx="5159375" cy="833437"/>
        </p:xfrm>
        <a:graphic>
          <a:graphicData uri="http://schemas.openxmlformats.org/presentationml/2006/ole">
            <p:oleObj spid="_x0000_s58374" name="Equation" r:id="rId3" imgW="2908080" imgH="469800" progId="Equation.3">
              <p:embed/>
            </p:oleObj>
          </a:graphicData>
        </a:graphic>
      </p:graphicFrame>
      <p:pic>
        <p:nvPicPr>
          <p:cNvPr id="16" name="Picture 16" descr="JILA3peaks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000200"/>
              </a:clrFrom>
              <a:clrTo>
                <a:srgbClr val="0002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86182" y="142852"/>
            <a:ext cx="4784346" cy="3000348"/>
          </a:xfrm>
          <a:prstGeom prst="rect">
            <a:avLst/>
          </a:prstGeom>
          <a:solidFill>
            <a:srgbClr val="000000"/>
          </a:solidFill>
          <a:ln w="9525">
            <a:noFill/>
            <a:miter lim="800000"/>
            <a:headEnd/>
            <a:tailEnd/>
          </a:ln>
        </p:spPr>
      </p:pic>
      <p:sp>
        <p:nvSpPr>
          <p:cNvPr id="17" name="TextBox 16"/>
          <p:cNvSpPr txBox="1"/>
          <p:nvPr/>
        </p:nvSpPr>
        <p:spPr>
          <a:xfrm>
            <a:off x="1056258" y="3214686"/>
            <a:ext cx="34290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After ballistic expansion for time </a:t>
            </a:r>
            <a:r>
              <a:rPr lang="en-US" altLang="ko-KR" sz="1600" i="1" dirty="0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,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8380" name="Object 12"/>
          <p:cNvGraphicFramePr>
            <a:graphicFrameLocks noChangeAspect="1"/>
          </p:cNvGraphicFramePr>
          <p:nvPr/>
        </p:nvGraphicFramePr>
        <p:xfrm>
          <a:off x="1770638" y="4572008"/>
          <a:ext cx="1171575" cy="698500"/>
        </p:xfrm>
        <a:graphic>
          <a:graphicData uri="http://schemas.openxmlformats.org/presentationml/2006/ole">
            <p:oleObj spid="_x0000_s58380" name="Equation" r:id="rId5" imgW="660240" imgH="393480" progId="Equation.3">
              <p:embed/>
            </p:oleObj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040978" y="4725202"/>
            <a:ext cx="857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Here,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14042" y="4714884"/>
            <a:ext cx="31585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one-particle density matrix of the in-trap state at t=0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8381" name="Object 13"/>
          <p:cNvGraphicFramePr>
            <a:graphicFrameLocks noChangeAspect="1"/>
          </p:cNvGraphicFramePr>
          <p:nvPr/>
        </p:nvGraphicFramePr>
        <p:xfrm>
          <a:off x="1071538" y="5286388"/>
          <a:ext cx="4124325" cy="833437"/>
        </p:xfrm>
        <a:graphic>
          <a:graphicData uri="http://schemas.openxmlformats.org/presentationml/2006/ole">
            <p:oleObj spid="_x0000_s58381" name="Equation" r:id="rId6" imgW="2323800" imgH="469800" progId="Equation.3">
              <p:embed/>
            </p:oleObj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85786" y="6143644"/>
            <a:ext cx="67866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 sharp central peak signals the condensation in momentum space.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 rot="16200000" flipV="1">
            <a:off x="5485414" y="4429132"/>
            <a:ext cx="500066" cy="3571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Spatial coherence of a trapped Bose gas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57224" y="1000108"/>
            <a:ext cx="3071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Bloch et al., Nature 403 (2000)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9403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1326100"/>
            <a:ext cx="3071834" cy="296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9404" name="Picture 1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22318" y="1263893"/>
            <a:ext cx="5745630" cy="3093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TextBox 16"/>
          <p:cNvSpPr txBox="1"/>
          <p:nvPr/>
        </p:nvSpPr>
        <p:spPr>
          <a:xfrm>
            <a:off x="3722384" y="4207533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Arial" pitchFamily="34" charset="0"/>
                <a:cs typeface="Arial" pitchFamily="34" charset="0"/>
              </a:rPr>
              <a:t>T&lt;&lt;</a:t>
            </a:r>
            <a:r>
              <a:rPr lang="en-US" altLang="ko-KR" sz="20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altLang="ko-KR" sz="2000" baseline="-25000" dirty="0" err="1" smtClean="0">
                <a:latin typeface="Arial" pitchFamily="34" charset="0"/>
                <a:cs typeface="Arial" pitchFamily="34" charset="0"/>
              </a:rPr>
              <a:t>c</a:t>
            </a:r>
            <a:endParaRPr lang="ko-KR" altLang="en-US" sz="2000" baseline="-2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08334" y="4207533"/>
            <a:ext cx="785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 smtClean="0">
                <a:latin typeface="Arial" pitchFamily="34" charset="0"/>
                <a:cs typeface="Arial" pitchFamily="34" charset="0"/>
              </a:rPr>
              <a:t>T~T</a:t>
            </a:r>
            <a:r>
              <a:rPr lang="en-US" altLang="ko-KR" sz="2000" baseline="-25000" dirty="0" err="1" smtClean="0">
                <a:latin typeface="Arial" pitchFamily="34" charset="0"/>
                <a:cs typeface="Arial" pitchFamily="34" charset="0"/>
              </a:rPr>
              <a:t>c</a:t>
            </a:r>
            <a:endParaRPr lang="ko-KR" altLang="en-US" sz="2000" baseline="-2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2846" y="4207533"/>
            <a:ext cx="114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latin typeface="Arial" pitchFamily="34" charset="0"/>
                <a:cs typeface="Arial" pitchFamily="34" charset="0"/>
              </a:rPr>
              <a:t>T&gt;&gt;</a:t>
            </a:r>
            <a:r>
              <a:rPr lang="en-US" altLang="ko-KR" sz="2000" dirty="0" err="1" smtClean="0">
                <a:latin typeface="Arial" pitchFamily="34" charset="0"/>
                <a:cs typeface="Arial" pitchFamily="34" charset="0"/>
              </a:rPr>
              <a:t>T</a:t>
            </a:r>
            <a:r>
              <a:rPr lang="en-US" altLang="ko-KR" sz="2000" baseline="-25000" dirty="0" err="1" smtClean="0">
                <a:latin typeface="Arial" pitchFamily="34" charset="0"/>
                <a:cs typeface="Arial" pitchFamily="34" charset="0"/>
              </a:rPr>
              <a:t>c</a:t>
            </a:r>
            <a:endParaRPr lang="ko-KR" altLang="en-US" sz="2000" baseline="-25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8662" y="4714884"/>
            <a:ext cx="6786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Two-slit experiment to measure spatial coherence</a:t>
            </a:r>
          </a:p>
          <a:p>
            <a:pPr>
              <a:buFont typeface="Wingdings" pitchFamily="2" charset="2"/>
              <a:buChar char="Ø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Using two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rf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waves, </a:t>
            </a:r>
            <a:r>
              <a:rPr lang="en-US" altLang="ko-KR" sz="1600" dirty="0" err="1" smtClean="0">
                <a:latin typeface="Arial" pitchFamily="34" charset="0"/>
                <a:cs typeface="Arial" pitchFamily="34" charset="0"/>
              </a:rPr>
              <a:t>outcouple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 two atomic beams in different positions</a:t>
            </a:r>
          </a:p>
          <a:p>
            <a:pPr>
              <a:buFont typeface="Wingdings" pitchFamily="2" charset="2"/>
              <a:buChar char="Ø"/>
            </a:pPr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Visibility of the interference pattern indicates spatial coherence 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59405" name="Object 13"/>
          <p:cNvGraphicFramePr>
            <a:graphicFrameLocks noChangeAspect="1"/>
          </p:cNvGraphicFramePr>
          <p:nvPr/>
        </p:nvGraphicFramePr>
        <p:xfrm>
          <a:off x="1357290" y="5643578"/>
          <a:ext cx="4867275" cy="881062"/>
        </p:xfrm>
        <a:graphic>
          <a:graphicData uri="http://schemas.openxmlformats.org/presentationml/2006/ole">
            <p:oleObj spid="_x0000_s59405" name="Equation" r:id="rId5" imgW="2743200" imgH="4950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Spatial coherence of a trapped Bose gas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57224" y="1000108"/>
            <a:ext cx="30718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Bloch et al., Nature 403 (2000)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908239"/>
            <a:ext cx="4286280" cy="323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1857364"/>
            <a:ext cx="4654103" cy="331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Correlations in many-body systems 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775153" y="896771"/>
            <a:ext cx="4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Second-order coherence 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0902" name="Object 6"/>
          <p:cNvGraphicFramePr>
            <a:graphicFrameLocks noChangeAspect="1"/>
          </p:cNvGraphicFramePr>
          <p:nvPr/>
        </p:nvGraphicFramePr>
        <p:xfrm>
          <a:off x="918061" y="1406739"/>
          <a:ext cx="4460875" cy="495300"/>
        </p:xfrm>
        <a:graphic>
          <a:graphicData uri="http://schemas.openxmlformats.org/presentationml/2006/ole">
            <p:oleObj spid="_x0000_s81924" name="Equation" r:id="rId3" imgW="2514600" imgH="279360" progId="Equation.3">
              <p:embed/>
            </p:oleObj>
          </a:graphicData>
        </a:graphic>
      </p:graphicFrame>
      <p:graphicFrame>
        <p:nvGraphicFramePr>
          <p:cNvPr id="80903" name="Object 7"/>
          <p:cNvGraphicFramePr>
            <a:graphicFrameLocks noChangeAspect="1"/>
          </p:cNvGraphicFramePr>
          <p:nvPr/>
        </p:nvGraphicFramePr>
        <p:xfrm>
          <a:off x="846591" y="2448603"/>
          <a:ext cx="5768975" cy="449262"/>
        </p:xfrm>
        <a:graphic>
          <a:graphicData uri="http://schemas.openxmlformats.org/presentationml/2006/ole">
            <p:oleObj spid="_x0000_s81925" name="Equation" r:id="rId4" imgW="3251160" imgH="253800" progId="Equation.3">
              <p:embed/>
            </p:oleObj>
          </a:graphicData>
        </a:graphic>
      </p:graphicFrame>
      <p:graphicFrame>
        <p:nvGraphicFramePr>
          <p:cNvPr id="80904" name="Object 8"/>
          <p:cNvGraphicFramePr>
            <a:graphicFrameLocks noChangeAspect="1"/>
          </p:cNvGraphicFramePr>
          <p:nvPr/>
        </p:nvGraphicFramePr>
        <p:xfrm>
          <a:off x="979488" y="3030538"/>
          <a:ext cx="2449512" cy="723900"/>
        </p:xfrm>
        <a:graphic>
          <a:graphicData uri="http://schemas.openxmlformats.org/presentationml/2006/ole">
            <p:oleObj spid="_x0000_s81926" name="Equation" r:id="rId5" imgW="1549080" imgH="457200" progId="Equation.3">
              <p:embed/>
            </p:oleObj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786182" y="3071810"/>
            <a:ext cx="39291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Normalized second-order coherence function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6591" y="2039779"/>
            <a:ext cx="3357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Density-density correlation function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8" y="3429000"/>
            <a:ext cx="2571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Prob. To have another particle in a shell [r, </a:t>
            </a:r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r+dr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]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1928" name="Object 8"/>
          <p:cNvGraphicFramePr>
            <a:graphicFrameLocks noChangeAspect="1"/>
          </p:cNvGraphicFramePr>
          <p:nvPr/>
        </p:nvGraphicFramePr>
        <p:xfrm>
          <a:off x="4071934" y="3500438"/>
          <a:ext cx="1606550" cy="361950"/>
        </p:xfrm>
        <a:graphic>
          <a:graphicData uri="http://schemas.openxmlformats.org/presentationml/2006/ole">
            <p:oleObj spid="_x0000_s81928" name="Equation" r:id="rId6" imgW="1015920" imgH="228600" progId="Equation.3">
              <p:embed/>
            </p:oleObj>
          </a:graphicData>
        </a:graphic>
      </p:graphicFrame>
      <p:pic>
        <p:nvPicPr>
          <p:cNvPr id="81929" name="Picture 9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71604" y="4000504"/>
            <a:ext cx="4976057" cy="285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4" grpId="0"/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Higher order phase coherence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57224" y="1000108"/>
            <a:ext cx="214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Ottl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PRL 95 (2005)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428760"/>
            <a:ext cx="5113403" cy="381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2786082"/>
            <a:ext cx="2869385" cy="280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Higher order phase coherence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857224" y="1000108"/>
            <a:ext cx="214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Ottl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PRL 95 (2005)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428760"/>
            <a:ext cx="5113403" cy="3814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2786082"/>
            <a:ext cx="2869385" cy="28098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3" name="그룹 9"/>
          <p:cNvGrpSpPr/>
          <p:nvPr/>
        </p:nvGrpSpPr>
        <p:grpSpPr>
          <a:xfrm>
            <a:off x="928662" y="1782933"/>
            <a:ext cx="7154028" cy="4575001"/>
            <a:chOff x="928662" y="1782933"/>
            <a:chExt cx="7154028" cy="4575001"/>
          </a:xfrm>
        </p:grpSpPr>
        <p:pic>
          <p:nvPicPr>
            <p:cNvPr id="83972" name="Picture 4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928662" y="1782933"/>
              <a:ext cx="3458400" cy="450533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pic>
          <p:nvPicPr>
            <p:cNvPr id="83973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4786314" y="1785926"/>
              <a:ext cx="3296376" cy="4572008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pic>
        <p:sp>
          <p:nvSpPr>
            <p:cNvPr id="12" name="TextBox 11"/>
            <p:cNvSpPr txBox="1"/>
            <p:nvPr/>
          </p:nvSpPr>
          <p:spPr>
            <a:xfrm>
              <a:off x="1571604" y="2068709"/>
              <a:ext cx="21431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Arial" pitchFamily="34" charset="0"/>
                  <a:cs typeface="Arial" pitchFamily="34" charset="0"/>
                </a:rPr>
                <a:t>Coherent </a:t>
              </a:r>
              <a:r>
                <a:rPr lang="en-US" altLang="ko-KR" sz="1400" dirty="0" err="1" smtClean="0">
                  <a:latin typeface="Arial" pitchFamily="34" charset="0"/>
                  <a:cs typeface="Arial" pitchFamily="34" charset="0"/>
                </a:rPr>
                <a:t>outcoupling</a:t>
              </a:r>
              <a:endParaRPr lang="ko-KR" altLang="en-US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643570" y="2071702"/>
              <a:ext cx="214314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>
                  <a:latin typeface="Arial" pitchFamily="34" charset="0"/>
                  <a:cs typeface="Arial" pitchFamily="34" charset="0"/>
                </a:rPr>
                <a:t>Incoherent </a:t>
              </a:r>
              <a:r>
                <a:rPr lang="en-US" altLang="ko-KR" sz="1400" dirty="0" err="1" smtClean="0">
                  <a:latin typeface="Arial" pitchFamily="34" charset="0"/>
                  <a:cs typeface="Arial" pitchFamily="34" charset="0"/>
                </a:rPr>
                <a:t>outcoupling</a:t>
              </a:r>
              <a:endParaRPr lang="ko-KR" altLang="en-US" sz="14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357430"/>
            <a:ext cx="6828271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HBT effect with bosons and fermions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99412" y="1333039"/>
            <a:ext cx="271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Jeltes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Nature 445 (2007)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43372" y="1071546"/>
            <a:ext cx="421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Using </a:t>
            </a:r>
            <a:r>
              <a:rPr lang="en-US" altLang="ko-KR" baseline="30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He* (boson) and </a:t>
            </a:r>
            <a:r>
              <a:rPr lang="en-US" altLang="ko-KR" baseline="300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He* (</a:t>
            </a:r>
            <a:r>
              <a:rPr lang="en-US" altLang="ko-KR" dirty="0" err="1" smtClean="0">
                <a:latin typeface="Arial" pitchFamily="34" charset="0"/>
                <a:cs typeface="Arial" pitchFamily="34" charset="0"/>
              </a:rPr>
              <a:t>fermion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1071546"/>
            <a:ext cx="328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Schellekens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Science 310 (2005)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357430"/>
            <a:ext cx="6828271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HBT effect with bosons and fermions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99412" y="1333039"/>
            <a:ext cx="2714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Jeltes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Nature 445 (2007)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000240"/>
            <a:ext cx="3779503" cy="446294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4143372" y="1071546"/>
            <a:ext cx="4214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latin typeface="Arial" pitchFamily="34" charset="0"/>
                <a:cs typeface="Arial" pitchFamily="34" charset="0"/>
              </a:rPr>
              <a:t>Using </a:t>
            </a:r>
            <a:r>
              <a:rPr lang="en-US" altLang="ko-KR" baseline="30000" dirty="0" smtClean="0">
                <a:latin typeface="Arial" pitchFamily="34" charset="0"/>
                <a:cs typeface="Arial" pitchFamily="34" charset="0"/>
              </a:rPr>
              <a:t>3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He* (boson) and </a:t>
            </a:r>
            <a:r>
              <a:rPr lang="en-US" altLang="ko-KR" baseline="30000" dirty="0" smtClean="0">
                <a:latin typeface="Arial" pitchFamily="34" charset="0"/>
                <a:cs typeface="Arial" pitchFamily="34" charset="0"/>
              </a:rPr>
              <a:t>4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He* (</a:t>
            </a:r>
            <a:r>
              <a:rPr lang="en-US" altLang="ko-KR" dirty="0" err="1" smtClean="0">
                <a:latin typeface="Arial" pitchFamily="34" charset="0"/>
                <a:cs typeface="Arial" pitchFamily="34" charset="0"/>
              </a:rPr>
              <a:t>fermion</a:t>
            </a:r>
            <a:r>
              <a:rPr lang="en-US" altLang="ko-KR" dirty="0" smtClean="0">
                <a:latin typeface="Arial" pitchFamily="34" charset="0"/>
                <a:cs typeface="Arial" pitchFamily="34" charset="0"/>
              </a:rPr>
              <a:t>)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5786" y="1071546"/>
            <a:ext cx="32861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err="1" smtClean="0">
                <a:latin typeface="Arial" pitchFamily="34" charset="0"/>
                <a:cs typeface="Arial" pitchFamily="34" charset="0"/>
              </a:rPr>
              <a:t>Schellekens</a:t>
            </a:r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 et al., Science 310 (2005)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smtClean="0"/>
              <a:t>Higher order phase coherence</a:t>
            </a:r>
            <a:endParaRPr lang="ko-KR" altLang="en-US" dirty="0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85786" y="4357694"/>
            <a:ext cx="2571768" cy="2237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3467301"/>
            <a:ext cx="4071966" cy="3104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1643042" y="1214422"/>
          <a:ext cx="1563687" cy="534987"/>
        </p:xfrm>
        <a:graphic>
          <a:graphicData uri="http://schemas.openxmlformats.org/presentationml/2006/ole">
            <p:oleObj spid="_x0000_s84996" name="Equation" r:id="rId5" imgW="685800" imgH="241200" progId="Equation.3">
              <p:embed/>
            </p:oleObj>
          </a:graphicData>
        </a:graphic>
      </p:graphicFrame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1641759" y="1785910"/>
          <a:ext cx="1619250" cy="534988"/>
        </p:xfrm>
        <a:graphic>
          <a:graphicData uri="http://schemas.openxmlformats.org/presentationml/2006/ole">
            <p:oleObj spid="_x0000_s84997" name="Equation" r:id="rId6" imgW="711000" imgH="241200" progId="Equation.3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214810" y="1214422"/>
            <a:ext cx="3857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Thermal atoms bunch two times stronger than condensates.</a:t>
            </a:r>
          </a:p>
          <a:p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 Mean-field interaction energy is larger for thermal atoms at a same density.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1357290" y="3000372"/>
          <a:ext cx="2084387" cy="534987"/>
        </p:xfrm>
        <a:graphic>
          <a:graphicData uri="http://schemas.openxmlformats.org/presentationml/2006/ole">
            <p:oleObj spid="_x0000_s84998" name="Equation" r:id="rId7" imgW="914400" imgH="241200" progId="Equation.3">
              <p:embed/>
            </p:oleObj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1500166" y="3571876"/>
          <a:ext cx="1619250" cy="534988"/>
        </p:xfrm>
        <a:graphic>
          <a:graphicData uri="http://schemas.openxmlformats.org/presentationml/2006/ole">
            <p:oleObj spid="_x0000_s84999" name="Equation" r:id="rId8" imgW="711000" imgH="241200" progId="Equation.3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143372" y="2928934"/>
            <a:ext cx="371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Arial" pitchFamily="34" charset="0"/>
                <a:cs typeface="Arial" pitchFamily="34" charset="0"/>
              </a:rPr>
              <a:t>Three-body decay rate is six-times smaller for condensates</a:t>
            </a:r>
            <a:r>
              <a:rPr lang="en-US" altLang="ko-KR" sz="1600" dirty="0" smtClean="0">
                <a:latin typeface="Arial" pitchFamily="34" charset="0"/>
                <a:cs typeface="Arial" pitchFamily="34" charset="0"/>
                <a:sym typeface="Wingdings" pitchFamily="2" charset="2"/>
              </a:rPr>
              <a:t>.</a:t>
            </a:r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29388" y="6429396"/>
            <a:ext cx="2143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Arial" pitchFamily="34" charset="0"/>
                <a:cs typeface="Arial" pitchFamily="34" charset="0"/>
              </a:rPr>
              <a:t>Burt et al., PRL 79 (1997)</a:t>
            </a:r>
            <a:endParaRPr lang="ko-KR" altLang="en-US" sz="14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785786" y="2571744"/>
            <a:ext cx="7643866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15895</TotalTime>
  <Words>462</Words>
  <Application>Microsoft Office PowerPoint</Application>
  <PresentationFormat>On-screen Show (4:3)</PresentationFormat>
  <Paragraphs>71</Paragraphs>
  <Slides>14</Slides>
  <Notes>0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테마</vt:lpstr>
      <vt:lpstr>Equation</vt:lpstr>
      <vt:lpstr>Lecture 6: Phase coherence of BEC</vt:lpstr>
      <vt:lpstr>Hanbury Brown – Twiss Effect</vt:lpstr>
      <vt:lpstr>Quantum theory of optical coherence</vt:lpstr>
      <vt:lpstr>Quantum theory of optical coherence</vt:lpstr>
      <vt:lpstr>Correlations in many-body systems </vt:lpstr>
      <vt:lpstr>Why this is BEC?</vt:lpstr>
      <vt:lpstr>Spatial coherence of a trapped Bose gas</vt:lpstr>
      <vt:lpstr>Spatial coherence of a trapped Bose gas</vt:lpstr>
      <vt:lpstr>Correlations in many-body systems </vt:lpstr>
      <vt:lpstr>Higher order phase coherence</vt:lpstr>
      <vt:lpstr>Higher order phase coherence</vt:lpstr>
      <vt:lpstr>HBT effect with bosons and fermions</vt:lpstr>
      <vt:lpstr>HBT effect with bosons and fermions</vt:lpstr>
      <vt:lpstr>Higher order phase coherence</vt:lpstr>
    </vt:vector>
  </TitlesOfParts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BEC 06</dc:title>
  <dc:creator>Yong-il Shin</dc:creator>
  <cp:keywords/>
  <cp:lastModifiedBy>경원 안</cp:lastModifiedBy>
  <cp:revision>941</cp:revision>
  <dcterms:created xsi:type="dcterms:W3CDTF">2009-10-08T05:48:09Z</dcterms:created>
  <dcterms:modified xsi:type="dcterms:W3CDTF">2009-10-08T05:48:32Z</dcterms:modified>
</cp:coreProperties>
</file>