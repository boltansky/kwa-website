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0.bin" ContentType="application/vnd.openxmlformats-officedocument.oleObject"/>
  <Override PartName="/ppt/embeddings/Microsoft_Equation4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embeddings/Microsoft_Equation9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14"/>
  </p:notesMasterIdLst>
  <p:sldIdLst>
    <p:sldId id="277" r:id="rId2"/>
    <p:sldId id="286" r:id="rId3"/>
    <p:sldId id="287" r:id="rId4"/>
    <p:sldId id="289" r:id="rId5"/>
    <p:sldId id="290" r:id="rId6"/>
    <p:sldId id="291" r:id="rId7"/>
    <p:sldId id="292" r:id="rId8"/>
    <p:sldId id="281" r:id="rId9"/>
    <p:sldId id="285" r:id="rId10"/>
    <p:sldId id="294" r:id="rId11"/>
    <p:sldId id="284" r:id="rId12"/>
    <p:sldId id="278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-2784" y="-1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presProps" Target="presProp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printerSettings" Target="printerSettings/printerSettings1.bin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19" Type="http://schemas.openxmlformats.org/officeDocument/2006/relationships/tableStyles" Target="tableStyle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wmf"/><Relationship Id="rId4" Type="http://schemas.openxmlformats.org/officeDocument/2006/relationships/image" Target="../media/image7.wmf"/><Relationship Id="rId1" Type="http://schemas.openxmlformats.org/officeDocument/2006/relationships/image" Target="../media/image4.wmf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5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3" Type="http://schemas.openxmlformats.org/officeDocument/2006/relationships/image" Target="../media/image12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2.wmf"/><Relationship Id="rId1" Type="http://schemas.openxmlformats.org/officeDocument/2006/relationships/image" Target="../media/image39.wmf"/><Relationship Id="rId2" Type="http://schemas.openxmlformats.org/officeDocument/2006/relationships/image" Target="../media/image40.wmf"/><Relationship Id="rId3" Type="http://schemas.openxmlformats.org/officeDocument/2006/relationships/image" Target="../media/image41.wmf"/><Relationship Id="rId5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9EF5C-CBDD-4EEE-992B-82C16AD328B9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D0D90-0E97-4F4B-85BE-F34323D68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7929618" cy="57150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tx2">
                    <a:lumMod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64294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.bin"/><Relationship Id="rId5" Type="http://schemas.openxmlformats.org/officeDocument/2006/relationships/oleObject" Target="../embeddings/Microsoft_Equation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9.bin"/><Relationship Id="rId4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6.bin"/><Relationship Id="rId7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4.bin"/><Relationship Id="rId6" Type="http://schemas.openxmlformats.org/officeDocument/2006/relationships/oleObject" Target="../embeddings/Microsoft_Equation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oleObject" Target="../embeddings/Microsoft_Equation11.bin"/><Relationship Id="rId7" Type="http://schemas.openxmlformats.org/officeDocument/2006/relationships/image" Target="../media/image14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0.bin"/><Relationship Id="rId6" Type="http://schemas.openxmlformats.org/officeDocument/2006/relationships/oleObject" Target="../embeddings/Microsoft_Equation12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9.png"/><Relationship Id="rId4" Type="http://schemas.openxmlformats.org/officeDocument/2006/relationships/oleObject" Target="../embeddings/Microsoft_Equation13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21.png"/><Relationship Id="rId5" Type="http://schemas.openxmlformats.org/officeDocument/2006/relationships/oleObject" Target="../embeddings/Microsoft_Equation14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5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5" Type="http://schemas.openxmlformats.org/officeDocument/2006/relationships/oleObject" Target="../embeddings/Microsoft_Equation1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7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9" Type="http://schemas.openxmlformats.org/officeDocument/2006/relationships/image" Target="../media/image33.png"/><Relationship Id="rId3" Type="http://schemas.openxmlformats.org/officeDocument/2006/relationships/image" Target="../media/image27.png"/><Relationship Id="rId6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png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5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4" Type="http://schemas.openxmlformats.org/officeDocument/2006/relationships/oleObject" Target="../embeddings/Microsoft_Equation18.bin"/><Relationship Id="rId5" Type="http://schemas.openxmlformats.org/officeDocument/2006/relationships/oleObject" Target="../embeddings/Microsoft_Equation19.bin"/><Relationship Id="rId7" Type="http://schemas.openxmlformats.org/officeDocument/2006/relationships/oleObject" Target="../embeddings/Microsoft_Equation21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7.bin"/><Relationship Id="rId6" Type="http://schemas.openxmlformats.org/officeDocument/2006/relationships/oleObject" Target="../embeddings/Microsoft_Equation20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2285992"/>
            <a:ext cx="7929618" cy="571504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Lecture 4: Description of BEC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Many-body Hamiltonian in cold atom gases</a:t>
            </a:r>
            <a:endParaRPr lang="ko-KR" altLang="en-US" dirty="0"/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1928794" y="1633532"/>
          <a:ext cx="4729163" cy="1009650"/>
        </p:xfrm>
        <a:graphic>
          <a:graphicData uri="http://schemas.openxmlformats.org/presentationml/2006/ole">
            <p:oleObj spid="_x0000_s35843" name="Equation" r:id="rId3" imgW="2260440" imgH="482400" progId="Equation.3">
              <p:embed/>
            </p:oleObj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1928794" y="3286124"/>
          <a:ext cx="5048250" cy="1009650"/>
        </p:xfrm>
        <a:graphic>
          <a:graphicData uri="http://schemas.openxmlformats.org/presentationml/2006/ole">
            <p:oleObj spid="_x0000_s35844" name="Equation" r:id="rId4" imgW="2412720" imgH="482400" progId="Equation.3">
              <p:embed/>
            </p:oleObj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2643174" y="4786322"/>
          <a:ext cx="3001962" cy="1381125"/>
        </p:xfrm>
        <a:graphic>
          <a:graphicData uri="http://schemas.openxmlformats.org/presentationml/2006/ole">
            <p:oleObj spid="_x0000_s35845" name="Equation" r:id="rId5" imgW="1434960" imgH="660240" progId="Equation.3">
              <p:embed/>
            </p:oleObj>
          </a:graphicData>
        </a:graphic>
      </p:graphicFrame>
      <p:sp>
        <p:nvSpPr>
          <p:cNvPr id="24" name="오른쪽 화살표 23"/>
          <p:cNvSpPr/>
          <p:nvPr/>
        </p:nvSpPr>
        <p:spPr>
          <a:xfrm>
            <a:off x="1020738" y="3602356"/>
            <a:ext cx="571504" cy="35719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3929058" y="5327028"/>
            <a:ext cx="357190" cy="500066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/>
          <p:nvPr/>
        </p:nvCxnSpPr>
        <p:spPr>
          <a:xfrm rot="10800000">
            <a:off x="4286248" y="5643578"/>
            <a:ext cx="135732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43570" y="5572140"/>
            <a:ext cx="2710999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s-wave scattering length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Scattering problem</a:t>
            </a:r>
            <a:endParaRPr lang="ko-KR" altLang="en-US" dirty="0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4602480" y="1071546"/>
          <a:ext cx="692150" cy="425450"/>
        </p:xfrm>
        <a:graphic>
          <a:graphicData uri="http://schemas.openxmlformats.org/presentationml/2006/ole">
            <p:oleObj spid="_x0000_s34818" name="Equation" r:id="rId3" imgW="330120" imgH="203040" progId="Equation.3">
              <p:embed/>
            </p:oleObj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28728" y="1092184"/>
            <a:ext cx="3571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For a given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Interparticle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potential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2857488" y="1571612"/>
          <a:ext cx="2485344" cy="890730"/>
        </p:xfrm>
        <a:graphic>
          <a:graphicData uri="http://schemas.openxmlformats.org/presentationml/2006/ole">
            <p:oleObj spid="_x0000_s34819" name="Equation" r:id="rId4" imgW="1168200" imgH="419040" progId="Equation.3">
              <p:embed/>
            </p:oleObj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2785732" y="2582540"/>
          <a:ext cx="717550" cy="425450"/>
        </p:xfrm>
        <a:graphic>
          <a:graphicData uri="http://schemas.openxmlformats.org/presentationml/2006/ole">
            <p:oleObj spid="_x0000_s34820" name="Equation" r:id="rId5" imgW="342720" imgH="203040" progId="Equation.3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43306" y="2613020"/>
            <a:ext cx="2786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 Scattering amplitude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9848" y="3286124"/>
            <a:ext cx="2786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Partial wave description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1928794" y="3714752"/>
          <a:ext cx="3500462" cy="782926"/>
        </p:xfrm>
        <a:graphic>
          <a:graphicData uri="http://schemas.openxmlformats.org/presentationml/2006/ole">
            <p:oleObj spid="_x0000_s34821" name="Equation" r:id="rId6" imgW="1930320" imgH="431640" progId="Equation.3">
              <p:embed/>
            </p:oleObj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1928794" y="4572008"/>
          <a:ext cx="3428070" cy="857373"/>
        </p:xfrm>
        <a:graphic>
          <a:graphicData uri="http://schemas.openxmlformats.org/presentationml/2006/ole">
            <p:oleObj spid="_x0000_s34822" name="Equation" r:id="rId7" imgW="1828800" imgH="457200" progId="Equation.3">
              <p:embed/>
            </p:oleObj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2000232" y="5643578"/>
          <a:ext cx="3071834" cy="809575"/>
        </p:xfrm>
        <a:graphic>
          <a:graphicData uri="http://schemas.openxmlformats.org/presentationml/2006/ole">
            <p:oleObj spid="_x0000_s34823" name="Equation" r:id="rId8" imgW="1638000" imgH="431640" progId="Equation.3">
              <p:embed/>
            </p:oleObj>
          </a:graphicData>
        </a:graphic>
      </p:graphicFrame>
      <p:grpSp>
        <p:nvGrpSpPr>
          <p:cNvPr id="15" name="그룹 14"/>
          <p:cNvGrpSpPr/>
          <p:nvPr/>
        </p:nvGrpSpPr>
        <p:grpSpPr>
          <a:xfrm>
            <a:off x="4500562" y="4643446"/>
            <a:ext cx="2749634" cy="771524"/>
            <a:chOff x="4500562" y="4643446"/>
            <a:chExt cx="2749634" cy="771524"/>
          </a:xfrm>
        </p:grpSpPr>
        <p:sp>
          <p:nvSpPr>
            <p:cNvPr id="16" name="타원 15"/>
            <p:cNvSpPr/>
            <p:nvPr/>
          </p:nvSpPr>
          <p:spPr>
            <a:xfrm>
              <a:off x="4500562" y="5000636"/>
              <a:ext cx="357190" cy="414334"/>
            </a:xfrm>
            <a:prstGeom prst="ellipse">
              <a:avLst/>
            </a:prstGeom>
            <a:no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" name="직선 화살표 연결선 17"/>
            <p:cNvCxnSpPr>
              <a:endCxn id="16" idx="7"/>
            </p:cNvCxnSpPr>
            <p:nvPr/>
          </p:nvCxnSpPr>
          <p:spPr>
            <a:xfrm rot="10800000" flipV="1">
              <a:off x="4805444" y="4786322"/>
              <a:ext cx="1123879" cy="2749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929322" y="4643446"/>
              <a:ext cx="1320874" cy="3693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Arial" pitchFamily="34" charset="0"/>
                  <a:cs typeface="Arial" pitchFamily="34" charset="0"/>
                </a:rPr>
                <a:t>Phase shift</a:t>
              </a:r>
              <a:endParaRPr lang="ko-KR" altLang="en-US" dirty="0"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Cold atom collisions</a:t>
            </a:r>
            <a:endParaRPr lang="ko-KR" altLang="en-US" dirty="0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2643174" y="3071810"/>
          <a:ext cx="2714644" cy="739871"/>
        </p:xfrm>
        <a:graphic>
          <a:graphicData uri="http://schemas.openxmlformats.org/presentationml/2006/ole">
            <p:oleObj spid="_x0000_s37890" name="Equation" r:id="rId3" imgW="1536480" imgH="419040" progId="Equation.3">
              <p:embed/>
            </p:oleObj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0100" y="3286124"/>
            <a:ext cx="1571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For non-zero </a:t>
            </a:r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l, 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728" y="1357298"/>
            <a:ext cx="2786082" cy="95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1000100" y="1071546"/>
            <a:ext cx="2714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van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der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Waals attraction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원호 24"/>
          <p:cNvSpPr/>
          <p:nvPr/>
        </p:nvSpPr>
        <p:spPr>
          <a:xfrm>
            <a:off x="6115061" y="1795018"/>
            <a:ext cx="4217440" cy="1714512"/>
          </a:xfrm>
          <a:prstGeom prst="arc">
            <a:avLst>
              <a:gd name="adj1" fmla="val 10853821"/>
              <a:gd name="adj2" fmla="val 16377483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/>
        </p:nvCxnSpPr>
        <p:spPr>
          <a:xfrm rot="5400000" flipH="1" flipV="1">
            <a:off x="4964909" y="1964521"/>
            <a:ext cx="1643074" cy="158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5500694" y="1714488"/>
            <a:ext cx="300039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rot="5400000" flipH="1" flipV="1">
            <a:off x="4536281" y="1893083"/>
            <a:ext cx="192882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72132" y="1357298"/>
            <a:ext cx="335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r</a:t>
            </a:r>
            <a:r>
              <a:rPr lang="en-US" altLang="ko-KR" baseline="-25000" dirty="0" err="1" smtClean="0"/>
              <a:t>c</a:t>
            </a:r>
            <a:endParaRPr lang="ko-KR" altLang="en-US" baseline="-25000" dirty="0"/>
          </a:p>
        </p:txBody>
      </p:sp>
      <p:cxnSp>
        <p:nvCxnSpPr>
          <p:cNvPr id="36" name="직선 연결선 35"/>
          <p:cNvCxnSpPr/>
          <p:nvPr/>
        </p:nvCxnSpPr>
        <p:spPr>
          <a:xfrm rot="5400000">
            <a:off x="6250793" y="1821645"/>
            <a:ext cx="164307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43768" y="12858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</a:t>
            </a:r>
            <a:r>
              <a:rPr lang="en-US" altLang="ko-KR" baseline="-25000" dirty="0" smtClean="0"/>
              <a:t>c</a:t>
            </a:r>
            <a:endParaRPr lang="ko-KR" altLang="en-US" baseline="-25000" dirty="0"/>
          </a:p>
        </p:txBody>
      </p:sp>
      <p:sp>
        <p:nvSpPr>
          <p:cNvPr id="38" name="TextBox 37"/>
          <p:cNvSpPr txBox="1"/>
          <p:nvPr/>
        </p:nvSpPr>
        <p:spPr>
          <a:xfrm>
            <a:off x="4929190" y="928670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V(r)</a:t>
            </a:r>
            <a:endParaRPr lang="ko-KR" altLang="en-US" baseline="-25000" dirty="0"/>
          </a:p>
        </p:txBody>
      </p:sp>
      <p:sp>
        <p:nvSpPr>
          <p:cNvPr id="39" name="TextBox 38"/>
          <p:cNvSpPr txBox="1"/>
          <p:nvPr/>
        </p:nvSpPr>
        <p:spPr>
          <a:xfrm>
            <a:off x="8358214" y="1785926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</a:t>
            </a:r>
            <a:endParaRPr lang="ko-KR" altLang="en-US" baseline="-25000" dirty="0"/>
          </a:p>
        </p:txBody>
      </p:sp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3214678" y="2214554"/>
          <a:ext cx="1817688" cy="830263"/>
        </p:xfrm>
        <a:graphic>
          <a:graphicData uri="http://schemas.openxmlformats.org/presentationml/2006/ole">
            <p:oleObj spid="_x0000_s37897" name="Equation" r:id="rId5" imgW="1028520" imgH="469800" progId="Equation.3">
              <p:embed/>
            </p:oleObj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000100" y="2500306"/>
            <a:ext cx="2143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Characteristic length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9974" y="4131690"/>
            <a:ext cx="2071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Centrifugal barrier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7898" name="Object 10"/>
          <p:cNvGraphicFramePr>
            <a:graphicFrameLocks noChangeAspect="1"/>
          </p:cNvGraphicFramePr>
          <p:nvPr/>
        </p:nvGraphicFramePr>
        <p:xfrm>
          <a:off x="3101676" y="3917376"/>
          <a:ext cx="2041525" cy="806450"/>
        </p:xfrm>
        <a:graphic>
          <a:graphicData uri="http://schemas.openxmlformats.org/presentationml/2006/ole">
            <p:oleObj spid="_x0000_s37898" name="Equation" r:id="rId6" imgW="1155600" imgH="457200" progId="Equation.3">
              <p:embed/>
            </p:oleObj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029974" y="4857760"/>
            <a:ext cx="689961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For gases in the sub-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milikelvin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regime, only s-wave collisions are 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relevant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. 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7901" name="Picture 1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857356" y="5286388"/>
            <a:ext cx="2500330" cy="817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" name="Picture 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480242" y="5316868"/>
            <a:ext cx="2286016" cy="76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TextBox 49"/>
          <p:cNvSpPr txBox="1"/>
          <p:nvPr/>
        </p:nvSpPr>
        <p:spPr>
          <a:xfrm>
            <a:off x="4051932" y="6335615"/>
            <a:ext cx="152798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Scattering length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062356" y="6327160"/>
            <a:ext cx="137563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Effective range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 rot="5400000" flipH="1" flipV="1">
            <a:off x="5052064" y="6173806"/>
            <a:ext cx="28575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51" idx="1"/>
          </p:cNvCxnSpPr>
          <p:nvPr/>
        </p:nvCxnSpPr>
        <p:spPr>
          <a:xfrm rot="10800000">
            <a:off x="5848042" y="6112847"/>
            <a:ext cx="214314" cy="3682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1" grpId="0"/>
      <p:bldP spid="42" grpId="0" animBg="1"/>
      <p:bldP spid="50" grpId="0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Scattering length</a:t>
            </a:r>
            <a:endParaRPr lang="ko-KR" altLang="en-US" dirty="0"/>
          </a:p>
        </p:txBody>
      </p:sp>
      <p:sp>
        <p:nvSpPr>
          <p:cNvPr id="25" name="원호 24"/>
          <p:cNvSpPr/>
          <p:nvPr/>
        </p:nvSpPr>
        <p:spPr>
          <a:xfrm>
            <a:off x="1571604" y="1928802"/>
            <a:ext cx="4217440" cy="1714512"/>
          </a:xfrm>
          <a:prstGeom prst="arc">
            <a:avLst>
              <a:gd name="adj1" fmla="val 10853821"/>
              <a:gd name="adj2" fmla="val 16377483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/>
        </p:nvCxnSpPr>
        <p:spPr>
          <a:xfrm rot="5400000" flipH="1" flipV="1">
            <a:off x="421452" y="1892289"/>
            <a:ext cx="1643074" cy="158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957237" y="1847478"/>
            <a:ext cx="300039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rot="5400000" flipH="1" flipV="1">
            <a:off x="-7176" y="1892289"/>
            <a:ext cx="192882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28675" y="1490288"/>
            <a:ext cx="335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r</a:t>
            </a:r>
            <a:r>
              <a:rPr lang="en-US" altLang="ko-KR" baseline="-25000" dirty="0" err="1" smtClean="0"/>
              <a:t>c</a:t>
            </a:r>
            <a:endParaRPr lang="ko-KR" altLang="en-US" baseline="-25000" dirty="0"/>
          </a:p>
        </p:txBody>
      </p:sp>
      <p:cxnSp>
        <p:nvCxnSpPr>
          <p:cNvPr id="36" name="직선 연결선 35"/>
          <p:cNvCxnSpPr/>
          <p:nvPr/>
        </p:nvCxnSpPr>
        <p:spPr>
          <a:xfrm rot="5400000">
            <a:off x="1707336" y="1954635"/>
            <a:ext cx="164307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00311" y="141885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</a:t>
            </a:r>
            <a:r>
              <a:rPr lang="en-US" altLang="ko-KR" baseline="-25000" dirty="0" smtClean="0"/>
              <a:t>c</a:t>
            </a:r>
            <a:endParaRPr lang="ko-KR" altLang="en-US" baseline="-25000" dirty="0"/>
          </a:p>
        </p:txBody>
      </p:sp>
      <p:sp>
        <p:nvSpPr>
          <p:cNvPr id="38" name="TextBox 37"/>
          <p:cNvSpPr txBox="1"/>
          <p:nvPr/>
        </p:nvSpPr>
        <p:spPr>
          <a:xfrm>
            <a:off x="357158" y="1500174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V(r)</a:t>
            </a:r>
            <a:endParaRPr lang="ko-KR" altLang="en-US" baseline="-25000" dirty="0"/>
          </a:p>
        </p:txBody>
      </p:sp>
      <p:sp>
        <p:nvSpPr>
          <p:cNvPr id="39" name="TextBox 38"/>
          <p:cNvSpPr txBox="1"/>
          <p:nvPr/>
        </p:nvSpPr>
        <p:spPr>
          <a:xfrm>
            <a:off x="3814757" y="1918916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</a:t>
            </a:r>
            <a:endParaRPr lang="ko-KR" altLang="en-US" baseline="-25000" dirty="0"/>
          </a:p>
        </p:txBody>
      </p:sp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3219333"/>
            <a:ext cx="3286148" cy="711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642910" y="2862143"/>
          <a:ext cx="3548063" cy="428625"/>
        </p:xfrm>
        <a:graphic>
          <a:graphicData uri="http://schemas.openxmlformats.org/presentationml/2006/ole">
            <p:oleObj spid="_x0000_s38922" name="Equation" r:id="rId4" imgW="1892160" imgH="228600" progId="Equation.3">
              <p:embed/>
            </p:oleObj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42910" y="3433647"/>
            <a:ext cx="1132041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WKB phase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8923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94020" y="147572"/>
            <a:ext cx="3429024" cy="6625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4" name="Picture 1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5400000">
            <a:off x="1198086" y="3252280"/>
            <a:ext cx="293270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Effective potential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928662" y="1428736"/>
            <a:ext cx="6899612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In the regime of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ultracold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collision,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ka</a:t>
            </a:r>
            <a:r>
              <a:rPr lang="en-US" altLang="ko-KR" sz="1600" baseline="-25000" dirty="0" err="1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&lt;&lt;1</a:t>
            </a:r>
          </a:p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 two-body collision is completely specified by a single parameter</a:t>
            </a:r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, a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2285992"/>
            <a:ext cx="246697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2143116"/>
            <a:ext cx="3429024" cy="83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3" name="오른쪽 화살표 42"/>
          <p:cNvSpPr/>
          <p:nvPr/>
        </p:nvSpPr>
        <p:spPr>
          <a:xfrm>
            <a:off x="4000496" y="2500306"/>
            <a:ext cx="357190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4929190" y="3071810"/>
            <a:ext cx="247163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Effective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pseudopotential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1785918" y="4357694"/>
          <a:ext cx="5429288" cy="987143"/>
        </p:xfrm>
        <a:graphic>
          <a:graphicData uri="http://schemas.openxmlformats.org/presentationml/2006/ole">
            <p:oleObj spid="_x0000_s39939" name="Equation" r:id="rId5" imgW="2654280" imgH="482400" progId="Equation.3">
              <p:embed/>
            </p:oleObj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1142976" y="3786190"/>
            <a:ext cx="394210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Realizing the toy-model Hamiltonian,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Sign of scattering length and energy shift </a:t>
            </a:r>
            <a:endParaRPr lang="ko-KR" altLang="en-US" dirty="0"/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92" y="1357298"/>
            <a:ext cx="5100628" cy="4914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714348" y="1428736"/>
          <a:ext cx="2703111" cy="817051"/>
        </p:xfrm>
        <a:graphic>
          <a:graphicData uri="http://schemas.openxmlformats.org/presentationml/2006/ole">
            <p:oleObj spid="_x0000_s40964" name="Equation" r:id="rId4" imgW="1384200" imgH="419040" progId="Equation.3">
              <p:embed/>
            </p:oleObj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4572000" y="1071546"/>
          <a:ext cx="1611312" cy="395288"/>
        </p:xfrm>
        <a:graphic>
          <a:graphicData uri="http://schemas.openxmlformats.org/presentationml/2006/ole">
            <p:oleObj spid="_x0000_s40965" name="Equation" r:id="rId5" imgW="825480" imgH="20304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1472" y="3000372"/>
            <a:ext cx="2890535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Attractive potential </a:t>
            </a:r>
          </a:p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pulling in the </a:t>
            </a:r>
            <a:r>
              <a:rPr lang="en-US" altLang="ko-KR" dirty="0" err="1" smtClean="0">
                <a:latin typeface="Arial" pitchFamily="34" charset="0"/>
                <a:cs typeface="Arial" pitchFamily="34" charset="0"/>
              </a:rPr>
              <a:t>wavefunction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472" y="4714884"/>
            <a:ext cx="317266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Repulsive potential </a:t>
            </a:r>
          </a:p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pushing out the </a:t>
            </a:r>
            <a:r>
              <a:rPr lang="en-US" altLang="ko-KR" dirty="0" err="1" smtClean="0">
                <a:latin typeface="Arial" pitchFamily="34" charset="0"/>
                <a:cs typeface="Arial" pitchFamily="34" charset="0"/>
              </a:rPr>
              <a:t>wavefunction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472" y="6072206"/>
            <a:ext cx="308289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i="1" dirty="0" smtClean="0">
                <a:latin typeface="Arial" pitchFamily="34" charset="0"/>
                <a:cs typeface="Arial" pitchFamily="34" charset="0"/>
              </a:rPr>
              <a:t>Corresponding energy shift?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Criterion of Bose-Einstein condensation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85918" y="1071546"/>
            <a:ext cx="6000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 density matrix of a given many-body state of N-bosons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7417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099691"/>
            <a:ext cx="357190" cy="370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08" y="1554492"/>
            <a:ext cx="28194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9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08345" y="2214554"/>
            <a:ext cx="8191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20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38442" y="2249780"/>
            <a:ext cx="59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21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643174" y="3357562"/>
            <a:ext cx="3295650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29" name="TextBox 28"/>
          <p:cNvSpPr txBox="1"/>
          <p:nvPr/>
        </p:nvSpPr>
        <p:spPr>
          <a:xfrm>
            <a:off x="4071934" y="1689301"/>
            <a:ext cx="3143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 single-particle density matrix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오른쪽 화살표 29"/>
          <p:cNvSpPr/>
          <p:nvPr/>
        </p:nvSpPr>
        <p:spPr>
          <a:xfrm>
            <a:off x="1500166" y="2357430"/>
            <a:ext cx="21431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3714744" y="2257847"/>
            <a:ext cx="4214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 corresponding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eigenfunctions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and values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28794" y="2857496"/>
            <a:ext cx="492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Macroscopic occupation of  a single quantum 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state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7424" name="Picture 1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643174" y="4000504"/>
            <a:ext cx="4381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extBox 33"/>
          <p:cNvSpPr txBox="1"/>
          <p:nvPr/>
        </p:nvSpPr>
        <p:spPr>
          <a:xfrm>
            <a:off x="3143240" y="4071942"/>
            <a:ext cx="3287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wavefunction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of a condensate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7" name="Picture 1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357422" y="5072074"/>
            <a:ext cx="5150680" cy="50996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38" name="Picture 1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643174" y="5715016"/>
            <a:ext cx="3857652" cy="32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TextBox 38"/>
          <p:cNvSpPr txBox="1"/>
          <p:nvPr/>
        </p:nvSpPr>
        <p:spPr>
          <a:xfrm>
            <a:off x="1357290" y="4643446"/>
            <a:ext cx="2571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Penrose &amp; Onsager (1956)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66582" y="6215082"/>
            <a:ext cx="556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Yang (1962):  </a:t>
            </a:r>
            <a:r>
              <a:rPr lang="en-US" altLang="ko-KR" i="1" dirty="0" smtClean="0">
                <a:latin typeface="Arial" pitchFamily="34" charset="0"/>
                <a:cs typeface="Arial" pitchFamily="34" charset="0"/>
              </a:rPr>
              <a:t>off-diagonal long-range order  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(ODLRO)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500034" y="4500570"/>
            <a:ext cx="8072494" cy="1588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/>
      <p:bldP spid="30" grpId="0" animBg="1"/>
      <p:bldP spid="31" grpId="0"/>
      <p:bldP spid="32" grpId="0"/>
      <p:bldP spid="34" grpId="0"/>
      <p:bldP spid="39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Order Parameter for BEC</a:t>
            </a:r>
            <a:endParaRPr lang="ko-KR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84" y="5311148"/>
            <a:ext cx="4071966" cy="11182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4572008"/>
            <a:ext cx="4143404" cy="67679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91792" y="1000108"/>
            <a:ext cx="7837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3388" indent="-1703388"/>
            <a:r>
              <a:rPr lang="en-US" altLang="ko-KR" sz="1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Order parameter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: necessary to describe the dynamics of a new phase, which                                      vanishes in one phase and becomes non-zero in the other phase.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643050"/>
            <a:ext cx="678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ODLRO:  not determined by local dynamical variables</a:t>
            </a:r>
          </a:p>
          <a:p>
            <a:pPr marL="720725" indent="-720725"/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	   not applicable to a finite-size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72" y="2285992"/>
            <a:ext cx="4980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Superfluid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density, condensate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wavefunction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, etc..</a:t>
            </a: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4429132"/>
            <a:ext cx="2997356" cy="75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52" y="5286388"/>
            <a:ext cx="2071702" cy="415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92110" y="3277648"/>
            <a:ext cx="8123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Discovery of Josephson effect 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 Existence of a definable phase in every part of system</a:t>
            </a:r>
            <a:endParaRPr lang="en-US" altLang="ko-KR" sz="16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737" y="2745793"/>
            <a:ext cx="3857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Spontaneous symmetry breaking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 </a:t>
            </a:r>
          </a:p>
        </p:txBody>
      </p:sp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5400000">
            <a:off x="2832702" y="2025026"/>
            <a:ext cx="635340" cy="4157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928662" y="5929330"/>
            <a:ext cx="371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U(1) gauge symmetry is broken !!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5715008" y="6429396"/>
            <a:ext cx="1857388" cy="1588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Mean-field description of a dilute Bose gas</a:t>
            </a:r>
            <a:endParaRPr lang="ko-KR" altLang="en-US" dirty="0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1285852" y="1071546"/>
          <a:ext cx="3321050" cy="504825"/>
        </p:xfrm>
        <a:graphic>
          <a:graphicData uri="http://schemas.openxmlformats.org/presentationml/2006/ole">
            <p:oleObj spid="_x0000_s43010" name="Equation" r:id="rId3" imgW="1587240" imgH="241200" progId="Equation.3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29256" y="1142984"/>
            <a:ext cx="1928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Bogoliubov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(1947)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3108" y="1857364"/>
            <a:ext cx="1928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Complex number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3860613" y="1785921"/>
          <a:ext cx="1046345" cy="571509"/>
        </p:xfrm>
        <a:graphic>
          <a:graphicData uri="http://schemas.openxmlformats.org/presentationml/2006/ole">
            <p:oleObj spid="_x0000_s43012" name="Equation" r:id="rId4" imgW="558720" imgH="304560" progId="Equation.3">
              <p:embed/>
            </p:oleObj>
          </a:graphicData>
        </a:graphic>
      </p:graphicFrame>
      <p:cxnSp>
        <p:nvCxnSpPr>
          <p:cNvPr id="9" name="직선 화살표 연결선 8"/>
          <p:cNvCxnSpPr/>
          <p:nvPr/>
        </p:nvCxnSpPr>
        <p:spPr>
          <a:xfrm rot="5400000" flipH="1" flipV="1">
            <a:off x="2714612" y="1714488"/>
            <a:ext cx="285752" cy="158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428596" y="2428868"/>
          <a:ext cx="8215338" cy="782629"/>
        </p:xfrm>
        <a:graphic>
          <a:graphicData uri="http://schemas.openxmlformats.org/presentationml/2006/ole">
            <p:oleObj spid="_x0000_s43013" name="Equation" r:id="rId5" imgW="5067000" imgH="482400" progId="Equation.3">
              <p:embed/>
            </p:oleObj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857224" y="3286124"/>
          <a:ext cx="6773862" cy="782637"/>
        </p:xfrm>
        <a:graphic>
          <a:graphicData uri="http://schemas.openxmlformats.org/presentationml/2006/ole">
            <p:oleObj spid="_x0000_s43015" name="Equation" r:id="rId6" imgW="4178160" imgH="482400" progId="Equation.3">
              <p:embed/>
            </p:oleObj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473215" y="4857760"/>
          <a:ext cx="5313363" cy="782637"/>
        </p:xfrm>
        <a:graphic>
          <a:graphicData uri="http://schemas.openxmlformats.org/presentationml/2006/ole">
            <p:oleObj spid="_x0000_s43016" name="Equation" r:id="rId7" imgW="3276360" imgH="482400" progId="Equation.3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87463" y="4357694"/>
            <a:ext cx="3357586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Gross-</a:t>
            </a:r>
            <a:r>
              <a:rPr lang="en-US" altLang="ko-KR" sz="1600" i="1" dirty="0" err="1" smtClean="0">
                <a:latin typeface="Arial" pitchFamily="34" charset="0"/>
                <a:cs typeface="Arial" pitchFamily="34" charset="0"/>
              </a:rPr>
              <a:t>Pitaevskii</a:t>
            </a:r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 (GP) equation</a:t>
            </a:r>
          </a:p>
        </p:txBody>
      </p:sp>
      <p:pic>
        <p:nvPicPr>
          <p:cNvPr id="43017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357818" y="5786454"/>
            <a:ext cx="3071834" cy="783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714348" y="5884127"/>
            <a:ext cx="4714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A simplest approximation for many-body states</a:t>
            </a:r>
          </a:p>
          <a:p>
            <a:pPr marL="720725" indent="-720725"/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 a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product of a single-particle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wavefunction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Is it necessary to break the gauge symmetry? 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14348" y="4929198"/>
            <a:ext cx="678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Optical coherence: a convenient fiction. K.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Molmer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, PRA 55, 3195 (1997)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71612"/>
            <a:ext cx="6403474" cy="24717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2428868"/>
            <a:ext cx="6331427" cy="22860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1428728" y="5500702"/>
            <a:ext cx="5929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There is no way to measure the absolute phase.</a:t>
            </a:r>
          </a:p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Only relative phases are experimentally observable.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2976" y="1000108"/>
            <a:ext cx="4214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n-US" altLang="ko-KR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Violating the super-selection rule !!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Phase coherence of BEC</a:t>
            </a:r>
            <a:endParaRPr lang="ko-KR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60000">
            <a:off x="4913346" y="1475033"/>
            <a:ext cx="1503307" cy="2017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60000">
            <a:off x="4052188" y="1638642"/>
            <a:ext cx="542630" cy="492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60000">
            <a:off x="3692162" y="3412562"/>
            <a:ext cx="831944" cy="2915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직선 연결선 12"/>
          <p:cNvCxnSpPr/>
          <p:nvPr/>
        </p:nvCxnSpPr>
        <p:spPr>
          <a:xfrm rot="5400000">
            <a:off x="464315" y="2536025"/>
            <a:ext cx="150019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1214414" y="3286124"/>
            <a:ext cx="257176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rot="5400000" flipH="1" flipV="1">
            <a:off x="3001158" y="2499512"/>
            <a:ext cx="157163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214414" y="2786058"/>
            <a:ext cx="2571768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rot="5400000">
            <a:off x="892943" y="2536025"/>
            <a:ext cx="150019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rot="5400000">
            <a:off x="1320777" y="2535231"/>
            <a:ext cx="150019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rot="5400000">
            <a:off x="1749405" y="2535231"/>
            <a:ext cx="150019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5400000">
            <a:off x="2178033" y="2535231"/>
            <a:ext cx="150019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rot="5400000">
            <a:off x="2625591" y="2535231"/>
            <a:ext cx="150019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14546" y="24288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altLang="ko-KR" baseline="-25000" dirty="0" smtClean="0">
                <a:latin typeface="Arial" pitchFamily="34" charset="0"/>
                <a:cs typeface="Arial" pitchFamily="34" charset="0"/>
              </a:rPr>
              <a:t>0</a:t>
            </a:r>
            <a:endParaRPr lang="ko-KR" altLang="en-US" baseline="-25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43042" y="1571612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i-1    </a:t>
            </a:r>
            <a:r>
              <a:rPr lang="en-US" altLang="ko-KR" dirty="0" err="1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    i+1  …</a:t>
            </a:r>
            <a:endParaRPr lang="ko-KR" altLang="en-US" baseline="-25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4572000" y="4357694"/>
            <a:ext cx="1000132" cy="1000132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/>
          <p:cNvCxnSpPr/>
          <p:nvPr/>
        </p:nvCxnSpPr>
        <p:spPr>
          <a:xfrm rot="5400000" flipH="1" flipV="1">
            <a:off x="4393405" y="5393545"/>
            <a:ext cx="428628" cy="35719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928926" y="5786454"/>
            <a:ext cx="2857520" cy="369332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Phase coherence of BEC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12836</TotalTime>
  <Words>409</Words>
  <Application>Microsoft Office PowerPoint</Application>
  <PresentationFormat>On-screen Show (4:3)</PresentationFormat>
  <Paragraphs>68</Paragraphs>
  <Slides>12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테마</vt:lpstr>
      <vt:lpstr>Equation</vt:lpstr>
      <vt:lpstr>Lecture 4: Description of BEC</vt:lpstr>
      <vt:lpstr>Many-body Hamiltonian in cold atom gases</vt:lpstr>
      <vt:lpstr>Scattering problem</vt:lpstr>
      <vt:lpstr>Cold atom collisions</vt:lpstr>
      <vt:lpstr>Scattering length</vt:lpstr>
      <vt:lpstr>Effective potential</vt:lpstr>
      <vt:lpstr>Sign of scattering length and energy shift </vt:lpstr>
      <vt:lpstr>Criterion of Bose-Einstein condensation </vt:lpstr>
      <vt:lpstr>Order Parameter for BEC</vt:lpstr>
      <vt:lpstr>Mean-field description of a dilute Bose gas</vt:lpstr>
      <vt:lpstr>Is it necessary to break the gauge symmetry? </vt:lpstr>
      <vt:lpstr>Phase coherence of BEC</vt:lpstr>
    </vt:vector>
  </TitlesOfParts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BEC 04</dc:title>
  <dc:creator>Yong-il Shin</dc:creator>
  <cp:keywords/>
  <cp:lastModifiedBy>경원 안</cp:lastModifiedBy>
  <cp:revision>745</cp:revision>
  <dcterms:created xsi:type="dcterms:W3CDTF">2009-10-08T05:47:00Z</dcterms:created>
  <dcterms:modified xsi:type="dcterms:W3CDTF">2009-10-08T05:47:20Z</dcterms:modified>
</cp:coreProperties>
</file>