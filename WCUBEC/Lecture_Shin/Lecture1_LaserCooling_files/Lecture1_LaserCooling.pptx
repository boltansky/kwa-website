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embeddings/Microsoft_Equation15.bin" ContentType="application/vnd.openxmlformats-officedocument.oleObject"/>
  <Override PartName="/ppt/embeddings/Microsoft_Equation22.bin" ContentType="application/vnd.openxmlformats-officedocument.oleObject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embeddings/Microsoft_Equation8.bin" ContentType="application/vnd.openxmlformats-officedocument.oleObject"/>
  <Override PartName="/ppt/embeddings/Microsoft_Equation16.bin" ContentType="application/vnd.openxmlformats-officedocument.oleObject"/>
  <Override PartName="/ppt/embeddings/Microsoft_Equation25.bin" ContentType="application/vnd.openxmlformats-officedocument.oleObject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Default Extension="wmf" ContentType="image/x-wmf"/>
  <Override PartName="/ppt/embeddings/Microsoft_Equation12.bin" ContentType="application/vnd.openxmlformats-officedocument.oleObject"/>
  <Override PartName="/ppt/embeddings/Microsoft_Equation14.bin" ContentType="application/vnd.openxmlformats-officedocument.oleObject"/>
  <Override PartName="/ppt/embeddings/Microsoft_Equation19.bin" ContentType="application/vnd.openxmlformats-officedocument.oleObject"/>
  <Override PartName="/ppt/embeddings/Microsoft_Equation2.bin" ContentType="application/vnd.openxmlformats-officedocument.oleObject"/>
  <Override PartName="/ppt/embeddings/Microsoft_Equation11.bin" ContentType="application/vnd.openxmlformats-officedocument.oleObject"/>
  <Override PartName="/ppt/embeddings/Microsoft_Equation20.bin" ContentType="application/vnd.openxmlformats-officedocument.oleObject"/>
  <Override PartName="/ppt/embeddings/Microsoft_Equation4.bin" ContentType="application/vnd.openxmlformats-officedocument.oleObject"/>
  <Override PartName="/ppt/embeddings/Microsoft_Equation26.bin" ContentType="application/vnd.openxmlformats-officedocument.oleObject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embeddings/Microsoft_Equation23.bin" ContentType="application/vnd.openxmlformats-officedocument.oleObject"/>
  <Override PartName="/ppt/embeddings/Microsoft_Equation10.bin" ContentType="application/vnd.openxmlformats-officedocument.oleObject"/>
  <Override PartName="/ppt/embeddings/Microsoft_Equation5.bin" ContentType="application/vnd.openxmlformats-officedocument.oleObject"/>
  <Override PartName="/ppt/embeddings/Microsoft_Equation7.bin" ContentType="application/vnd.openxmlformats-officedocument.oleObject"/>
  <Override PartName="/ppt/embeddings/Microsoft_Equation18.bin" ContentType="application/vnd.openxmlformats-officedocument.oleObject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embeddings/Microsoft_Equation13.bin" ContentType="application/vnd.openxmlformats-officedocument.oleObject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Default Extension="vml" ContentType="application/vnd.openxmlformats-officedocument.vmlDrawin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.bin" ContentType="application/vnd.openxmlformats-officedocument.oleObject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embeddings/Microsoft_Equation24.bin" ContentType="application/vnd.openxmlformats-officedocument.oleObject"/>
  <Override PartName="/ppt/embeddings/Microsoft_Equation27.bin" ContentType="application/vnd.openxmlformats-officedocument.oleObject"/>
  <Override PartName="/ppt/slides/slide8.xml" ContentType="application/vnd.openxmlformats-officedocument.presentationml.slide+xml"/>
  <Override PartName="/ppt/embeddings/Microsoft_Equation9.bin" ContentType="application/vnd.openxmlformats-officedocument.oleObject"/>
  <Default Extension="bin" ContentType="application/vnd.openxmlformats-officedocument.presentationml.printerSettings"/>
  <Override PartName="/ppt/embeddings/Microsoft_Equation6.bin" ContentType="application/vnd.openxmlformats-officedocument.oleObject"/>
  <Default Extension="rels" ContentType="application/vnd.openxmlformats-package.relationships+xml"/>
  <Override PartName="/ppt/slides/slide9.xml" ContentType="application/vnd.openxmlformats-officedocument.presentationml.slide+xml"/>
  <Override PartName="/ppt/embeddings/Microsoft_Equation3.bin" ContentType="application/vnd.openxmlformats-officedocument.oleObject"/>
  <Override PartName="/ppt/embeddings/Microsoft_Equation17.bin" ContentType="application/vnd.openxmlformats-officedocument.oleObject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embeddings/Microsoft_Equation21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id="2147483648" r:id="rId1"/>
  </p:sldMasterIdLst>
  <p:notesMasterIdLst>
    <p:notesMasterId r:id="rId16"/>
  </p:notesMasterIdLst>
  <p:sldIdLst>
    <p:sldId id="265" r:id="rId2"/>
    <p:sldId id="266" r:id="rId3"/>
    <p:sldId id="268" r:id="rId4"/>
    <p:sldId id="267" r:id="rId5"/>
    <p:sldId id="260" r:id="rId6"/>
    <p:sldId id="261" r:id="rId7"/>
    <p:sldId id="259" r:id="rId8"/>
    <p:sldId id="269" r:id="rId9"/>
    <p:sldId id="262" r:id="rId10"/>
    <p:sldId id="271" r:id="rId11"/>
    <p:sldId id="272" r:id="rId12"/>
    <p:sldId id="273" r:id="rId13"/>
    <p:sldId id="274" r:id="rId14"/>
    <p:sldId id="276" r:id="rId1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webPr allowPng="1" organizeInFolders="0" useLongFilenames="0" imgSz="1024x768" encoding="windows-1252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 showOutlineIcons="0">
    <p:restoredLeft sz="15620"/>
    <p:restoredTop sz="94660"/>
  </p:normalViewPr>
  <p:slideViewPr>
    <p:cSldViewPr>
      <p:cViewPr varScale="1">
        <p:scale>
          <a:sx n="143" d="100"/>
          <a:sy n="143" d="100"/>
        </p:scale>
        <p:origin x="-125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slide" Target="slides/slide13.xml"/><Relationship Id="rId20" Type="http://schemas.openxmlformats.org/officeDocument/2006/relationships/theme" Target="theme/theme1.xml"/><Relationship Id="rId4" Type="http://schemas.openxmlformats.org/officeDocument/2006/relationships/slide" Target="slides/slide3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2" Type="http://schemas.openxmlformats.org/officeDocument/2006/relationships/slide" Target="slides/slide11.xml"/><Relationship Id="rId17" Type="http://schemas.openxmlformats.org/officeDocument/2006/relationships/printerSettings" Target="printerSettings/printerSettings1.bin"/><Relationship Id="rId19" Type="http://schemas.openxmlformats.org/officeDocument/2006/relationships/viewProps" Target="viewProps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Relationship Id="rId1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4" Type="http://schemas.openxmlformats.org/officeDocument/2006/relationships/image" Target="../media/image10.wmf"/><Relationship Id="rId5" Type="http://schemas.openxmlformats.org/officeDocument/2006/relationships/image" Target="../media/image11.wmf"/><Relationship Id="rId7" Type="http://schemas.openxmlformats.org/officeDocument/2006/relationships/image" Target="../media/image13.wmf"/><Relationship Id="rId1" Type="http://schemas.openxmlformats.org/officeDocument/2006/relationships/image" Target="../media/image7.wmf"/><Relationship Id="rId2" Type="http://schemas.openxmlformats.org/officeDocument/2006/relationships/image" Target="../media/image8.wmf"/><Relationship Id="rId3" Type="http://schemas.openxmlformats.org/officeDocument/2006/relationships/image" Target="../media/image9.wmf"/><Relationship Id="rId6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21.wmf"/><Relationship Id="rId4" Type="http://schemas.openxmlformats.org/officeDocument/2006/relationships/image" Target="../media/image19.wmf"/><Relationship Id="rId1" Type="http://schemas.openxmlformats.org/officeDocument/2006/relationships/image" Target="../media/image16.wmf"/><Relationship Id="rId2" Type="http://schemas.openxmlformats.org/officeDocument/2006/relationships/image" Target="../media/image17.wmf"/><Relationship Id="rId3" Type="http://schemas.openxmlformats.org/officeDocument/2006/relationships/image" Target="../media/image18.wmf"/><Relationship Id="rId5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8.wmf"/><Relationship Id="rId1" Type="http://schemas.openxmlformats.org/officeDocument/2006/relationships/image" Target="../media/image25.wmf"/><Relationship Id="rId2" Type="http://schemas.openxmlformats.org/officeDocument/2006/relationships/image" Target="../media/image26.wmf"/><Relationship Id="rId3" Type="http://schemas.openxmlformats.org/officeDocument/2006/relationships/image" Target="../media/image27.wmf"/><Relationship Id="rId5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3" Type="http://schemas.openxmlformats.org/officeDocument/2006/relationships/image" Target="../media/image34.wmf"/><Relationship Id="rId1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3" Type="http://schemas.openxmlformats.org/officeDocument/2006/relationships/image" Target="../media/image40.wmf"/><Relationship Id="rId1" Type="http://schemas.openxmlformats.org/officeDocument/2006/relationships/image" Target="../media/image3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9EF5C-CBDD-4EEE-992B-82C16AD328B9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FD0D90-0E97-4F4B-85BE-F34323D684C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4348" y="357166"/>
            <a:ext cx="7929618" cy="571504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tx2">
                    <a:lumMod val="75000"/>
                  </a:schemeClr>
                </a:solidFill>
                <a:latin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64294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6.bin"/><Relationship Id="rId4" Type="http://schemas.openxmlformats.org/officeDocument/2006/relationships/oleObject" Target="../embeddings/Microsoft_Equation2.bin"/><Relationship Id="rId10" Type="http://schemas.openxmlformats.org/officeDocument/2006/relationships/oleObject" Target="../embeddings/Microsoft_Equation8.bin"/><Relationship Id="rId5" Type="http://schemas.openxmlformats.org/officeDocument/2006/relationships/oleObject" Target="../embeddings/Microsoft_Equation3.bin"/><Relationship Id="rId7" Type="http://schemas.openxmlformats.org/officeDocument/2006/relationships/oleObject" Target="../embeddings/Microsoft_Equation5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6.xml"/><Relationship Id="rId9" Type="http://schemas.openxmlformats.org/officeDocument/2006/relationships/oleObject" Target="../embeddings/Microsoft_Equation7.bin"/><Relationship Id="rId3" Type="http://schemas.openxmlformats.org/officeDocument/2006/relationships/oleObject" Target="../embeddings/Microsoft_Equation1.bin"/><Relationship Id="rId6" Type="http://schemas.openxmlformats.org/officeDocument/2006/relationships/oleObject" Target="../embeddings/Microsoft_Equation4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14.bin"/><Relationship Id="rId4" Type="http://schemas.openxmlformats.org/officeDocument/2006/relationships/oleObject" Target="../embeddings/Microsoft_Equation10.bin"/><Relationship Id="rId5" Type="http://schemas.openxmlformats.org/officeDocument/2006/relationships/oleObject" Target="../embeddings/Microsoft_Equation11.bin"/><Relationship Id="rId7" Type="http://schemas.openxmlformats.org/officeDocument/2006/relationships/oleObject" Target="../embeddings/Microsoft_Equation13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6.xml"/><Relationship Id="rId9" Type="http://schemas.openxmlformats.org/officeDocument/2006/relationships/image" Target="../media/image22.png"/><Relationship Id="rId3" Type="http://schemas.openxmlformats.org/officeDocument/2006/relationships/oleObject" Target="../embeddings/Microsoft_Equation9.bin"/><Relationship Id="rId6" Type="http://schemas.openxmlformats.org/officeDocument/2006/relationships/oleObject" Target="../embeddings/Microsoft_Equation12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5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6.xml"/><Relationship Id="rId3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20.bin"/><Relationship Id="rId4" Type="http://schemas.openxmlformats.org/officeDocument/2006/relationships/oleObject" Target="../embeddings/Microsoft_Equation16.bin"/><Relationship Id="rId5" Type="http://schemas.openxmlformats.org/officeDocument/2006/relationships/oleObject" Target="../embeddings/Microsoft_Equation17.bin"/><Relationship Id="rId7" Type="http://schemas.openxmlformats.org/officeDocument/2006/relationships/oleObject" Target="../embeddings/Microsoft_Equation19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6.xml"/><Relationship Id="rId9" Type="http://schemas.openxmlformats.org/officeDocument/2006/relationships/image" Target="../media/image31.png"/><Relationship Id="rId3" Type="http://schemas.openxmlformats.org/officeDocument/2006/relationships/image" Target="../media/image30.png"/><Relationship Id="rId6" Type="http://schemas.openxmlformats.org/officeDocument/2006/relationships/oleObject" Target="../embeddings/Microsoft_Equation18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22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21.bin"/><Relationship Id="rId5" Type="http://schemas.openxmlformats.org/officeDocument/2006/relationships/oleObject" Target="../embeddings/Microsoft_Equation23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image" Target="../media/image38.png"/><Relationship Id="rId4" Type="http://schemas.openxmlformats.org/officeDocument/2006/relationships/image" Target="../media/image36.png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24.bin"/><Relationship Id="rId5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26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25.bin"/><Relationship Id="rId5" Type="http://schemas.openxmlformats.org/officeDocument/2006/relationships/oleObject" Target="../embeddings/Microsoft_Equation27.bin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Development of atomic physics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85918" y="1285860"/>
            <a:ext cx="4786346" cy="123110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 smtClean="0"/>
              <a:t>Observation of atoms and molecules</a:t>
            </a:r>
          </a:p>
          <a:p>
            <a:pPr marL="266700" lvl="1">
              <a:buFont typeface="Arial" pitchFamily="34" charset="0"/>
              <a:buChar char="•"/>
            </a:pPr>
            <a:r>
              <a:rPr lang="en-US" altLang="ko-KR" dirty="0" smtClean="0"/>
              <a:t> Emergence of quantum physics</a:t>
            </a:r>
          </a:p>
          <a:p>
            <a:pPr marL="266700" lvl="1">
              <a:buFont typeface="Arial" pitchFamily="34" charset="0"/>
              <a:buChar char="•"/>
            </a:pPr>
            <a:r>
              <a:rPr lang="en-US" altLang="ko-KR" dirty="0" smtClean="0"/>
              <a:t> Invention of lasers</a:t>
            </a:r>
          </a:p>
          <a:p>
            <a:pPr marL="266700" lvl="1">
              <a:buFont typeface="Arial" pitchFamily="34" charset="0"/>
              <a:buChar char="•"/>
            </a:pPr>
            <a:r>
              <a:rPr lang="en-US" altLang="ko-KR" dirty="0" smtClean="0"/>
              <a:t> Spectroscopy of atomic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5918" y="2928934"/>
            <a:ext cx="5643602" cy="150810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 smtClean="0"/>
              <a:t>Manipulation of atoms and molecules</a:t>
            </a:r>
          </a:p>
          <a:p>
            <a:pPr marL="266700">
              <a:buFont typeface="Arial" pitchFamily="34" charset="0"/>
              <a:buChar char="•"/>
            </a:pPr>
            <a:r>
              <a:rPr lang="en-US" altLang="ko-KR" dirty="0" smtClean="0"/>
              <a:t> Control of internal states (e.g. optical pumping)</a:t>
            </a:r>
          </a:p>
          <a:p>
            <a:pPr marL="266700">
              <a:buFont typeface="Arial" pitchFamily="34" charset="0"/>
              <a:buChar char="•"/>
            </a:pPr>
            <a:r>
              <a:rPr lang="en-US" altLang="ko-KR" dirty="0" smtClean="0"/>
              <a:t> Control of external states (e.g. cooling atoms)</a:t>
            </a:r>
          </a:p>
          <a:p>
            <a:pPr marL="266700">
              <a:buFont typeface="Arial" pitchFamily="34" charset="0"/>
              <a:buChar char="•"/>
            </a:pPr>
            <a:r>
              <a:rPr lang="en-US" altLang="ko-KR" dirty="0" smtClean="0"/>
              <a:t> Creating new forms of matter</a:t>
            </a:r>
          </a:p>
          <a:p>
            <a:pPr marL="266700">
              <a:buFont typeface="Arial" pitchFamily="34" charset="0"/>
              <a:buChar char="•"/>
            </a:pPr>
            <a:r>
              <a:rPr lang="en-US" altLang="ko-KR" dirty="0" smtClean="0"/>
              <a:t> Coherent control of atoms and molecules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785919" y="5170560"/>
            <a:ext cx="4857784" cy="1015663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rgbClr val="002060"/>
                </a:solidFill>
              </a:rPr>
              <a:t>Quantum metrology</a:t>
            </a:r>
          </a:p>
          <a:p>
            <a:pPr algn="ctr"/>
            <a:r>
              <a:rPr lang="en-US" altLang="ko-KR" sz="2000" b="1" dirty="0" smtClean="0">
                <a:solidFill>
                  <a:schemeClr val="accent4">
                    <a:lumMod val="75000"/>
                  </a:schemeClr>
                </a:solidFill>
              </a:rPr>
              <a:t>Quantum information science</a:t>
            </a:r>
          </a:p>
          <a:p>
            <a:pPr algn="ctr"/>
            <a:r>
              <a:rPr lang="en-US" altLang="ko-KR" sz="2000" b="1" dirty="0" smtClean="0">
                <a:solidFill>
                  <a:srgbClr val="FFFF00"/>
                </a:solidFill>
              </a:rPr>
              <a:t>Quantum Simulation</a:t>
            </a:r>
            <a:endParaRPr lang="ko-KR" altLang="en-US" sz="2000" b="1" dirty="0">
              <a:solidFill>
                <a:srgbClr val="FFFF00"/>
              </a:solidFill>
            </a:endParaRPr>
          </a:p>
        </p:txBody>
      </p:sp>
      <p:sp>
        <p:nvSpPr>
          <p:cNvPr id="9" name="아래쪽 화살표 8"/>
          <p:cNvSpPr/>
          <p:nvPr/>
        </p:nvSpPr>
        <p:spPr>
          <a:xfrm>
            <a:off x="3759134" y="2643182"/>
            <a:ext cx="714380" cy="2143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아래쪽 화살표 9"/>
          <p:cNvSpPr/>
          <p:nvPr/>
        </p:nvSpPr>
        <p:spPr>
          <a:xfrm>
            <a:off x="3714744" y="4572008"/>
            <a:ext cx="785818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1980-1990</a:t>
            </a:r>
            <a:br>
              <a:rPr lang="en-US" altLang="ko-KR" dirty="0" smtClean="0"/>
            </a:br>
            <a:r>
              <a:rPr lang="en-US" altLang="ko-KR" dirty="0" smtClean="0"/>
              <a:t>Development of various laser cooling technique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85852" y="1928802"/>
            <a:ext cx="3470822" cy="2802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70C0"/>
                </a:solidFill>
              </a:rPr>
              <a:t>Beam Slowing (1982)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70C0"/>
                </a:solidFill>
              </a:rPr>
              <a:t>Optical Molasses (1985)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70C0"/>
                </a:solidFill>
              </a:rPr>
              <a:t>Magnetic Trap (1985)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70C0"/>
                </a:solidFill>
              </a:rPr>
              <a:t>Optical Trap (1986)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70C0"/>
                </a:solidFill>
              </a:rPr>
              <a:t>Sub-Doppler Cooling (1988)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70C0"/>
                </a:solidFill>
              </a:rPr>
              <a:t>Sub-recoil Cooling (1988)</a:t>
            </a:r>
            <a:endParaRPr lang="ko-KR" altLang="en-US" sz="20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14942" y="3714752"/>
            <a:ext cx="2792752" cy="956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C00000"/>
                </a:solidFill>
              </a:rPr>
              <a:t>T</a:t>
            </a:r>
            <a:r>
              <a:rPr lang="en-US" altLang="ko-KR" sz="2000" baseline="-25000" dirty="0" smtClean="0">
                <a:solidFill>
                  <a:srgbClr val="C00000"/>
                </a:solidFill>
              </a:rPr>
              <a:t>D</a:t>
            </a:r>
            <a:r>
              <a:rPr lang="en-US" altLang="ko-KR" sz="2000" dirty="0" smtClean="0">
                <a:solidFill>
                  <a:srgbClr val="C00000"/>
                </a:solidFill>
              </a:rPr>
              <a:t> = 240</a:t>
            </a:r>
            <a:r>
              <a:rPr lang="en-US" altLang="ko-KR" sz="2000" dirty="0" smtClean="0">
                <a:solidFill>
                  <a:srgbClr val="C00000"/>
                </a:solidFill>
                <a:sym typeface="Symbol"/>
              </a:rPr>
              <a:t> </a:t>
            </a:r>
            <a:r>
              <a:rPr lang="en-US" altLang="ko-KR" sz="2000" dirty="0" smtClean="0">
                <a:solidFill>
                  <a:srgbClr val="C00000"/>
                </a:solidFill>
              </a:rPr>
              <a:t>K  (30cm/s)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 smtClean="0">
                <a:solidFill>
                  <a:srgbClr val="C00000"/>
                </a:solidFill>
              </a:rPr>
              <a:t>T</a:t>
            </a:r>
            <a:r>
              <a:rPr lang="en-US" altLang="ko-KR" sz="2000" baseline="-25000" dirty="0" err="1" smtClean="0">
                <a:solidFill>
                  <a:srgbClr val="C00000"/>
                </a:solidFill>
              </a:rPr>
              <a:t>r</a:t>
            </a:r>
            <a:r>
              <a:rPr lang="en-US" altLang="ko-KR" sz="2000" dirty="0" smtClean="0">
                <a:solidFill>
                  <a:srgbClr val="C00000"/>
                </a:solidFill>
              </a:rPr>
              <a:t>  = 2.3 </a:t>
            </a:r>
            <a:r>
              <a:rPr lang="en-US" altLang="ko-KR" sz="2000" dirty="0" smtClean="0">
                <a:solidFill>
                  <a:srgbClr val="C00000"/>
                </a:solidFill>
                <a:sym typeface="Symbol"/>
              </a:rPr>
              <a:t></a:t>
            </a:r>
            <a:r>
              <a:rPr lang="en-US" altLang="ko-KR" sz="2000" dirty="0" smtClean="0">
                <a:solidFill>
                  <a:srgbClr val="C00000"/>
                </a:solidFill>
              </a:rPr>
              <a:t>K  (3cm/s)</a:t>
            </a:r>
            <a:endParaRPr lang="ko-KR" altLang="en-US" sz="2000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4942" y="3429000"/>
            <a:ext cx="1460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For Na atoms</a:t>
            </a:r>
            <a:endParaRPr lang="ko-KR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lasercool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428" y="357166"/>
            <a:ext cx="5228819" cy="61961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Lecture 1: Laser cooling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28728" y="1000108"/>
            <a:ext cx="434926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>
                <a:solidFill>
                  <a:srgbClr val="0070C0"/>
                </a:solidFill>
              </a:rPr>
              <a:t>Structure of alkali atoms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>
                <a:solidFill>
                  <a:srgbClr val="0070C0"/>
                </a:solidFill>
              </a:rPr>
              <a:t>Brief review of two-level system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>
                <a:solidFill>
                  <a:srgbClr val="0070C0"/>
                </a:solidFill>
              </a:rPr>
              <a:t>Photon scattering force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>
                <a:solidFill>
                  <a:srgbClr val="0070C0"/>
                </a:solidFill>
              </a:rPr>
              <a:t>Optical molasses (Doppler cooling)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>
                <a:solidFill>
                  <a:srgbClr val="0070C0"/>
                </a:solidFill>
              </a:rPr>
              <a:t>Sisyphus cooling (sub-Doppler Cooling)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>
                <a:solidFill>
                  <a:srgbClr val="0070C0"/>
                </a:solidFill>
              </a:rPr>
              <a:t>Fundamental limits of laser cooling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4414" y="4429132"/>
            <a:ext cx="7072362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altLang="ko-KR" dirty="0" smtClean="0"/>
              <a:t> Laser Cooling and Trapping : Metcalf &amp; van </a:t>
            </a:r>
            <a:r>
              <a:rPr lang="en-US" altLang="ko-KR" dirty="0" err="1" smtClean="0"/>
              <a:t>der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Straten</a:t>
            </a:r>
            <a:endParaRPr lang="en-US" altLang="ko-KR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dirty="0" smtClean="0"/>
              <a:t> Atom-Photon Interactions : Cohen-</a:t>
            </a:r>
            <a:r>
              <a:rPr lang="en-US" altLang="ko-KR" dirty="0" err="1" smtClean="0"/>
              <a:t>Tannoudji</a:t>
            </a:r>
            <a:r>
              <a:rPr lang="en-US" altLang="ko-KR" dirty="0" smtClean="0"/>
              <a:t> et al.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dirty="0" smtClean="0"/>
              <a:t> Laser Manipulation of Atoms and Ions: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Proceedings of the international school of physics “</a:t>
            </a:r>
            <a:r>
              <a:rPr lang="en-US" altLang="ko-KR" sz="1400" dirty="0" err="1" smtClean="0"/>
              <a:t>Enrico</a:t>
            </a:r>
            <a:r>
              <a:rPr lang="en-US" altLang="ko-KR" sz="1400" dirty="0" smtClean="0"/>
              <a:t> Fermi” Course CXVIII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dirty="0" smtClean="0"/>
              <a:t> Atomic Physics : Foot </a:t>
            </a:r>
            <a:endParaRPr lang="ko-KR" altLang="en-US" dirty="0"/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803956" y="4000504"/>
            <a:ext cx="7929618" cy="5715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References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Energy levels of sodium atom</a:t>
            </a:r>
            <a:endParaRPr lang="ko-KR" alt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071546"/>
            <a:ext cx="4667250" cy="552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52064" y="2758349"/>
            <a:ext cx="4071965" cy="2599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직선 연결선 7"/>
          <p:cNvCxnSpPr/>
          <p:nvPr/>
        </p:nvCxnSpPr>
        <p:spPr>
          <a:xfrm>
            <a:off x="3143240" y="5349200"/>
            <a:ext cx="300039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6215074" y="4643446"/>
          <a:ext cx="2643174" cy="182022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1154"/>
                <a:gridCol w="1682020"/>
              </a:tblGrid>
              <a:tr h="3571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 smtClean="0"/>
                        <a:t>Atom</a:t>
                      </a:r>
                      <a:endParaRPr lang="ko-KR" altLang="en-US" sz="1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 smtClean="0"/>
                        <a:t>Wavelength (nm)</a:t>
                      </a:r>
                      <a:endParaRPr lang="ko-KR" altLang="en-US" sz="1400" baseline="0" dirty="0"/>
                    </a:p>
                  </a:txBody>
                  <a:tcPr/>
                </a:tc>
              </a:tr>
              <a:tr h="9286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30000" dirty="0" smtClean="0"/>
                        <a:t>7</a:t>
                      </a:r>
                      <a:r>
                        <a:rPr lang="en-US" altLang="ko-KR" dirty="0" smtClean="0"/>
                        <a:t>Li</a:t>
                      </a:r>
                    </a:p>
                    <a:p>
                      <a:pPr algn="ctr" latinLnBrk="1"/>
                      <a:r>
                        <a:rPr lang="en-US" altLang="ko-KR" baseline="30000" dirty="0" smtClean="0"/>
                        <a:t>23</a:t>
                      </a:r>
                      <a:r>
                        <a:rPr lang="en-US" altLang="ko-KR" dirty="0" smtClean="0"/>
                        <a:t>Na</a:t>
                      </a:r>
                    </a:p>
                    <a:p>
                      <a:pPr algn="ctr" latinLnBrk="1"/>
                      <a:r>
                        <a:rPr lang="en-US" altLang="ko-KR" baseline="30000" dirty="0" smtClean="0"/>
                        <a:t>41</a:t>
                      </a:r>
                      <a:r>
                        <a:rPr lang="en-US" altLang="ko-KR" dirty="0" smtClean="0"/>
                        <a:t>K</a:t>
                      </a:r>
                    </a:p>
                    <a:p>
                      <a:pPr algn="ctr" latinLnBrk="1"/>
                      <a:r>
                        <a:rPr lang="en-US" altLang="ko-KR" baseline="30000" dirty="0" smtClean="0"/>
                        <a:t>87</a:t>
                      </a:r>
                      <a:r>
                        <a:rPr lang="en-US" altLang="ko-KR" dirty="0" smtClean="0"/>
                        <a:t>Rb</a:t>
                      </a:r>
                    </a:p>
                    <a:p>
                      <a:pPr algn="ctr" latinLnBrk="1"/>
                      <a:r>
                        <a:rPr lang="en-US" altLang="ko-KR" baseline="30000" dirty="0" smtClean="0"/>
                        <a:t>133</a:t>
                      </a:r>
                      <a:r>
                        <a:rPr lang="en-US" altLang="ko-KR" dirty="0" smtClean="0"/>
                        <a:t>Cs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670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589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766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780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852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Hyperfine structure in a static field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6762" y="4026382"/>
            <a:ext cx="378142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1285860"/>
            <a:ext cx="3810000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21623" y="2143116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</a:t>
            </a:r>
            <a:r>
              <a:rPr lang="en-US" altLang="ko-KR" baseline="30000" dirty="0" smtClean="0"/>
              <a:t>2</a:t>
            </a:r>
            <a:r>
              <a:rPr lang="en-US" altLang="ko-KR" dirty="0" smtClean="0"/>
              <a:t>P</a:t>
            </a:r>
            <a:r>
              <a:rPr lang="en-US" altLang="ko-KR" baseline="-25000" dirty="0" smtClean="0"/>
              <a:t>3/2</a:t>
            </a:r>
            <a:endParaRPr lang="ko-KR" altLang="en-US" baseline="-25000" dirty="0"/>
          </a:p>
        </p:txBody>
      </p:sp>
      <p:sp>
        <p:nvSpPr>
          <p:cNvPr id="6" name="TextBox 5"/>
          <p:cNvSpPr txBox="1"/>
          <p:nvPr/>
        </p:nvSpPr>
        <p:spPr>
          <a:xfrm>
            <a:off x="312997" y="4845618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</a:t>
            </a:r>
            <a:r>
              <a:rPr lang="en-US" altLang="ko-KR" baseline="30000" dirty="0" smtClean="0"/>
              <a:t>2</a:t>
            </a:r>
            <a:r>
              <a:rPr lang="en-US" altLang="ko-KR" dirty="0" smtClean="0"/>
              <a:t>S</a:t>
            </a:r>
            <a:r>
              <a:rPr lang="en-US" altLang="ko-KR" baseline="-25000" dirty="0" smtClean="0"/>
              <a:t>1/2</a:t>
            </a:r>
            <a:endParaRPr lang="ko-KR" altLang="en-US" baseline="-25000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628" y="1214422"/>
            <a:ext cx="3938725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Two-level system</a:t>
            </a:r>
            <a:endParaRPr lang="ko-KR" altLang="en-US" dirty="0"/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/>
        </p:nvGraphicFramePr>
        <p:xfrm>
          <a:off x="3571868" y="1571612"/>
          <a:ext cx="5143536" cy="683936"/>
        </p:xfrm>
        <a:graphic>
          <a:graphicData uri="http://schemas.openxmlformats.org/presentationml/2006/ole">
            <p:oleObj spid="_x0000_s1026" name="Equation" r:id="rId3" imgW="2958840" imgH="393480" progId="Equation.3">
              <p:embed/>
            </p:oleObj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4214810" y="2536824"/>
          <a:ext cx="1765300" cy="749300"/>
        </p:xfrm>
        <a:graphic>
          <a:graphicData uri="http://schemas.openxmlformats.org/presentationml/2006/ole">
            <p:oleObj spid="_x0000_s1028" name="Equation" r:id="rId4" imgW="1015920" imgH="431640" progId="Equation.3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5074" y="2751138"/>
            <a:ext cx="1749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Rabi frequency</a:t>
            </a:r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214414" y="1773784"/>
            <a:ext cx="121444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1214414" y="3227383"/>
            <a:ext cx="128588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500034" y="2357430"/>
          <a:ext cx="419100" cy="287337"/>
        </p:xfrm>
        <a:graphic>
          <a:graphicData uri="http://schemas.openxmlformats.org/presentationml/2006/ole">
            <p:oleObj spid="_x0000_s1029" name="Equation" r:id="rId5" imgW="241200" imgH="164880" progId="Equation.3">
              <p:embed/>
            </p:oleObj>
          </a:graphicData>
        </a:graphic>
      </p:graphicFrame>
      <p:sp>
        <p:nvSpPr>
          <p:cNvPr id="13" name="왼쪽으로 구부러진 화살표 12"/>
          <p:cNvSpPr/>
          <p:nvPr/>
        </p:nvSpPr>
        <p:spPr>
          <a:xfrm rot="10800000">
            <a:off x="1071538" y="1928802"/>
            <a:ext cx="500066" cy="107157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2603489" y="3000372"/>
          <a:ext cx="396875" cy="441325"/>
        </p:xfrm>
        <a:graphic>
          <a:graphicData uri="http://schemas.openxmlformats.org/presentationml/2006/ole">
            <p:oleObj spid="_x0000_s1031" name="Equation" r:id="rId6" imgW="228600" imgH="253800" progId="Equation.3">
              <p:embed/>
            </p:oleObj>
          </a:graphicData>
        </a:graphic>
      </p:graphicFrame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2603489" y="1475335"/>
          <a:ext cx="352425" cy="441325"/>
        </p:xfrm>
        <a:graphic>
          <a:graphicData uri="http://schemas.openxmlformats.org/presentationml/2006/ole">
            <p:oleObj spid="_x0000_s1032" name="Equation" r:id="rId7" imgW="203040" imgH="253800" progId="Equation.3">
              <p:embed/>
            </p:oleObj>
          </a:graphicData>
        </a:graphic>
      </p:graphicFrame>
      <p:sp>
        <p:nvSpPr>
          <p:cNvPr id="17" name="타원 16"/>
          <p:cNvSpPr/>
          <p:nvPr/>
        </p:nvSpPr>
        <p:spPr>
          <a:xfrm>
            <a:off x="1714480" y="3084507"/>
            <a:ext cx="285752" cy="28575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/>
          <p:cNvCxnSpPr/>
          <p:nvPr/>
        </p:nvCxnSpPr>
        <p:spPr>
          <a:xfrm rot="16200000" flipH="1">
            <a:off x="1821637" y="1880941"/>
            <a:ext cx="785818" cy="571504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2428860" y="2130974"/>
          <a:ext cx="242887" cy="265113"/>
        </p:xfrm>
        <a:graphic>
          <a:graphicData uri="http://schemas.openxmlformats.org/presentationml/2006/ole">
            <p:oleObj spid="_x0000_s1033" name="Equation" r:id="rId8" imgW="139680" imgH="152280" progId="Equation.3">
              <p:embed/>
            </p:oleObj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000100" y="3786190"/>
            <a:ext cx="68982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Need to include the decay term due to spontaneous emission  </a:t>
            </a:r>
          </a:p>
          <a:p>
            <a:r>
              <a:rPr lang="en-US" altLang="ko-KR" dirty="0" smtClean="0">
                <a:sym typeface="Wingdings" pitchFamily="2" charset="2"/>
              </a:rPr>
              <a:t> Master equation / Optical Bloch equation</a:t>
            </a:r>
            <a:endParaRPr lang="ko-KR" altLang="en-US" dirty="0"/>
          </a:p>
        </p:txBody>
      </p:sp>
      <p:graphicFrame>
        <p:nvGraphicFramePr>
          <p:cNvPr id="1034" name="Object 10"/>
          <p:cNvGraphicFramePr>
            <a:graphicFrameLocks noChangeAspect="1"/>
          </p:cNvGraphicFramePr>
          <p:nvPr/>
        </p:nvGraphicFramePr>
        <p:xfrm>
          <a:off x="1785918" y="5143512"/>
          <a:ext cx="2643206" cy="986240"/>
        </p:xfrm>
        <a:graphic>
          <a:graphicData uri="http://schemas.openxmlformats.org/presentationml/2006/ole">
            <p:oleObj spid="_x0000_s1034" name="Equation" r:id="rId9" imgW="1155600" imgH="431640" progId="Equation.3">
              <p:embed/>
            </p:oleObj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000100" y="4572008"/>
            <a:ext cx="4673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Occupation probability of the excited state</a:t>
            </a:r>
            <a:endParaRPr lang="ko-KR" altLang="en-US" dirty="0"/>
          </a:p>
        </p:txBody>
      </p:sp>
      <p:graphicFrame>
        <p:nvGraphicFramePr>
          <p:cNvPr id="1035" name="Object 11"/>
          <p:cNvGraphicFramePr>
            <a:graphicFrameLocks noChangeAspect="1"/>
          </p:cNvGraphicFramePr>
          <p:nvPr/>
        </p:nvGraphicFramePr>
        <p:xfrm>
          <a:off x="5214942" y="5429264"/>
          <a:ext cx="1168400" cy="398463"/>
        </p:xfrm>
        <a:graphic>
          <a:graphicData uri="http://schemas.openxmlformats.org/presentationml/2006/ole">
            <p:oleObj spid="_x0000_s1035" name="Equation" r:id="rId10" imgW="672840" imgH="228600" progId="Equation.3">
              <p:embed/>
            </p:oleObj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143504" y="5786454"/>
            <a:ext cx="2643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Detuning of driving frequency</a:t>
            </a:r>
            <a:endParaRPr lang="ko-KR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Energy level shift</a:t>
            </a:r>
            <a:endParaRPr lang="ko-KR" altLang="en-US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5235375">
            <a:off x="2396209" y="389817"/>
            <a:ext cx="4429157" cy="707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4929190" y="1000108"/>
            <a:ext cx="2434834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FF00"/>
                </a:solidFill>
              </a:rPr>
              <a:t>Dressed atom picture</a:t>
            </a:r>
            <a:endParaRPr lang="ko-KR" altLang="en-US" dirty="0">
              <a:solidFill>
                <a:srgbClr val="FFFF00"/>
              </a:solidFill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5340000">
            <a:off x="2291444" y="318379"/>
            <a:ext cx="4429157" cy="707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Photon scattering force</a:t>
            </a:r>
            <a:endParaRPr lang="ko-KR" altLang="en-US" dirty="0"/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/>
        </p:nvGraphicFramePr>
        <p:xfrm>
          <a:off x="4000496" y="3694117"/>
          <a:ext cx="1000125" cy="423863"/>
        </p:xfrm>
        <a:graphic>
          <a:graphicData uri="http://schemas.openxmlformats.org/presentationml/2006/ole">
            <p:oleObj spid="_x0000_s4098" name="Equation" r:id="rId3" imgW="507960" imgH="215640" progId="Equation.3">
              <p:embed/>
            </p:oleObj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39803" y="3744920"/>
            <a:ext cx="287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Photon recoil momentum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00166" y="4194183"/>
            <a:ext cx="1835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Scattering force</a:t>
            </a:r>
            <a:endParaRPr lang="ko-KR" altLang="en-US" dirty="0"/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3714744" y="4194183"/>
          <a:ext cx="2174875" cy="449263"/>
        </p:xfrm>
        <a:graphic>
          <a:graphicData uri="http://schemas.openxmlformats.org/presentationml/2006/ole">
            <p:oleObj spid="_x0000_s4099" name="Equation" r:id="rId4" imgW="1104840" imgH="228600" progId="Equation.3">
              <p:embed/>
            </p:oleObj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1285852" y="4837125"/>
          <a:ext cx="4225925" cy="847725"/>
        </p:xfrm>
        <a:graphic>
          <a:graphicData uri="http://schemas.openxmlformats.org/presentationml/2006/ole">
            <p:oleObj spid="_x0000_s4100" name="Equation" r:id="rId5" imgW="2145960" imgH="431640" progId="Equation.3">
              <p:embed/>
            </p:oleObj>
          </a:graphicData>
        </a:graphic>
      </p:graphicFrame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5786446" y="4837125"/>
          <a:ext cx="1776412" cy="773112"/>
        </p:xfrm>
        <a:graphic>
          <a:graphicData uri="http://schemas.openxmlformats.org/presentationml/2006/ole">
            <p:oleObj spid="_x0000_s4102" name="Equation" r:id="rId6" imgW="901440" imgH="393480" progId="Equation.3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428728" y="5980133"/>
            <a:ext cx="171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Scattering rate</a:t>
            </a:r>
            <a:endParaRPr lang="ko-KR" altLang="en-US" dirty="0"/>
          </a:p>
        </p:txBody>
      </p:sp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3143240" y="5980133"/>
          <a:ext cx="1250950" cy="449263"/>
        </p:xfrm>
        <a:graphic>
          <a:graphicData uri="http://schemas.openxmlformats.org/presentationml/2006/ole">
            <p:oleObj spid="_x0000_s4103" name="Equation" r:id="rId7" imgW="634680" imgH="228600" progId="Equation.3">
              <p:embed/>
            </p:oleObj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6446" y="1428736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Ex) for Na, </a:t>
            </a:r>
            <a:endParaRPr lang="ko-KR" altLang="en-US" dirty="0"/>
          </a:p>
        </p:txBody>
      </p:sp>
      <p:graphicFrame>
        <p:nvGraphicFramePr>
          <p:cNvPr id="4104" name="Object 8"/>
          <p:cNvGraphicFramePr>
            <a:graphicFrameLocks noChangeAspect="1"/>
          </p:cNvGraphicFramePr>
          <p:nvPr/>
        </p:nvGraphicFramePr>
        <p:xfrm>
          <a:off x="5857884" y="1857364"/>
          <a:ext cx="3052762" cy="573087"/>
        </p:xfrm>
        <a:graphic>
          <a:graphicData uri="http://schemas.openxmlformats.org/presentationml/2006/ole">
            <p:oleObj spid="_x0000_s4104" name="Equation" r:id="rId8" imgW="1549080" imgH="291960" progId="Equation.3">
              <p:embed/>
            </p:oleObj>
          </a:graphicData>
        </a:graphic>
      </p:graphicFrame>
      <p:pic>
        <p:nvPicPr>
          <p:cNvPr id="17" name="Picture 33" descr="LaserCooling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285984" y="1071546"/>
            <a:ext cx="2714644" cy="2421395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6000760" y="2571744"/>
            <a:ext cx="2654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10</a:t>
            </a:r>
            <a:r>
              <a:rPr lang="en-US" altLang="ko-KR" baseline="30000" dirty="0" smtClean="0"/>
              <a:t>5</a:t>
            </a:r>
            <a:r>
              <a:rPr lang="en-US" altLang="ko-KR" dirty="0" smtClean="0"/>
              <a:t> times of </a:t>
            </a:r>
            <a:r>
              <a:rPr lang="en-US" altLang="ko-KR" i="1" dirty="0" smtClean="0"/>
              <a:t>g !!!</a:t>
            </a:r>
          </a:p>
          <a:p>
            <a:r>
              <a:rPr lang="en-US" altLang="ko-KR" dirty="0" smtClean="0"/>
              <a:t>T=900K, v=1km/s</a:t>
            </a:r>
          </a:p>
          <a:p>
            <a:r>
              <a:rPr lang="en-US" altLang="ko-KR" dirty="0" smtClean="0"/>
              <a:t>Stopping distance 1.1m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Zeeman slowing</a:t>
            </a:r>
            <a:endParaRPr lang="ko-KR" altLang="en-US" dirty="0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5400000">
            <a:off x="2688423" y="-45273"/>
            <a:ext cx="3124211" cy="592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357290" y="928670"/>
            <a:ext cx="5861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Doppler shift effect is compensated by Zeeman effect.</a:t>
            </a:r>
            <a:endParaRPr lang="ko-KR" altLang="en-US" dirty="0"/>
          </a:p>
        </p:txBody>
      </p:sp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4286248" y="4643446"/>
          <a:ext cx="2849562" cy="1971675"/>
        </p:xfrm>
        <a:graphic>
          <a:graphicData uri="http://schemas.openxmlformats.org/presentationml/2006/ole">
            <p:oleObj spid="_x0000_s23557" name="Equation" r:id="rId4" imgW="1447560" imgH="1002960" progId="Equation.3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7224" y="4643446"/>
            <a:ext cx="3013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With constant deceleration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Optical molasses </a:t>
            </a:r>
            <a:endParaRPr lang="ko-KR" altLang="en-US" dirty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5400000">
            <a:off x="1279505" y="938196"/>
            <a:ext cx="2667000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타원 5"/>
          <p:cNvSpPr/>
          <p:nvPr/>
        </p:nvSpPr>
        <p:spPr>
          <a:xfrm>
            <a:off x="2521233" y="2232310"/>
            <a:ext cx="214314" cy="214314"/>
          </a:xfrm>
          <a:prstGeom prst="ellipse">
            <a:avLst/>
          </a:prstGeom>
          <a:solidFill>
            <a:srgbClr val="FFFF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2753717" y="2339260"/>
            <a:ext cx="285752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3506786" y="2679700"/>
          <a:ext cx="850900" cy="349250"/>
        </p:xfrm>
        <a:graphic>
          <a:graphicData uri="http://schemas.openxmlformats.org/presentationml/2006/ole">
            <p:oleObj spid="_x0000_s25604" name="Equation" r:id="rId4" imgW="431640" imgH="177480" progId="Equation.3">
              <p:embed/>
            </p:oleObj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730248" y="1714500"/>
          <a:ext cx="825500" cy="349250"/>
        </p:xfrm>
        <a:graphic>
          <a:graphicData uri="http://schemas.openxmlformats.org/presentationml/2006/ole">
            <p:oleObj spid="_x0000_s25605" name="Equation" r:id="rId5" imgW="419040" imgH="177480" progId="Equation.3">
              <p:embed/>
            </p:oleObj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1785918" y="3929066"/>
          <a:ext cx="5300662" cy="1246187"/>
        </p:xfrm>
        <a:graphic>
          <a:graphicData uri="http://schemas.openxmlformats.org/presentationml/2006/ole">
            <p:oleObj spid="_x0000_s25606" name="Equation" r:id="rId6" imgW="2692080" imgH="634680" progId="Equation.3">
              <p:embed/>
            </p:oleObj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1739905" y="5340370"/>
          <a:ext cx="3475037" cy="946150"/>
        </p:xfrm>
        <a:graphic>
          <a:graphicData uri="http://schemas.openxmlformats.org/presentationml/2006/ole">
            <p:oleObj spid="_x0000_s25607" name="Equation" r:id="rId7" imgW="1765080" imgH="482400" progId="Equation.3">
              <p:embed/>
            </p:oleObj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5715008" y="5429264"/>
          <a:ext cx="1050348" cy="754061"/>
        </p:xfrm>
        <a:graphic>
          <a:graphicData uri="http://schemas.openxmlformats.org/presentationml/2006/ole">
            <p:oleObj spid="_x0000_s25608" name="Equation" r:id="rId8" imgW="634680" imgH="457200" progId="Equation.3">
              <p:embed/>
            </p:oleObj>
          </a:graphicData>
        </a:graphic>
      </p:graphicFrame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 rot="5340000">
            <a:off x="5349231" y="262133"/>
            <a:ext cx="2633938" cy="4338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TextBox 22"/>
          <p:cNvSpPr txBox="1"/>
          <p:nvPr/>
        </p:nvSpPr>
        <p:spPr>
          <a:xfrm>
            <a:off x="4858166" y="4678958"/>
            <a:ext cx="2173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ym typeface="Wingdings" pitchFamily="2" charset="2"/>
              </a:rPr>
              <a:t>  </a:t>
            </a:r>
            <a:r>
              <a:rPr lang="en-US" altLang="ko-KR" dirty="0" smtClean="0"/>
              <a:t>Dragging force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Doppler cooling limit</a:t>
            </a:r>
            <a:endParaRPr lang="ko-KR" altLang="en-US" dirty="0"/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1785918" y="1357298"/>
          <a:ext cx="5000660" cy="1225561"/>
        </p:xfrm>
        <a:graphic>
          <a:graphicData uri="http://schemas.openxmlformats.org/presentationml/2006/ole">
            <p:oleObj spid="_x0000_s24579" name="Equation" r:id="rId3" imgW="2171520" imgH="533160" progId="Equation.3">
              <p:embed/>
            </p:oleObj>
          </a:graphicData>
        </a:graphic>
      </p:graphicFrame>
      <p:cxnSp>
        <p:nvCxnSpPr>
          <p:cNvPr id="7" name="직선 화살표 연결선 6"/>
          <p:cNvCxnSpPr/>
          <p:nvPr/>
        </p:nvCxnSpPr>
        <p:spPr>
          <a:xfrm rot="5400000">
            <a:off x="2928926" y="2786058"/>
            <a:ext cx="285752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>
            <a:off x="4144960" y="2643182"/>
            <a:ext cx="498478" cy="28575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rot="10800000" flipV="1">
            <a:off x="5500694" y="2571744"/>
            <a:ext cx="573092" cy="3571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14546" y="2928934"/>
            <a:ext cx="1763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Dragging force</a:t>
            </a:r>
          </a:p>
          <a:p>
            <a:r>
              <a:rPr lang="en-US" altLang="ko-KR" dirty="0" smtClean="0">
                <a:sym typeface="Wingdings" pitchFamily="2" charset="2"/>
              </a:rPr>
              <a:t></a:t>
            </a:r>
            <a:r>
              <a:rPr lang="en-US" altLang="ko-KR" dirty="0" smtClean="0"/>
              <a:t>Cooling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286248" y="2928934"/>
            <a:ext cx="284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Random momentum kick</a:t>
            </a:r>
          </a:p>
          <a:p>
            <a:r>
              <a:rPr lang="en-US" altLang="ko-KR" dirty="0" smtClean="0">
                <a:sym typeface="Wingdings" pitchFamily="2" charset="2"/>
              </a:rPr>
              <a:t></a:t>
            </a:r>
            <a:r>
              <a:rPr lang="en-US" altLang="ko-KR" dirty="0" smtClean="0"/>
              <a:t>Heating</a:t>
            </a:r>
            <a:endParaRPr lang="ko-KR" altLang="en-US" dirty="0"/>
          </a:p>
        </p:txBody>
      </p:sp>
      <p:cxnSp>
        <p:nvCxnSpPr>
          <p:cNvPr id="15" name="직선 화살표 연결선 14"/>
          <p:cNvCxnSpPr/>
          <p:nvPr/>
        </p:nvCxnSpPr>
        <p:spPr>
          <a:xfrm rot="5400000" flipH="1" flipV="1">
            <a:off x="4786314" y="2000240"/>
            <a:ext cx="857256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00694" y="150017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</a:t>
            </a:r>
            <a:endParaRPr lang="ko-KR" altLang="en-US" dirty="0"/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4365643" y="4000504"/>
          <a:ext cx="2778125" cy="1022350"/>
        </p:xfrm>
        <a:graphic>
          <a:graphicData uri="http://schemas.openxmlformats.org/presentationml/2006/ole">
            <p:oleObj spid="_x0000_s24580" name="Equation" r:id="rId4" imgW="1206360" imgH="444240" progId="Equation.3">
              <p:embed/>
            </p:oleObj>
          </a:graphicData>
        </a:graphic>
      </p:graphicFrame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4429124" y="5214950"/>
          <a:ext cx="1579562" cy="904875"/>
        </p:xfrm>
        <a:graphic>
          <a:graphicData uri="http://schemas.openxmlformats.org/presentationml/2006/ole">
            <p:oleObj spid="_x0000_s24581" name="Equation" r:id="rId5" imgW="685800" imgH="393480" progId="Equation.3">
              <p:embed/>
            </p:oleObj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436685" y="4214818"/>
            <a:ext cx="2721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Equilibrium temperature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777040" y="5429264"/>
            <a:ext cx="240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Doppler cooling limit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19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Sub-</a:t>
            </a:r>
            <a:r>
              <a:rPr lang="en-US" altLang="ko-KR" dirty="0" err="1" smtClean="0"/>
              <a:t>doppler</a:t>
            </a:r>
            <a:r>
              <a:rPr lang="en-US" altLang="ko-KR" dirty="0" smtClean="0"/>
              <a:t> cooling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85786" y="1000108"/>
            <a:ext cx="3959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Using multi-level structure of atoms</a:t>
            </a:r>
            <a:endParaRPr lang="ko-KR" altLang="en-US" dirty="0"/>
          </a:p>
        </p:txBody>
      </p:sp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1285852" y="1500174"/>
          <a:ext cx="2000264" cy="439910"/>
        </p:xfrm>
        <a:graphic>
          <a:graphicData uri="http://schemas.openxmlformats.org/presentationml/2006/ole">
            <p:oleObj spid="_x0000_s26629" name="Equation" r:id="rId3" imgW="1091880" imgH="241200" progId="Equation.3">
              <p:embed/>
            </p:oleObj>
          </a:graphicData>
        </a:graphic>
      </p:graphicFrame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29190" y="1214422"/>
            <a:ext cx="3357586" cy="162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472" y="3429000"/>
            <a:ext cx="3371850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32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14810" y="3214686"/>
            <a:ext cx="461010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TextBox 20"/>
          <p:cNvSpPr txBox="1"/>
          <p:nvPr/>
        </p:nvSpPr>
        <p:spPr>
          <a:xfrm>
            <a:off x="1281315" y="1928802"/>
            <a:ext cx="2933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ym typeface="Symbol"/>
              </a:rPr>
              <a:t>+ : p</a:t>
            </a:r>
            <a:r>
              <a:rPr lang="en-US" altLang="ko-KR" dirty="0" smtClean="0"/>
              <a:t>umping to </a:t>
            </a:r>
            <a:r>
              <a:rPr lang="en-US" altLang="ko-KR" dirty="0" err="1" smtClean="0"/>
              <a:t>m</a:t>
            </a:r>
            <a:r>
              <a:rPr lang="en-US" altLang="ko-KR" baseline="-25000" dirty="0" err="1" smtClean="0"/>
              <a:t>j</a:t>
            </a:r>
            <a:r>
              <a:rPr lang="en-US" altLang="ko-KR" dirty="0" smtClean="0"/>
              <a:t>=1/2 </a:t>
            </a:r>
          </a:p>
          <a:p>
            <a:r>
              <a:rPr lang="en-US" altLang="ko-KR" dirty="0" smtClean="0">
                <a:sym typeface="Symbol"/>
              </a:rPr>
              <a:t>- : p</a:t>
            </a:r>
            <a:r>
              <a:rPr lang="en-US" altLang="ko-KR" dirty="0" smtClean="0"/>
              <a:t>umping to </a:t>
            </a:r>
            <a:r>
              <a:rPr lang="en-US" altLang="ko-KR" dirty="0" err="1" smtClean="0"/>
              <a:t>m</a:t>
            </a:r>
            <a:r>
              <a:rPr lang="en-US" altLang="ko-KR" baseline="-25000" dirty="0" err="1" smtClean="0"/>
              <a:t>j</a:t>
            </a:r>
            <a:r>
              <a:rPr lang="en-US" altLang="ko-KR" dirty="0" smtClean="0"/>
              <a:t>=-1/2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000100" y="557214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lin</a:t>
            </a:r>
            <a:r>
              <a:rPr lang="en-US" altLang="ko-KR" dirty="0" err="1" smtClean="0">
                <a:sym typeface="Symbol"/>
              </a:rPr>
              <a:t></a:t>
            </a:r>
            <a:r>
              <a:rPr lang="en-US" altLang="ko-KR" dirty="0" err="1" smtClean="0"/>
              <a:t>lin-configration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000628" y="5715016"/>
            <a:ext cx="274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Always uphill movement</a:t>
            </a:r>
          </a:p>
          <a:p>
            <a:r>
              <a:rPr lang="en-US" altLang="ko-KR" dirty="0" smtClean="0">
                <a:sym typeface="Wingdings" pitchFamily="2" charset="2"/>
              </a:rPr>
              <a:t> “Sisyphus cooling”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Fundamental limits of laser cooling</a:t>
            </a:r>
            <a:endParaRPr lang="ko-KR" altLang="en-US" dirty="0"/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4714876" y="1428736"/>
          <a:ext cx="1579562" cy="904875"/>
        </p:xfrm>
        <a:graphic>
          <a:graphicData uri="http://schemas.openxmlformats.org/presentationml/2006/ole">
            <p:oleObj spid="_x0000_s27650" name="Equation" r:id="rId3" imgW="685800" imgH="393480" progId="Equation.3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62792" y="1643050"/>
            <a:ext cx="240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Doppler cooling limit</a:t>
            </a:r>
            <a:endParaRPr lang="ko-KR" alt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714876" y="2955568"/>
          <a:ext cx="1784350" cy="962025"/>
        </p:xfrm>
        <a:graphic>
          <a:graphicData uri="http://schemas.openxmlformats.org/presentationml/2006/ole">
            <p:oleObj spid="_x0000_s27651" name="Equation" r:id="rId4" imgW="774360" imgH="419040" progId="Equation.3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31136" y="3241320"/>
            <a:ext cx="2635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Recoil momentum limit</a:t>
            </a:r>
            <a:endParaRPr lang="ko-KR" altLang="en-US" dirty="0"/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4714876" y="4697128"/>
          <a:ext cx="1812925" cy="523875"/>
        </p:xfrm>
        <a:graphic>
          <a:graphicData uri="http://schemas.openxmlformats.org/presentationml/2006/ole">
            <p:oleObj spid="_x0000_s27652" name="Equation" r:id="rId5" imgW="787320" imgH="228600" progId="Equation.3">
              <p:embed/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348130" y="4752991"/>
            <a:ext cx="2087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Sub-recoil cooling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840260" y="4732640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(!!!???)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5779</TotalTime>
  <Words>440</Words>
  <Application>Microsoft Office PowerPoint</Application>
  <PresentationFormat>On-screen Show (4:3)</PresentationFormat>
  <Paragraphs>93</Paragraphs>
  <Slides>14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테마</vt:lpstr>
      <vt:lpstr>Equation</vt:lpstr>
      <vt:lpstr>Development of atomic physics</vt:lpstr>
      <vt:lpstr>1980-1990 Development of various laser cooling technique</vt:lpstr>
      <vt:lpstr>Slide 3</vt:lpstr>
      <vt:lpstr>Lecture 1: Laser cooling</vt:lpstr>
      <vt:lpstr>Energy levels of sodium atom</vt:lpstr>
      <vt:lpstr>Hyperfine structure in a static field</vt:lpstr>
      <vt:lpstr>Two-level system</vt:lpstr>
      <vt:lpstr>Energy level shift</vt:lpstr>
      <vt:lpstr>Photon scattering force</vt:lpstr>
      <vt:lpstr>Zeeman slowing</vt:lpstr>
      <vt:lpstr>Optical molasses </vt:lpstr>
      <vt:lpstr>Doppler cooling limit</vt:lpstr>
      <vt:lpstr>Sub-doppler cooling</vt:lpstr>
      <vt:lpstr>Fundamental limits of laser cooling</vt:lpstr>
    </vt:vector>
  </TitlesOfParts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BEC 01</dc:title>
  <dc:creator>Yong-il Shin</dc:creator>
  <cp:keywords/>
  <cp:lastModifiedBy>경원 안</cp:lastModifiedBy>
  <cp:revision>552</cp:revision>
  <dcterms:created xsi:type="dcterms:W3CDTF">2009-10-08T05:41:58Z</dcterms:created>
  <dcterms:modified xsi:type="dcterms:W3CDTF">2009-10-08T05:43:11Z</dcterms:modified>
</cp:coreProperties>
</file>