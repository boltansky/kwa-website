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vml" ContentType="application/vnd.openxmlformats-officedocument.vmlDrawing"/>
  <Default Extension="jpeg" ContentType="image/jpeg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embeddings/Microsoft_Equation1.bin" ContentType="application/vnd.openxmlformats-officedocument.oleObject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viewProps.xml" ContentType="application/vnd.openxmlformats-officedocument.presentationml.viewProps+xml"/>
  <Default Extension="wmf" ContentType="image/x-wmf"/>
  <Default Extension="bin" ContentType="application/vnd.openxmlformats-officedocument.presentationml.printerSettings"/>
  <Default Extension="png" ContentType="image/png"/>
  <Override PartName="/ppt/embeddings/Microsoft_Equation2.bin" ContentType="application/vnd.openxmlformats-officedocument.oleObject"/>
  <Override PartName="/ppt/embeddings/Microsoft_Equation6.bin" ContentType="application/vnd.openxmlformats-officedocument.oleObject"/>
  <Override PartName="/ppt/embeddings/Microsoft_Equation3.bin" ContentType="application/vnd.openxmlformats-officedocument.oleObject"/>
  <Override PartName="/ppt/embeddings/Microsoft_Equation4.bin" ContentType="application/vnd.openxmlformats-officedocument.oleObject"/>
  <Override PartName="/docProps/core.xml" ContentType="application/vnd.openxmlformats-package.core-properties+xml"/>
  <Default Extension="rels" ContentType="application/vnd.openxmlformats-package.relationships+xml"/>
  <Override PartName="/ppt/slides/slide6.xml" ContentType="application/vnd.openxmlformats-officedocument.presentationml.slide+xml"/>
  <Override PartName="/ppt/embeddings/Microsoft_Equation5.bin" ContentType="application/vnd.openxmlformats-officedocument.oleObject"/>
  <Override PartName="/ppt/embeddings/Microsoft_Equation7.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>
  <p:sldMasterIdLst>
    <p:sldMasterId id="2147483648" r:id="rId1"/>
  </p:sldMasterIdLst>
  <p:notesMasterIdLst>
    <p:notesMasterId r:id="rId10"/>
  </p:notesMasterIdLst>
  <p:sldIdLst>
    <p:sldId id="277" r:id="rId2"/>
    <p:sldId id="281" r:id="rId3"/>
    <p:sldId id="278" r:id="rId4"/>
    <p:sldId id="284" r:id="rId5"/>
    <p:sldId id="282" r:id="rId6"/>
    <p:sldId id="280" r:id="rId7"/>
    <p:sldId id="279" r:id="rId8"/>
    <p:sldId id="283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webPr allowPng="1" organizeInFolders="0" useLongFilenames="0" imgSz="1024x768" encoding="windows-1252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4660"/>
  </p:normalViewPr>
  <p:slideViewPr>
    <p:cSldViewPr>
      <p:cViewPr varScale="1">
        <p:scale>
          <a:sx n="143" d="100"/>
          <a:sy n="143" d="100"/>
        </p:scale>
        <p:origin x="-1256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4" Type="http://schemas.openxmlformats.org/officeDocument/2006/relationships/theme" Target="theme/theme1.xml"/><Relationship Id="rId4" Type="http://schemas.openxmlformats.org/officeDocument/2006/relationships/slide" Target="slides/slide3.xml"/><Relationship Id="rId7" Type="http://schemas.openxmlformats.org/officeDocument/2006/relationships/slide" Target="slides/slide6.xml"/><Relationship Id="rId11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9" Type="http://schemas.openxmlformats.org/officeDocument/2006/relationships/slide" Target="slides/slide8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.wmf"/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wmf"/><Relationship Id="rId5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69EF5C-CBDD-4EEE-992B-82C16AD328B9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FD0D90-0E97-4F4B-85BE-F34323D684C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14348" y="357166"/>
            <a:ext cx="7929618" cy="571504"/>
          </a:xfrm>
        </p:spPr>
        <p:txBody>
          <a:bodyPr>
            <a:normAutofit/>
          </a:bodyPr>
          <a:lstStyle>
            <a:lvl1pPr algn="l">
              <a:defRPr sz="3200">
                <a:solidFill>
                  <a:schemeClr val="tx2">
                    <a:lumMod val="75000"/>
                  </a:schemeClr>
                </a:solidFill>
                <a:latin typeface="Calibri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0034" y="428604"/>
            <a:ext cx="8229600" cy="64294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2.bin"/><Relationship Id="rId5" Type="http://schemas.openxmlformats.org/officeDocument/2006/relationships/oleObject" Target="../embeddings/Microsoft_Equation3.bin"/><Relationship Id="rId7" Type="http://schemas.openxmlformats.org/officeDocument/2006/relationships/oleObject" Target="../embeddings/Microsoft_Equation5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Microsoft_Equation1.bin"/><Relationship Id="rId6" Type="http://schemas.openxmlformats.org/officeDocument/2006/relationships/oleObject" Target="../embeddings/Microsoft_Equation4.bin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6.bin"/><Relationship Id="rId5" Type="http://schemas.openxmlformats.org/officeDocument/2006/relationships/oleObject" Target="../embeddings/Microsoft_Equation7.bin"/><Relationship Id="rId7" Type="http://schemas.openxmlformats.org/officeDocument/2006/relationships/image" Target="../media/image10.png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6.xml"/><Relationship Id="rId3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7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6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4" Type="http://schemas.openxmlformats.org/officeDocument/2006/relationships/image" Target="../media/image23.png"/><Relationship Id="rId10" Type="http://schemas.openxmlformats.org/officeDocument/2006/relationships/image" Target="../media/image29.png"/><Relationship Id="rId5" Type="http://schemas.openxmlformats.org/officeDocument/2006/relationships/image" Target="../media/image24.png"/><Relationship Id="rId7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9" Type="http://schemas.openxmlformats.org/officeDocument/2006/relationships/image" Target="../media/image28.png"/><Relationship Id="rId3" Type="http://schemas.openxmlformats.org/officeDocument/2006/relationships/image" Target="../media/image22.png"/><Relationship Id="rId6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14348" y="2285992"/>
            <a:ext cx="7929618" cy="571504"/>
          </a:xfrm>
        </p:spPr>
        <p:txBody>
          <a:bodyPr>
            <a:normAutofit fontScale="90000"/>
          </a:bodyPr>
          <a:lstStyle/>
          <a:p>
            <a:r>
              <a:rPr lang="en-US" altLang="ko-KR" dirty="0" smtClean="0"/>
              <a:t>Lecture 3: Making and Observing BECs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Bose-Einstein Condensation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00034" y="1214422"/>
            <a:ext cx="7998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Notion of Bose statistics: to derive the black-body radiation (S. Bose, 1924)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99620" y="1630908"/>
            <a:ext cx="8572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Extended to include systems with conserved particle number (A. Einstein, 1925)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85786" y="1978215"/>
            <a:ext cx="66748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: pointing a peculiar feature of the distribution: at low temperature it saturates.</a:t>
            </a:r>
            <a:endParaRPr lang="ko-KR" alt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571472" y="2714620"/>
            <a:ext cx="4648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i="1" dirty="0" smtClean="0"/>
              <a:t>Example</a:t>
            </a:r>
            <a:r>
              <a:rPr lang="en-US" altLang="ko-KR" dirty="0" smtClean="0"/>
              <a:t>) N-particles in a two-level system</a:t>
            </a:r>
            <a:endParaRPr lang="ko-KR" altLang="en-US" dirty="0"/>
          </a:p>
        </p:txBody>
      </p:sp>
      <p:cxnSp>
        <p:nvCxnSpPr>
          <p:cNvPr id="11" name="직선 연결선 10"/>
          <p:cNvCxnSpPr/>
          <p:nvPr/>
        </p:nvCxnSpPr>
        <p:spPr>
          <a:xfrm rot="5400000">
            <a:off x="4001290" y="4356900"/>
            <a:ext cx="185738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28860" y="3214686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Classical counting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357818" y="3214686"/>
            <a:ext cx="36372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Quantum counting</a:t>
            </a:r>
          </a:p>
          <a:p>
            <a:r>
              <a:rPr lang="en-US" altLang="ko-KR" sz="1400" dirty="0" smtClean="0"/>
              <a:t>due to the </a:t>
            </a:r>
            <a:r>
              <a:rPr lang="en-US" altLang="ko-KR" sz="1400" dirty="0" err="1" smtClean="0"/>
              <a:t>indistinguishability</a:t>
            </a:r>
            <a:r>
              <a:rPr lang="en-US" altLang="ko-KR" sz="1400" dirty="0" smtClean="0"/>
              <a:t> of particles</a:t>
            </a:r>
            <a:endParaRPr lang="ko-KR" altLang="en-US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2928926" y="3857628"/>
            <a:ext cx="675185" cy="6463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3600" dirty="0" smtClean="0"/>
              <a:t>2</a:t>
            </a:r>
            <a:r>
              <a:rPr lang="en-US" altLang="ko-KR" sz="3600" baseline="30000" dirty="0" smtClean="0"/>
              <a:t>N</a:t>
            </a:r>
            <a:endParaRPr lang="ko-KR" altLang="en-US" sz="3600" baseline="30000" dirty="0"/>
          </a:p>
        </p:txBody>
      </p:sp>
      <p:sp>
        <p:nvSpPr>
          <p:cNvPr id="15" name="TextBox 14"/>
          <p:cNvSpPr txBox="1"/>
          <p:nvPr/>
        </p:nvSpPr>
        <p:spPr>
          <a:xfrm>
            <a:off x="6143636" y="3857628"/>
            <a:ext cx="1116011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3600" dirty="0" smtClean="0"/>
              <a:t>N+1</a:t>
            </a:r>
            <a:endParaRPr lang="ko-KR" altLang="en-US" sz="3600" baseline="30000" dirty="0"/>
          </a:p>
        </p:txBody>
      </p:sp>
      <p:cxnSp>
        <p:nvCxnSpPr>
          <p:cNvPr id="16" name="직선 연결선 15"/>
          <p:cNvCxnSpPr/>
          <p:nvPr/>
        </p:nvCxnSpPr>
        <p:spPr>
          <a:xfrm>
            <a:off x="285720" y="3429000"/>
            <a:ext cx="121444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285720" y="4000504"/>
            <a:ext cx="128588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Object 7"/>
          <p:cNvGraphicFramePr>
            <a:graphicFrameLocks noChangeAspect="1"/>
          </p:cNvGraphicFramePr>
          <p:nvPr/>
        </p:nvGraphicFramePr>
        <p:xfrm>
          <a:off x="1643042" y="3857628"/>
          <a:ext cx="331787" cy="441325"/>
        </p:xfrm>
        <a:graphic>
          <a:graphicData uri="http://schemas.openxmlformats.org/presentationml/2006/ole">
            <p:oleObj spid="_x0000_s17412" name="Equation" r:id="rId3" imgW="190440" imgH="253800" progId="Equation.3">
              <p:embed/>
            </p:oleObj>
          </a:graphicData>
        </a:graphic>
      </p:graphicFrame>
      <p:graphicFrame>
        <p:nvGraphicFramePr>
          <p:cNvPr id="19" name="Object 8"/>
          <p:cNvGraphicFramePr>
            <a:graphicFrameLocks noChangeAspect="1"/>
          </p:cNvGraphicFramePr>
          <p:nvPr/>
        </p:nvGraphicFramePr>
        <p:xfrm>
          <a:off x="1571604" y="3214686"/>
          <a:ext cx="374650" cy="441325"/>
        </p:xfrm>
        <a:graphic>
          <a:graphicData uri="http://schemas.openxmlformats.org/presentationml/2006/ole">
            <p:oleObj spid="_x0000_s17413" name="Equation" r:id="rId4" imgW="215640" imgH="253800" progId="Equation.3">
              <p:embed/>
            </p:oleObj>
          </a:graphicData>
        </a:graphic>
      </p:graphicFrame>
      <p:cxnSp>
        <p:nvCxnSpPr>
          <p:cNvPr id="21" name="직선 화살표 연결선 20"/>
          <p:cNvCxnSpPr/>
          <p:nvPr/>
        </p:nvCxnSpPr>
        <p:spPr>
          <a:xfrm rot="5400000">
            <a:off x="357158" y="3714752"/>
            <a:ext cx="428628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42844" y="350043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E</a:t>
            </a:r>
            <a:endParaRPr lang="ko-KR" altLang="en-US" dirty="0"/>
          </a:p>
        </p:txBody>
      </p:sp>
      <p:graphicFrame>
        <p:nvGraphicFramePr>
          <p:cNvPr id="17414" name="Object 6"/>
          <p:cNvGraphicFramePr>
            <a:graphicFrameLocks noChangeAspect="1"/>
          </p:cNvGraphicFramePr>
          <p:nvPr/>
        </p:nvGraphicFramePr>
        <p:xfrm>
          <a:off x="2500298" y="4572008"/>
          <a:ext cx="1571636" cy="783688"/>
        </p:xfrm>
        <a:graphic>
          <a:graphicData uri="http://schemas.openxmlformats.org/presentationml/2006/ole">
            <p:oleObj spid="_x0000_s17414" name="Equation" r:id="rId5" imgW="838080" imgH="419040" progId="Equation.3">
              <p:embed/>
            </p:oleObj>
          </a:graphicData>
        </a:graphic>
      </p:graphicFrame>
      <p:graphicFrame>
        <p:nvGraphicFramePr>
          <p:cNvPr id="17415" name="Object 7"/>
          <p:cNvGraphicFramePr>
            <a:graphicFrameLocks noChangeAspect="1"/>
          </p:cNvGraphicFramePr>
          <p:nvPr/>
        </p:nvGraphicFramePr>
        <p:xfrm>
          <a:off x="5500694" y="4572008"/>
          <a:ext cx="2928958" cy="747222"/>
        </p:xfrm>
        <a:graphic>
          <a:graphicData uri="http://schemas.openxmlformats.org/presentationml/2006/ole">
            <p:oleObj spid="_x0000_s17415" name="Equation" r:id="rId6" imgW="1739880" imgH="444240" progId="Equation.3">
              <p:embed/>
            </p:oleObj>
          </a:graphicData>
        </a:graphic>
      </p:graphicFrame>
      <p:graphicFrame>
        <p:nvGraphicFramePr>
          <p:cNvPr id="17416" name="Object 8"/>
          <p:cNvGraphicFramePr>
            <a:graphicFrameLocks noChangeAspect="1"/>
          </p:cNvGraphicFramePr>
          <p:nvPr/>
        </p:nvGraphicFramePr>
        <p:xfrm>
          <a:off x="571472" y="4429132"/>
          <a:ext cx="1214446" cy="403921"/>
        </p:xfrm>
        <a:graphic>
          <a:graphicData uri="http://schemas.openxmlformats.org/presentationml/2006/ole">
            <p:oleObj spid="_x0000_s17416" name="Equation" r:id="rId7" imgW="685800" imgH="228600" progId="Equation.3">
              <p:embed/>
            </p:oleObj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2357422" y="5643578"/>
            <a:ext cx="61323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In a thermodynamic limit N</a:t>
            </a:r>
            <a:r>
              <a:rPr lang="en-US" altLang="ko-KR" dirty="0" smtClean="0">
                <a:sym typeface="Symbol"/>
              </a:rPr>
              <a:t></a:t>
            </a:r>
            <a:r>
              <a:rPr lang="en-US" altLang="ko-KR" dirty="0" smtClean="0"/>
              <a:t>,</a:t>
            </a:r>
          </a:p>
          <a:p>
            <a:r>
              <a:rPr lang="en-US" altLang="ko-KR" dirty="0" smtClean="0"/>
              <a:t>the occupation number of the excited state is saturated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14" grpId="0" animBg="1"/>
      <p:bldP spid="15" grpId="0" animBg="1"/>
      <p:bldP spid="23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Bose-Einstein Condensation of an ideal Bose gas</a:t>
            </a:r>
            <a:endParaRPr lang="ko-KR" altLang="en-US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1285860"/>
            <a:ext cx="4027405" cy="4533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5286380" y="3786190"/>
          <a:ext cx="1785950" cy="993378"/>
        </p:xfrm>
        <a:graphic>
          <a:graphicData uri="http://schemas.openxmlformats.org/presentationml/2006/ole">
            <p:oleObj spid="_x0000_s1026" name="Equation" r:id="rId4" imgW="888840" imgH="495000" progId="Equation.3">
              <p:embed/>
            </p:oleObj>
          </a:graphicData>
        </a:graphic>
      </p:graphicFrame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5286380" y="5072074"/>
          <a:ext cx="1836738" cy="531813"/>
        </p:xfrm>
        <a:graphic>
          <a:graphicData uri="http://schemas.openxmlformats.org/presentationml/2006/ole">
            <p:oleObj spid="_x0000_s1027" name="Equation" r:id="rId5" imgW="876240" imgH="253800" progId="Equation.3">
              <p:embed/>
            </p:oleObj>
          </a:graphicData>
        </a:graphic>
      </p:graphicFrame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143504" y="1643050"/>
            <a:ext cx="2219325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214942" y="2428868"/>
            <a:ext cx="25527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5357818" y="1285860"/>
            <a:ext cx="141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BE-statistics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BEC systems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857488" y="500042"/>
            <a:ext cx="61878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ko-KR" dirty="0" smtClean="0"/>
              <a:t> </a:t>
            </a:r>
            <a:r>
              <a:rPr lang="en-US" altLang="ko-KR" dirty="0" err="1" smtClean="0"/>
              <a:t>Superfluid</a:t>
            </a:r>
            <a:r>
              <a:rPr lang="en-US" altLang="ko-KR" dirty="0" smtClean="0"/>
              <a:t> Helium</a:t>
            </a:r>
          </a:p>
          <a:p>
            <a:pPr>
              <a:buFont typeface="Wingdings" pitchFamily="2" charset="2"/>
              <a:buChar char="Ø"/>
            </a:pPr>
            <a:r>
              <a:rPr lang="en-US" altLang="ko-KR" dirty="0" smtClean="0"/>
              <a:t> Lasers and Masers   </a:t>
            </a:r>
            <a:r>
              <a:rPr lang="en-US" altLang="ko-KR" sz="1400" dirty="0" smtClean="0"/>
              <a:t>(macroscopic occupation in the same state)</a:t>
            </a:r>
            <a:endParaRPr lang="en-US" altLang="ko-KR" dirty="0" smtClean="0"/>
          </a:p>
          <a:p>
            <a:pPr>
              <a:buFont typeface="Wingdings" pitchFamily="2" charset="2"/>
              <a:buChar char="Ø"/>
            </a:pPr>
            <a:r>
              <a:rPr lang="en-US" altLang="ko-KR" dirty="0" smtClean="0"/>
              <a:t> </a:t>
            </a:r>
            <a:r>
              <a:rPr lang="en-US" altLang="ko-KR" dirty="0" err="1" smtClean="0"/>
              <a:t>Superconductiviy</a:t>
            </a:r>
            <a:endParaRPr lang="en-US" altLang="ko-KR" dirty="0" smtClean="0"/>
          </a:p>
          <a:p>
            <a:pPr>
              <a:buFont typeface="Wingdings" pitchFamily="2" charset="2"/>
              <a:buChar char="Ø"/>
            </a:pPr>
            <a:r>
              <a:rPr lang="en-US" altLang="ko-KR" dirty="0" smtClean="0"/>
              <a:t> </a:t>
            </a:r>
            <a:r>
              <a:rPr lang="en-US" altLang="ko-KR" dirty="0" err="1" smtClean="0"/>
              <a:t>Excitons</a:t>
            </a:r>
            <a:r>
              <a:rPr lang="en-US" altLang="ko-KR" dirty="0" smtClean="0"/>
              <a:t> in cuprous oxide</a:t>
            </a:r>
          </a:p>
        </p:txBody>
      </p:sp>
      <p:pic>
        <p:nvPicPr>
          <p:cNvPr id="22536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1736" y="1857364"/>
            <a:ext cx="6062633" cy="1466851"/>
          </a:xfrm>
          <a:prstGeom prst="rect">
            <a:avLst/>
          </a:prstGeom>
          <a:noFill/>
          <a:ln w="9525">
            <a:solidFill>
              <a:schemeClr val="accent5"/>
            </a:solidFill>
            <a:miter lim="800000"/>
            <a:headEnd/>
            <a:tailEnd/>
          </a:ln>
          <a:effectLst/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14810" y="2714620"/>
            <a:ext cx="4465933" cy="2876553"/>
          </a:xfrm>
          <a:prstGeom prst="rect">
            <a:avLst/>
          </a:prstGeom>
          <a:noFill/>
          <a:ln w="9525">
            <a:solidFill>
              <a:schemeClr val="accent4"/>
            </a:solidFill>
            <a:miter lim="800000"/>
            <a:headEnd/>
            <a:tailEnd/>
          </a:ln>
          <a:effectLst/>
        </p:spPr>
      </p:pic>
      <p:grpSp>
        <p:nvGrpSpPr>
          <p:cNvPr id="13" name="그룹 12"/>
          <p:cNvGrpSpPr/>
          <p:nvPr/>
        </p:nvGrpSpPr>
        <p:grpSpPr>
          <a:xfrm>
            <a:off x="428596" y="2285992"/>
            <a:ext cx="3136897" cy="3214702"/>
            <a:chOff x="428596" y="2500306"/>
            <a:chExt cx="3136897" cy="3214702"/>
          </a:xfrm>
        </p:grpSpPr>
        <p:pic>
          <p:nvPicPr>
            <p:cNvPr id="22534" name="Picture 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000100" y="4572008"/>
              <a:ext cx="1362075" cy="1143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2533" name="Picture 5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642910" y="2500306"/>
              <a:ext cx="2495550" cy="180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2535" name="Picture 7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28596" y="2643182"/>
              <a:ext cx="3136897" cy="1857373"/>
            </a:xfrm>
            <a:prstGeom prst="rect">
              <a:avLst/>
            </a:prstGeom>
            <a:noFill/>
            <a:ln w="9525">
              <a:solidFill>
                <a:schemeClr val="accent4"/>
              </a:solidFill>
              <a:miter lim="800000"/>
              <a:headEnd/>
              <a:tailEnd/>
            </a:ln>
            <a:effectLst/>
          </p:spPr>
        </p:pic>
      </p:grpSp>
      <p:grpSp>
        <p:nvGrpSpPr>
          <p:cNvPr id="14" name="그룹 13"/>
          <p:cNvGrpSpPr/>
          <p:nvPr/>
        </p:nvGrpSpPr>
        <p:grpSpPr>
          <a:xfrm>
            <a:off x="2428860" y="4286256"/>
            <a:ext cx="4492755" cy="2338387"/>
            <a:chOff x="2428860" y="4286256"/>
            <a:chExt cx="4492755" cy="2338387"/>
          </a:xfrm>
        </p:grpSpPr>
        <p:pic>
          <p:nvPicPr>
            <p:cNvPr id="22537" name="Picture 9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2428860" y="4286256"/>
              <a:ext cx="4492755" cy="2338387"/>
            </a:xfrm>
            <a:prstGeom prst="rect">
              <a:avLst/>
            </a:prstGeom>
            <a:noFill/>
            <a:ln w="9525">
              <a:solidFill>
                <a:schemeClr val="accent4"/>
              </a:solidFill>
              <a:miter lim="800000"/>
              <a:headEnd/>
              <a:tailEnd/>
            </a:ln>
            <a:effectLst/>
          </p:spPr>
        </p:pic>
        <p:pic>
          <p:nvPicPr>
            <p:cNvPr id="22538" name="Picture 10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2571736" y="4857760"/>
              <a:ext cx="3543300" cy="238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Making a BEC in a dilute gas</a:t>
            </a:r>
            <a:endParaRPr lang="ko-KR" altLang="en-US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2857496"/>
            <a:ext cx="7072362" cy="118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714348" y="1071546"/>
            <a:ext cx="7731988" cy="1700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 smtClean="0"/>
              <a:t>Atom source: atomic beam from oven / vapor cell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 smtClean="0"/>
              <a:t>Pre-cooling with laser: Zeeman slowing / Double MOT configuration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 smtClean="0"/>
              <a:t>Loading in a magnetic/ optical trap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 smtClean="0"/>
              <a:t>Evaporative cooling</a:t>
            </a:r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6314" y="4500570"/>
            <a:ext cx="3886107" cy="1771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596" y="4643446"/>
            <a:ext cx="4143404" cy="1548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Time-of-flight Imaging</a:t>
            </a:r>
            <a:endParaRPr lang="ko-KR" altLang="en-US" dirty="0"/>
          </a:p>
        </p:txBody>
      </p:sp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928802"/>
            <a:ext cx="3457575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5400000">
            <a:off x="6259036" y="-1186993"/>
            <a:ext cx="769333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rot="5400000">
            <a:off x="8061032" y="940100"/>
            <a:ext cx="594364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 rot="5400000">
            <a:off x="5312368" y="759806"/>
            <a:ext cx="590966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500562" y="2357430"/>
            <a:ext cx="2371725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429256" y="3071810"/>
            <a:ext cx="28194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7" name="Picture 7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429256" y="3500438"/>
            <a:ext cx="16002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8" name="Picture 8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3000364" y="4214818"/>
            <a:ext cx="5786478" cy="1228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9" name="Picture 9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2928926" y="5643578"/>
            <a:ext cx="3894445" cy="814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Bose-Einstein condensation in a dilute gas</a:t>
            </a:r>
            <a:endParaRPr lang="ko-KR" altLang="en-US" dirty="0"/>
          </a:p>
        </p:txBody>
      </p:sp>
      <p:pic>
        <p:nvPicPr>
          <p:cNvPr id="3" name="Picture 16" descr="JILA3peaks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0200"/>
              </a:clrFrom>
              <a:clrTo>
                <a:srgbClr val="0002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19200" y="1481156"/>
            <a:ext cx="6886575" cy="4591050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</p:pic>
      <p:sp>
        <p:nvSpPr>
          <p:cNvPr id="4" name="Rectangle 17"/>
          <p:cNvSpPr>
            <a:spLocks noChangeArrowheads="1"/>
          </p:cNvSpPr>
          <p:nvPr/>
        </p:nvSpPr>
        <p:spPr bwMode="gray">
          <a:xfrm>
            <a:off x="5715008" y="5286388"/>
            <a:ext cx="2035236" cy="58221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eaLnBrk="0" latinLnBrk="0" hangingPunct="0"/>
            <a:r>
              <a:rPr kumimoji="0" lang="en-US" altLang="en-US" dirty="0">
                <a:solidFill>
                  <a:srgbClr val="FFFFFF"/>
                </a:solidFill>
              </a:rPr>
              <a:t>BEC @ JILA, </a:t>
            </a:r>
            <a:r>
              <a:rPr kumimoji="0" lang="en-US" altLang="ko-KR" dirty="0">
                <a:solidFill>
                  <a:srgbClr val="FFFFFF"/>
                </a:solidFill>
              </a:rPr>
              <a:t>19</a:t>
            </a:r>
            <a:r>
              <a:rPr kumimoji="0" lang="en-US" altLang="en-US" dirty="0">
                <a:solidFill>
                  <a:srgbClr val="FFFFFF"/>
                </a:solidFill>
              </a:rPr>
              <a:t>95</a:t>
            </a:r>
          </a:p>
          <a:p>
            <a:pPr eaLnBrk="0" latinLnBrk="0" hangingPunct="0"/>
            <a:r>
              <a:rPr kumimoji="0" lang="en-US" altLang="en-US" sz="1400" dirty="0">
                <a:solidFill>
                  <a:srgbClr val="FFFFFF"/>
                </a:solidFill>
              </a:rPr>
              <a:t>(2001 Nobel prize)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Why it was hard to make a BEC in atomic gases</a:t>
            </a:r>
            <a:endParaRPr lang="ko-KR" altLang="en-US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857232"/>
            <a:ext cx="4460907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785918" y="4500570"/>
            <a:ext cx="60007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US" altLang="ko-KR" dirty="0" smtClean="0"/>
              <a:t>Gaseous BEC: </a:t>
            </a:r>
            <a:r>
              <a:rPr lang="en-US" altLang="ko-KR" dirty="0" err="1" smtClean="0"/>
              <a:t>Metastable</a:t>
            </a:r>
            <a:r>
              <a:rPr lang="en-US" altLang="ko-KR" dirty="0" smtClean="0"/>
              <a:t> state</a:t>
            </a:r>
          </a:p>
          <a:p>
            <a:pPr marL="342900" indent="-342900">
              <a:buFont typeface="Wingdings"/>
              <a:buChar char="è"/>
            </a:pPr>
            <a:r>
              <a:rPr lang="en-US" altLang="ko-KR" dirty="0" smtClean="0">
                <a:sym typeface="Wingdings" pitchFamily="2" charset="2"/>
              </a:rPr>
              <a:t>Requiring low density to avoid to relax to the ultimately stable solid-state condition.</a:t>
            </a:r>
          </a:p>
          <a:p>
            <a:pPr marL="342900" indent="-342900">
              <a:buFont typeface="Wingdings"/>
              <a:buChar char="è"/>
            </a:pPr>
            <a:r>
              <a:rPr lang="en-US" altLang="ko-KR" dirty="0" smtClean="0">
                <a:sym typeface="Wingdings" pitchFamily="2" charset="2"/>
              </a:rPr>
              <a:t>Asking for a lower temperature</a:t>
            </a:r>
            <a:endParaRPr lang="en-US" altLang="ko-KR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785918" y="5786454"/>
            <a:ext cx="6000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US" altLang="ko-KR" dirty="0" smtClean="0"/>
              <a:t>Evaporation cooling  </a:t>
            </a:r>
          </a:p>
          <a:p>
            <a:pPr marL="342900" indent="-342900"/>
            <a:r>
              <a:rPr lang="en-US" altLang="ko-KR" dirty="0" smtClean="0">
                <a:sym typeface="Wingdings" pitchFamily="2" charset="2"/>
              </a:rPr>
              <a:t> Initial atom number and long lifetime are critical.</a:t>
            </a:r>
            <a:endParaRPr lang="en-US" altLang="ko-K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7799</TotalTime>
  <Words>250</Words>
  <Application>Microsoft Office PowerPoint</Application>
  <PresentationFormat>On-screen Show (4:3)</PresentationFormat>
  <Paragraphs>36</Paragraphs>
  <Slides>8</Slides>
  <Notes>0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Office 테마</vt:lpstr>
      <vt:lpstr>Equation</vt:lpstr>
      <vt:lpstr>Lecture 3: Making and Observing BECs</vt:lpstr>
      <vt:lpstr>Bose-Einstein Condensation</vt:lpstr>
      <vt:lpstr>Bose-Einstein Condensation of an ideal Bose gas</vt:lpstr>
      <vt:lpstr>BEC systems</vt:lpstr>
      <vt:lpstr>Making a BEC in a dilute gas</vt:lpstr>
      <vt:lpstr>Time-of-flight Imaging</vt:lpstr>
      <vt:lpstr>Bose-Einstein condensation in a dilute gas</vt:lpstr>
      <vt:lpstr>Why it was hard to make a BEC in atomic gases</vt:lpstr>
    </vt:vector>
  </TitlesOfParts>
  <LinksUpToDate>false</LinksUpToDate>
  <SharedDoc>false</SharedDoc>
  <HyperlinksChanged>false</HyperlinksChanged>
  <AppVersion>12.0258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BEC 03</dc:title>
  <dc:creator>Yong-il Shin</dc:creator>
  <cp:keywords/>
  <cp:lastModifiedBy>경원 안</cp:lastModifiedBy>
  <cp:revision>652</cp:revision>
  <dcterms:created xsi:type="dcterms:W3CDTF">2009-10-08T05:46:23Z</dcterms:created>
  <dcterms:modified xsi:type="dcterms:W3CDTF">2009-10-08T05:46:43Z</dcterms:modified>
</cp:coreProperties>
</file>