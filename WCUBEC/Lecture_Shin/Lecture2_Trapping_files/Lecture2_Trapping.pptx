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Default Extension="wmf" ContentType="image/x-wmf"/>
  <Override PartName="/ppt/embeddings/Microsoft_Equation2.bin" ContentType="application/vnd.openxmlformats-officedocument.oleObject"/>
  <Override PartName="/ppt/embeddings/Microsoft_Equation4.bin" ContentType="application/vnd.openxmlformats-officedocument.oleObject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embeddings/Microsoft_Equation5.bin" ContentType="application/vnd.openxmlformats-officedocument.oleObject"/>
  <Override PartName="/ppt/embeddings/Microsoft_Equation7.bin" ContentType="application/vnd.openxmlformats-officedocument.oleObject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vml" ContentType="application/vnd.openxmlformats-officedocument.vmlDrawing"/>
  <Default Extension="jpeg" ContentType="image/jpeg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embeddings/Microsoft_Equation1.bin" ContentType="application/vnd.openxmlformats-officedocument.oleObject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slides/slide8.xml" ContentType="application/vnd.openxmlformats-officedocument.presentationml.slide+xml"/>
  <Default Extension="bin" ContentType="application/vnd.openxmlformats-officedocument.presentationml.printerSettings"/>
  <Override PartName="/ppt/embeddings/Microsoft_Equation6.bin" ContentType="application/vnd.openxmlformats-officedocument.oleObject"/>
  <Default Extension="rels" ContentType="application/vnd.openxmlformats-package.relationships+xml"/>
  <Override PartName="/ppt/slides/slide9.xml" ContentType="application/vnd.openxmlformats-officedocument.presentationml.slide+xml"/>
  <Override PartName="/ppt/embeddings/Microsoft_Equation3.bin" ContentType="application/vnd.openxmlformats-officedocument.oleObject"/>
  <Override PartName="/ppt/slides/slide6.xml" ContentType="application/vnd.openxmlformats-officedocument.presentationml.slide+xml"/>
  <Default Extension="gif" ContentType="image/gif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>
  <p:sldMasterIdLst>
    <p:sldMasterId id="2147483648" r:id="rId1"/>
  </p:sldMasterIdLst>
  <p:notesMasterIdLst>
    <p:notesMasterId r:id="rId16"/>
  </p:notesMasterIdLst>
  <p:sldIdLst>
    <p:sldId id="277" r:id="rId2"/>
    <p:sldId id="267" r:id="rId3"/>
    <p:sldId id="260" r:id="rId4"/>
    <p:sldId id="280" r:id="rId5"/>
    <p:sldId id="278" r:id="rId6"/>
    <p:sldId id="261" r:id="rId7"/>
    <p:sldId id="281" r:id="rId8"/>
    <p:sldId id="259" r:id="rId9"/>
    <p:sldId id="283" r:id="rId10"/>
    <p:sldId id="284" r:id="rId11"/>
    <p:sldId id="282" r:id="rId12"/>
    <p:sldId id="286" r:id="rId13"/>
    <p:sldId id="287" r:id="rId14"/>
    <p:sldId id="288" r:id="rId1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webPr allowPng="1" organizeInFolders="0" useLongFilenames="0" imgSz="1024x768" encoding="windows-1252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4660"/>
  </p:normalViewPr>
  <p:slideViewPr>
    <p:cSldViewPr>
      <p:cViewPr varScale="1">
        <p:scale>
          <a:sx n="143" d="100"/>
          <a:sy n="143" d="100"/>
        </p:scale>
        <p:origin x="-1256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4" Type="http://schemas.openxmlformats.org/officeDocument/2006/relationships/slide" Target="slides/slide13.xml"/><Relationship Id="rId20" Type="http://schemas.openxmlformats.org/officeDocument/2006/relationships/theme" Target="theme/theme1.xml"/><Relationship Id="rId4" Type="http://schemas.openxmlformats.org/officeDocument/2006/relationships/slide" Target="slides/slide3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1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0" Type="http://schemas.openxmlformats.org/officeDocument/2006/relationships/slide" Target="slides/slide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2" Type="http://schemas.openxmlformats.org/officeDocument/2006/relationships/slide" Target="slides/slide11.xml"/><Relationship Id="rId17" Type="http://schemas.openxmlformats.org/officeDocument/2006/relationships/printerSettings" Target="printerSettings/printerSettings1.bin"/><Relationship Id="rId19" Type="http://schemas.openxmlformats.org/officeDocument/2006/relationships/viewProps" Target="viewProps.xml"/><Relationship Id="rId2" Type="http://schemas.openxmlformats.org/officeDocument/2006/relationships/slide" Target="slides/slide1.xml"/><Relationship Id="rId9" Type="http://schemas.openxmlformats.org/officeDocument/2006/relationships/slide" Target="slides/slide8.xml"/><Relationship Id="rId3" Type="http://schemas.openxmlformats.org/officeDocument/2006/relationships/slide" Target="slides/slide2.xml"/><Relationship Id="rId1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3" Type="http://schemas.openxmlformats.org/officeDocument/2006/relationships/image" Target="../media/image3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3" Type="http://schemas.openxmlformats.org/officeDocument/2006/relationships/image" Target="../media/image2.wmf"/><Relationship Id="rId1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69EF5C-CBDD-4EEE-992B-82C16AD328B9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FD0D90-0E97-4F4B-85BE-F34323D684C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14348" y="357166"/>
            <a:ext cx="7929618" cy="571504"/>
          </a:xfrm>
        </p:spPr>
        <p:txBody>
          <a:bodyPr>
            <a:normAutofit/>
          </a:bodyPr>
          <a:lstStyle>
            <a:lvl1pPr algn="l">
              <a:defRPr sz="3200">
                <a:solidFill>
                  <a:schemeClr val="tx2">
                    <a:lumMod val="75000"/>
                  </a:schemeClr>
                </a:solidFill>
                <a:latin typeface="Calibri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0034" y="428604"/>
            <a:ext cx="8229600" cy="64294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5" Type="http://schemas.openxmlformats.org/officeDocument/2006/relationships/image" Target="../media/image5.gif"/><Relationship Id="rId7" Type="http://schemas.openxmlformats.org/officeDocument/2006/relationships/oleObject" Target="../embeddings/Microsoft_Equation3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Microsoft_Equation1.bin"/><Relationship Id="rId6" Type="http://schemas.openxmlformats.org/officeDocument/2006/relationships/oleObject" Target="../embeddings/Microsoft_Equation2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3.jpe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6.bin"/><Relationship Id="rId4" Type="http://schemas.openxmlformats.org/officeDocument/2006/relationships/oleObject" Target="../embeddings/Microsoft_Equation5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Microsoft_Equation4.bin"/><Relationship Id="rId5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0.png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Microsoft_Equation7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3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14348" y="2285992"/>
            <a:ext cx="7929618" cy="571504"/>
          </a:xfrm>
        </p:spPr>
        <p:txBody>
          <a:bodyPr>
            <a:normAutofit fontScale="90000"/>
          </a:bodyPr>
          <a:lstStyle/>
          <a:p>
            <a:r>
              <a:rPr lang="en-US" altLang="ko-KR" dirty="0" smtClean="0"/>
              <a:t>Lecture 2: Trapping and Evaporative Cooling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Forces for atoms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84688" y="1845222"/>
            <a:ext cx="3520516" cy="27108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50000"/>
              </a:lnSpc>
              <a:buFont typeface="Arial" pitchFamily="34" charset="0"/>
              <a:buChar char="•"/>
            </a:pPr>
            <a:r>
              <a:rPr lang="en-US" altLang="ko-KR" sz="2400" dirty="0" smtClean="0">
                <a:latin typeface="Adobe Kaiti Std R" pitchFamily="18" charset="-128"/>
                <a:ea typeface="Adobe Kaiti Std R" pitchFamily="18" charset="-128"/>
              </a:rPr>
              <a:t>Scattering force</a:t>
            </a:r>
          </a:p>
          <a:p>
            <a:pPr>
              <a:lnSpc>
                <a:spcPct val="250000"/>
              </a:lnSpc>
              <a:buFont typeface="Arial" pitchFamily="34" charset="0"/>
              <a:buChar char="•"/>
            </a:pPr>
            <a:r>
              <a:rPr lang="en-US" altLang="ko-KR" sz="2400" dirty="0" smtClean="0">
                <a:latin typeface="Adobe Kaiti Std R" pitchFamily="18" charset="-128"/>
                <a:ea typeface="Adobe Kaiti Std R" pitchFamily="18" charset="-128"/>
              </a:rPr>
              <a:t>Optical dipole force</a:t>
            </a:r>
          </a:p>
          <a:p>
            <a:pPr>
              <a:lnSpc>
                <a:spcPct val="250000"/>
              </a:lnSpc>
              <a:buFont typeface="Arial" pitchFamily="34" charset="0"/>
              <a:buChar char="•"/>
            </a:pPr>
            <a:r>
              <a:rPr lang="en-US" altLang="ko-KR" sz="2400" dirty="0" smtClean="0">
                <a:latin typeface="Adobe Kaiti Std R" pitchFamily="18" charset="-128"/>
                <a:ea typeface="Adobe Kaiti Std R" pitchFamily="18" charset="-128"/>
              </a:rPr>
              <a:t>Magnetic/Electric force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85150" y="2059536"/>
            <a:ext cx="209544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Adobe Kaiti Std R" pitchFamily="18" charset="-128"/>
                <a:ea typeface="Adobe Kaiti Std R" pitchFamily="18" charset="-128"/>
              </a:rPr>
              <a:t>Photon absorption</a:t>
            </a:r>
            <a:endParaRPr lang="ko-KR" altLang="en-US" dirty="0">
              <a:latin typeface="Adobe Kaiti Std R" pitchFamily="18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13712" y="3202544"/>
            <a:ext cx="325441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Adobe Kaiti Std R" pitchFamily="18" charset="-128"/>
                <a:ea typeface="Adobe Kaiti Std R" pitchFamily="18" charset="-128"/>
              </a:rPr>
              <a:t>AC Stark effect (level shifting)</a:t>
            </a:r>
            <a:endParaRPr lang="ko-KR" altLang="en-US" dirty="0">
              <a:latin typeface="Adobe Kaiti Std R" pitchFamily="18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56654" y="4631304"/>
            <a:ext cx="271580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Adobe Kaiti Std R" pitchFamily="18" charset="-128"/>
                <a:ea typeface="Adobe Kaiti Std R" pitchFamily="18" charset="-128"/>
              </a:rPr>
              <a:t>Dipole moment in a field</a:t>
            </a:r>
            <a:endParaRPr lang="ko-KR" altLang="en-US" dirty="0">
              <a:latin typeface="Adobe Kaiti Std R" pitchFamily="18" charset="-128"/>
            </a:endParaRPr>
          </a:p>
        </p:txBody>
      </p:sp>
      <p:cxnSp>
        <p:nvCxnSpPr>
          <p:cNvPr id="11" name="직선 화살표 연결선 10"/>
          <p:cNvCxnSpPr>
            <a:stCxn id="7" idx="1"/>
          </p:cNvCxnSpPr>
          <p:nvPr/>
        </p:nvCxnSpPr>
        <p:spPr>
          <a:xfrm rot="10800000" flipV="1">
            <a:off x="3856456" y="2244202"/>
            <a:ext cx="928694" cy="1725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stCxn id="8" idx="1"/>
          </p:cNvCxnSpPr>
          <p:nvPr/>
        </p:nvCxnSpPr>
        <p:spPr>
          <a:xfrm rot="10800000" flipV="1">
            <a:off x="4285084" y="3387210"/>
            <a:ext cx="428628" cy="296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stCxn id="9" idx="1"/>
          </p:cNvCxnSpPr>
          <p:nvPr/>
        </p:nvCxnSpPr>
        <p:spPr>
          <a:xfrm rot="10800000">
            <a:off x="4427960" y="4488428"/>
            <a:ext cx="928694" cy="3275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Magneto-Optical Trap (MOT) </a:t>
            </a:r>
            <a:endParaRPr lang="ko-KR" altLang="en-US" dirty="0"/>
          </a:p>
        </p:txBody>
      </p:sp>
      <p:graphicFrame>
        <p:nvGraphicFramePr>
          <p:cNvPr id="3073" name="Object 1"/>
          <p:cNvGraphicFramePr>
            <a:graphicFrameLocks noChangeAspect="1"/>
          </p:cNvGraphicFramePr>
          <p:nvPr/>
        </p:nvGraphicFramePr>
        <p:xfrm>
          <a:off x="1000100" y="4643446"/>
          <a:ext cx="6057112" cy="1155150"/>
        </p:xfrm>
        <a:graphic>
          <a:graphicData uri="http://schemas.openxmlformats.org/presentationml/2006/ole">
            <p:oleObj spid="_x0000_s3073" name="Equation" r:id="rId3" imgW="3454200" imgH="660240" progId="Equation.3">
              <p:embed/>
            </p:oleObj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857488" y="6000767"/>
            <a:ext cx="1130583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Damping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0" y="6000767"/>
            <a:ext cx="1083655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Trapping</a:t>
            </a:r>
            <a:endParaRPr lang="ko-KR" altLang="en-US" dirty="0"/>
          </a:p>
        </p:txBody>
      </p:sp>
      <p:cxnSp>
        <p:nvCxnSpPr>
          <p:cNvPr id="12" name="직선 화살표 연결선 11"/>
          <p:cNvCxnSpPr/>
          <p:nvPr/>
        </p:nvCxnSpPr>
        <p:spPr>
          <a:xfrm flipV="1">
            <a:off x="3643306" y="5584282"/>
            <a:ext cx="428628" cy="4164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10" idx="0"/>
          </p:cNvCxnSpPr>
          <p:nvPr/>
        </p:nvCxnSpPr>
        <p:spPr>
          <a:xfrm rot="16200000" flipV="1">
            <a:off x="4777549" y="5664488"/>
            <a:ext cx="345045" cy="3275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29322" y="5357826"/>
            <a:ext cx="3033523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Ex) B’=10G/cm,</a:t>
            </a:r>
          </a:p>
          <a:p>
            <a:r>
              <a:rPr lang="en-US" altLang="ko-KR" sz="1600" dirty="0" smtClean="0"/>
              <a:t>     Oscillation freq ~ few kHz</a:t>
            </a:r>
          </a:p>
          <a:p>
            <a:r>
              <a:rPr lang="en-US" altLang="ko-KR" sz="1600" dirty="0" smtClean="0"/>
              <a:t>     Damping freq ~ 100kHz </a:t>
            </a:r>
            <a:endParaRPr lang="ko-KR" altLang="en-US" sz="16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5400000">
            <a:off x="5031589" y="826271"/>
            <a:ext cx="2938474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" name="그림 22" descr="MOT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976" y="1357298"/>
            <a:ext cx="2705100" cy="2790825"/>
          </a:xfrm>
          <a:prstGeom prst="rect">
            <a:avLst/>
          </a:prstGeom>
        </p:spPr>
      </p:pic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357158" y="3786190"/>
          <a:ext cx="1577870" cy="417512"/>
        </p:xfrm>
        <a:graphic>
          <a:graphicData uri="http://schemas.openxmlformats.org/presentationml/2006/ole">
            <p:oleObj spid="_x0000_s3076" name="Equation" r:id="rId6" imgW="1054080" imgH="279360" progId="Equation.3">
              <p:embed/>
            </p:oleObj>
          </a:graphicData>
        </a:graphic>
      </p:graphicFrame>
      <p:graphicFrame>
        <p:nvGraphicFramePr>
          <p:cNvPr id="3077" name="Object 5"/>
          <p:cNvGraphicFramePr>
            <a:graphicFrameLocks noChangeAspect="1"/>
          </p:cNvGraphicFramePr>
          <p:nvPr/>
        </p:nvGraphicFramePr>
        <p:xfrm>
          <a:off x="4643438" y="1071546"/>
          <a:ext cx="1330325" cy="265113"/>
        </p:xfrm>
        <a:graphic>
          <a:graphicData uri="http://schemas.openxmlformats.org/presentationml/2006/ole">
            <p:oleObj spid="_x0000_s3077" name="Equation" r:id="rId7" imgW="888840" imgH="1774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MOT dynamics</a:t>
            </a:r>
            <a:endParaRPr lang="ko-KR" altLang="en-US" dirty="0"/>
          </a:p>
        </p:txBody>
      </p:sp>
      <p:pic>
        <p:nvPicPr>
          <p:cNvPr id="3" name="그림 2" descr="lasercool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72" y="1500174"/>
            <a:ext cx="3654684" cy="4330801"/>
          </a:xfrm>
          <a:prstGeom prst="rect">
            <a:avLst/>
          </a:prstGeom>
        </p:spPr>
      </p:pic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4572000" y="4214818"/>
          <a:ext cx="4214842" cy="1723441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010169"/>
                <a:gridCol w="2204673"/>
              </a:tblGrid>
              <a:tr h="3211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 smtClean="0"/>
                        <a:t>Cloud diameter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smtClean="0"/>
                        <a:t>0.1~10 mm</a:t>
                      </a:r>
                      <a:endParaRPr lang="ko-KR" altLang="en-US" sz="1400" b="0" dirty="0"/>
                    </a:p>
                  </a:txBody>
                  <a:tcPr/>
                </a:tc>
              </a:tr>
              <a:tr h="3211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 smtClean="0"/>
                        <a:t>Temperature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smtClean="0"/>
                        <a:t>~100</a:t>
                      </a:r>
                      <a:r>
                        <a:rPr lang="en-US" altLang="ko-KR" sz="1400" b="0" baseline="0" dirty="0" smtClean="0"/>
                        <a:t> </a:t>
                      </a:r>
                      <a:r>
                        <a:rPr lang="en-US" altLang="ko-KR" sz="1400" b="0" baseline="0" dirty="0" err="1" smtClean="0"/>
                        <a:t>uK</a:t>
                      </a:r>
                      <a:endParaRPr lang="ko-KR" altLang="en-US" sz="1400" b="0" dirty="0"/>
                    </a:p>
                  </a:txBody>
                  <a:tcPr/>
                </a:tc>
              </a:tr>
              <a:tr h="3211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 smtClean="0"/>
                        <a:t>#</a:t>
                      </a:r>
                      <a:r>
                        <a:rPr lang="en-US" altLang="ko-KR" sz="1400" b="0" baseline="0" dirty="0" smtClean="0"/>
                        <a:t> of atoms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smtClean="0"/>
                        <a:t>10</a:t>
                      </a:r>
                      <a:r>
                        <a:rPr lang="en-US" altLang="ko-KR" sz="1400" b="0" baseline="30000" dirty="0" smtClean="0"/>
                        <a:t>4</a:t>
                      </a:r>
                      <a:r>
                        <a:rPr lang="en-US" altLang="ko-KR" sz="1400" b="0" dirty="0" smtClean="0"/>
                        <a:t>~10</a:t>
                      </a:r>
                      <a:r>
                        <a:rPr lang="en-US" altLang="ko-KR" sz="1400" b="0" baseline="30000" dirty="0" smtClean="0"/>
                        <a:t>10</a:t>
                      </a:r>
                      <a:endParaRPr lang="ko-KR" altLang="en-US" sz="1400" b="0" baseline="30000" dirty="0"/>
                    </a:p>
                  </a:txBody>
                  <a:tcPr/>
                </a:tc>
              </a:tr>
              <a:tr h="4029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 smtClean="0"/>
                        <a:t>Atom</a:t>
                      </a:r>
                      <a:r>
                        <a:rPr lang="en-US" altLang="ko-KR" sz="1400" b="0" baseline="0" dirty="0" smtClean="0"/>
                        <a:t> number density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smtClean="0"/>
                        <a:t>10</a:t>
                      </a:r>
                      <a:r>
                        <a:rPr lang="en-US" altLang="ko-KR" sz="1400" b="0" baseline="30000" dirty="0" smtClean="0"/>
                        <a:t>8  </a:t>
                      </a:r>
                      <a:r>
                        <a:rPr lang="en-US" altLang="ko-KR" sz="1400" b="0" dirty="0" smtClean="0"/>
                        <a:t>to 10</a:t>
                      </a:r>
                      <a:r>
                        <a:rPr lang="en-US" altLang="ko-KR" sz="1400" b="0" baseline="30000" dirty="0" smtClean="0"/>
                        <a:t>11 </a:t>
                      </a:r>
                      <a:r>
                        <a:rPr lang="en-US" altLang="ko-KR" sz="1400" b="0" dirty="0" smtClean="0"/>
                        <a:t>cm</a:t>
                      </a:r>
                      <a:r>
                        <a:rPr lang="en-US" altLang="ko-KR" sz="1400" b="0" baseline="30000" dirty="0" smtClean="0"/>
                        <a:t>-3</a:t>
                      </a:r>
                      <a:endParaRPr lang="ko-KR" altLang="en-US" sz="1400" b="0" dirty="0"/>
                    </a:p>
                  </a:txBody>
                  <a:tcPr/>
                </a:tc>
              </a:tr>
              <a:tr h="3571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 smtClean="0"/>
                        <a:t>Phase space density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smtClean="0"/>
                        <a:t>~10</a:t>
                      </a:r>
                      <a:r>
                        <a:rPr lang="en-US" altLang="ko-KR" sz="1400" b="0" baseline="30000" dirty="0" smtClean="0"/>
                        <a:t>-6</a:t>
                      </a:r>
                      <a:endParaRPr lang="ko-KR" altLang="en-US" sz="1400" b="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714876" y="1071546"/>
            <a:ext cx="3357586" cy="280076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6213" indent="-176213">
              <a:buFont typeface="Wingdings" pitchFamily="2" charset="2"/>
              <a:buChar char="Ø"/>
            </a:pPr>
            <a:r>
              <a:rPr lang="en-US" altLang="ko-KR" sz="1600" dirty="0" smtClean="0"/>
              <a:t>Loading from background vapor or atomic beam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sz="1600" dirty="0" smtClean="0"/>
              <a:t>Many loss mechanism: </a:t>
            </a:r>
          </a:p>
          <a:p>
            <a:pPr marL="363538">
              <a:buFont typeface="Arial" pitchFamily="34" charset="0"/>
              <a:buChar char="•"/>
            </a:pPr>
            <a:r>
              <a:rPr lang="en-US" altLang="ko-KR" sz="1600" dirty="0" smtClean="0"/>
              <a:t>Background collision</a:t>
            </a:r>
          </a:p>
          <a:p>
            <a:pPr marL="363538">
              <a:buFont typeface="Arial" pitchFamily="34" charset="0"/>
              <a:buChar char="•"/>
            </a:pPr>
            <a:r>
              <a:rPr lang="en-US" altLang="ko-KR" sz="1600" dirty="0" smtClean="0"/>
              <a:t>Inelastic collision</a:t>
            </a:r>
          </a:p>
          <a:p>
            <a:pPr marL="363538">
              <a:buFont typeface="Arial" pitchFamily="34" charset="0"/>
              <a:buChar char="•"/>
            </a:pPr>
            <a:r>
              <a:rPr lang="en-US" altLang="ko-KR" sz="1600" dirty="0" err="1" smtClean="0"/>
              <a:t>Radiative</a:t>
            </a:r>
            <a:r>
              <a:rPr lang="en-US" altLang="ko-KR" sz="1600" dirty="0" smtClean="0"/>
              <a:t> Escape</a:t>
            </a:r>
          </a:p>
          <a:p>
            <a:pPr marL="363538">
              <a:buFont typeface="Arial" pitchFamily="34" charset="0"/>
              <a:buChar char="•"/>
            </a:pPr>
            <a:r>
              <a:rPr lang="en-US" altLang="ko-KR" sz="1600" dirty="0" err="1" smtClean="0"/>
              <a:t>Radiative</a:t>
            </a:r>
            <a:r>
              <a:rPr lang="en-US" altLang="ko-KR" sz="1600" dirty="0" smtClean="0"/>
              <a:t> pressure</a:t>
            </a:r>
          </a:p>
          <a:p>
            <a:pPr marL="176213" indent="-176213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sz="1600" dirty="0" smtClean="0"/>
              <a:t>Modified techniques:</a:t>
            </a:r>
          </a:p>
          <a:p>
            <a:pPr marL="363538">
              <a:buFont typeface="Arial" pitchFamily="34" charset="0"/>
              <a:buChar char="•"/>
            </a:pPr>
            <a:r>
              <a:rPr lang="en-US" altLang="ko-KR" sz="1600" dirty="0" smtClean="0"/>
              <a:t>CMOT</a:t>
            </a:r>
          </a:p>
          <a:p>
            <a:pPr marL="363538">
              <a:buFont typeface="Arial" pitchFamily="34" charset="0"/>
              <a:buChar char="•"/>
            </a:pPr>
            <a:r>
              <a:rPr lang="en-US" altLang="ko-KR" sz="1600" dirty="0" smtClean="0"/>
              <a:t>Dark-spot MOT</a:t>
            </a:r>
            <a:endParaRPr lang="ko-KR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Optical dipole trap</a:t>
            </a:r>
            <a:endParaRPr lang="ko-KR" alt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5280000">
            <a:off x="230050" y="1696164"/>
            <a:ext cx="4511168" cy="367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96928" y="987990"/>
            <a:ext cx="3318410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14942" y="3143248"/>
            <a:ext cx="2857520" cy="1588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4929190" y="6429396"/>
            <a:ext cx="401103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Adobe Kaiti Std R" pitchFamily="18" charset="-128"/>
                <a:ea typeface="Adobe Kaiti Std R" pitchFamily="18" charset="-128"/>
              </a:rPr>
              <a:t>R. Grimm, </a:t>
            </a:r>
            <a:r>
              <a:rPr lang="en-US" altLang="ko-KR" sz="1200" i="1" dirty="0" smtClean="0">
                <a:latin typeface="Adobe Kaiti Std R" pitchFamily="18" charset="-128"/>
                <a:ea typeface="Adobe Kaiti Std R" pitchFamily="18" charset="-128"/>
              </a:rPr>
              <a:t>et al, </a:t>
            </a:r>
            <a:r>
              <a:rPr lang="en-US" altLang="ko-KR" sz="1200" dirty="0" smtClean="0">
                <a:latin typeface="Adobe Kaiti Std R" pitchFamily="18" charset="-128"/>
                <a:ea typeface="Adobe Kaiti Std R" pitchFamily="18" charset="-128"/>
              </a:rPr>
              <a:t>Adv. At., Mol., Opt. Phys. 42, 95 (2000) </a:t>
            </a:r>
            <a:endParaRPr lang="ko-KR" altLang="en-US" sz="1200" dirty="0">
              <a:latin typeface="Adobe Kaiti Std R" pitchFamily="18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11308" y="2059536"/>
            <a:ext cx="255230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Adobe Kaiti Std R" pitchFamily="18" charset="-128"/>
                <a:ea typeface="Adobe Kaiti Std R" pitchFamily="18" charset="-128"/>
              </a:rPr>
              <a:t>Complex </a:t>
            </a:r>
            <a:r>
              <a:rPr lang="en-US" altLang="ko-KR" dirty="0" err="1" smtClean="0">
                <a:latin typeface="Adobe Kaiti Std R" pitchFamily="18" charset="-128"/>
                <a:ea typeface="Adobe Kaiti Std R" pitchFamily="18" charset="-128"/>
              </a:rPr>
              <a:t>polarizability</a:t>
            </a:r>
            <a:endParaRPr lang="ko-KR" altLang="en-US" dirty="0">
              <a:latin typeface="Adobe Kaiti Std R" pitchFamily="18" charset="-128"/>
            </a:endParaRPr>
          </a:p>
        </p:txBody>
      </p:sp>
      <p:cxnSp>
        <p:nvCxnSpPr>
          <p:cNvPr id="14" name="직선 화살표 연결선 13"/>
          <p:cNvCxnSpPr/>
          <p:nvPr/>
        </p:nvCxnSpPr>
        <p:spPr>
          <a:xfrm rot="5400000" flipH="1" flipV="1">
            <a:off x="7540146" y="1630920"/>
            <a:ext cx="500042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86314" y="2702478"/>
            <a:ext cx="3118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Far detuning limit  (</a:t>
            </a:r>
            <a:r>
              <a:rPr lang="en-US" altLang="ko-KR" dirty="0" smtClean="0">
                <a:sym typeface="Symbol"/>
              </a:rPr>
              <a:t> &lt;&lt; )</a:t>
            </a:r>
            <a:endParaRPr lang="ko-KR" altLang="en-US" dirty="0"/>
          </a:p>
        </p:txBody>
      </p:sp>
      <p:pic>
        <p:nvPicPr>
          <p:cNvPr id="28679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57752" y="4910157"/>
            <a:ext cx="37052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Various optical traps</a:t>
            </a:r>
            <a:endParaRPr lang="ko-KR" altLang="en-US" dirty="0"/>
          </a:p>
        </p:txBody>
      </p:sp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714488"/>
            <a:ext cx="3676650" cy="328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5143512"/>
            <a:ext cx="3466500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그림 11" descr="opticallattic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2" y="1643050"/>
            <a:ext cx="3445668" cy="3348041"/>
          </a:xfrm>
          <a:prstGeom prst="rect">
            <a:avLst/>
          </a:prstGeom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643467" y="5072074"/>
            <a:ext cx="414337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714348" y="1142984"/>
            <a:ext cx="2935419" cy="369332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Single, focused beam trap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714876" y="1142984"/>
            <a:ext cx="1782860" cy="369332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Optical Lattices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85786" y="6000768"/>
            <a:ext cx="3546355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Ex) for Na, 1064nm, 1W, w</a:t>
            </a:r>
            <a:r>
              <a:rPr lang="en-US" altLang="ko-KR" sz="1600" baseline="-25000" dirty="0" smtClean="0"/>
              <a:t>0</a:t>
            </a:r>
            <a:r>
              <a:rPr lang="en-US" altLang="ko-KR" sz="1600" dirty="0" smtClean="0"/>
              <a:t>=10um</a:t>
            </a:r>
          </a:p>
          <a:p>
            <a:r>
              <a:rPr lang="en-US" altLang="ko-KR" sz="1600" dirty="0" smtClean="0"/>
              <a:t>     </a:t>
            </a:r>
            <a:r>
              <a:rPr lang="en-US" altLang="ko-KR" sz="1600" dirty="0" err="1" smtClean="0"/>
              <a:t>U</a:t>
            </a:r>
            <a:r>
              <a:rPr lang="en-US" altLang="ko-KR" sz="1600" baseline="-25000" dirty="0" err="1" smtClean="0"/>
              <a:t>dipole</a:t>
            </a:r>
            <a:r>
              <a:rPr lang="en-US" altLang="ko-KR" sz="1600" dirty="0" smtClean="0"/>
              <a:t>=260uK, </a:t>
            </a:r>
            <a:r>
              <a:rPr lang="en-US" altLang="ko-KR" sz="1600" dirty="0" err="1" smtClean="0"/>
              <a:t>R</a:t>
            </a:r>
            <a:r>
              <a:rPr lang="en-US" altLang="ko-KR" sz="1600" baseline="-25000" dirty="0" err="1" smtClean="0"/>
              <a:t>scatt</a:t>
            </a:r>
            <a:r>
              <a:rPr lang="en-US" altLang="ko-KR" sz="1600" dirty="0" smtClean="0"/>
              <a:t>=2s</a:t>
            </a:r>
            <a:r>
              <a:rPr lang="en-US" altLang="ko-KR" sz="1600" baseline="30000" dirty="0" smtClean="0"/>
              <a:t>-1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Various optical traps</a:t>
            </a:r>
            <a:endParaRPr lang="ko-KR" altLang="en-US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4648342"/>
            <a:ext cx="5715040" cy="2209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480" y="1643074"/>
            <a:ext cx="3000396" cy="2389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0" y="1643074"/>
            <a:ext cx="2504355" cy="2447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1777886" y="1143008"/>
            <a:ext cx="3222742" cy="369332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Gravito</a:t>
            </a:r>
            <a:r>
              <a:rPr lang="en-US" altLang="ko-KR" dirty="0" smtClean="0"/>
              <a:t>-Optical Surface Trap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28794" y="4202700"/>
            <a:ext cx="2112245" cy="369332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Hollow-beam Trap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Magnetic traps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000100" y="1643050"/>
            <a:ext cx="7358114" cy="61555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No field maximum theorem</a:t>
            </a:r>
          </a:p>
          <a:p>
            <a:r>
              <a:rPr lang="en-US" altLang="ko-KR" sz="1600" dirty="0" smtClean="0"/>
              <a:t>: </a:t>
            </a:r>
            <a:r>
              <a:rPr lang="en-US" altLang="ko-KR" sz="1400" dirty="0" smtClean="0"/>
              <a:t>In the region free of charges and currents |E| and |B| cannot have a local maximum.</a:t>
            </a:r>
          </a:p>
        </p:txBody>
      </p:sp>
      <p:graphicFrame>
        <p:nvGraphicFramePr>
          <p:cNvPr id="1036" name="Object 12"/>
          <p:cNvGraphicFramePr>
            <a:graphicFrameLocks noChangeAspect="1"/>
          </p:cNvGraphicFramePr>
          <p:nvPr/>
        </p:nvGraphicFramePr>
        <p:xfrm>
          <a:off x="3357554" y="928670"/>
          <a:ext cx="1571636" cy="505508"/>
        </p:xfrm>
        <a:graphic>
          <a:graphicData uri="http://schemas.openxmlformats.org/presentationml/2006/ole">
            <p:oleObj spid="_x0000_s1036" name="Equation" r:id="rId3" imgW="749160" imgH="241200" progId="Equation.3">
              <p:embed/>
            </p:oleObj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071538" y="1071546"/>
            <a:ext cx="1949444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Magnetic potential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662" y="2500306"/>
            <a:ext cx="769069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ym typeface="Wingdings" pitchFamily="2" charset="2"/>
              </a:rPr>
              <a:t> </a:t>
            </a:r>
            <a:r>
              <a:rPr lang="en-US" altLang="ko-KR" dirty="0" smtClean="0"/>
              <a:t>Only </a:t>
            </a:r>
            <a:r>
              <a:rPr lang="en-US" altLang="ko-KR" u="sng" dirty="0" smtClean="0">
                <a:solidFill>
                  <a:schemeClr val="accent6">
                    <a:lumMod val="50000"/>
                  </a:schemeClr>
                </a:solidFill>
              </a:rPr>
              <a:t>weak-field seeking states</a:t>
            </a:r>
            <a:r>
              <a:rPr lang="en-US" altLang="ko-KR" dirty="0" smtClean="0"/>
              <a:t> can be trapped in a local minimum.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3042" y="3357562"/>
            <a:ext cx="244611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ym typeface="Symbol"/>
              </a:rPr>
              <a:t> i</a:t>
            </a:r>
            <a:r>
              <a:rPr lang="en-US" altLang="ko-KR" dirty="0" smtClean="0">
                <a:sym typeface="Wingdings" pitchFamily="2" charset="2"/>
              </a:rPr>
              <a:t>s anti-parallel to B</a:t>
            </a:r>
            <a:endParaRPr lang="en-US" altLang="ko-KR" dirty="0" smtClean="0"/>
          </a:p>
        </p:txBody>
      </p:sp>
      <p:graphicFrame>
        <p:nvGraphicFramePr>
          <p:cNvPr id="1037" name="Object 13"/>
          <p:cNvGraphicFramePr>
            <a:graphicFrameLocks noChangeAspect="1"/>
          </p:cNvGraphicFramePr>
          <p:nvPr/>
        </p:nvGraphicFramePr>
        <p:xfrm>
          <a:off x="4357686" y="3214686"/>
          <a:ext cx="2503487" cy="558800"/>
        </p:xfrm>
        <a:graphic>
          <a:graphicData uri="http://schemas.openxmlformats.org/presentationml/2006/ole">
            <p:oleObj spid="_x0000_s1037" name="Equation" r:id="rId4" imgW="1193760" imgH="266400" progId="Equation.3">
              <p:embed/>
            </p:oleObj>
          </a:graphicData>
        </a:graphic>
      </p:graphicFrame>
      <p:cxnSp>
        <p:nvCxnSpPr>
          <p:cNvPr id="27" name="직선 화살표 연결선 26"/>
          <p:cNvCxnSpPr>
            <a:endCxn id="25" idx="0"/>
          </p:cNvCxnSpPr>
          <p:nvPr/>
        </p:nvCxnSpPr>
        <p:spPr>
          <a:xfrm rot="5400000">
            <a:off x="2754638" y="2897522"/>
            <a:ext cx="571504" cy="3485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 rot="5400000">
            <a:off x="4854149" y="3932669"/>
            <a:ext cx="2436098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39" name="Object 15"/>
          <p:cNvGraphicFramePr>
            <a:graphicFrameLocks noChangeAspect="1"/>
          </p:cNvGraphicFramePr>
          <p:nvPr/>
        </p:nvGraphicFramePr>
        <p:xfrm>
          <a:off x="1785918" y="5000636"/>
          <a:ext cx="2159985" cy="571504"/>
        </p:xfrm>
        <a:graphic>
          <a:graphicData uri="http://schemas.openxmlformats.org/presentationml/2006/ole">
            <p:oleObj spid="_x0000_s1039" name="Equation" r:id="rId6" imgW="1054080" imgH="279360" progId="Equation.3">
              <p:embed/>
            </p:oleObj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500166" y="4286256"/>
            <a:ext cx="2079415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ex) </a:t>
            </a:r>
            <a:r>
              <a:rPr lang="en-US" altLang="ko-KR" sz="1600" dirty="0" err="1" smtClean="0"/>
              <a:t>Quadrupole</a:t>
            </a:r>
            <a:r>
              <a:rPr lang="en-US" altLang="ko-KR" sz="1600" dirty="0" smtClean="0"/>
              <a:t> trap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Stability of magnetic trap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857225" y="1317616"/>
            <a:ext cx="728667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Only stable if the atom’s magnetic moment adiabatically follows the direction of the magnetic field</a:t>
            </a:r>
          </a:p>
        </p:txBody>
      </p:sp>
      <p:graphicFrame>
        <p:nvGraphicFramePr>
          <p:cNvPr id="1037" name="Object 13"/>
          <p:cNvGraphicFramePr>
            <a:graphicFrameLocks noChangeAspect="1"/>
          </p:cNvGraphicFramePr>
          <p:nvPr/>
        </p:nvGraphicFramePr>
        <p:xfrm>
          <a:off x="2928926" y="2143116"/>
          <a:ext cx="2316162" cy="825500"/>
        </p:xfrm>
        <a:graphic>
          <a:graphicData uri="http://schemas.openxmlformats.org/presentationml/2006/ole">
            <p:oleObj spid="_x0000_s31747" name="Equation" r:id="rId3" imgW="1104840" imgH="393480" progId="Equation.3">
              <p:embed/>
            </p:oleObj>
          </a:graphicData>
        </a:graphic>
      </p:graphicFrame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5400000">
            <a:off x="4425521" y="3932669"/>
            <a:ext cx="2436098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928662" y="3143248"/>
            <a:ext cx="728667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In regions of very small magnetic field, a moving particle will make a </a:t>
            </a:r>
            <a:r>
              <a:rPr lang="en-US" altLang="ko-KR" dirty="0" err="1" smtClean="0"/>
              <a:t>Majorana</a:t>
            </a:r>
            <a:r>
              <a:rPr lang="en-US" altLang="ko-KR" dirty="0" smtClean="0"/>
              <a:t> spin flip to </a:t>
            </a:r>
            <a:r>
              <a:rPr lang="en-US" altLang="ko-KR" dirty="0" err="1" smtClean="0"/>
              <a:t>untrapable</a:t>
            </a:r>
            <a:r>
              <a:rPr lang="en-US" altLang="ko-KR" dirty="0" smtClean="0"/>
              <a:t> states. </a:t>
            </a:r>
            <a:r>
              <a:rPr lang="en-US" altLang="ko-KR" dirty="0" smtClean="0">
                <a:sym typeface="Wingdings" pitchFamily="2" charset="2"/>
              </a:rPr>
              <a:t> Atom loss</a:t>
            </a:r>
            <a:endParaRPr lang="en-US" altLang="ko-KR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1071538" y="4643446"/>
            <a:ext cx="2595454" cy="86177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Plug trap</a:t>
            </a:r>
          </a:p>
          <a:p>
            <a:r>
              <a:rPr lang="en-US" altLang="ko-KR" sz="1600" dirty="0" smtClean="0"/>
              <a:t>= </a:t>
            </a:r>
            <a:r>
              <a:rPr lang="en-US" altLang="ko-KR" sz="1600" dirty="0" err="1" smtClean="0"/>
              <a:t>Quadrupole</a:t>
            </a:r>
            <a:r>
              <a:rPr lang="en-US" altLang="ko-KR" sz="1600" dirty="0" smtClean="0"/>
              <a:t> trap</a:t>
            </a:r>
          </a:p>
          <a:p>
            <a:r>
              <a:rPr lang="en-US" altLang="ko-KR" sz="1600" dirty="0" smtClean="0"/>
              <a:t>  + Optical plug at center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5500694" y="4000504"/>
            <a:ext cx="214314" cy="25717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1142976" y="5929330"/>
            <a:ext cx="278608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Used for first BEC at MIT (1995)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Time-averaged Orbiting Potential (TOP) trap</a:t>
            </a:r>
            <a:endParaRPr lang="ko-KR" altLang="en-US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72132" y="4214818"/>
            <a:ext cx="3067050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0100" y="1714488"/>
            <a:ext cx="4295786" cy="378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5500694" y="1000108"/>
            <a:ext cx="2799741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Used for first BEC at JILA (1995)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 smtClean="0"/>
              <a:t>Ioffe</a:t>
            </a:r>
            <a:r>
              <a:rPr lang="en-US" altLang="ko-KR" dirty="0" smtClean="0"/>
              <a:t>-Pritchard Trap</a:t>
            </a:r>
            <a:endParaRPr lang="ko-KR" altLang="en-US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5400000">
            <a:off x="3571853" y="-71446"/>
            <a:ext cx="1895475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2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71604" y="4572008"/>
            <a:ext cx="5810250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571604" y="1357298"/>
            <a:ext cx="288700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Forming a static local minimum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D:\Docs on D\Archive WK\Archive\Photos\00-08-08 New Exp MIT\00-08-08-PIC0001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105" y="2112636"/>
            <a:ext cx="3656012" cy="3656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D:\Docs on D\My Desktop\Image copies for talk\01-11-19_1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8517" y="2112636"/>
            <a:ext cx="4424363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3962717" y="3865236"/>
            <a:ext cx="5334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2058" name="Line 10"/>
          <p:cNvSpPr>
            <a:spLocks noChangeShapeType="1"/>
          </p:cNvSpPr>
          <p:nvPr/>
        </p:nvSpPr>
        <p:spPr bwMode="auto">
          <a:xfrm>
            <a:off x="3048317" y="4779636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2059" name="Line 11"/>
          <p:cNvSpPr>
            <a:spLocks noChangeShapeType="1"/>
          </p:cNvSpPr>
          <p:nvPr/>
        </p:nvSpPr>
        <p:spPr bwMode="auto">
          <a:xfrm>
            <a:off x="411480" y="4322436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2060" name="Text Box 12"/>
          <p:cNvSpPr txBox="1">
            <a:spLocks noChangeArrowheads="1"/>
          </p:cNvSpPr>
          <p:nvPr/>
        </p:nvSpPr>
        <p:spPr bwMode="auto">
          <a:xfrm>
            <a:off x="1324292" y="5770236"/>
            <a:ext cx="806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1800">
                <a:ea typeface="굴림" charset="-127"/>
              </a:rPr>
              <a:t>14 cm</a:t>
            </a:r>
          </a:p>
        </p:txBody>
      </p:sp>
      <p:sp>
        <p:nvSpPr>
          <p:cNvPr id="2061" name="Line 13"/>
          <p:cNvSpPr>
            <a:spLocks noChangeShapeType="1"/>
          </p:cNvSpPr>
          <p:nvPr/>
        </p:nvSpPr>
        <p:spPr bwMode="auto">
          <a:xfrm>
            <a:off x="2133917" y="5922636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2062" name="Line 14"/>
          <p:cNvSpPr>
            <a:spLocks noChangeShapeType="1"/>
          </p:cNvSpPr>
          <p:nvPr/>
        </p:nvSpPr>
        <p:spPr bwMode="auto">
          <a:xfrm rot="10800000">
            <a:off x="411480" y="5922636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2063" name="Line 15"/>
          <p:cNvSpPr>
            <a:spLocks noChangeShapeType="1"/>
          </p:cNvSpPr>
          <p:nvPr/>
        </p:nvSpPr>
        <p:spPr bwMode="auto">
          <a:xfrm>
            <a:off x="7772717" y="4398636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2066" name="Text Box 18"/>
          <p:cNvSpPr txBox="1">
            <a:spLocks noChangeArrowheads="1"/>
          </p:cNvSpPr>
          <p:nvPr/>
        </p:nvSpPr>
        <p:spPr bwMode="auto">
          <a:xfrm>
            <a:off x="643227" y="6113164"/>
            <a:ext cx="2203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1800" dirty="0">
                <a:ea typeface="굴림" charset="-127"/>
              </a:rPr>
              <a:t>3 mm X 3 mm wires</a:t>
            </a:r>
          </a:p>
        </p:txBody>
      </p:sp>
      <p:sp>
        <p:nvSpPr>
          <p:cNvPr id="2067" name="Text Box 19"/>
          <p:cNvSpPr txBox="1">
            <a:spLocks noChangeArrowheads="1"/>
          </p:cNvSpPr>
          <p:nvPr/>
        </p:nvSpPr>
        <p:spPr bwMode="auto">
          <a:xfrm>
            <a:off x="6118542" y="6113164"/>
            <a:ext cx="23399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1800" dirty="0">
                <a:ea typeface="굴림" charset="-127"/>
              </a:rPr>
              <a:t>50 </a:t>
            </a:r>
            <a:r>
              <a:rPr lang="en-US" altLang="ko-KR" sz="1800" dirty="0">
                <a:latin typeface="Symbol" pitchFamily="18" charset="2"/>
                <a:ea typeface="굴림" charset="-127"/>
              </a:rPr>
              <a:t>m</a:t>
            </a:r>
            <a:r>
              <a:rPr lang="en-US" altLang="ko-KR" sz="1800" dirty="0">
                <a:ea typeface="굴림" charset="-127"/>
              </a:rPr>
              <a:t>m X 10 </a:t>
            </a:r>
            <a:r>
              <a:rPr lang="en-US" altLang="ko-KR" sz="1800" dirty="0">
                <a:latin typeface="Symbol" pitchFamily="18" charset="2"/>
                <a:ea typeface="굴림" charset="-127"/>
              </a:rPr>
              <a:t>m</a:t>
            </a:r>
            <a:r>
              <a:rPr lang="en-US" altLang="ko-KR" sz="1800" dirty="0">
                <a:ea typeface="굴림" charset="-127"/>
              </a:rPr>
              <a:t>m wires</a:t>
            </a:r>
          </a:p>
        </p:txBody>
      </p:sp>
      <p:sp>
        <p:nvSpPr>
          <p:cNvPr id="2068" name="Line 20"/>
          <p:cNvSpPr>
            <a:spLocks noChangeShapeType="1"/>
          </p:cNvSpPr>
          <p:nvPr/>
        </p:nvSpPr>
        <p:spPr bwMode="auto">
          <a:xfrm>
            <a:off x="6782117" y="4855836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2069" name="Text Box 21"/>
          <p:cNvSpPr txBox="1">
            <a:spLocks noChangeArrowheads="1"/>
          </p:cNvSpPr>
          <p:nvPr/>
        </p:nvSpPr>
        <p:spPr bwMode="auto">
          <a:xfrm>
            <a:off x="6855142" y="5770236"/>
            <a:ext cx="869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sz="1800">
                <a:ea typeface="굴림" charset="-127"/>
              </a:rPr>
              <a:t>2.5 cm</a:t>
            </a:r>
          </a:p>
        </p:txBody>
      </p:sp>
      <p:sp>
        <p:nvSpPr>
          <p:cNvPr id="2070" name="Line 22"/>
          <p:cNvSpPr>
            <a:spLocks noChangeShapeType="1"/>
          </p:cNvSpPr>
          <p:nvPr/>
        </p:nvSpPr>
        <p:spPr bwMode="auto">
          <a:xfrm>
            <a:off x="6477317" y="5922636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2072" name="Line 24"/>
          <p:cNvSpPr>
            <a:spLocks noChangeShapeType="1"/>
          </p:cNvSpPr>
          <p:nvPr/>
        </p:nvSpPr>
        <p:spPr bwMode="auto">
          <a:xfrm rot="10800000">
            <a:off x="7787005" y="5922636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2073" name="Text Box 25"/>
          <p:cNvSpPr txBox="1">
            <a:spLocks noChangeArrowheads="1"/>
          </p:cNvSpPr>
          <p:nvPr/>
        </p:nvSpPr>
        <p:spPr bwMode="auto">
          <a:xfrm>
            <a:off x="4714876" y="1071546"/>
            <a:ext cx="3687789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altLang="ko-KR" dirty="0">
                <a:ea typeface="굴림" charset="-127"/>
              </a:rPr>
              <a:t> Tighter confinement.</a:t>
            </a:r>
          </a:p>
          <a:p>
            <a:pPr>
              <a:buFontTx/>
              <a:buChar char="•"/>
            </a:pPr>
            <a:r>
              <a:rPr lang="en-US" altLang="ko-KR" dirty="0">
                <a:ea typeface="굴림" charset="-127"/>
              </a:rPr>
              <a:t> Less power consumption.</a:t>
            </a:r>
          </a:p>
          <a:p>
            <a:pPr>
              <a:buFontTx/>
              <a:buChar char="•"/>
            </a:pPr>
            <a:r>
              <a:rPr lang="en-US" altLang="ko-KR" dirty="0">
                <a:ea typeface="굴림" charset="-127"/>
              </a:rPr>
              <a:t> Greater flexibility in fabrication.</a:t>
            </a:r>
          </a:p>
        </p:txBody>
      </p:sp>
      <p:sp>
        <p:nvSpPr>
          <p:cNvPr id="20" name="제목 19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>
                <a:ea typeface="굴림" charset="-127"/>
              </a:rPr>
              <a:t>Miniaturizing Magnetic Traps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Evaporative Cooling</a:t>
            </a:r>
            <a:endParaRPr lang="ko-KR" altLang="en-US" dirty="0"/>
          </a:p>
        </p:txBody>
      </p:sp>
      <p:pic>
        <p:nvPicPr>
          <p:cNvPr id="3" name="Picture 34" descr="EvapCooli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2214554"/>
            <a:ext cx="2737176" cy="2340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785786" y="1071546"/>
            <a:ext cx="707236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Removing the tail of thermal distribution leads to lower average energy, i.e., cooling the sample.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24" y="5429264"/>
            <a:ext cx="7500990" cy="61555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Run-away evaporation</a:t>
            </a:r>
            <a:r>
              <a:rPr lang="en-US" altLang="ko-KR" sz="1600" dirty="0" smtClean="0"/>
              <a:t>: </a:t>
            </a:r>
          </a:p>
          <a:p>
            <a:r>
              <a:rPr lang="en-US" altLang="ko-KR" sz="1600" dirty="0" smtClean="0"/>
              <a:t>with a net increases in density and collision rate despite of the loss of atoms</a:t>
            </a:r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57752" y="2285992"/>
            <a:ext cx="3071834" cy="2186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4071934" y="2000240"/>
            <a:ext cx="464347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Method 1: RF transitions to </a:t>
            </a:r>
            <a:r>
              <a:rPr lang="en-US" altLang="ko-KR" sz="1600" dirty="0" err="1" smtClean="0"/>
              <a:t>untrapable</a:t>
            </a:r>
            <a:r>
              <a:rPr lang="en-US" altLang="ko-KR" sz="1600" dirty="0" smtClean="0"/>
              <a:t> states</a:t>
            </a:r>
          </a:p>
        </p:txBody>
      </p:sp>
      <p:cxnSp>
        <p:nvCxnSpPr>
          <p:cNvPr id="13" name="직선 화살표 연결선 12"/>
          <p:cNvCxnSpPr/>
          <p:nvPr/>
        </p:nvCxnSpPr>
        <p:spPr>
          <a:xfrm rot="5400000">
            <a:off x="4734359" y="3010763"/>
            <a:ext cx="71438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00562" y="2786058"/>
            <a:ext cx="57150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2000" dirty="0" smtClean="0">
                <a:sym typeface="Symbol"/>
              </a:rPr>
              <a:t></a:t>
            </a:r>
            <a:r>
              <a:rPr lang="en-US" altLang="ko-KR" sz="2000" baseline="-25000" dirty="0" smtClean="0"/>
              <a:t>RF</a:t>
            </a:r>
            <a:endParaRPr lang="en-US" altLang="ko-KR" sz="2000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4071934" y="4572008"/>
            <a:ext cx="385765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Method 2: Reducing the trap depth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Cooling limit of Evaporation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00298" y="1214422"/>
            <a:ext cx="457203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Elastic collisions</a:t>
            </a:r>
          </a:p>
          <a:p>
            <a:r>
              <a:rPr lang="en-US" altLang="ko-KR" dirty="0" smtClean="0">
                <a:sym typeface="Wingdings" pitchFamily="2" charset="2"/>
              </a:rPr>
              <a:t> </a:t>
            </a:r>
            <a:r>
              <a:rPr lang="en-US" altLang="ko-KR" b="1" dirty="0" smtClean="0">
                <a:solidFill>
                  <a:schemeClr val="accent3">
                    <a:lumMod val="75000"/>
                  </a:schemeClr>
                </a:solidFill>
                <a:sym typeface="Wingdings" pitchFamily="2" charset="2"/>
              </a:rPr>
              <a:t>Good</a:t>
            </a:r>
            <a:r>
              <a:rPr lang="en-US" altLang="ko-KR" dirty="0" smtClean="0">
                <a:sym typeface="Wingdings" pitchFamily="2" charset="2"/>
              </a:rPr>
              <a:t> collision for re-</a:t>
            </a:r>
            <a:r>
              <a:rPr lang="en-US" altLang="ko-KR" dirty="0" err="1" smtClean="0">
                <a:sym typeface="Wingdings" pitchFamily="2" charset="2"/>
              </a:rPr>
              <a:t>thermalization</a:t>
            </a:r>
            <a:endParaRPr lang="en-US" altLang="ko-KR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2500298" y="2068289"/>
            <a:ext cx="450059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Inelastic collisions </a:t>
            </a:r>
          </a:p>
          <a:p>
            <a:r>
              <a:rPr lang="en-US" altLang="ko-KR" dirty="0" smtClean="0">
                <a:sym typeface="Wingdings" pitchFamily="2" charset="2"/>
              </a:rPr>
              <a:t> </a:t>
            </a:r>
            <a:r>
              <a:rPr lang="en-US" altLang="ko-KR" b="1" dirty="0" smtClean="0">
                <a:solidFill>
                  <a:srgbClr val="0070C0"/>
                </a:solidFill>
                <a:sym typeface="Wingdings" pitchFamily="2" charset="2"/>
              </a:rPr>
              <a:t>Bad</a:t>
            </a:r>
            <a:r>
              <a:rPr lang="en-US" altLang="ko-KR" dirty="0" smtClean="0">
                <a:sym typeface="Wingdings" pitchFamily="2" charset="2"/>
              </a:rPr>
              <a:t> collisions to heat up the sample</a:t>
            </a:r>
            <a:endParaRPr lang="en-US" altLang="ko-KR" dirty="0" smtClean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3143248"/>
            <a:ext cx="4286280" cy="3453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6643702" y="3214686"/>
            <a:ext cx="1785950" cy="400110"/>
          </a:xfrm>
          <a:prstGeom prst="rect">
            <a:avLst/>
          </a:prstGeom>
          <a:solidFill>
            <a:schemeClr val="accent6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chemeClr val="tx2"/>
                </a:solidFill>
              </a:rPr>
              <a:t>BEC window</a:t>
            </a:r>
          </a:p>
        </p:txBody>
      </p:sp>
      <p:cxnSp>
        <p:nvCxnSpPr>
          <p:cNvPr id="10" name="직선 화살표 연결선 9"/>
          <p:cNvCxnSpPr>
            <a:stCxn id="8" idx="1"/>
          </p:cNvCxnSpPr>
          <p:nvPr/>
        </p:nvCxnSpPr>
        <p:spPr>
          <a:xfrm rot="10800000" flipV="1">
            <a:off x="4357686" y="3414741"/>
            <a:ext cx="2286016" cy="6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6324</TotalTime>
  <Words>471</Words>
  <Application>Microsoft Office PowerPoint</Application>
  <PresentationFormat>On-screen Show (4:3)</PresentationFormat>
  <Paragraphs>85</Paragraphs>
  <Slides>14</Slides>
  <Notes>0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Office 테마</vt:lpstr>
      <vt:lpstr>Equation</vt:lpstr>
      <vt:lpstr>Lecture 2: Trapping and Evaporative Cooling</vt:lpstr>
      <vt:lpstr>Forces for atoms</vt:lpstr>
      <vt:lpstr>Magneto-Optical Trap (MOT) </vt:lpstr>
      <vt:lpstr>MOT dynamics</vt:lpstr>
      <vt:lpstr>Optical dipole trap</vt:lpstr>
      <vt:lpstr>Various optical traps</vt:lpstr>
      <vt:lpstr>Various optical traps</vt:lpstr>
      <vt:lpstr>Magnetic traps</vt:lpstr>
      <vt:lpstr>Stability of magnetic trap</vt:lpstr>
      <vt:lpstr>Time-averaged Orbiting Potential (TOP) trap</vt:lpstr>
      <vt:lpstr>Ioffe-Pritchard Trap</vt:lpstr>
      <vt:lpstr>Miniaturizing Magnetic Traps</vt:lpstr>
      <vt:lpstr>Evaporative Cooling</vt:lpstr>
      <vt:lpstr>Cooling limit of Evaporation</vt:lpstr>
    </vt:vector>
  </TitlesOfParts>
  <LinksUpToDate>false</LinksUpToDate>
  <SharedDoc>false</SharedDoc>
  <HyperlinksChanged>false</HyperlinksChanged>
  <AppVersion>12.0258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BEC 02</dc:title>
  <dc:creator>Yong-il Shin</dc:creator>
  <cp:keywords/>
  <cp:lastModifiedBy>경원 안</cp:lastModifiedBy>
  <cp:revision>590</cp:revision>
  <dcterms:created xsi:type="dcterms:W3CDTF">2009-10-08T05:44:57Z</dcterms:created>
  <dcterms:modified xsi:type="dcterms:W3CDTF">2009-10-08T05:45:56Z</dcterms:modified>
</cp:coreProperties>
</file>