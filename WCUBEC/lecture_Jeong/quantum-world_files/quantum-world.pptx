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embeddings/oleObject4.bin" ContentType="application/vnd.openxmlformats-officedocument.oleObject"/>
  <Override PartName="/ppt/slides/slide22.xml" ContentType="application/vnd.openxmlformats-officedocument.presentationml.slide+xml"/>
  <Override PartName="/ppt/slides/slide28.xml" ContentType="application/vnd.openxmlformats-officedocument.presentationml.slide+xml"/>
  <Override PartName="/ppt/embeddings/Microsoft_Equation22.bin" ContentType="application/vnd.openxmlformats-officedocument.oleObject"/>
  <Override PartName="/docProps/app.xml" ContentType="application/vnd.openxmlformats-officedocument.extended-properties+xml"/>
  <Override PartName="/ppt/slides/slide30.xml" ContentType="application/vnd.openxmlformats-officedocument.presentationml.slide+xml"/>
  <Override PartName="/ppt/slideLayouts/slideLayout23.xml" ContentType="application/vnd.openxmlformats-officedocument.presentationml.slideLayout+xml"/>
  <Override PartName="/ppt/slides/slide36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47.xml" ContentType="application/vnd.openxmlformats-officedocument.presentationml.slide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embeddings/oleObject16.bin" ContentType="application/vnd.openxmlformats-officedocument.oleObject"/>
  <Override PartName="/ppt/slideLayouts/slideLayout3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embeddings/oleObject2.bin" ContentType="application/vnd.openxmlformats-officedocument.oleObject"/>
  <Override PartName="/ppt/slides/slide52.xml" ContentType="application/vnd.openxmlformats-officedocument.presentationml.slide+xml"/>
  <Override PartName="/ppt/slides/slide1.xml" ContentType="application/vnd.openxmlformats-officedocument.presentationml.slide+xml"/>
  <Override PartName="/ppt/slides/slide51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Default Extension="wmf" ContentType="image/x-wmf"/>
  <Override PartName="/ppt/embeddings/Microsoft_Equation8.bin" ContentType="application/vnd.openxmlformats-officedocument.oleObject"/>
  <Override PartName="/ppt/embeddings/Microsoft_Equation12.bin" ContentType="application/vnd.openxmlformats-officedocument.oleObject"/>
  <Override PartName="/ppt/embeddings/oleObject22.bin" ContentType="application/vnd.openxmlformats-officedocument.oleObject"/>
  <Override PartName="/ppt/embeddings/Microsoft_Equation11.bin" ContentType="application/vnd.openxmlformats-officedocument.oleObject"/>
  <Override PartName="/ppt/embeddings/Microsoft_Equation19.bin" ContentType="application/vnd.openxmlformats-officedocument.oleObject"/>
  <Override PartName="/ppt/embeddings/Microsoft_Equation20.bin" ContentType="application/vnd.openxmlformats-officedocument.oleObject"/>
  <Override PartName="/ppt/embeddings/Microsoft_Equation4.bin" ContentType="application/vnd.openxmlformats-officedocument.oleObject"/>
  <Override PartName="/ppt/handoutMasters/handoutMaster1.xml" ContentType="application/vnd.openxmlformats-officedocument.presentationml.handoutMaster+xml"/>
  <Override PartName="/ppt/slides/slide13.xml" ContentType="application/vnd.openxmlformats-officedocument.presentationml.slide+xml"/>
  <Override PartName="/ppt/embeddings/Microsoft_Equation5.bin" ContentType="application/vnd.openxmlformats-officedocument.oleObject"/>
  <Default Extension="pict" ContentType="image/pict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embeddings/oleObject3.bin" ContentType="application/vnd.openxmlformats-officedocument.oleObject"/>
  <Override PartName="/ppt/embeddings/Microsoft_Equation18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4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37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0.xml" ContentType="application/vnd.openxmlformats-officedocument.presentationml.slide+xml"/>
  <Override PartName="/ppt/embeddings/oleObject13.bin" ContentType="application/vnd.openxmlformats-officedocument.oleObject"/>
  <Override PartName="/ppt/slides/slide33.xml" ContentType="application/vnd.openxmlformats-officedocument.presentationml.slide+xml"/>
  <Override PartName="/ppt/embeddings/oleObject10.bin" ContentType="application/vnd.openxmlformats-officedocument.oleObject"/>
  <Override PartName="/ppt/presProps.xml" ContentType="application/vnd.openxmlformats-officedocument.presentationml.presProps+xml"/>
  <Default Extension="vml" ContentType="application/vnd.openxmlformats-officedocument.vmlDrawing"/>
  <Override PartName="/ppt/embeddings/oleObject15.bin" ContentType="application/vnd.openxmlformats-officedocument.oleObject"/>
  <Default Extension="png" ContentType="image/png"/>
  <Override PartName="/ppt/embeddings/Microsoft_Equation1.bin" ContentType="application/vnd.openxmlformats-officedocument.oleObject"/>
  <Override PartName="/ppt/slides/slide27.xml" ContentType="application/vnd.openxmlformats-officedocument.presentationml.slide+xml"/>
  <Override PartName="/ppt/embeddings/oleObject9.bin" ContentType="application/vnd.openxmlformats-officedocument.oleObject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ppt/slides/slide56.xml" ContentType="application/vnd.openxmlformats-officedocument.presentationml.slide+xml"/>
  <Override PartName="/ppt/slides/slide31.xml" ContentType="application/vnd.openxmlformats-officedocument.presentationml.slide+xml"/>
  <Override PartName="/ppt/embeddings/oleObject11.bin" ContentType="application/vnd.openxmlformats-officedocument.oleObject"/>
  <Default Extension="bin" ContentType="application/vnd.openxmlformats-officedocument.presentationml.printerSettings"/>
  <Override PartName="/ppt/slideMasters/slideMaster2.xml" ContentType="application/vnd.openxmlformats-officedocument.presentationml.slideMaster+xml"/>
  <Override PartName="/ppt/slides/slide53.xml" ContentType="application/vnd.openxmlformats-officedocument.presentationml.slide+xml"/>
  <Override PartName="/ppt/embeddings/Microsoft_Equation3.bin" ContentType="application/vnd.openxmlformats-officedocument.oleObject"/>
  <Override PartName="/ppt/slideLayouts/slideLayout19.xml" ContentType="application/vnd.openxmlformats-officedocument.presentationml.slideLayout+xml"/>
  <Override PartName="/ppt/slides/slide55.xml" ContentType="application/vnd.openxmlformats-officedocument.presentationml.slide+xml"/>
  <Override PartName="/ppt/slideLayouts/slideLayout27.xml" ContentType="application/vnd.openxmlformats-officedocument.presentationml.slideLayout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41.xml" ContentType="application/vnd.openxmlformats-officedocument.presentationml.slide+xml"/>
  <Override PartName="/ppt/slides/slide46.xml" ContentType="application/vnd.openxmlformats-officedocument.presentationml.slide+xml"/>
  <Override PartName="/ppt/notesSlides/notesSlide2.xml" ContentType="application/vnd.openxmlformats-officedocument.presentationml.notesSlide+xml"/>
  <Override PartName="/ppt/theme/theme2.xml" ContentType="application/vnd.openxmlformats-officedocument.theme+xml"/>
  <Override PartName="/ppt/theme/theme4.xml" ContentType="application/vnd.openxmlformats-officedocument.theme+xml"/>
  <Override PartName="/ppt/embeddings/oleObject18.bin" ContentType="application/vnd.openxmlformats-officedocument.oleObject"/>
  <Override PartName="/ppt/slides/slide2.xml" ContentType="application/vnd.openxmlformats-officedocument.presentationml.slide+xml"/>
  <Override PartName="/ppt/embeddings/Microsoft_Equation15.bin" ContentType="application/vnd.openxmlformats-officedocument.oleObject"/>
  <Override PartName="/ppt/slides/slide35.xml" ContentType="application/vnd.openxmlformats-officedocument.presentationml.slide+xml"/>
  <Override PartName="/ppt/slides/slide42.xml" ContentType="application/vnd.openxmlformats-officedocument.presentationml.slide+xml"/>
  <Override PartName="/ppt/embeddings/oleObject20.bin" ContentType="application/vnd.openxmlformats-officedocument.oleObject"/>
  <Override PartName="/ppt/slides/slide45.xml" ContentType="application/vnd.openxmlformats-officedocument.presentationml.slide+xml"/>
  <Override PartName="/ppt/embeddings/oleObject24.bin" ContentType="application/vnd.openxmlformats-officedocument.oleObject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50.xml" ContentType="application/vnd.openxmlformats-officedocument.presentationml.slide+xml"/>
  <Override PartName="/ppt/slides/slide54.xml" ContentType="application/vnd.openxmlformats-officedocument.presentationml.slide+xml"/>
  <Override PartName="/ppt/slides/slide57.xml" ContentType="application/vnd.openxmlformats-officedocument.presentationml.slide+xml"/>
  <Override PartName="/ppt/slideLayouts/slideLayout25.xml" ContentType="application/vnd.openxmlformats-officedocument.presentationml.slideLayout+xml"/>
  <Override PartName="/ppt/embeddings/oleObject6.bin" ContentType="application/vnd.openxmlformats-officedocument.oleObject"/>
  <Override PartName="/ppt/embeddings/oleObject19.bin" ContentType="application/vnd.openxmlformats-officedocument.oleObject"/>
  <Override PartName="/ppt/embeddings/Microsoft_Equation16.bin" ContentType="application/vnd.openxmlformats-officedocument.oleObject"/>
  <Default Extension="xml" ContentType="application/xml"/>
  <Override PartName="/ppt/embeddings/Microsoft_Equation14.bin" ContentType="application/vnd.openxmlformats-officedocument.oleObject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embeddings/Microsoft_Equation2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5.bin" ContentType="application/vnd.openxmlformats-officedocument.oleObject"/>
  <Override PartName="/ppt/slides/slide14.xml" ContentType="application/vnd.openxmlformats-officedocument.presentationml.slide+xml"/>
  <Override PartName="/ppt/slides/slide40.xml" ContentType="application/vnd.openxmlformats-officedocument.presentationml.slide+xml"/>
  <Override PartName="/ppt/slideLayouts/slideLayout18.xml" ContentType="application/vnd.openxmlformats-officedocument.presentationml.slideLayout+xml"/>
  <Override PartName="/ppt/embeddings/oleObject1.bin" ContentType="application/vnd.openxmlformats-officedocument.oleObject"/>
  <Override PartName="/ppt/slides/slide34.xml" ContentType="application/vnd.openxmlformats-officedocument.presentationml.slide+xml"/>
  <Override PartName="/ppt/embeddings/Microsoft_Equation10.bin" ContentType="application/vnd.openxmlformats-officedocument.oleObject"/>
  <Override PartName="/ppt/slides/slide44.xml" ContentType="application/vnd.openxmlformats-officedocument.presentationml.slide+xml"/>
  <Override PartName="/ppt/embeddings/oleObject23.bin" ContentType="application/vnd.openxmlformats-officedocument.oleObject"/>
  <Override PartName="/ppt/embeddings/Microsoft_Equation7.bin" ContentType="application/vnd.openxmlformats-officedocument.oleObject"/>
  <Override PartName="/ppt/slides/slide49.xml" ContentType="application/vnd.openxmlformats-officedocument.presentationml.slide+xml"/>
  <Override PartName="/ppt/slideLayouts/slideLayout20.xml" ContentType="application/vnd.openxmlformats-officedocument.presentationml.slideLayout+xml"/>
  <Override PartName="/ppt/embeddings/oleObject17.bin" ContentType="application/vnd.openxmlformats-officedocument.oleObject"/>
  <Override PartName="/ppt/slideLayouts/slideLayout1.xml" ContentType="application/vnd.openxmlformats-officedocument.presentationml.slideLayout+xml"/>
  <Override PartName="/ppt/embeddings/oleObject7.bin" ContentType="application/vnd.openxmlformats-officedocument.oleObject"/>
  <Override PartName="/ppt/slides/slide48.xml" ContentType="application/vnd.openxmlformats-officedocument.presentationml.slide+xml"/>
  <Override PartName="/ppt/theme/theme1.xml" ContentType="application/vnd.openxmlformats-officedocument.theme+xml"/>
  <Override PartName="/ppt/embeddings/Microsoft_Equation13.bin" ContentType="application/vnd.openxmlformats-officedocument.oleObject"/>
  <Override PartName="/ppt/presentation.xml" ContentType="application/vnd.openxmlformats-officedocument.presentationml.presentation.main+xml"/>
  <Override PartName="/ppt/embeddings/oleObject12.bin" ContentType="application/vnd.openxmlformats-officedocument.oleObject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jpeg" ContentType="image/jpeg"/>
  <Override PartName="/ppt/embeddings/oleObject14.bin" ContentType="application/vnd.openxmlformats-officedocument.oleObject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embeddings/oleObject21.bin" ContentType="application/vnd.openxmlformats-officedocument.oleObject"/>
  <Override PartName="/ppt/slideLayouts/slideLayout13.xml" ContentType="application/vnd.openxmlformats-officedocument.presentationml.slideLayout+xml"/>
  <Override PartName="/ppt/slides/slide8.xml" ContentType="application/vnd.openxmlformats-officedocument.presentationml.slide+xml"/>
  <Override PartName="/ppt/embeddings/Microsoft_Equation9.bin" ContentType="application/vnd.openxmlformats-officedocument.oleObject"/>
  <Override PartName="/ppt/slides/slide15.xml" ContentType="application/vnd.openxmlformats-officedocument.presentationml.slide+xml"/>
  <Override PartName="/ppt/embeddings/Microsoft_Equation6.bin" ContentType="application/vnd.openxmlformats-officedocument.oleObject"/>
  <Override PartName="/ppt/slideLayouts/slideLayout15.xml" ContentType="application/vnd.openxmlformats-officedocument.presentationml.slideLayout+xml"/>
  <Default Extension="rels" ContentType="application/vnd.openxmlformats-package.relationships+xml"/>
  <Override PartName="/ppt/slides/slide9.xml" ContentType="application/vnd.openxmlformats-officedocument.presentationml.slide+xml"/>
  <Override PartName="/ppt/embeddings/oleObject8.bin" ContentType="application/vnd.openxmlformats-officedocument.oleObject"/>
  <Override PartName="/ppt/slides/slide24.xml" ContentType="application/vnd.openxmlformats-officedocument.presentationml.slide+xml"/>
  <Override PartName="/ppt/slides/slide39.xml" ContentType="application/vnd.openxmlformats-officedocument.presentationml.slide+xml"/>
  <Override PartName="/ppt/embeddings/Microsoft_Equation17.bin" ContentType="application/vnd.openxmlformats-officedocument.oleObject"/>
  <Override PartName="/ppt/slides/slide32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Layouts/slideLayout12.xml" ContentType="application/vnd.openxmlformats-officedocument.presentationml.slideLayout+xml"/>
  <Override PartName="/ppt/embeddings/Microsoft_Equation21.bin" ContentType="application/vnd.openxmlformats-officedocument.oleObject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trictFirstAndLastChars="0" saveSubsetFonts="1">
  <p:sldMasterIdLst>
    <p:sldMasterId id="2147483716" r:id="rId1"/>
    <p:sldMasterId id="2147483717" r:id="rId2"/>
  </p:sldMasterIdLst>
  <p:notesMasterIdLst>
    <p:notesMasterId r:id="rId60"/>
  </p:notesMasterIdLst>
  <p:handoutMasterIdLst>
    <p:handoutMasterId r:id="rId61"/>
  </p:handoutMasterIdLst>
  <p:sldIdLst>
    <p:sldId id="407" r:id="rId3"/>
    <p:sldId id="421" r:id="rId4"/>
    <p:sldId id="832" r:id="rId5"/>
    <p:sldId id="831" r:id="rId6"/>
    <p:sldId id="833" r:id="rId7"/>
    <p:sldId id="834" r:id="rId8"/>
    <p:sldId id="839" r:id="rId9"/>
    <p:sldId id="836" r:id="rId10"/>
    <p:sldId id="837" r:id="rId11"/>
    <p:sldId id="852" r:id="rId12"/>
    <p:sldId id="886" r:id="rId13"/>
    <p:sldId id="853" r:id="rId14"/>
    <p:sldId id="855" r:id="rId15"/>
    <p:sldId id="856" r:id="rId16"/>
    <p:sldId id="857" r:id="rId17"/>
    <p:sldId id="858" r:id="rId18"/>
    <p:sldId id="859" r:id="rId19"/>
    <p:sldId id="860" r:id="rId20"/>
    <p:sldId id="861" r:id="rId21"/>
    <p:sldId id="862" r:id="rId22"/>
    <p:sldId id="892" r:id="rId23"/>
    <p:sldId id="863" r:id="rId24"/>
    <p:sldId id="866" r:id="rId25"/>
    <p:sldId id="867" r:id="rId26"/>
    <p:sldId id="868" r:id="rId27"/>
    <p:sldId id="869" r:id="rId28"/>
    <p:sldId id="890" r:id="rId29"/>
    <p:sldId id="891" r:id="rId30"/>
    <p:sldId id="871" r:id="rId31"/>
    <p:sldId id="872" r:id="rId32"/>
    <p:sldId id="873" r:id="rId33"/>
    <p:sldId id="874" r:id="rId34"/>
    <p:sldId id="875" r:id="rId35"/>
    <p:sldId id="917" r:id="rId36"/>
    <p:sldId id="914" r:id="rId37"/>
    <p:sldId id="879" r:id="rId38"/>
    <p:sldId id="880" r:id="rId39"/>
    <p:sldId id="881" r:id="rId40"/>
    <p:sldId id="918" r:id="rId41"/>
    <p:sldId id="883" r:id="rId42"/>
    <p:sldId id="884" r:id="rId43"/>
    <p:sldId id="885" r:id="rId44"/>
    <p:sldId id="888" r:id="rId45"/>
    <p:sldId id="915" r:id="rId46"/>
    <p:sldId id="895" r:id="rId47"/>
    <p:sldId id="896" r:id="rId48"/>
    <p:sldId id="897" r:id="rId49"/>
    <p:sldId id="899" r:id="rId50"/>
    <p:sldId id="900" r:id="rId51"/>
    <p:sldId id="901" r:id="rId52"/>
    <p:sldId id="912" r:id="rId53"/>
    <p:sldId id="903" r:id="rId54"/>
    <p:sldId id="904" r:id="rId55"/>
    <p:sldId id="905" r:id="rId56"/>
    <p:sldId id="907" r:id="rId57"/>
    <p:sldId id="913" r:id="rId58"/>
    <p:sldId id="910" r:id="rId59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20000"/>
      </a:spcBef>
      <a:spcAft>
        <a:spcPct val="0"/>
      </a:spcAft>
      <a:buChar char="•"/>
      <a:defRPr sz="1400" b="1" kern="1200">
        <a:solidFill>
          <a:schemeClr val="accent2"/>
        </a:solidFill>
        <a:latin typeface="Verdana" pitchFamily="-28" charset="0"/>
        <a:ea typeface="Gulim" pitchFamily="-28" charset="-127"/>
        <a:cs typeface="Gulim" pitchFamily="-28" charset="-127"/>
      </a:defRPr>
    </a:lvl1pPr>
    <a:lvl2pPr marL="457200" algn="l" rtl="0" fontAlgn="base">
      <a:spcBef>
        <a:spcPct val="20000"/>
      </a:spcBef>
      <a:spcAft>
        <a:spcPct val="0"/>
      </a:spcAft>
      <a:buChar char="•"/>
      <a:defRPr sz="1400" b="1" kern="1200">
        <a:solidFill>
          <a:schemeClr val="accent2"/>
        </a:solidFill>
        <a:latin typeface="Verdana" pitchFamily="-28" charset="0"/>
        <a:ea typeface="Gulim" pitchFamily="-28" charset="-127"/>
        <a:cs typeface="Gulim" pitchFamily="-28" charset="-127"/>
      </a:defRPr>
    </a:lvl2pPr>
    <a:lvl3pPr marL="914400" algn="l" rtl="0" fontAlgn="base">
      <a:spcBef>
        <a:spcPct val="20000"/>
      </a:spcBef>
      <a:spcAft>
        <a:spcPct val="0"/>
      </a:spcAft>
      <a:buChar char="•"/>
      <a:defRPr sz="1400" b="1" kern="1200">
        <a:solidFill>
          <a:schemeClr val="accent2"/>
        </a:solidFill>
        <a:latin typeface="Verdana" pitchFamily="-28" charset="0"/>
        <a:ea typeface="Gulim" pitchFamily="-28" charset="-127"/>
        <a:cs typeface="Gulim" pitchFamily="-28" charset="-127"/>
      </a:defRPr>
    </a:lvl3pPr>
    <a:lvl4pPr marL="1371600" algn="l" rtl="0" fontAlgn="base">
      <a:spcBef>
        <a:spcPct val="20000"/>
      </a:spcBef>
      <a:spcAft>
        <a:spcPct val="0"/>
      </a:spcAft>
      <a:buChar char="•"/>
      <a:defRPr sz="1400" b="1" kern="1200">
        <a:solidFill>
          <a:schemeClr val="accent2"/>
        </a:solidFill>
        <a:latin typeface="Verdana" pitchFamily="-28" charset="0"/>
        <a:ea typeface="Gulim" pitchFamily="-28" charset="-127"/>
        <a:cs typeface="Gulim" pitchFamily="-28" charset="-127"/>
      </a:defRPr>
    </a:lvl4pPr>
    <a:lvl5pPr marL="1828800" algn="l" rtl="0" fontAlgn="base">
      <a:spcBef>
        <a:spcPct val="20000"/>
      </a:spcBef>
      <a:spcAft>
        <a:spcPct val="0"/>
      </a:spcAft>
      <a:buChar char="•"/>
      <a:defRPr sz="1400" b="1" kern="1200">
        <a:solidFill>
          <a:schemeClr val="accent2"/>
        </a:solidFill>
        <a:latin typeface="Verdana" pitchFamily="-28" charset="0"/>
        <a:ea typeface="Gulim" pitchFamily="-28" charset="-127"/>
        <a:cs typeface="Gulim" pitchFamily="-28" charset="-127"/>
      </a:defRPr>
    </a:lvl5pPr>
    <a:lvl6pPr marL="2286000" algn="l" defTabSz="457200" rtl="0" eaLnBrk="1" latinLnBrk="0" hangingPunct="1">
      <a:defRPr sz="1400" b="1" kern="1200">
        <a:solidFill>
          <a:schemeClr val="accent2"/>
        </a:solidFill>
        <a:latin typeface="Verdana" pitchFamily="-28" charset="0"/>
        <a:ea typeface="Gulim" pitchFamily="-28" charset="-127"/>
        <a:cs typeface="Gulim" pitchFamily="-28" charset="-127"/>
      </a:defRPr>
    </a:lvl6pPr>
    <a:lvl7pPr marL="2743200" algn="l" defTabSz="457200" rtl="0" eaLnBrk="1" latinLnBrk="0" hangingPunct="1">
      <a:defRPr sz="1400" b="1" kern="1200">
        <a:solidFill>
          <a:schemeClr val="accent2"/>
        </a:solidFill>
        <a:latin typeface="Verdana" pitchFamily="-28" charset="0"/>
        <a:ea typeface="Gulim" pitchFamily="-28" charset="-127"/>
        <a:cs typeface="Gulim" pitchFamily="-28" charset="-127"/>
      </a:defRPr>
    </a:lvl7pPr>
    <a:lvl8pPr marL="3200400" algn="l" defTabSz="457200" rtl="0" eaLnBrk="1" latinLnBrk="0" hangingPunct="1">
      <a:defRPr sz="1400" b="1" kern="1200">
        <a:solidFill>
          <a:schemeClr val="accent2"/>
        </a:solidFill>
        <a:latin typeface="Verdana" pitchFamily="-28" charset="0"/>
        <a:ea typeface="Gulim" pitchFamily="-28" charset="-127"/>
        <a:cs typeface="Gulim" pitchFamily="-28" charset="-127"/>
      </a:defRPr>
    </a:lvl8pPr>
    <a:lvl9pPr marL="3657600" algn="l" defTabSz="457200" rtl="0" eaLnBrk="1" latinLnBrk="0" hangingPunct="1">
      <a:defRPr sz="1400" b="1" kern="1200">
        <a:solidFill>
          <a:schemeClr val="accent2"/>
        </a:solidFill>
        <a:latin typeface="Verdana" pitchFamily="-28" charset="0"/>
        <a:ea typeface="Gulim" pitchFamily="-28" charset="-127"/>
        <a:cs typeface="Gulim" pitchFamily="-28" charset="-127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windows-1252"/>
  <p:showPr showNarration="1">
    <p:present/>
    <p:sldAll/>
    <p:penClr>
      <a:srgbClr val="FF0000"/>
    </p:penClr>
  </p:showPr>
  <p:clrMru>
    <a:srgbClr val="0066FF"/>
    <a:srgbClr val="FF3300"/>
    <a:srgbClr val="080808"/>
    <a:srgbClr val="99FF66"/>
    <a:srgbClr val="FFFF99"/>
    <a:srgbClr val="FFFF66"/>
    <a:srgbClr val="777777"/>
    <a:srgbClr val="5F5F5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>
      <p:cViewPr varScale="1">
        <p:scale>
          <a:sx n="143" d="100"/>
          <a:sy n="143" d="100"/>
        </p:scale>
        <p:origin x="-1256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64" Type="http://schemas.openxmlformats.org/officeDocument/2006/relationships/viewProps" Target="viewProps.xml"/><Relationship Id="rId60" Type="http://schemas.openxmlformats.org/officeDocument/2006/relationships/notesMaster" Target="notesMasters/notesMaster1.xml"/><Relationship Id="rId39" Type="http://schemas.openxmlformats.org/officeDocument/2006/relationships/slide" Target="slides/slide37.xml"/><Relationship Id="rId7" Type="http://schemas.openxmlformats.org/officeDocument/2006/relationships/slide" Target="slides/slide5.xml"/><Relationship Id="rId43" Type="http://schemas.openxmlformats.org/officeDocument/2006/relationships/slide" Target="slides/slide41.xml"/><Relationship Id="rId25" Type="http://schemas.openxmlformats.org/officeDocument/2006/relationships/slide" Target="slides/slide23.xml"/><Relationship Id="rId10" Type="http://schemas.openxmlformats.org/officeDocument/2006/relationships/slide" Target="slides/slide8.xml"/><Relationship Id="rId50" Type="http://schemas.openxmlformats.org/officeDocument/2006/relationships/slide" Target="slides/slide48.xml"/><Relationship Id="rId63" Type="http://schemas.openxmlformats.org/officeDocument/2006/relationships/presProps" Target="presProps.xml"/><Relationship Id="rId17" Type="http://schemas.openxmlformats.org/officeDocument/2006/relationships/slide" Target="slides/slide15.xml"/><Relationship Id="rId9" Type="http://schemas.openxmlformats.org/officeDocument/2006/relationships/slide" Target="slides/slide7.xml"/><Relationship Id="rId18" Type="http://schemas.openxmlformats.org/officeDocument/2006/relationships/slide" Target="slides/slide16.xml"/><Relationship Id="rId27" Type="http://schemas.openxmlformats.org/officeDocument/2006/relationships/slide" Target="slides/slide25.xml"/><Relationship Id="rId14" Type="http://schemas.openxmlformats.org/officeDocument/2006/relationships/slide" Target="slides/slide12.xml"/><Relationship Id="rId4" Type="http://schemas.openxmlformats.org/officeDocument/2006/relationships/slide" Target="slides/slide2.xml"/><Relationship Id="rId28" Type="http://schemas.openxmlformats.org/officeDocument/2006/relationships/slide" Target="slides/slide26.xml"/><Relationship Id="rId45" Type="http://schemas.openxmlformats.org/officeDocument/2006/relationships/slide" Target="slides/slide43.xml"/><Relationship Id="rId58" Type="http://schemas.openxmlformats.org/officeDocument/2006/relationships/slide" Target="slides/slide56.xml"/><Relationship Id="rId42" Type="http://schemas.openxmlformats.org/officeDocument/2006/relationships/slide" Target="slides/slide40.xml"/><Relationship Id="rId6" Type="http://schemas.openxmlformats.org/officeDocument/2006/relationships/slide" Target="slides/slide4.xml"/><Relationship Id="rId49" Type="http://schemas.openxmlformats.org/officeDocument/2006/relationships/slide" Target="slides/slide47.xml"/><Relationship Id="rId44" Type="http://schemas.openxmlformats.org/officeDocument/2006/relationships/slide" Target="slides/slide42.xml"/><Relationship Id="rId19" Type="http://schemas.openxmlformats.org/officeDocument/2006/relationships/slide" Target="slides/slide17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2" Type="http://schemas.openxmlformats.org/officeDocument/2006/relationships/slideMaster" Target="slideMasters/slideMaster2.xml"/><Relationship Id="rId46" Type="http://schemas.openxmlformats.org/officeDocument/2006/relationships/slide" Target="slides/slide44.xml"/><Relationship Id="rId57" Type="http://schemas.openxmlformats.org/officeDocument/2006/relationships/slide" Target="slides/slide55.xml"/><Relationship Id="rId59" Type="http://schemas.openxmlformats.org/officeDocument/2006/relationships/slide" Target="slides/slide57.xml"/><Relationship Id="rId35" Type="http://schemas.openxmlformats.org/officeDocument/2006/relationships/slide" Target="slides/slide33.xml"/><Relationship Id="rId51" Type="http://schemas.openxmlformats.org/officeDocument/2006/relationships/slide" Target="slides/slide49.xml"/><Relationship Id="rId55" Type="http://schemas.openxmlformats.org/officeDocument/2006/relationships/slide" Target="slides/slide53.xml"/><Relationship Id="rId31" Type="http://schemas.openxmlformats.org/officeDocument/2006/relationships/slide" Target="slides/slide29.xml"/><Relationship Id="rId34" Type="http://schemas.openxmlformats.org/officeDocument/2006/relationships/slide" Target="slides/slide32.xml"/><Relationship Id="rId40" Type="http://schemas.openxmlformats.org/officeDocument/2006/relationships/slide" Target="slides/slide38.xml"/><Relationship Id="rId62" Type="http://schemas.openxmlformats.org/officeDocument/2006/relationships/printerSettings" Target="printerSettings/printerSettings1.bin"/><Relationship Id="rId66" Type="http://schemas.openxmlformats.org/officeDocument/2006/relationships/tableStyles" Target="tableStyles.xml"/><Relationship Id="rId36" Type="http://schemas.openxmlformats.org/officeDocument/2006/relationships/slide" Target="slides/slide34.xml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2.xml"/><Relationship Id="rId47" Type="http://schemas.openxmlformats.org/officeDocument/2006/relationships/slide" Target="slides/slide45.xml"/><Relationship Id="rId56" Type="http://schemas.openxmlformats.org/officeDocument/2006/relationships/slide" Target="slides/slide54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2" Type="http://schemas.openxmlformats.org/officeDocument/2006/relationships/slide" Target="slides/slide50.xml"/><Relationship Id="rId65" Type="http://schemas.openxmlformats.org/officeDocument/2006/relationships/theme" Target="theme/theme1.xml"/><Relationship Id="rId54" Type="http://schemas.openxmlformats.org/officeDocument/2006/relationships/slide" Target="slides/slide52.xml"/><Relationship Id="rId12" Type="http://schemas.openxmlformats.org/officeDocument/2006/relationships/slide" Target="slides/slide10.xml"/><Relationship Id="rId3" Type="http://schemas.openxmlformats.org/officeDocument/2006/relationships/slide" Target="slides/slide1.xml"/><Relationship Id="rId23" Type="http://schemas.openxmlformats.org/officeDocument/2006/relationships/slide" Target="slides/slide21.xml"/><Relationship Id="rId61" Type="http://schemas.openxmlformats.org/officeDocument/2006/relationships/handoutMaster" Target="handoutMasters/handoutMaster1.xml"/><Relationship Id="rId53" Type="http://schemas.openxmlformats.org/officeDocument/2006/relationships/slide" Target="slides/slide51.xml"/><Relationship Id="rId26" Type="http://schemas.openxmlformats.org/officeDocument/2006/relationships/slide" Target="slides/slide24.xml"/><Relationship Id="rId30" Type="http://schemas.openxmlformats.org/officeDocument/2006/relationships/slide" Target="slides/slide28.xml"/><Relationship Id="rId11" Type="http://schemas.openxmlformats.org/officeDocument/2006/relationships/slide" Target="slides/slide9.xml"/><Relationship Id="rId29" Type="http://schemas.openxmlformats.org/officeDocument/2006/relationships/slide" Target="slides/slide27.xml"/><Relationship Id="rId16" Type="http://schemas.openxmlformats.org/officeDocument/2006/relationships/slide" Target="slides/slide14.xml"/><Relationship Id="rId33" Type="http://schemas.openxmlformats.org/officeDocument/2006/relationships/slide" Target="slides/slide31.xml"/><Relationship Id="rId41" Type="http://schemas.openxmlformats.org/officeDocument/2006/relationships/slide" Target="slides/slide3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2" Type="http://schemas.openxmlformats.org/officeDocument/2006/relationships/slide" Target="slides/slide20.xml"/><Relationship Id="rId21" Type="http://schemas.openxmlformats.org/officeDocument/2006/relationships/slide" Target="slides/slide19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3" Type="http://schemas.openxmlformats.org/officeDocument/2006/relationships/image" Target="../media/image15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3" Type="http://schemas.openxmlformats.org/officeDocument/2006/relationships/image" Target="../media/image15.wmf"/><Relationship Id="rId1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3" Type="http://schemas.openxmlformats.org/officeDocument/2006/relationships/image" Target="../media/image15.wmf"/><Relationship Id="rId1" Type="http://schemas.openxmlformats.org/officeDocument/2006/relationships/image" Target="../media/image20.pict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3" Type="http://schemas.openxmlformats.org/officeDocument/2006/relationships/image" Target="../media/image23.wmf"/><Relationship Id="rId1" Type="http://schemas.openxmlformats.org/officeDocument/2006/relationships/image" Target="../media/image2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3" Type="http://schemas.openxmlformats.org/officeDocument/2006/relationships/image" Target="../media/image26.wmf"/><Relationship Id="rId1" Type="http://schemas.openxmlformats.org/officeDocument/2006/relationships/image" Target="../media/image21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3" Type="http://schemas.openxmlformats.org/officeDocument/2006/relationships/image" Target="../media/image29.wmf"/><Relationship Id="rId1" Type="http://schemas.openxmlformats.org/officeDocument/2006/relationships/image" Target="../media/image2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ict"/><Relationship Id="rId1" Type="http://schemas.openxmlformats.org/officeDocument/2006/relationships/image" Target="../media/image36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pict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ict"/><Relationship Id="rId1" Type="http://schemas.openxmlformats.org/officeDocument/2006/relationships/image" Target="../media/image5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424" tIns="48211" rIns="96424" bIns="48211" numCol="1" anchor="t" anchorCtr="0" compatLnSpc="1">
            <a:prstTxWarp prst="textNoShape">
              <a:avLst/>
            </a:prstTxWarp>
          </a:bodyPr>
          <a:lstStyle>
            <a:lvl1pPr defTabSz="963613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Times New Roman" pitchFamily="-28" charset="0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424" tIns="48211" rIns="96424" bIns="48211" numCol="1" anchor="t" anchorCtr="0" compatLnSpc="1">
            <a:prstTxWarp prst="textNoShape">
              <a:avLst/>
            </a:prstTxWarp>
          </a:bodyPr>
          <a:lstStyle>
            <a:lvl1pPr algn="r" defTabSz="963613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Times New Roman" pitchFamily="-28" charset="0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424" tIns="48211" rIns="96424" bIns="48211" numCol="1" anchor="b" anchorCtr="0" compatLnSpc="1">
            <a:prstTxWarp prst="textNoShape">
              <a:avLst/>
            </a:prstTxWarp>
          </a:bodyPr>
          <a:lstStyle>
            <a:lvl1pPr defTabSz="963613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Times New Roman" pitchFamily="-28" charset="0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3438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424" tIns="48211" rIns="96424" bIns="48211" numCol="1" anchor="b" anchorCtr="0" compatLnSpc="1">
            <a:prstTxWarp prst="textNoShape">
              <a:avLst/>
            </a:prstTxWarp>
          </a:bodyPr>
          <a:lstStyle>
            <a:lvl1pPr algn="r" defTabSz="963613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Times New Roman" pitchFamily="-28" charset="0"/>
              </a:defRPr>
            </a:lvl1pPr>
          </a:lstStyle>
          <a:p>
            <a:pPr>
              <a:defRPr/>
            </a:pPr>
            <a:fld id="{9C6F42F4-D483-43BD-8571-C42F3E7268F1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424" tIns="48211" rIns="96424" bIns="48211" numCol="1" anchor="t" anchorCtr="0" compatLnSpc="1">
            <a:prstTxWarp prst="textNoShape">
              <a:avLst/>
            </a:prstTxWarp>
          </a:bodyPr>
          <a:lstStyle>
            <a:lvl1pPr defTabSz="963613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Times New Roman" pitchFamily="-28" charset="0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424" tIns="48211" rIns="96424" bIns="48211" numCol="1" anchor="t" anchorCtr="0" compatLnSpc="1">
            <a:prstTxWarp prst="textNoShape">
              <a:avLst/>
            </a:prstTxWarp>
          </a:bodyPr>
          <a:lstStyle>
            <a:lvl1pPr algn="r" defTabSz="963613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Times New Roman" pitchFamily="-28" charset="0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31748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62513"/>
            <a:ext cx="520382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424" tIns="48211" rIns="96424" bIns="482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noProof="0"/>
              <a:t>Click to edit Master text styles</a:t>
            </a:r>
          </a:p>
          <a:p>
            <a:pPr lvl="1"/>
            <a:r>
              <a:rPr lang="en-GB" altLang="ko-KR" noProof="0"/>
              <a:t>Second level</a:t>
            </a:r>
          </a:p>
          <a:p>
            <a:pPr lvl="2"/>
            <a:r>
              <a:rPr lang="en-GB" altLang="ko-KR" noProof="0"/>
              <a:t>Third level</a:t>
            </a:r>
          </a:p>
          <a:p>
            <a:pPr lvl="3"/>
            <a:r>
              <a:rPr lang="en-GB" altLang="ko-KR" noProof="0"/>
              <a:t>Fourth level</a:t>
            </a:r>
          </a:p>
          <a:p>
            <a:pPr lvl="4"/>
            <a:r>
              <a:rPr lang="en-GB" altLang="ko-KR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424" tIns="48211" rIns="96424" bIns="48211" numCol="1" anchor="b" anchorCtr="0" compatLnSpc="1">
            <a:prstTxWarp prst="textNoShape">
              <a:avLst/>
            </a:prstTxWarp>
          </a:bodyPr>
          <a:lstStyle>
            <a:lvl1pPr defTabSz="963613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Times New Roman" pitchFamily="-28" charset="0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3438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424" tIns="48211" rIns="96424" bIns="48211" numCol="1" anchor="b" anchorCtr="0" compatLnSpc="1">
            <a:prstTxWarp prst="textNoShape">
              <a:avLst/>
            </a:prstTxWarp>
          </a:bodyPr>
          <a:lstStyle>
            <a:lvl1pPr algn="r" defTabSz="963613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Times New Roman" pitchFamily="-28" charset="0"/>
              </a:defRPr>
            </a:lvl1pPr>
          </a:lstStyle>
          <a:p>
            <a:pPr>
              <a:defRPr/>
            </a:pPr>
            <a:fld id="{CFD0EE96-0C00-4CA6-93C2-15CD84C1779C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28" charset="0"/>
              <a:ea typeface="ＭＳ Ｐゴシック" pitchFamily="-28" charset="-128"/>
              <a:cs typeface="ＭＳ Ｐゴシック" pitchFamily="-28" charset="-128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18B122-71F5-4688-A83B-207DCD2BF542}" type="slidenum">
              <a:rPr lang="ko-KR" altLang="en-GB" smtClean="0"/>
              <a:pPr/>
              <a:t>2</a:t>
            </a:fld>
            <a:endParaRPr lang="en-GB" altLang="ko-K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77827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 lIns="96573" tIns="48286" rIns="96573" bIns="48286"/>
          <a:lstStyle/>
          <a:p>
            <a:endParaRPr lang="ko-KR" altLang="en-US">
              <a:latin typeface="Times New Roman" pitchFamily="-28" charset="0"/>
              <a:ea typeface="맑은 고딕" pitchFamily="50" charset="-127"/>
              <a:cs typeface="맑은 고딕" pitchFamily="50" charset="-127"/>
            </a:endParaRPr>
          </a:p>
        </p:txBody>
      </p:sp>
      <p:sp>
        <p:nvSpPr>
          <p:cNvPr id="77828" name="슬라이드 번호 개체 틀 3"/>
          <p:cNvSpPr txBox="1">
            <a:spLocks noGrp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573" tIns="48286" rIns="96573" bIns="48286" anchor="b">
            <a:prstTxWarp prst="textNoShape">
              <a:avLst/>
            </a:prstTxWarp>
          </a:bodyPr>
          <a:lstStyle/>
          <a:p>
            <a:pPr algn="r" defTabSz="965200">
              <a:spcBef>
                <a:spcPct val="0"/>
              </a:spcBef>
              <a:buFontTx/>
              <a:buNone/>
            </a:pPr>
            <a:fld id="{5FC0F547-F728-49F7-8572-3A5BC3765328}" type="slidenum">
              <a:rPr lang="ko-KR" altLang="en-GB" sz="1200" b="0">
                <a:solidFill>
                  <a:schemeClr val="tx1"/>
                </a:solidFill>
                <a:latin typeface="Times New Roman" pitchFamily="-28" charset="0"/>
              </a:rPr>
              <a:pPr algn="r" defTabSz="965200">
                <a:spcBef>
                  <a:spcPct val="0"/>
                </a:spcBef>
                <a:buFontTx/>
                <a:buNone/>
              </a:pPr>
              <a:t>43</a:t>
            </a:fld>
            <a:endParaRPr lang="en-GB" altLang="ko-KR" sz="1200" b="0">
              <a:solidFill>
                <a:schemeClr val="tx1"/>
              </a:solidFill>
              <a:latin typeface="Times New Roman" pitchFamily="-2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4C8A8C-2E49-4E2A-A13A-5A81BBFBF2BA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7CB2D-D21D-4383-839B-0F211CA10D10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D652B5-A341-4BF6-AF2C-40BA5840E76E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43D03-2FC3-4976-9AC6-53710060A2A3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10473-4033-4EBA-AC28-0AD7D0C641E8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97304-B527-4BF5-97C5-F123CE3456C5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ABD42-2BDA-4F47-861F-A406C303CD2C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EFAFF1-8C2C-4A74-A553-91ABBFA148EF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895AF-B82D-44C2-BD0A-636722E1F2FD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3F9AC-6259-442C-9216-DFEA89E7F10E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D5DCF-3B5B-4B31-8128-C3E1ED2216D9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A5056-00D1-4443-911A-6D7E29585A8F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CF0CE3-4D3F-4107-840A-AAD031B2838A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C3C71C-216C-445F-8D26-752B5372D01E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8342A-B923-402B-B9B6-2E1CB4138125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B433F-7407-4037-A089-77D6B76F6680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5B2FE-A453-4551-83DC-1B90F5F529F2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176FD-DBEB-4D39-974D-23CE6A617DEC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CAC43-FD90-4CBE-898E-A32C114AD5BA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CCB61-F449-4419-8D86-EDDD0A446723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9516F-1E7C-4DA1-AFDC-257203676FDF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C4EAD-E5C1-4213-A8AC-6B8C017FC58E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551F18-9749-40D7-A173-CC5A02D95080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37D83D-9FE0-411B-929B-BBBF7247DCB8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820B3-C1DF-4C59-9C6B-76E308B02519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AF3D2-08D6-41D3-844D-5E6810DCC94C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D7678-4194-485F-A9A0-2ED23A1F939F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4" Type="http://schemas.openxmlformats.org/officeDocument/2006/relationships/slideLayout" Target="../slideLayouts/slideLayout14.xml"/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6" Type="http://schemas.openxmlformats.org/officeDocument/2006/relationships/slideLayout" Target="../slideLayouts/slideLayout16.xml"/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Click to edit Master title style</a:t>
            </a:r>
            <a:endParaRPr lang="en-AU" altLang="ja-JP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AU" altLang="ja-JP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imes New Roman" pitchFamily="-28" charset="0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Times New Roman" pitchFamily="-28" charset="0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imes New Roman" pitchFamily="-28" charset="0"/>
              </a:defRPr>
            </a:lvl1pPr>
          </a:lstStyle>
          <a:p>
            <a:pPr>
              <a:defRPr/>
            </a:pPr>
            <a:fld id="{9024C6EB-C8DF-4E40-A257-A838ADB8BDE2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-28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-28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-28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-28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-28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Click to edit Master title style</a:t>
            </a:r>
            <a:endParaRPr lang="en-AU" altLang="ja-JP"/>
          </a:p>
        </p:txBody>
      </p:sp>
      <p:sp>
        <p:nvSpPr>
          <p:cNvPr id="184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AU" altLang="ja-JP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imes New Roman" pitchFamily="-28" charset="0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Times New Roman" pitchFamily="-28" charset="0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imes New Roman" pitchFamily="-28" charset="0"/>
              </a:defRPr>
            </a:lvl1pPr>
          </a:lstStyle>
          <a:p>
            <a:pPr>
              <a:defRPr/>
            </a:pPr>
            <a:fld id="{B7DEC074-BA30-46CE-B9F2-1F8FC04FD7A9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Gulim" charset="-127"/>
          <a:ea typeface="Gulim" charset="-127"/>
          <a:cs typeface="Gulim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Gulim" charset="-127"/>
          <a:ea typeface="Gulim" charset="-127"/>
          <a:cs typeface="Gulim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Gulim" charset="-127"/>
          <a:ea typeface="Gulim" charset="-127"/>
          <a:cs typeface="Gulim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Gulim" charset="-127"/>
          <a:ea typeface="Gulim" charset="-127"/>
          <a:cs typeface="Gulim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Gulim" charset="-127"/>
          <a:ea typeface="Gulim" charset="-127"/>
          <a:cs typeface="Gulim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Gulim" charset="-127"/>
          <a:ea typeface="Gulim" charset="-127"/>
          <a:cs typeface="Gulim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Gulim" charset="-127"/>
          <a:ea typeface="Gulim" charset="-127"/>
          <a:cs typeface="Gulim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Gulim" charset="-127"/>
          <a:ea typeface="Gulim" charset="-127"/>
          <a:cs typeface="Gulim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-28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-28" charset="0"/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-28" charset="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-28" charset="0"/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-28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4" Type="http://schemas.openxmlformats.org/officeDocument/2006/relationships/image" Target="../media/image7.jpeg"/><Relationship Id="rId5" Type="http://schemas.openxmlformats.org/officeDocument/2006/relationships/image" Target="../media/image8.png"/><Relationship Id="rId7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6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3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oleObject1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5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oleObject3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5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oleObject5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5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oleObject7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5" Type="http://schemas.openxmlformats.org/officeDocument/2006/relationships/oleObject" Target="../embeddings/oleObject8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oleObject9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5" Type="http://schemas.openxmlformats.org/officeDocument/2006/relationships/oleObject" Target="../embeddings/oleObject10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oleObject11.bin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5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oleObject13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5" Type="http://schemas.openxmlformats.org/officeDocument/2006/relationships/oleObject" Target="../embeddings/oleObject14.bin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1.bin"/><Relationship Id="rId4" Type="http://schemas.openxmlformats.org/officeDocument/2006/relationships/oleObject" Target="../embeddings/oleObject15.bin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5" Type="http://schemas.openxmlformats.org/officeDocument/2006/relationships/oleObject" Target="../embeddings/oleObject16.bin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2.bin"/><Relationship Id="rId4" Type="http://schemas.openxmlformats.org/officeDocument/2006/relationships/oleObject" Target="../embeddings/oleObject17.bin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5" Type="http://schemas.openxmlformats.org/officeDocument/2006/relationships/oleObject" Target="../embeddings/oleObject18.bin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3.bin"/><Relationship Id="rId4" Type="http://schemas.openxmlformats.org/officeDocument/2006/relationships/oleObject" Target="../embeddings/oleObject19.bin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5" Type="http://schemas.openxmlformats.org/officeDocument/2006/relationships/oleObject" Target="../embeddings/oleObject2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7.bin"/><Relationship Id="rId4" Type="http://schemas.openxmlformats.org/officeDocument/2006/relationships/oleObject" Target="../embeddings/Microsoft_Equation5.bin"/><Relationship Id="rId5" Type="http://schemas.openxmlformats.org/officeDocument/2006/relationships/oleObject" Target="../embeddings/Microsoft_Equation6.bin"/><Relationship Id="rId7" Type="http://schemas.openxmlformats.org/officeDocument/2006/relationships/image" Target="../media/image25.wmf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16.xml"/><Relationship Id="rId3" Type="http://schemas.openxmlformats.org/officeDocument/2006/relationships/oleObject" Target="../embeddings/Microsoft_Equation4.bin"/><Relationship Id="rId6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11.bin"/><Relationship Id="rId4" Type="http://schemas.openxmlformats.org/officeDocument/2006/relationships/oleObject" Target="../embeddings/Microsoft_Equation9.bin"/><Relationship Id="rId5" Type="http://schemas.openxmlformats.org/officeDocument/2006/relationships/oleObject" Target="../embeddings/Microsoft_Equation10.bin"/><Relationship Id="rId7" Type="http://schemas.openxmlformats.org/officeDocument/2006/relationships/image" Target="../media/image25.wmf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16.xml"/><Relationship Id="rId3" Type="http://schemas.openxmlformats.org/officeDocument/2006/relationships/oleObject" Target="../embeddings/Microsoft_Equation8.bin"/><Relationship Id="rId6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14.bin"/><Relationship Id="rId4" Type="http://schemas.openxmlformats.org/officeDocument/2006/relationships/oleObject" Target="../embeddings/Microsoft_Equation13.bin"/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7.xml"/><Relationship Id="rId3" Type="http://schemas.openxmlformats.org/officeDocument/2006/relationships/oleObject" Target="../embeddings/Microsoft_Equation12.bin"/><Relationship Id="rId5" Type="http://schemas.openxmlformats.org/officeDocument/2006/relationships/image" Target="../media/image30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5.bin"/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0.jpe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oleObject21.bin"/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jpeg"/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4.xml"/><Relationship Id="rId3" Type="http://schemas.openxmlformats.org/officeDocument/2006/relationships/oleObject" Target="../embeddings/Microsoft_Equation16.bin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image" Target="../media/image39.jpeg"/><Relationship Id="rId4" Type="http://schemas.openxmlformats.org/officeDocument/2006/relationships/oleObject" Target="../embeddings/oleObject22.bin"/><Relationship Id="rId1" Type="http://schemas.openxmlformats.org/officeDocument/2006/relationships/vmlDrawing" Target="../drawings/vmlDrawing17.vml"/><Relationship Id="rId2" Type="http://schemas.openxmlformats.org/officeDocument/2006/relationships/slideLayout" Target="../slideLayouts/slideLayout7.xml"/><Relationship Id="rId3" Type="http://schemas.openxmlformats.org/officeDocument/2006/relationships/oleObject" Target="../embeddings/Microsoft_Equation17.bin"/><Relationship Id="rId5" Type="http://schemas.openxmlformats.org/officeDocument/2006/relationships/image" Target="../media/image38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oleObject24.bin"/><Relationship Id="rId4" Type="http://schemas.openxmlformats.org/officeDocument/2006/relationships/image" Target="../media/image41.jpeg"/><Relationship Id="rId1" Type="http://schemas.openxmlformats.org/officeDocument/2006/relationships/vmlDrawing" Target="../drawings/vmlDrawing18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5" Type="http://schemas.openxmlformats.org/officeDocument/2006/relationships/oleObject" Target="../embeddings/oleObject23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2.jpeg"/><Relationship Id="rId5" Type="http://schemas.openxmlformats.org/officeDocument/2006/relationships/image" Target="../media/image41.jpeg"/><Relationship Id="rId7" Type="http://schemas.openxmlformats.org/officeDocument/2006/relationships/oleObject" Target="../embeddings/oleObject26.bin"/><Relationship Id="rId1" Type="http://schemas.openxmlformats.org/officeDocument/2006/relationships/vmlDrawing" Target="../drawings/vmlDrawing19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6" Type="http://schemas.openxmlformats.org/officeDocument/2006/relationships/oleObject" Target="../embeddings/oleObject25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3" Type="http://schemas.openxmlformats.org/officeDocument/2006/relationships/image" Target="../media/image44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8.bin"/><Relationship Id="rId5" Type="http://schemas.openxmlformats.org/officeDocument/2006/relationships/image" Target="../media/image47.wmf"/><Relationship Id="rId7" Type="http://schemas.openxmlformats.org/officeDocument/2006/relationships/oleObject" Target="../embeddings/Microsoft_Equation19.bin"/><Relationship Id="rId1" Type="http://schemas.openxmlformats.org/officeDocument/2006/relationships/vmlDrawing" Target="../drawings/vmlDrawing20.v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Relationship Id="rId6" Type="http://schemas.openxmlformats.org/officeDocument/2006/relationships/image" Target="../media/image48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3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21.bin"/><Relationship Id="rId4" Type="http://schemas.openxmlformats.org/officeDocument/2006/relationships/image" Target="../media/image56.jpeg"/><Relationship Id="rId1" Type="http://schemas.openxmlformats.org/officeDocument/2006/relationships/vmlDrawing" Target="../drawings/vmlDrawing21.vml"/><Relationship Id="rId2" Type="http://schemas.openxmlformats.org/officeDocument/2006/relationships/slideLayout" Target="../slideLayouts/slideLayout13.xml"/><Relationship Id="rId3" Type="http://schemas.openxmlformats.org/officeDocument/2006/relationships/oleObject" Target="../embeddings/Microsoft_Equation20.bin"/><Relationship Id="rId5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4" Type="http://schemas.openxmlformats.org/officeDocument/2006/relationships/oleObject" Target="../embeddings/Microsoft_Equation22.bin"/><Relationship Id="rId5" Type="http://schemas.openxmlformats.org/officeDocument/2006/relationships/image" Target="../media/image60.wmf"/><Relationship Id="rId7" Type="http://schemas.openxmlformats.org/officeDocument/2006/relationships/image" Target="../media/image62.png"/><Relationship Id="rId1" Type="http://schemas.openxmlformats.org/officeDocument/2006/relationships/vmlDrawing" Target="../drawings/vmlDrawing22.vml"/><Relationship Id="rId2" Type="http://schemas.openxmlformats.org/officeDocument/2006/relationships/slideLayout" Target="../slideLayouts/slideLayout13.xml"/><Relationship Id="rId3" Type="http://schemas.openxmlformats.org/officeDocument/2006/relationships/image" Target="../media/image59.jpeg"/><Relationship Id="rId6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3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3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3" Type="http://schemas.openxmlformats.org/officeDocument/2006/relationships/image" Target="../media/image69.jpeg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908050"/>
            <a:ext cx="9144000" cy="1119188"/>
          </a:xfrm>
        </p:spPr>
        <p:txBody>
          <a:bodyPr/>
          <a:lstStyle/>
          <a:p>
            <a:pPr eaLnBrk="1" hangingPunct="1"/>
            <a:r>
              <a:rPr lang="ko-KR" altLang="en-US" sz="4000" b="1" i="1">
                <a:solidFill>
                  <a:schemeClr val="tx2"/>
                </a:solidFill>
                <a:ea typeface="Gulim" pitchFamily="-28" charset="-127"/>
                <a:cs typeface="Gulim" pitchFamily="-28" charset="-127"/>
              </a:rPr>
              <a:t>양자물리학이 열어주는 신비한 세계</a:t>
            </a:r>
            <a:endParaRPr lang="en-US" altLang="ko-KR" sz="4000" b="1" i="1">
              <a:solidFill>
                <a:schemeClr val="tx2"/>
              </a:solidFill>
              <a:ea typeface="Gulim" pitchFamily="-28" charset="-127"/>
              <a:cs typeface="Gulim" pitchFamily="-28" charset="-127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35150" y="3716338"/>
            <a:ext cx="5334000" cy="1066800"/>
          </a:xfrm>
        </p:spPr>
        <p:txBody>
          <a:bodyPr/>
          <a:lstStyle/>
          <a:p>
            <a:pPr eaLnBrk="1" hangingPunct="1">
              <a:lnSpc>
                <a:spcPct val="60000"/>
              </a:lnSpc>
            </a:pPr>
            <a:r>
              <a:rPr lang="ko-KR" altLang="en-US" sz="2600" b="1" smtClean="0">
                <a:solidFill>
                  <a:schemeClr val="tx1"/>
                </a:solidFill>
                <a:ea typeface="Gulim" pitchFamily="-28" charset="-127"/>
                <a:cs typeface="Gulim" pitchFamily="-28" charset="-127"/>
              </a:rPr>
              <a:t>서울대학교</a:t>
            </a:r>
            <a:endParaRPr lang="en-US" altLang="ko-KR" sz="2600" b="1" smtClean="0">
              <a:solidFill>
                <a:schemeClr val="tx1"/>
              </a:solidFill>
              <a:ea typeface="Gulim" pitchFamily="-28" charset="-127"/>
              <a:cs typeface="Gulim" pitchFamily="-28" charset="-127"/>
            </a:endParaRPr>
          </a:p>
          <a:p>
            <a:pPr eaLnBrk="1" hangingPunct="1">
              <a:lnSpc>
                <a:spcPct val="60000"/>
              </a:lnSpc>
            </a:pPr>
            <a:r>
              <a:rPr lang="ko-KR" altLang="en-US" sz="2600" b="1" smtClean="0">
                <a:solidFill>
                  <a:schemeClr val="tx1"/>
                </a:solidFill>
                <a:ea typeface="Gulim" pitchFamily="-28" charset="-127"/>
                <a:cs typeface="Gulim" pitchFamily="-28" charset="-127"/>
              </a:rPr>
              <a:t>물리천문학부</a:t>
            </a:r>
            <a:endParaRPr lang="en-US" altLang="ko-KR" sz="2600" b="1" smtClean="0">
              <a:solidFill>
                <a:schemeClr val="tx1"/>
              </a:solidFill>
              <a:ea typeface="Gulim" pitchFamily="-28" charset="-127"/>
              <a:cs typeface="Gulim" pitchFamily="-28" charset="-127"/>
            </a:endParaRPr>
          </a:p>
          <a:p>
            <a:pPr eaLnBrk="1" hangingPunct="1">
              <a:lnSpc>
                <a:spcPct val="60000"/>
              </a:lnSpc>
            </a:pPr>
            <a:r>
              <a:rPr lang="ko-KR" altLang="en-US" sz="2600" b="1" smtClean="0">
                <a:solidFill>
                  <a:schemeClr val="tx1"/>
                </a:solidFill>
                <a:ea typeface="Gulim" pitchFamily="-28" charset="-127"/>
                <a:cs typeface="Gulim" pitchFamily="-28" charset="-127"/>
              </a:rPr>
              <a:t>정현석</a:t>
            </a:r>
            <a:endParaRPr lang="en-US" altLang="ko-KR" sz="2600" b="1" smtClean="0">
              <a:solidFill>
                <a:schemeClr val="tx1"/>
              </a:solidFill>
              <a:ea typeface="Gulim" pitchFamily="-28" charset="-127"/>
              <a:cs typeface="Gulim" pitchFamily="-28" charset="-127"/>
            </a:endParaRP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2771775" y="2636838"/>
            <a:ext cx="3322638" cy="584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buFontTx/>
              <a:buNone/>
            </a:pPr>
            <a:r>
              <a:rPr lang="ko-KR" altLang="en-US" sz="3200">
                <a:solidFill>
                  <a:srgbClr val="080808"/>
                </a:solidFill>
                <a:latin typeface="Times New Roman" pitchFamily="-28" charset="0"/>
              </a:rPr>
              <a:t>200</a:t>
            </a:r>
            <a:r>
              <a:rPr lang="en-US" altLang="ko-KR" sz="3200">
                <a:solidFill>
                  <a:srgbClr val="080808"/>
                </a:solidFill>
                <a:latin typeface="Times New Roman" pitchFamily="-28" charset="0"/>
              </a:rPr>
              <a:t>9</a:t>
            </a:r>
            <a:r>
              <a:rPr lang="ko-KR" altLang="en-US" sz="3200">
                <a:solidFill>
                  <a:srgbClr val="080808"/>
                </a:solidFill>
                <a:latin typeface="Times New Roman" pitchFamily="-28" charset="0"/>
              </a:rPr>
              <a:t>월 </a:t>
            </a:r>
            <a:r>
              <a:rPr lang="en-US" altLang="ko-KR" sz="3200">
                <a:solidFill>
                  <a:srgbClr val="080808"/>
                </a:solidFill>
                <a:latin typeface="Times New Roman" pitchFamily="-28" charset="0"/>
              </a:rPr>
              <a:t>5</a:t>
            </a:r>
            <a:r>
              <a:rPr lang="ko-KR" altLang="en-US" sz="3200">
                <a:solidFill>
                  <a:srgbClr val="080808"/>
                </a:solidFill>
                <a:latin typeface="Times New Roman" pitchFamily="-28" charset="0"/>
              </a:rPr>
              <a:t>월 </a:t>
            </a:r>
            <a:r>
              <a:rPr lang="en-US" altLang="ko-KR" sz="3200">
                <a:solidFill>
                  <a:srgbClr val="080808"/>
                </a:solidFill>
                <a:latin typeface="Times New Roman" pitchFamily="-28" charset="0"/>
              </a:rPr>
              <a:t>30</a:t>
            </a:r>
            <a:r>
              <a:rPr lang="ko-KR" altLang="en-US" sz="3200">
                <a:solidFill>
                  <a:srgbClr val="080808"/>
                </a:solidFill>
                <a:latin typeface="Times New Roman" pitchFamily="-28" charset="0"/>
              </a:rPr>
              <a:t>일</a:t>
            </a:r>
            <a:endParaRPr lang="en-US" altLang="ko-KR" sz="3200">
              <a:solidFill>
                <a:srgbClr val="080808"/>
              </a:solidFill>
              <a:latin typeface="Times New Roman" pitchFamily="-2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ChangeArrowheads="1"/>
          </p:cNvSpPr>
          <p:nvPr/>
        </p:nvSpPr>
        <p:spPr bwMode="auto">
          <a:xfrm>
            <a:off x="3238500" y="381000"/>
            <a:ext cx="2628900" cy="76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400" u="sng">
                <a:solidFill>
                  <a:srgbClr val="C0504D"/>
                </a:solidFill>
                <a:latin typeface="Calibri" pitchFamily="-28" charset="0"/>
              </a:rPr>
              <a:t>주요 내용</a:t>
            </a:r>
            <a:endParaRPr lang="en-US"/>
          </a:p>
        </p:txBody>
      </p:sp>
      <p:sp>
        <p:nvSpPr>
          <p:cNvPr id="33795" name="Rectangle 5"/>
          <p:cNvSpPr>
            <a:spLocks noChangeArrowheads="1"/>
          </p:cNvSpPr>
          <p:nvPr/>
        </p:nvSpPr>
        <p:spPr bwMode="auto">
          <a:xfrm>
            <a:off x="1084263" y="1524000"/>
            <a:ext cx="54689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ko-KR" altLang="en-US" sz="3200">
                <a:solidFill>
                  <a:srgbClr val="0000FF"/>
                </a:solidFill>
                <a:latin typeface="Gulim" pitchFamily="-28" charset="-127"/>
              </a:rPr>
              <a:t>고전물리학이 보여주는 세계</a:t>
            </a:r>
            <a:endParaRPr lang="en-US"/>
          </a:p>
        </p:txBody>
      </p:sp>
      <p:sp>
        <p:nvSpPr>
          <p:cNvPr id="33796" name="Rectangle 6"/>
          <p:cNvSpPr>
            <a:spLocks noChangeArrowheads="1"/>
          </p:cNvSpPr>
          <p:nvPr/>
        </p:nvSpPr>
        <p:spPr bwMode="auto">
          <a:xfrm>
            <a:off x="1084263" y="2133600"/>
            <a:ext cx="54689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ko-KR" altLang="en-US" sz="3200">
                <a:solidFill>
                  <a:srgbClr val="0000FF"/>
                </a:solidFill>
                <a:latin typeface="Gulim" pitchFamily="-28" charset="-127"/>
              </a:rPr>
              <a:t>현대물리학이 보여주는 세계</a:t>
            </a:r>
            <a:endParaRPr lang="en-US"/>
          </a:p>
        </p:txBody>
      </p:sp>
      <p:sp>
        <p:nvSpPr>
          <p:cNvPr id="33797" name="Rectangle 7"/>
          <p:cNvSpPr>
            <a:spLocks noChangeArrowheads="1"/>
          </p:cNvSpPr>
          <p:nvPr/>
        </p:nvSpPr>
        <p:spPr bwMode="auto">
          <a:xfrm>
            <a:off x="1066800" y="2743200"/>
            <a:ext cx="76200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ko-KR" altLang="en-US" sz="3200">
                <a:solidFill>
                  <a:srgbClr val="0000FF"/>
                </a:solidFill>
                <a:latin typeface="Gulim" pitchFamily="-28" charset="-127"/>
              </a:rPr>
              <a:t>현대물리학의 두 기둥 </a:t>
            </a:r>
            <a:r>
              <a:rPr lang="en-US" altLang="ko-KR" sz="3200">
                <a:solidFill>
                  <a:srgbClr val="0000FF"/>
                </a:solidFill>
                <a:latin typeface="Gulim" pitchFamily="-28" charset="-127"/>
              </a:rPr>
              <a:t>- </a:t>
            </a:r>
            <a:r>
              <a:rPr lang="ko-KR" altLang="en-US" sz="3200">
                <a:solidFill>
                  <a:srgbClr val="0000FF"/>
                </a:solidFill>
                <a:latin typeface="Gulim" pitchFamily="-28" charset="-127"/>
              </a:rPr>
              <a:t>상대성이론과 양자물리학</a:t>
            </a:r>
            <a:endParaRPr lang="en-US" altLang="ja-JP"/>
          </a:p>
        </p:txBody>
      </p:sp>
      <p:sp>
        <p:nvSpPr>
          <p:cNvPr id="33798" name="Rectangle 8"/>
          <p:cNvSpPr>
            <a:spLocks noChangeArrowheads="1"/>
          </p:cNvSpPr>
          <p:nvPr/>
        </p:nvSpPr>
        <p:spPr bwMode="auto">
          <a:xfrm>
            <a:off x="1066800" y="3810000"/>
            <a:ext cx="639286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ko-KR" altLang="en-US" sz="3200">
                <a:solidFill>
                  <a:srgbClr val="0000FF"/>
                </a:solidFill>
                <a:latin typeface="Gulim" pitchFamily="-28" charset="-127"/>
              </a:rPr>
              <a:t>고전물리학으로 설명되지 않는 양자세계의 현상들</a:t>
            </a:r>
            <a:endParaRPr lang="en-US"/>
          </a:p>
        </p:txBody>
      </p:sp>
      <p:sp>
        <p:nvSpPr>
          <p:cNvPr id="33799" name="Rectangle 9"/>
          <p:cNvSpPr>
            <a:spLocks noChangeArrowheads="1"/>
          </p:cNvSpPr>
          <p:nvPr/>
        </p:nvSpPr>
        <p:spPr bwMode="auto">
          <a:xfrm>
            <a:off x="1066800" y="4902200"/>
            <a:ext cx="41084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ko-KR" altLang="en-US" sz="3200">
                <a:solidFill>
                  <a:srgbClr val="0000FF"/>
                </a:solidFill>
                <a:latin typeface="Gulim" pitchFamily="-28" charset="-127"/>
              </a:rPr>
              <a:t>양자정보과학의 세계</a:t>
            </a:r>
            <a:endParaRPr lang="en-US"/>
          </a:p>
        </p:txBody>
      </p:sp>
      <p:sp>
        <p:nvSpPr>
          <p:cNvPr id="33800" name="Rectangle 10"/>
          <p:cNvSpPr>
            <a:spLocks noChangeArrowheads="1"/>
          </p:cNvSpPr>
          <p:nvPr/>
        </p:nvSpPr>
        <p:spPr bwMode="auto">
          <a:xfrm>
            <a:off x="1066800" y="5486400"/>
            <a:ext cx="29035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ko-KR" altLang="en-US" sz="3200">
                <a:solidFill>
                  <a:srgbClr val="0000FF"/>
                </a:solidFill>
                <a:latin typeface="Gulim" pitchFamily="-28" charset="-127"/>
              </a:rPr>
              <a:t>최근의 연구들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800" b="1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고전물리학이 보여주는 세계</a:t>
            </a:r>
            <a:endParaRPr lang="en-US" altLang="ko-KR" sz="4800" b="1">
              <a:solidFill>
                <a:schemeClr val="accent2"/>
              </a:solidFill>
              <a:ea typeface="Gulim" pitchFamily="-28" charset="-127"/>
              <a:cs typeface="Gulim" pitchFamily="-28" charset="-127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147050" cy="4525963"/>
          </a:xfrm>
        </p:spPr>
        <p:txBody>
          <a:bodyPr/>
          <a:lstStyle/>
          <a:p>
            <a:pPr>
              <a:buFont typeface="Wingdings" pitchFamily="-28" charset="2"/>
              <a:buChar char="§"/>
            </a:pPr>
            <a:r>
              <a:rPr lang="en-US" altLang="ko-KR" sz="3700" i="1" smtClean="0">
                <a:ea typeface="Gulim" pitchFamily="-28" charset="-127"/>
                <a:cs typeface="Gulim" pitchFamily="-28" charset="-127"/>
              </a:rPr>
              <a:t> </a:t>
            </a:r>
            <a:r>
              <a:rPr lang="ko-KR" altLang="en-US" sz="3700" i="1" smtClean="0">
                <a:ea typeface="Gulim" pitchFamily="-28" charset="-127"/>
                <a:cs typeface="Gulim" pitchFamily="-28" charset="-127"/>
              </a:rPr>
              <a:t>절대공간이 존재한다</a:t>
            </a:r>
            <a:r>
              <a:rPr lang="en-US" altLang="ko-KR" sz="3700" i="1" smtClean="0">
                <a:ea typeface="Gulim" pitchFamily="-28" charset="-127"/>
                <a:cs typeface="Gulim" pitchFamily="-28" charset="-127"/>
              </a:rPr>
              <a:t>.</a:t>
            </a:r>
          </a:p>
          <a:p>
            <a:pPr>
              <a:buFont typeface="Wingdings" pitchFamily="-28" charset="2"/>
              <a:buChar char="§"/>
            </a:pPr>
            <a:endParaRPr lang="en-US" altLang="ko-KR" sz="3700" i="1" smtClean="0">
              <a:ea typeface="Gulim" pitchFamily="-28" charset="-127"/>
              <a:cs typeface="Gulim" pitchFamily="-28" charset="-127"/>
            </a:endParaRPr>
          </a:p>
          <a:p>
            <a:pPr>
              <a:buFont typeface="Wingdings" pitchFamily="-28" charset="2"/>
              <a:buChar char="§"/>
            </a:pPr>
            <a:r>
              <a:rPr lang="ko-KR" altLang="en-US" sz="3700" i="1" smtClean="0">
                <a:ea typeface="Gulim" pitchFamily="-28" charset="-127"/>
                <a:cs typeface="Gulim" pitchFamily="-28" charset="-127"/>
              </a:rPr>
              <a:t> 초기조건이 </a:t>
            </a:r>
            <a:r>
              <a:rPr lang="ko-KR" altLang="en-US" sz="3700" i="1">
                <a:ea typeface="Gulim" pitchFamily="-28" charset="-127"/>
                <a:cs typeface="Gulim" pitchFamily="-28" charset="-127"/>
              </a:rPr>
              <a:t>결정되면 우주의 운명도 알 수 있다</a:t>
            </a:r>
            <a:r>
              <a:rPr lang="en-US" altLang="ko-KR" sz="3700" i="1">
                <a:ea typeface="Gulim" pitchFamily="-28" charset="-127"/>
                <a:cs typeface="Gulim" pitchFamily="-28" charset="-127"/>
              </a:rPr>
              <a:t>. (</a:t>
            </a:r>
            <a:r>
              <a:rPr lang="ko-KR" altLang="en-US" sz="3700" i="1">
                <a:ea typeface="Gulim" pitchFamily="-28" charset="-127"/>
                <a:cs typeface="Gulim" pitchFamily="-28" charset="-127"/>
              </a:rPr>
              <a:t>결정론적 세계관</a:t>
            </a:r>
            <a:r>
              <a:rPr lang="en-US" altLang="ko-KR" sz="3700" i="1">
                <a:ea typeface="Gulim" pitchFamily="-28" charset="-127"/>
                <a:cs typeface="Gulim" pitchFamily="-28" charset="-127"/>
              </a:rPr>
              <a:t>)</a:t>
            </a:r>
            <a:endParaRPr lang="en-US" altLang="ko-KR" sz="3700">
              <a:ea typeface="Gulim" pitchFamily="-28" charset="-127"/>
              <a:cs typeface="Gulim" pitchFamily="-2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800" b="1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현대물리학의 두 기둥</a:t>
            </a:r>
            <a:endParaRPr lang="en-US" altLang="ko-KR" sz="4800" b="1">
              <a:solidFill>
                <a:schemeClr val="accent2"/>
              </a:solidFill>
              <a:ea typeface="Gulim" pitchFamily="-28" charset="-127"/>
              <a:cs typeface="Gulim" pitchFamily="-28" charset="-127"/>
            </a:endParaRPr>
          </a:p>
        </p:txBody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147050" cy="4525963"/>
          </a:xfrm>
        </p:spPr>
        <p:txBody>
          <a:bodyPr/>
          <a:lstStyle/>
          <a:p>
            <a:pPr>
              <a:buFont typeface="Wingdings" pitchFamily="-28" charset="2"/>
              <a:buChar char="§"/>
            </a:pPr>
            <a:r>
              <a:rPr lang="ko-KR" altLang="en-US" sz="3700">
                <a:ea typeface="Gulim" pitchFamily="-28" charset="-127"/>
                <a:cs typeface="Gulim" pitchFamily="-28" charset="-127"/>
              </a:rPr>
              <a:t>고전물리학의 세계관은 현대 물리학의 두 기둥이라고 할 수 있는 상대성 이론과 양자역학에 의해 위기를 맞게 된다</a:t>
            </a:r>
            <a:r>
              <a:rPr lang="en-US" altLang="ko-KR" sz="3700">
                <a:ea typeface="Gulim" pitchFamily="-28" charset="-127"/>
                <a:cs typeface="Gulim" pitchFamily="-28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Gulim" pitchFamily="-28" charset="-127"/>
              <a:cs typeface="Gulim" pitchFamily="-28" charset="-127"/>
            </a:endParaRPr>
          </a:p>
          <a:p>
            <a:endParaRPr lang="ko-KR" altLang="en-US">
              <a:ea typeface="Gulim" pitchFamily="-28" charset="-127"/>
              <a:cs typeface="Gulim" pitchFamily="-28" charset="-127"/>
            </a:endParaRPr>
          </a:p>
          <a:p>
            <a:endParaRPr lang="ko-KR" altLang="en-US">
              <a:ea typeface="Gulim" pitchFamily="-28" charset="-127"/>
              <a:cs typeface="Gulim" pitchFamily="-28" charset="-127"/>
            </a:endParaRPr>
          </a:p>
        </p:txBody>
      </p:sp>
      <p:pic>
        <p:nvPicPr>
          <p:cNvPr id="37891" name="Picture 11" descr="180px-Einstein_tongu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16238" y="1989138"/>
            <a:ext cx="3009900" cy="367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2" name="Rectangle 12"/>
          <p:cNvSpPr>
            <a:spLocks noChangeArrowheads="1"/>
          </p:cNvSpPr>
          <p:nvPr/>
        </p:nvSpPr>
        <p:spPr bwMode="auto">
          <a:xfrm>
            <a:off x="3635375" y="5805488"/>
            <a:ext cx="1676400" cy="696912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sz="1800">
                <a:solidFill>
                  <a:srgbClr val="000000"/>
                </a:solidFill>
                <a:latin typeface="Times New Roman" pitchFamily="-28" charset="0"/>
              </a:rPr>
              <a:t>Albert Einstein</a:t>
            </a:r>
          </a:p>
          <a:p>
            <a:pPr>
              <a:buFontTx/>
              <a:buNone/>
            </a:pPr>
            <a:r>
              <a:rPr lang="en-US" altLang="ko-KR" sz="1800">
                <a:solidFill>
                  <a:srgbClr val="000000"/>
                </a:solidFill>
                <a:latin typeface="Times New Roman" pitchFamily="-28" charset="0"/>
              </a:rPr>
              <a:t>   (1879-1955)</a:t>
            </a: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685800" y="609600"/>
            <a:ext cx="8083550" cy="76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400" b="0">
                <a:solidFill>
                  <a:srgbClr val="000000"/>
                </a:solidFill>
                <a:latin typeface="Calibri" pitchFamily="-28" charset="0"/>
              </a:rPr>
              <a:t>특수상대성이론의 두 가지 가정 </a:t>
            </a:r>
            <a:endParaRPr lang="en-US" altLang="ja-JP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/>
          </p:cNvSpPr>
          <p:nvPr>
            <p:ph type="body" idx="1"/>
          </p:nvPr>
        </p:nvSpPr>
        <p:spPr>
          <a:xfrm>
            <a:off x="457200" y="1570038"/>
            <a:ext cx="8229600" cy="4525962"/>
          </a:xfrm>
        </p:spPr>
        <p:txBody>
          <a:bodyPr/>
          <a:lstStyle/>
          <a:p>
            <a:r>
              <a:rPr lang="ko-KR" altLang="en-US">
                <a:ea typeface="Gulim" pitchFamily="-28" charset="-127"/>
                <a:cs typeface="Gulim" pitchFamily="-28" charset="-127"/>
              </a:rPr>
              <a:t>바깥을 내다볼 수 없는 기차가 등속도 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v</a:t>
            </a:r>
            <a:r>
              <a:rPr lang="ko-KR" altLang="en-US">
                <a:ea typeface="Gulim" pitchFamily="-28" charset="-127"/>
                <a:cs typeface="Gulim" pitchFamily="-28" charset="-127"/>
              </a:rPr>
              <a:t>로 움직이고 있다고 가정해 보자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.</a:t>
            </a:r>
            <a:r>
              <a:rPr lang="ko-KR" altLang="en-US">
                <a:ea typeface="Gulim" pitchFamily="-28" charset="-127"/>
                <a:cs typeface="Gulim" pitchFamily="-28" charset="-127"/>
              </a:rPr>
              <a:t> 기차 안에 있는 사람이 자신이 탄 기차가 움직이는지 정지해 있는지 아는 방법은 무엇이 있을까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? </a:t>
            </a:r>
          </a:p>
        </p:txBody>
      </p:sp>
      <p:sp>
        <p:nvSpPr>
          <p:cNvPr id="38915" name="Rectangle 4"/>
          <p:cNvSpPr>
            <a:spLocks noChangeArrowheads="1"/>
          </p:cNvSpPr>
          <p:nvPr/>
        </p:nvSpPr>
        <p:spPr bwMode="auto">
          <a:xfrm>
            <a:off x="3419475" y="4365625"/>
            <a:ext cx="746125" cy="579438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3200">
                <a:solidFill>
                  <a:srgbClr val="FF3300"/>
                </a:solidFill>
              </a:rPr>
              <a:t>답</a:t>
            </a:r>
            <a:r>
              <a:rPr lang="en-US" altLang="ko-KR" sz="3200">
                <a:solidFill>
                  <a:srgbClr val="FF3300"/>
                </a:solidFill>
              </a:rPr>
              <a:t>:</a:t>
            </a:r>
          </a:p>
        </p:txBody>
      </p:sp>
      <p:sp>
        <p:nvSpPr>
          <p:cNvPr id="38916" name="Rectangle 5"/>
          <p:cNvSpPr>
            <a:spLocks noChangeArrowheads="1"/>
          </p:cNvSpPr>
          <p:nvPr/>
        </p:nvSpPr>
        <p:spPr bwMode="auto">
          <a:xfrm>
            <a:off x="1187450" y="5445125"/>
            <a:ext cx="1573213" cy="579438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3200">
                <a:solidFill>
                  <a:srgbClr val="FF3300"/>
                </a:solidFill>
              </a:rPr>
              <a:t>가정 </a:t>
            </a:r>
            <a:r>
              <a:rPr lang="en-US" altLang="ko-KR" sz="3200">
                <a:solidFill>
                  <a:srgbClr val="FF3300"/>
                </a:solidFill>
              </a:rPr>
              <a:t>1:</a:t>
            </a: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1676400" y="533400"/>
            <a:ext cx="5826125" cy="76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400" b="0">
                <a:solidFill>
                  <a:srgbClr val="000000"/>
                </a:solidFill>
                <a:latin typeface="Calibri" pitchFamily="-28" charset="0"/>
              </a:rPr>
              <a:t>기차를 타고 가는 사람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Gulim" pitchFamily="-28" charset="-127"/>
                <a:cs typeface="Gulim" pitchFamily="-28" charset="-127"/>
              </a:rPr>
              <a:t>빛의 매질은 존재하는가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?</a:t>
            </a:r>
          </a:p>
          <a:p>
            <a:endParaRPr lang="en-US" altLang="ko-KR">
              <a:ea typeface="Gulim" pitchFamily="-28" charset="-127"/>
              <a:cs typeface="Gulim" pitchFamily="-28" charset="-127"/>
            </a:endParaRPr>
          </a:p>
          <a:p>
            <a:r>
              <a:rPr lang="ko-KR" altLang="en-US">
                <a:ea typeface="Gulim" pitchFamily="-28" charset="-127"/>
                <a:cs typeface="Gulim" pitchFamily="-28" charset="-127"/>
              </a:rPr>
              <a:t>빠른 속도로 빛을 따라가며 빛을 관측하면 빛의 속도는 어떻게 바뀔까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?</a:t>
            </a:r>
          </a:p>
          <a:p>
            <a:endParaRPr lang="en-US" altLang="ko-KR">
              <a:ea typeface="Gulim" pitchFamily="-28" charset="-127"/>
              <a:cs typeface="Gulim" pitchFamily="-28" charset="-127"/>
            </a:endParaRPr>
          </a:p>
          <a:p>
            <a:r>
              <a:rPr lang="ko-KR" altLang="en-US">
                <a:solidFill>
                  <a:srgbClr val="FF3300"/>
                </a:solidFill>
                <a:ea typeface="Gulim" pitchFamily="-28" charset="-127"/>
                <a:cs typeface="Gulim" pitchFamily="-28" charset="-127"/>
              </a:rPr>
              <a:t>가정 </a:t>
            </a:r>
            <a:r>
              <a:rPr lang="en-US" altLang="ko-KR">
                <a:solidFill>
                  <a:srgbClr val="FF3300"/>
                </a:solidFill>
                <a:ea typeface="Gulim" pitchFamily="-28" charset="-127"/>
                <a:cs typeface="Gulim" pitchFamily="-28" charset="-127"/>
              </a:rPr>
              <a:t>2: </a:t>
            </a:r>
            <a:r>
              <a:rPr lang="ko-KR" altLang="en-US">
                <a:solidFill>
                  <a:srgbClr val="FF3300"/>
                </a:solidFill>
                <a:ea typeface="Gulim" pitchFamily="-28" charset="-127"/>
                <a:cs typeface="Gulim" pitchFamily="-28" charset="-127"/>
              </a:rPr>
              <a:t>자유공간에서 빛의 속도 </a:t>
            </a:r>
            <a:r>
              <a:rPr lang="en-US" altLang="ko-KR" i="1">
                <a:solidFill>
                  <a:srgbClr val="FF3300"/>
                </a:solidFill>
                <a:ea typeface="Gulim" pitchFamily="-28" charset="-127"/>
                <a:cs typeface="Gulim" pitchFamily="-28" charset="-127"/>
              </a:rPr>
              <a:t>c</a:t>
            </a:r>
            <a:r>
              <a:rPr lang="ko-KR" altLang="en-US">
                <a:solidFill>
                  <a:srgbClr val="FF3300"/>
                </a:solidFill>
                <a:ea typeface="Gulim" pitchFamily="-28" charset="-127"/>
                <a:cs typeface="Gulim" pitchFamily="-28" charset="-127"/>
              </a:rPr>
              <a:t>는 </a:t>
            </a:r>
            <a:r>
              <a:rPr lang="en-US" altLang="ko-KR">
                <a:solidFill>
                  <a:srgbClr val="FF3300"/>
                </a:solidFill>
                <a:ea typeface="Gulim" pitchFamily="-28" charset="-127"/>
                <a:cs typeface="Gulim" pitchFamily="-28" charset="-127"/>
              </a:rPr>
              <a:t>…</a:t>
            </a: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1905000" y="457200"/>
            <a:ext cx="5343525" cy="76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400" b="0">
                <a:solidFill>
                  <a:srgbClr val="000000"/>
                </a:solidFill>
                <a:latin typeface="Calibri" pitchFamily="-28" charset="0"/>
              </a:rPr>
              <a:t>빛의 매질</a:t>
            </a:r>
            <a:r>
              <a:rPr lang="en-US" altLang="ko-KR" sz="4400" b="0">
                <a:solidFill>
                  <a:srgbClr val="000000"/>
                </a:solidFill>
                <a:latin typeface="Calibri" pitchFamily="-28" charset="0"/>
              </a:rPr>
              <a:t>, </a:t>
            </a:r>
            <a:r>
              <a:rPr lang="ko-KR" altLang="en-US" sz="4400" b="0">
                <a:solidFill>
                  <a:srgbClr val="000000"/>
                </a:solidFill>
                <a:latin typeface="Calibri" pitchFamily="-28" charset="0"/>
              </a:rPr>
              <a:t>빛의 속도</a:t>
            </a:r>
            <a:endParaRPr lang="en-US" altLang="ja-JP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Gulim" pitchFamily="-28" charset="-127"/>
                <a:cs typeface="Gulim" pitchFamily="-28" charset="-127"/>
              </a:rPr>
              <a:t>움직이는 기차 안의 시간은 어떻게 흐를까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?</a:t>
            </a:r>
          </a:p>
          <a:p>
            <a:endParaRPr lang="ko-KR" altLang="en-US">
              <a:ea typeface="Gulim" pitchFamily="-28" charset="-127"/>
              <a:cs typeface="Gulim" pitchFamily="-28" charset="-127"/>
            </a:endParaRPr>
          </a:p>
        </p:txBody>
      </p:sp>
      <p:pic>
        <p:nvPicPr>
          <p:cNvPr id="40963" name="Picture 4" descr="restrict_relativity_clip_image00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2708275"/>
            <a:ext cx="4176713" cy="279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4" name="Picture 5" descr="restrict_relativity_clip_image00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32363" y="3068638"/>
            <a:ext cx="3673475" cy="262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5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08625" y="2636838"/>
            <a:ext cx="2746375" cy="884237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Gulim" pitchFamily="-28" charset="-127"/>
                <a:cs typeface="Gulim" pitchFamily="-28" charset="-127"/>
              </a:rPr>
              <a:t>간단한 두 가지 가정으로부터  </a:t>
            </a:r>
            <a:r>
              <a:rPr lang="ko-KR" altLang="en-US" b="1">
                <a:solidFill>
                  <a:srgbClr val="FF3300"/>
                </a:solidFill>
                <a:ea typeface="Gulim" pitchFamily="-28" charset="-127"/>
                <a:cs typeface="Gulim" pitchFamily="-28" charset="-127"/>
              </a:rPr>
              <a:t>특수상대성이론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(1905)</a:t>
            </a:r>
            <a:r>
              <a:rPr lang="ko-KR" altLang="en-US">
                <a:ea typeface="Gulim" pitchFamily="-28" charset="-127"/>
                <a:cs typeface="Gulim" pitchFamily="-28" charset="-127"/>
              </a:rPr>
              <a:t>의 모든 주요 결과들이 유도되고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, </a:t>
            </a:r>
            <a:r>
              <a:rPr lang="ko-KR" altLang="en-US">
                <a:ea typeface="Gulim" pitchFamily="-28" charset="-127"/>
                <a:cs typeface="Gulim" pitchFamily="-28" charset="-127"/>
              </a:rPr>
              <a:t>이는 시공간에 대한 인간의 새로운 이해를 연다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.</a:t>
            </a:r>
          </a:p>
          <a:p>
            <a:endParaRPr lang="ko-KR" altLang="en-US">
              <a:ea typeface="Gulim" pitchFamily="-28" charset="-127"/>
              <a:cs typeface="Gulim" pitchFamily="-28" charset="-127"/>
            </a:endParaRPr>
          </a:p>
          <a:p>
            <a:r>
              <a:rPr lang="ko-KR" altLang="en-US">
                <a:ea typeface="Gulim" pitchFamily="-28" charset="-127"/>
                <a:cs typeface="Gulim" pitchFamily="-28" charset="-127"/>
              </a:rPr>
              <a:t>이후 시공간에 대한 인간의 이해는 중력에 대한 </a:t>
            </a:r>
            <a:r>
              <a:rPr lang="ko-KR" altLang="en-US" b="1">
                <a:solidFill>
                  <a:srgbClr val="FF3300"/>
                </a:solidFill>
                <a:ea typeface="Gulim" pitchFamily="-28" charset="-127"/>
                <a:cs typeface="Gulim" pitchFamily="-28" charset="-127"/>
              </a:rPr>
              <a:t>일반상대성이론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(1915)</a:t>
            </a:r>
            <a:r>
              <a:rPr lang="ko-KR" altLang="en-US">
                <a:ea typeface="Gulim" pitchFamily="-28" charset="-127"/>
                <a:cs typeface="Gulim" pitchFamily="-28" charset="-127"/>
              </a:rPr>
              <a:t>에 의해 더욱 확장된다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4" descr="boh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9188" y="1484313"/>
            <a:ext cx="1204912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1" name="Rectangle 5"/>
          <p:cNvSpPr>
            <a:spLocks noChangeArrowheads="1"/>
          </p:cNvSpPr>
          <p:nvPr/>
        </p:nvSpPr>
        <p:spPr bwMode="auto">
          <a:xfrm>
            <a:off x="5429250" y="5438775"/>
            <a:ext cx="1052513" cy="3079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>
                <a:solidFill>
                  <a:srgbClr val="000000"/>
                </a:solidFill>
                <a:latin typeface="Times New Roman" pitchFamily="-28" charset="0"/>
              </a:rPr>
              <a:t> Paul Dirac</a:t>
            </a:r>
          </a:p>
        </p:txBody>
      </p:sp>
      <p:pic>
        <p:nvPicPr>
          <p:cNvPr id="43012" name="Picture 6" descr="dira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4163" y="3716338"/>
            <a:ext cx="1204912" cy="167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3" name="Rectangle 7"/>
          <p:cNvSpPr>
            <a:spLocks noChangeArrowheads="1"/>
          </p:cNvSpPr>
          <p:nvPr/>
        </p:nvSpPr>
        <p:spPr bwMode="auto">
          <a:xfrm>
            <a:off x="2465388" y="3160713"/>
            <a:ext cx="993775" cy="3079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>
                <a:solidFill>
                  <a:srgbClr val="000000"/>
                </a:solidFill>
                <a:latin typeface="Times New Roman" pitchFamily="-28" charset="0"/>
              </a:rPr>
              <a:t>Niels Bohr</a:t>
            </a:r>
          </a:p>
        </p:txBody>
      </p:sp>
      <p:sp>
        <p:nvSpPr>
          <p:cNvPr id="43014" name="Rectangle 8"/>
          <p:cNvSpPr>
            <a:spLocks noChangeArrowheads="1"/>
          </p:cNvSpPr>
          <p:nvPr/>
        </p:nvSpPr>
        <p:spPr bwMode="auto">
          <a:xfrm>
            <a:off x="1093788" y="3160713"/>
            <a:ext cx="1165225" cy="3079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>
                <a:solidFill>
                  <a:srgbClr val="000000"/>
                </a:solidFill>
                <a:latin typeface="Times New Roman" pitchFamily="-28" charset="0"/>
              </a:rPr>
              <a:t>Max Planck</a:t>
            </a:r>
          </a:p>
        </p:txBody>
      </p:sp>
      <p:pic>
        <p:nvPicPr>
          <p:cNvPr id="43015" name="Picture 9" descr="250px-180px-Werner_Heisenber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87763" y="3716338"/>
            <a:ext cx="1562100" cy="167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6" name="Picture 10" descr="planck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17588" y="1484313"/>
            <a:ext cx="1204912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7" name="Picture 11" descr="180px-Einstein_tongu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60788" y="1484313"/>
            <a:ext cx="1373187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8" name="Rectangle 12"/>
          <p:cNvSpPr>
            <a:spLocks noChangeArrowheads="1"/>
          </p:cNvSpPr>
          <p:nvPr/>
        </p:nvSpPr>
        <p:spPr bwMode="auto">
          <a:xfrm>
            <a:off x="3714750" y="3152775"/>
            <a:ext cx="1365250" cy="3079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>
                <a:solidFill>
                  <a:srgbClr val="000000"/>
                </a:solidFill>
                <a:latin typeface="Times New Roman" pitchFamily="-28" charset="0"/>
              </a:rPr>
              <a:t>Albert Einstein</a:t>
            </a:r>
          </a:p>
        </p:txBody>
      </p:sp>
      <p:pic>
        <p:nvPicPr>
          <p:cNvPr id="43019" name="Picture 13" descr="Erwin_Schr%C3%B6dinger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284788" y="1484313"/>
            <a:ext cx="131445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20" name="Rectangle 14"/>
          <p:cNvSpPr>
            <a:spLocks noChangeArrowheads="1"/>
          </p:cNvSpPr>
          <p:nvPr/>
        </p:nvSpPr>
        <p:spPr bwMode="auto">
          <a:xfrm>
            <a:off x="3643313" y="5438775"/>
            <a:ext cx="1684337" cy="3079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>
                <a:solidFill>
                  <a:srgbClr val="000000"/>
                </a:solidFill>
                <a:latin typeface="Times New Roman" pitchFamily="-28" charset="0"/>
              </a:rPr>
              <a:t>Werner Heisenberg</a:t>
            </a:r>
          </a:p>
        </p:txBody>
      </p:sp>
      <p:sp>
        <p:nvSpPr>
          <p:cNvPr id="43021" name="Rectangle 17"/>
          <p:cNvSpPr>
            <a:spLocks noChangeArrowheads="1"/>
          </p:cNvSpPr>
          <p:nvPr/>
        </p:nvSpPr>
        <p:spPr bwMode="auto">
          <a:xfrm>
            <a:off x="5208588" y="3160713"/>
            <a:ext cx="1658937" cy="3079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>
                <a:solidFill>
                  <a:schemeClr val="tx1"/>
                </a:solidFill>
                <a:latin typeface="Times New Roman" pitchFamily="-28" charset="0"/>
              </a:rPr>
              <a:t>Erwin Schr</a:t>
            </a:r>
            <a:r>
              <a:rPr lang="en-US" altLang="ko-KR">
                <a:solidFill>
                  <a:schemeClr val="tx1"/>
                </a:solidFill>
                <a:latin typeface="Times New Roman" pitchFamily="-28" charset="0"/>
                <a:ea typeface="바탕" pitchFamily="-28" charset="-127"/>
                <a:cs typeface="바탕" pitchFamily="-28" charset="-127"/>
              </a:rPr>
              <a:t>ö</a:t>
            </a:r>
            <a:r>
              <a:rPr lang="en-US" altLang="ko-KR">
                <a:solidFill>
                  <a:schemeClr val="tx1"/>
                </a:solidFill>
                <a:latin typeface="Times New Roman" pitchFamily="-28" charset="0"/>
              </a:rPr>
              <a:t>dinger</a:t>
            </a:r>
          </a:p>
        </p:txBody>
      </p:sp>
      <p:sp>
        <p:nvSpPr>
          <p:cNvPr id="43022" name="Text Box 19"/>
          <p:cNvSpPr txBox="1">
            <a:spLocks noChangeArrowheads="1"/>
          </p:cNvSpPr>
          <p:nvPr/>
        </p:nvSpPr>
        <p:spPr bwMode="auto">
          <a:xfrm>
            <a:off x="6929438" y="5438775"/>
            <a:ext cx="9318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prstTxWarp prst="textNoShape">
              <a:avLst/>
            </a:prstTxWarp>
            <a:spAutoFit/>
          </a:bodyPr>
          <a:lstStyle/>
          <a:p>
            <a:pPr>
              <a:spcBef>
                <a:spcPts val="1075"/>
              </a:spcBef>
              <a:buClr>
                <a:srgbClr val="000000"/>
              </a:buClr>
              <a:buSzPct val="42000"/>
              <a:buFont typeface="Times New Roman" pitchFamily="-2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ko-KR">
                <a:solidFill>
                  <a:schemeClr val="tx1"/>
                </a:solidFill>
                <a:latin typeface="Times New Roman" pitchFamily="-28" charset="0"/>
              </a:rPr>
              <a:t>John Bell</a:t>
            </a:r>
          </a:p>
        </p:txBody>
      </p:sp>
      <p:pic>
        <p:nvPicPr>
          <p:cNvPr id="43023" name="Picture 2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735763" y="3716338"/>
            <a:ext cx="1319212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24" name="Rectangle 16"/>
          <p:cNvSpPr>
            <a:spLocks noChangeArrowheads="1"/>
          </p:cNvSpPr>
          <p:nvPr/>
        </p:nvSpPr>
        <p:spPr bwMode="auto">
          <a:xfrm>
            <a:off x="1863725" y="449263"/>
            <a:ext cx="5451475" cy="76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400" b="0">
                <a:solidFill>
                  <a:srgbClr val="1F497D"/>
                </a:solidFill>
                <a:latin typeface="Calibri" pitchFamily="-28" charset="0"/>
              </a:rPr>
              <a:t>양자역학의 개척자들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Gulim" pitchFamily="-28" charset="-127"/>
                <a:cs typeface="Gulim" pitchFamily="-28" charset="-127"/>
              </a:rPr>
              <a:t>양자역학이 왜 필요한가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?</a:t>
            </a:r>
          </a:p>
        </p:txBody>
      </p:sp>
      <p:sp>
        <p:nvSpPr>
          <p:cNvPr id="4403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Gulim" pitchFamily="-28" charset="-127"/>
                <a:cs typeface="Gulim" pitchFamily="-28" charset="-127"/>
              </a:rPr>
              <a:t>고전물리학으로 설명할 수 없는 자연 현상들이 존재한다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.</a:t>
            </a:r>
          </a:p>
          <a:p>
            <a:endParaRPr lang="ko-KR" altLang="en-US">
              <a:ea typeface="Gulim" pitchFamily="-28" charset="-127"/>
              <a:cs typeface="Gulim" pitchFamily="-28" charset="-127"/>
            </a:endParaRPr>
          </a:p>
          <a:p>
            <a:endParaRPr lang="ko-KR" altLang="en-US">
              <a:ea typeface="Gulim" pitchFamily="-28" charset="-127"/>
              <a:cs typeface="Gulim" pitchFamily="-2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5" name="Picture 4" descr="C:\Documents and Settings\Jeong\Desktop\bw0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0" y="2357438"/>
            <a:ext cx="1682750" cy="135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6" name="Picture 4" descr="C:\Documents and Settings\Jeong\Desktop\images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1214438" y="4500563"/>
            <a:ext cx="2000250" cy="1458912"/>
          </a:xfrm>
          <a:noFill/>
        </p:spPr>
      </p:pic>
      <p:pic>
        <p:nvPicPr>
          <p:cNvPr id="45060" name="Picture 2" descr="C:\Documents and Settings\Jeong\Desktop\presentations\콜로키움2007\pics\Fig_37-1_Two_Slit_Particles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86188" y="1857375"/>
            <a:ext cx="4143375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2895600" y="914400"/>
            <a:ext cx="326231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3600" b="0">
                <a:solidFill>
                  <a:srgbClr val="000000"/>
                </a:solidFill>
                <a:latin typeface="Calibri" pitchFamily="-28" charset="0"/>
              </a:rPr>
              <a:t>이중 슬릿 실험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Freeform 24"/>
          <p:cNvSpPr>
            <a:spLocks/>
          </p:cNvSpPr>
          <p:nvPr/>
        </p:nvSpPr>
        <p:spPr bwMode="auto">
          <a:xfrm>
            <a:off x="4429125" y="3071813"/>
            <a:ext cx="3175" cy="912812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6085" name="Freeform 24"/>
          <p:cNvSpPr>
            <a:spLocks/>
          </p:cNvSpPr>
          <p:nvPr/>
        </p:nvSpPr>
        <p:spPr bwMode="auto">
          <a:xfrm>
            <a:off x="4429125" y="2000250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6086" name="Freeform 24"/>
          <p:cNvSpPr>
            <a:spLocks/>
          </p:cNvSpPr>
          <p:nvPr/>
        </p:nvSpPr>
        <p:spPr bwMode="auto">
          <a:xfrm>
            <a:off x="4429125" y="4143375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6087" name="Freeform 24"/>
          <p:cNvSpPr>
            <a:spLocks/>
          </p:cNvSpPr>
          <p:nvPr/>
        </p:nvSpPr>
        <p:spPr bwMode="auto">
          <a:xfrm>
            <a:off x="7786688" y="1928813"/>
            <a:ext cx="3175" cy="324008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571625" y="3429000"/>
            <a:ext cx="285750" cy="307975"/>
            <a:chOff x="1928794" y="3357542"/>
            <a:chExt cx="284996" cy="308622"/>
          </a:xfrm>
        </p:grpSpPr>
        <p:sp>
          <p:nvSpPr>
            <p:cNvPr id="46100" name="Freeform 9"/>
            <p:cNvSpPr>
              <a:spLocks/>
            </p:cNvSpPr>
            <p:nvPr/>
          </p:nvSpPr>
          <p:spPr bwMode="auto">
            <a:xfrm flipV="1">
              <a:off x="1928794" y="3357542"/>
              <a:ext cx="284996" cy="142896"/>
            </a:xfrm>
            <a:custGeom>
              <a:avLst/>
              <a:gdLst>
                <a:gd name="T0" fmla="*/ 2147483647 w 182"/>
                <a:gd name="T1" fmla="*/ 2147483647 h 78"/>
                <a:gd name="T2" fmla="*/ 0 w 182"/>
                <a:gd name="T3" fmla="*/ 0 h 78"/>
                <a:gd name="T4" fmla="*/ 0 60000 65536"/>
                <a:gd name="T5" fmla="*/ 0 60000 65536"/>
                <a:gd name="T6" fmla="*/ 0 w 182"/>
                <a:gd name="T7" fmla="*/ 0 h 78"/>
                <a:gd name="T8" fmla="*/ 182 w 182"/>
                <a:gd name="T9" fmla="*/ 78 h 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78">
                  <a:moveTo>
                    <a:pt x="182" y="7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46101" name="Freeform 9"/>
            <p:cNvSpPr>
              <a:spLocks/>
            </p:cNvSpPr>
            <p:nvPr/>
          </p:nvSpPr>
          <p:spPr bwMode="auto">
            <a:xfrm>
              <a:off x="1928794" y="3500438"/>
              <a:ext cx="214314" cy="165726"/>
            </a:xfrm>
            <a:custGeom>
              <a:avLst/>
              <a:gdLst>
                <a:gd name="T0" fmla="*/ 2147483647 w 182"/>
                <a:gd name="T1" fmla="*/ 2147483647 h 42"/>
                <a:gd name="T2" fmla="*/ 0 w 182"/>
                <a:gd name="T3" fmla="*/ 0 h 42"/>
                <a:gd name="T4" fmla="*/ 0 60000 65536"/>
                <a:gd name="T5" fmla="*/ 0 60000 65536"/>
                <a:gd name="T6" fmla="*/ 0 w 182"/>
                <a:gd name="T7" fmla="*/ 0 h 42"/>
                <a:gd name="T8" fmla="*/ 182 w 182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42">
                  <a:moveTo>
                    <a:pt x="182" y="4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46102" name="Freeform 9"/>
            <p:cNvSpPr>
              <a:spLocks/>
            </p:cNvSpPr>
            <p:nvPr/>
          </p:nvSpPr>
          <p:spPr bwMode="auto">
            <a:xfrm>
              <a:off x="1928794" y="3500438"/>
              <a:ext cx="266704" cy="23675"/>
            </a:xfrm>
            <a:custGeom>
              <a:avLst/>
              <a:gdLst>
                <a:gd name="T0" fmla="*/ 2147483647 w 182"/>
                <a:gd name="T1" fmla="*/ 2147483647 h 6"/>
                <a:gd name="T2" fmla="*/ 0 w 182"/>
                <a:gd name="T3" fmla="*/ 0 h 6"/>
                <a:gd name="T4" fmla="*/ 0 60000 65536"/>
                <a:gd name="T5" fmla="*/ 0 60000 65536"/>
                <a:gd name="T6" fmla="*/ 0 w 182"/>
                <a:gd name="T7" fmla="*/ 0 h 6"/>
                <a:gd name="T8" fmla="*/ 182 w 182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6">
                  <a:moveTo>
                    <a:pt x="182" y="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sp>
        <p:nvSpPr>
          <p:cNvPr id="1035" name="Freeform 24"/>
          <p:cNvSpPr>
            <a:spLocks/>
          </p:cNvSpPr>
          <p:nvPr/>
        </p:nvSpPr>
        <p:spPr bwMode="auto">
          <a:xfrm>
            <a:off x="4500563" y="3857625"/>
            <a:ext cx="3175" cy="339725"/>
          </a:xfrm>
          <a:custGeom>
            <a:avLst/>
            <a:gdLst>
              <a:gd name="T0" fmla="*/ 0 w 2"/>
              <a:gd name="T1" fmla="*/ 2147483647 h 214"/>
              <a:gd name="T2" fmla="*/ 2147483647 w 2"/>
              <a:gd name="T3" fmla="*/ 2147483647 h 214"/>
              <a:gd name="T4" fmla="*/ 0 60000 65536"/>
              <a:gd name="T5" fmla="*/ 0 60000 65536"/>
              <a:gd name="T6" fmla="*/ 0 w 2"/>
              <a:gd name="T7" fmla="*/ 0 h 214"/>
              <a:gd name="T8" fmla="*/ 2 w 2"/>
              <a:gd name="T9" fmla="*/ 214 h 2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214">
                <a:moveTo>
                  <a:pt x="0" y="192"/>
                </a:moveTo>
                <a:cubicBezTo>
                  <a:pt x="1" y="0"/>
                  <a:pt x="1" y="214"/>
                  <a:pt x="2" y="22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1037" name="Picture 4" descr="C:\Documents and Settings\Jeong\Desktop\bw0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3" y="3500438"/>
            <a:ext cx="1000125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6091" name="Group 17"/>
          <p:cNvGrpSpPr>
            <a:grpSpLocks/>
          </p:cNvGrpSpPr>
          <p:nvPr/>
        </p:nvGrpSpPr>
        <p:grpSpPr bwMode="auto">
          <a:xfrm>
            <a:off x="4000500" y="2500313"/>
            <a:ext cx="446088" cy="2000250"/>
            <a:chOff x="4000496" y="2500306"/>
            <a:chExt cx="446088" cy="2000262"/>
          </a:xfrm>
        </p:grpSpPr>
        <p:sp>
          <p:nvSpPr>
            <p:cNvPr id="46099" name="Freeform 24"/>
            <p:cNvSpPr>
              <a:spLocks/>
            </p:cNvSpPr>
            <p:nvPr/>
          </p:nvSpPr>
          <p:spPr bwMode="auto">
            <a:xfrm>
              <a:off x="4429125" y="3071813"/>
              <a:ext cx="3175" cy="912812"/>
            </a:xfrm>
            <a:custGeom>
              <a:avLst/>
              <a:gdLst>
                <a:gd name="T0" fmla="*/ 0 w 2"/>
                <a:gd name="T1" fmla="*/ 2147483647 h 575"/>
                <a:gd name="T2" fmla="*/ 2147483647 w 2"/>
                <a:gd name="T3" fmla="*/ 0 h 575"/>
                <a:gd name="T4" fmla="*/ 0 60000 65536"/>
                <a:gd name="T5" fmla="*/ 0 60000 65536"/>
                <a:gd name="T6" fmla="*/ 0 w 2"/>
                <a:gd name="T7" fmla="*/ 0 h 575"/>
                <a:gd name="T8" fmla="*/ 2 w 2"/>
                <a:gd name="T9" fmla="*/ 575 h 5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5">
                  <a:moveTo>
                    <a:pt x="0" y="575"/>
                  </a:moveTo>
                  <a:lnTo>
                    <a:pt x="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graphicFrame>
          <p:nvGraphicFramePr>
            <p:cNvPr id="46082" name="Object 3"/>
            <p:cNvGraphicFramePr>
              <a:graphicFrameLocks noChangeAspect="1"/>
            </p:cNvGraphicFramePr>
            <p:nvPr/>
          </p:nvGraphicFramePr>
          <p:xfrm>
            <a:off x="4071934" y="2500306"/>
            <a:ext cx="241300" cy="338137"/>
          </p:xfrm>
          <a:graphic>
            <a:graphicData uri="http://schemas.openxmlformats.org/presentationml/2006/ole">
              <p:oleObj spid="_x0000_s46082" name="Equation" r:id="rId4" imgW="88560" imgH="164880" progId="Equation.DSMT4">
                <p:embed/>
              </p:oleObj>
            </a:graphicData>
          </a:graphic>
        </p:graphicFrame>
        <p:graphicFrame>
          <p:nvGraphicFramePr>
            <p:cNvPr id="46083" name="Object 19"/>
            <p:cNvGraphicFramePr>
              <a:graphicFrameLocks noChangeAspect="1"/>
            </p:cNvGraphicFramePr>
            <p:nvPr/>
          </p:nvGraphicFramePr>
          <p:xfrm>
            <a:off x="4000496" y="4143380"/>
            <a:ext cx="446088" cy="357188"/>
          </p:xfrm>
          <a:graphic>
            <a:graphicData uri="http://schemas.openxmlformats.org/presentationml/2006/ole">
              <p:oleObj spid="_x0000_s46083" name="Equation" r:id="rId5" imgW="126720" imgH="164880" progId="Equation.DSMT4">
                <p:embed/>
              </p:oleObj>
            </a:graphicData>
          </a:graphic>
        </p:graphicFrame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4143375" y="1928813"/>
            <a:ext cx="3332163" cy="3197225"/>
            <a:chOff x="4143375" y="1928813"/>
            <a:chExt cx="3332163" cy="3197225"/>
          </a:xfrm>
        </p:grpSpPr>
        <p:grpSp>
          <p:nvGrpSpPr>
            <p:cNvPr id="46094" name="Group 18"/>
            <p:cNvGrpSpPr>
              <a:grpSpLocks/>
            </p:cNvGrpSpPr>
            <p:nvPr/>
          </p:nvGrpSpPr>
          <p:grpSpPr bwMode="auto">
            <a:xfrm>
              <a:off x="4143375" y="1928813"/>
              <a:ext cx="3332163" cy="3197225"/>
              <a:chOff x="4143375" y="1928813"/>
              <a:chExt cx="3332163" cy="3197225"/>
            </a:xfrm>
          </p:grpSpPr>
          <p:sp>
            <p:nvSpPr>
              <p:cNvPr id="46097" name="Freeform 9"/>
              <p:cNvSpPr>
                <a:spLocks/>
              </p:cNvSpPr>
              <p:nvPr/>
            </p:nvSpPr>
            <p:spPr bwMode="auto">
              <a:xfrm>
                <a:off x="4143375" y="2857500"/>
                <a:ext cx="709613" cy="234950"/>
              </a:xfrm>
              <a:custGeom>
                <a:avLst/>
                <a:gdLst>
                  <a:gd name="T0" fmla="*/ 2147483647 w 453"/>
                  <a:gd name="T1" fmla="*/ 0 h 128"/>
                  <a:gd name="T2" fmla="*/ 0 w 453"/>
                  <a:gd name="T3" fmla="*/ 2147483647 h 128"/>
                  <a:gd name="T4" fmla="*/ 0 60000 65536"/>
                  <a:gd name="T5" fmla="*/ 0 60000 65536"/>
                  <a:gd name="T6" fmla="*/ 0 w 453"/>
                  <a:gd name="T7" fmla="*/ 0 h 128"/>
                  <a:gd name="T8" fmla="*/ 453 w 453"/>
                  <a:gd name="T9" fmla="*/ 128 h 12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53" h="128">
                    <a:moveTo>
                      <a:pt x="453" y="0"/>
                    </a:moveTo>
                    <a:cubicBezTo>
                      <a:pt x="385" y="22"/>
                      <a:pt x="257" y="61"/>
                      <a:pt x="0" y="128"/>
                    </a:cubicBezTo>
                  </a:path>
                </a:pathLst>
              </a:custGeom>
              <a:noFill/>
              <a:ln w="12700">
                <a:solidFill>
                  <a:srgbClr val="FF0000"/>
                </a:solidFill>
                <a:round/>
                <a:headEnd type="stealth" w="lg" len="lg"/>
                <a:tailEnd type="none" w="lg" len="lg"/>
              </a:ln>
              <a:effectLst>
                <a:prstShdw prst="shdw17" dist="17961" dir="2700000">
                  <a:srgbClr val="990000">
                    <a:alpha val="74997"/>
                  </a:srgbClr>
                </a:prstShdw>
              </a:effectLst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endParaRPr lang="en-AU">
                  <a:latin typeface="Times New Roman" pitchFamily="-28" charset="0"/>
                </a:endParaRPr>
              </a:p>
            </p:txBody>
          </p:sp>
          <p:sp>
            <p:nvSpPr>
              <p:cNvPr id="46098" name="Freeform 9"/>
              <p:cNvSpPr>
                <a:spLocks/>
              </p:cNvSpPr>
              <p:nvPr/>
            </p:nvSpPr>
            <p:spPr bwMode="auto">
              <a:xfrm>
                <a:off x="6715125" y="1928813"/>
                <a:ext cx="760413" cy="3197225"/>
              </a:xfrm>
              <a:custGeom>
                <a:avLst/>
                <a:gdLst>
                  <a:gd name="T0" fmla="*/ 2147483647 w 486"/>
                  <a:gd name="T1" fmla="*/ 0 h 1745"/>
                  <a:gd name="T2" fmla="*/ 2147483647 w 486"/>
                  <a:gd name="T3" fmla="*/ 2147483647 h 1745"/>
                  <a:gd name="T4" fmla="*/ 2147483647 w 486"/>
                  <a:gd name="T5" fmla="*/ 2147483647 h 1745"/>
                  <a:gd name="T6" fmla="*/ 2147483647 w 486"/>
                  <a:gd name="T7" fmla="*/ 2147483647 h 1745"/>
                  <a:gd name="T8" fmla="*/ 2147483647 w 486"/>
                  <a:gd name="T9" fmla="*/ 2147483647 h 1745"/>
                  <a:gd name="T10" fmla="*/ 2147483647 w 486"/>
                  <a:gd name="T11" fmla="*/ 2147483647 h 17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86"/>
                  <a:gd name="T19" fmla="*/ 0 h 1745"/>
                  <a:gd name="T20" fmla="*/ 486 w 486"/>
                  <a:gd name="T21" fmla="*/ 1745 h 17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86" h="1745">
                    <a:moveTo>
                      <a:pt x="315" y="0"/>
                    </a:moveTo>
                    <a:cubicBezTo>
                      <a:pt x="288" y="24"/>
                      <a:pt x="296" y="71"/>
                      <a:pt x="247" y="143"/>
                    </a:cubicBezTo>
                    <a:cubicBezTo>
                      <a:pt x="198" y="215"/>
                      <a:pt x="0" y="316"/>
                      <a:pt x="21" y="430"/>
                    </a:cubicBezTo>
                    <a:cubicBezTo>
                      <a:pt x="32" y="597"/>
                      <a:pt x="205" y="686"/>
                      <a:pt x="282" y="827"/>
                    </a:cubicBezTo>
                    <a:cubicBezTo>
                      <a:pt x="334" y="941"/>
                      <a:pt x="390" y="962"/>
                      <a:pt x="424" y="1115"/>
                    </a:cubicBezTo>
                    <a:cubicBezTo>
                      <a:pt x="458" y="1268"/>
                      <a:pt x="461" y="1640"/>
                      <a:pt x="486" y="1745"/>
                    </a:cubicBezTo>
                  </a:path>
                </a:pathLst>
              </a:custGeom>
              <a:noFill/>
              <a:ln w="12700">
                <a:solidFill>
                  <a:srgbClr val="FF0000"/>
                </a:solidFill>
                <a:round/>
                <a:headEnd type="none" w="lg" len="lg"/>
                <a:tailEnd type="none" w="lg" len="lg"/>
              </a:ln>
              <a:effectLst>
                <a:prstShdw prst="shdw17" dist="17961" dir="2700000">
                  <a:srgbClr val="990000">
                    <a:alpha val="74997"/>
                  </a:srgbClr>
                </a:prstShdw>
              </a:effectLst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endParaRPr lang="en-AU">
                  <a:latin typeface="Times New Roman" pitchFamily="-28" charset="0"/>
                </a:endParaRPr>
              </a:p>
            </p:txBody>
          </p:sp>
        </p:grpSp>
        <p:sp>
          <p:nvSpPr>
            <p:cNvPr id="46095" name="Freeform 9"/>
            <p:cNvSpPr>
              <a:spLocks/>
            </p:cNvSpPr>
            <p:nvPr/>
          </p:nvSpPr>
          <p:spPr bwMode="auto">
            <a:xfrm flipV="1">
              <a:off x="4500562" y="3071810"/>
              <a:ext cx="714375" cy="176213"/>
            </a:xfrm>
            <a:custGeom>
              <a:avLst/>
              <a:gdLst>
                <a:gd name="T0" fmla="*/ 2147483647 w 456"/>
                <a:gd name="T1" fmla="*/ 0 h 96"/>
                <a:gd name="T2" fmla="*/ 0 w 456"/>
                <a:gd name="T3" fmla="*/ 2147483647 h 96"/>
                <a:gd name="T4" fmla="*/ 0 60000 65536"/>
                <a:gd name="T5" fmla="*/ 0 60000 65536"/>
                <a:gd name="T6" fmla="*/ 0 w 456"/>
                <a:gd name="T7" fmla="*/ 0 h 96"/>
                <a:gd name="T8" fmla="*/ 456 w 456"/>
                <a:gd name="T9" fmla="*/ 96 h 9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6" h="96">
                  <a:moveTo>
                    <a:pt x="456" y="0"/>
                  </a:moveTo>
                  <a:lnTo>
                    <a:pt x="0" y="96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46096" name="Freeform 9"/>
            <p:cNvSpPr>
              <a:spLocks/>
            </p:cNvSpPr>
            <p:nvPr/>
          </p:nvSpPr>
          <p:spPr bwMode="auto">
            <a:xfrm rot="9742484" flipH="1" flipV="1">
              <a:off x="4464489" y="2503705"/>
              <a:ext cx="543600" cy="317875"/>
            </a:xfrm>
            <a:custGeom>
              <a:avLst/>
              <a:gdLst>
                <a:gd name="T0" fmla="*/ 2147483647 w 456"/>
                <a:gd name="T1" fmla="*/ 0 h 96"/>
                <a:gd name="T2" fmla="*/ 0 w 456"/>
                <a:gd name="T3" fmla="*/ 2147483647 h 96"/>
                <a:gd name="T4" fmla="*/ 0 60000 65536"/>
                <a:gd name="T5" fmla="*/ 0 60000 65536"/>
                <a:gd name="T6" fmla="*/ 0 w 456"/>
                <a:gd name="T7" fmla="*/ 0 h 96"/>
                <a:gd name="T8" fmla="*/ 456 w 456"/>
                <a:gd name="T9" fmla="*/ 96 h 9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6" h="96">
                  <a:moveTo>
                    <a:pt x="456" y="0"/>
                  </a:moveTo>
                  <a:lnTo>
                    <a:pt x="0" y="96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sp>
        <p:nvSpPr>
          <p:cNvPr id="46093" name="Rectangle 23"/>
          <p:cNvSpPr>
            <a:spLocks noChangeArrowheads="1"/>
          </p:cNvSpPr>
          <p:nvPr/>
        </p:nvSpPr>
        <p:spPr bwMode="auto">
          <a:xfrm>
            <a:off x="3962400" y="609600"/>
            <a:ext cx="12112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000" b="0">
                <a:solidFill>
                  <a:srgbClr val="000000"/>
                </a:solidFill>
                <a:latin typeface="Calibri" pitchFamily="-28" charset="0"/>
              </a:rPr>
              <a:t>총알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10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Freeform 24"/>
          <p:cNvSpPr>
            <a:spLocks/>
          </p:cNvSpPr>
          <p:nvPr/>
        </p:nvSpPr>
        <p:spPr bwMode="auto">
          <a:xfrm>
            <a:off x="4429125" y="3071813"/>
            <a:ext cx="3175" cy="912812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7109" name="Freeform 24"/>
          <p:cNvSpPr>
            <a:spLocks/>
          </p:cNvSpPr>
          <p:nvPr/>
        </p:nvSpPr>
        <p:spPr bwMode="auto">
          <a:xfrm>
            <a:off x="4429125" y="2000250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7110" name="Freeform 24"/>
          <p:cNvSpPr>
            <a:spLocks/>
          </p:cNvSpPr>
          <p:nvPr/>
        </p:nvSpPr>
        <p:spPr bwMode="auto">
          <a:xfrm>
            <a:off x="4429125" y="4143375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7111" name="Freeform 24"/>
          <p:cNvSpPr>
            <a:spLocks/>
          </p:cNvSpPr>
          <p:nvPr/>
        </p:nvSpPr>
        <p:spPr bwMode="auto">
          <a:xfrm>
            <a:off x="7786688" y="1928813"/>
            <a:ext cx="3175" cy="324008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7112" name="Freeform 9"/>
          <p:cNvSpPr>
            <a:spLocks/>
          </p:cNvSpPr>
          <p:nvPr/>
        </p:nvSpPr>
        <p:spPr bwMode="auto">
          <a:xfrm flipV="1">
            <a:off x="4143375" y="4000500"/>
            <a:ext cx="714375" cy="176213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grpSp>
        <p:nvGrpSpPr>
          <p:cNvPr id="47113" name="Group 16"/>
          <p:cNvGrpSpPr>
            <a:grpSpLocks/>
          </p:cNvGrpSpPr>
          <p:nvPr/>
        </p:nvGrpSpPr>
        <p:grpSpPr bwMode="auto">
          <a:xfrm>
            <a:off x="1571625" y="3429000"/>
            <a:ext cx="285750" cy="307975"/>
            <a:chOff x="1928794" y="3357542"/>
            <a:chExt cx="284996" cy="308622"/>
          </a:xfrm>
        </p:grpSpPr>
        <p:sp>
          <p:nvSpPr>
            <p:cNvPr id="47122" name="Freeform 9"/>
            <p:cNvSpPr>
              <a:spLocks/>
            </p:cNvSpPr>
            <p:nvPr/>
          </p:nvSpPr>
          <p:spPr bwMode="auto">
            <a:xfrm flipV="1">
              <a:off x="1928794" y="3357542"/>
              <a:ext cx="284996" cy="142896"/>
            </a:xfrm>
            <a:custGeom>
              <a:avLst/>
              <a:gdLst>
                <a:gd name="T0" fmla="*/ 2147483647 w 182"/>
                <a:gd name="T1" fmla="*/ 2147483647 h 78"/>
                <a:gd name="T2" fmla="*/ 0 w 182"/>
                <a:gd name="T3" fmla="*/ 0 h 78"/>
                <a:gd name="T4" fmla="*/ 0 60000 65536"/>
                <a:gd name="T5" fmla="*/ 0 60000 65536"/>
                <a:gd name="T6" fmla="*/ 0 w 182"/>
                <a:gd name="T7" fmla="*/ 0 h 78"/>
                <a:gd name="T8" fmla="*/ 182 w 182"/>
                <a:gd name="T9" fmla="*/ 78 h 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78">
                  <a:moveTo>
                    <a:pt x="182" y="7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47123" name="Freeform 9"/>
            <p:cNvSpPr>
              <a:spLocks/>
            </p:cNvSpPr>
            <p:nvPr/>
          </p:nvSpPr>
          <p:spPr bwMode="auto">
            <a:xfrm>
              <a:off x="1928794" y="3500438"/>
              <a:ext cx="214314" cy="165726"/>
            </a:xfrm>
            <a:custGeom>
              <a:avLst/>
              <a:gdLst>
                <a:gd name="T0" fmla="*/ 2147483647 w 182"/>
                <a:gd name="T1" fmla="*/ 2147483647 h 42"/>
                <a:gd name="T2" fmla="*/ 0 w 182"/>
                <a:gd name="T3" fmla="*/ 0 h 42"/>
                <a:gd name="T4" fmla="*/ 0 60000 65536"/>
                <a:gd name="T5" fmla="*/ 0 60000 65536"/>
                <a:gd name="T6" fmla="*/ 0 w 182"/>
                <a:gd name="T7" fmla="*/ 0 h 42"/>
                <a:gd name="T8" fmla="*/ 182 w 182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42">
                  <a:moveTo>
                    <a:pt x="182" y="4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47124" name="Freeform 9"/>
            <p:cNvSpPr>
              <a:spLocks/>
            </p:cNvSpPr>
            <p:nvPr/>
          </p:nvSpPr>
          <p:spPr bwMode="auto">
            <a:xfrm>
              <a:off x="1928794" y="3500438"/>
              <a:ext cx="266704" cy="23675"/>
            </a:xfrm>
            <a:custGeom>
              <a:avLst/>
              <a:gdLst>
                <a:gd name="T0" fmla="*/ 2147483647 w 182"/>
                <a:gd name="T1" fmla="*/ 2147483647 h 6"/>
                <a:gd name="T2" fmla="*/ 0 w 182"/>
                <a:gd name="T3" fmla="*/ 0 h 6"/>
                <a:gd name="T4" fmla="*/ 0 60000 65536"/>
                <a:gd name="T5" fmla="*/ 0 60000 65536"/>
                <a:gd name="T6" fmla="*/ 0 w 182"/>
                <a:gd name="T7" fmla="*/ 0 h 6"/>
                <a:gd name="T8" fmla="*/ 182 w 182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6">
                  <a:moveTo>
                    <a:pt x="182" y="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sp>
        <p:nvSpPr>
          <p:cNvPr id="47114" name="Freeform 24"/>
          <p:cNvSpPr>
            <a:spLocks/>
          </p:cNvSpPr>
          <p:nvPr/>
        </p:nvSpPr>
        <p:spPr bwMode="auto">
          <a:xfrm>
            <a:off x="4500563" y="2786063"/>
            <a:ext cx="3175" cy="339725"/>
          </a:xfrm>
          <a:custGeom>
            <a:avLst/>
            <a:gdLst>
              <a:gd name="T0" fmla="*/ 0 w 2"/>
              <a:gd name="T1" fmla="*/ 2147483647 h 214"/>
              <a:gd name="T2" fmla="*/ 2147483647 w 2"/>
              <a:gd name="T3" fmla="*/ 2147483647 h 214"/>
              <a:gd name="T4" fmla="*/ 0 60000 65536"/>
              <a:gd name="T5" fmla="*/ 0 60000 65536"/>
              <a:gd name="T6" fmla="*/ 0 w 2"/>
              <a:gd name="T7" fmla="*/ 0 h 214"/>
              <a:gd name="T8" fmla="*/ 2 w 2"/>
              <a:gd name="T9" fmla="*/ 214 h 2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214">
                <a:moveTo>
                  <a:pt x="0" y="192"/>
                </a:moveTo>
                <a:cubicBezTo>
                  <a:pt x="1" y="0"/>
                  <a:pt x="1" y="214"/>
                  <a:pt x="2" y="22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7115" name="Freeform 9"/>
          <p:cNvSpPr>
            <a:spLocks/>
          </p:cNvSpPr>
          <p:nvPr/>
        </p:nvSpPr>
        <p:spPr bwMode="auto">
          <a:xfrm>
            <a:off x="6572250" y="2143125"/>
            <a:ext cx="857250" cy="3197225"/>
          </a:xfrm>
          <a:custGeom>
            <a:avLst/>
            <a:gdLst>
              <a:gd name="T0" fmla="*/ 2147483647 w 547"/>
              <a:gd name="T1" fmla="*/ 0 h 1745"/>
              <a:gd name="T2" fmla="*/ 2147483647 w 547"/>
              <a:gd name="T3" fmla="*/ 2147483647 h 1745"/>
              <a:gd name="T4" fmla="*/ 2147483647 w 547"/>
              <a:gd name="T5" fmla="*/ 2147483647 h 1745"/>
              <a:gd name="T6" fmla="*/ 2147483647 w 547"/>
              <a:gd name="T7" fmla="*/ 2147483647 h 1745"/>
              <a:gd name="T8" fmla="*/ 2147483647 w 547"/>
              <a:gd name="T9" fmla="*/ 2147483647 h 1745"/>
              <a:gd name="T10" fmla="*/ 2147483647 w 547"/>
              <a:gd name="T11" fmla="*/ 2147483647 h 174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47"/>
              <a:gd name="T19" fmla="*/ 0 h 1745"/>
              <a:gd name="T20" fmla="*/ 547 w 547"/>
              <a:gd name="T21" fmla="*/ 1745 h 174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47" h="1745">
                <a:moveTo>
                  <a:pt x="521" y="0"/>
                </a:moveTo>
                <a:cubicBezTo>
                  <a:pt x="547" y="35"/>
                  <a:pt x="518" y="39"/>
                  <a:pt x="507" y="169"/>
                </a:cubicBezTo>
                <a:cubicBezTo>
                  <a:pt x="507" y="275"/>
                  <a:pt x="450" y="489"/>
                  <a:pt x="409" y="664"/>
                </a:cubicBezTo>
                <a:cubicBezTo>
                  <a:pt x="420" y="831"/>
                  <a:pt x="0" y="1076"/>
                  <a:pt x="77" y="1217"/>
                </a:cubicBezTo>
                <a:cubicBezTo>
                  <a:pt x="129" y="1331"/>
                  <a:pt x="337" y="1417"/>
                  <a:pt x="402" y="1505"/>
                </a:cubicBezTo>
                <a:cubicBezTo>
                  <a:pt x="467" y="1593"/>
                  <a:pt x="439" y="1640"/>
                  <a:pt x="464" y="1745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47116" name="Picture 4" descr="C:\Documents and Settings\Jeong\Desktop\bw0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3" y="3500438"/>
            <a:ext cx="1000125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7117" name="Group 17"/>
          <p:cNvGrpSpPr>
            <a:grpSpLocks/>
          </p:cNvGrpSpPr>
          <p:nvPr/>
        </p:nvGrpSpPr>
        <p:grpSpPr bwMode="auto">
          <a:xfrm>
            <a:off x="4000500" y="2500313"/>
            <a:ext cx="446088" cy="2000250"/>
            <a:chOff x="4000496" y="2500306"/>
            <a:chExt cx="446088" cy="2000262"/>
          </a:xfrm>
        </p:grpSpPr>
        <p:sp>
          <p:nvSpPr>
            <p:cNvPr id="47121" name="Freeform 24"/>
            <p:cNvSpPr>
              <a:spLocks/>
            </p:cNvSpPr>
            <p:nvPr/>
          </p:nvSpPr>
          <p:spPr bwMode="auto">
            <a:xfrm>
              <a:off x="4429125" y="3071813"/>
              <a:ext cx="3175" cy="912812"/>
            </a:xfrm>
            <a:custGeom>
              <a:avLst/>
              <a:gdLst>
                <a:gd name="T0" fmla="*/ 0 w 2"/>
                <a:gd name="T1" fmla="*/ 2147483647 h 575"/>
                <a:gd name="T2" fmla="*/ 2147483647 w 2"/>
                <a:gd name="T3" fmla="*/ 0 h 575"/>
                <a:gd name="T4" fmla="*/ 0 60000 65536"/>
                <a:gd name="T5" fmla="*/ 0 60000 65536"/>
                <a:gd name="T6" fmla="*/ 0 w 2"/>
                <a:gd name="T7" fmla="*/ 0 h 575"/>
                <a:gd name="T8" fmla="*/ 2 w 2"/>
                <a:gd name="T9" fmla="*/ 575 h 5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5">
                  <a:moveTo>
                    <a:pt x="0" y="575"/>
                  </a:moveTo>
                  <a:lnTo>
                    <a:pt x="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graphicFrame>
          <p:nvGraphicFramePr>
            <p:cNvPr id="47106" name="Object 3"/>
            <p:cNvGraphicFramePr>
              <a:graphicFrameLocks noChangeAspect="1"/>
            </p:cNvGraphicFramePr>
            <p:nvPr/>
          </p:nvGraphicFramePr>
          <p:xfrm>
            <a:off x="4071934" y="2500306"/>
            <a:ext cx="241300" cy="338137"/>
          </p:xfrm>
          <a:graphic>
            <a:graphicData uri="http://schemas.openxmlformats.org/presentationml/2006/ole">
              <p:oleObj spid="_x0000_s47106" name="Equation" r:id="rId4" imgW="88560" imgH="164880" progId="Equation.DSMT4">
                <p:embed/>
              </p:oleObj>
            </a:graphicData>
          </a:graphic>
        </p:graphicFrame>
        <p:graphicFrame>
          <p:nvGraphicFramePr>
            <p:cNvPr id="47107" name="Object 19"/>
            <p:cNvGraphicFramePr>
              <a:graphicFrameLocks noChangeAspect="1"/>
            </p:cNvGraphicFramePr>
            <p:nvPr/>
          </p:nvGraphicFramePr>
          <p:xfrm>
            <a:off x="4000496" y="4143380"/>
            <a:ext cx="446088" cy="357188"/>
          </p:xfrm>
          <a:graphic>
            <a:graphicData uri="http://schemas.openxmlformats.org/presentationml/2006/ole">
              <p:oleObj spid="_x0000_s47107" name="Equation" r:id="rId5" imgW="126720" imgH="164880" progId="Equation.DSMT4">
                <p:embed/>
              </p:oleObj>
            </a:graphicData>
          </a:graphic>
        </p:graphicFrame>
      </p:grpSp>
      <p:sp>
        <p:nvSpPr>
          <p:cNvPr id="47118" name="Freeform 9"/>
          <p:cNvSpPr>
            <a:spLocks/>
          </p:cNvSpPr>
          <p:nvPr/>
        </p:nvSpPr>
        <p:spPr bwMode="auto">
          <a:xfrm rot="1048545" flipV="1">
            <a:off x="4533900" y="4294188"/>
            <a:ext cx="571500" cy="306387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7119" name="Freeform 9"/>
          <p:cNvSpPr>
            <a:spLocks/>
          </p:cNvSpPr>
          <p:nvPr/>
        </p:nvSpPr>
        <p:spPr bwMode="auto">
          <a:xfrm rot="9119726" flipH="1">
            <a:off x="4603750" y="3790950"/>
            <a:ext cx="703263" cy="307975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7120" name="Rectangle 20"/>
          <p:cNvSpPr>
            <a:spLocks noChangeArrowheads="1"/>
          </p:cNvSpPr>
          <p:nvPr/>
        </p:nvSpPr>
        <p:spPr bwMode="auto">
          <a:xfrm>
            <a:off x="3962400" y="609600"/>
            <a:ext cx="12112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000" b="0">
                <a:solidFill>
                  <a:srgbClr val="000000"/>
                </a:solidFill>
                <a:latin typeface="Calibri" pitchFamily="-28" charset="0"/>
              </a:rPr>
              <a:t>총알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Freeform 24"/>
          <p:cNvSpPr>
            <a:spLocks/>
          </p:cNvSpPr>
          <p:nvPr/>
        </p:nvSpPr>
        <p:spPr bwMode="auto">
          <a:xfrm>
            <a:off x="4429125" y="3071813"/>
            <a:ext cx="3175" cy="912812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8133" name="Freeform 24"/>
          <p:cNvSpPr>
            <a:spLocks/>
          </p:cNvSpPr>
          <p:nvPr/>
        </p:nvSpPr>
        <p:spPr bwMode="auto">
          <a:xfrm>
            <a:off x="4429125" y="2000250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8134" name="Freeform 24"/>
          <p:cNvSpPr>
            <a:spLocks/>
          </p:cNvSpPr>
          <p:nvPr/>
        </p:nvSpPr>
        <p:spPr bwMode="auto">
          <a:xfrm>
            <a:off x="4429125" y="4143375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8135" name="Freeform 24"/>
          <p:cNvSpPr>
            <a:spLocks/>
          </p:cNvSpPr>
          <p:nvPr/>
        </p:nvSpPr>
        <p:spPr bwMode="auto">
          <a:xfrm>
            <a:off x="7786688" y="1928813"/>
            <a:ext cx="3175" cy="324008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8136" name="Freeform 9"/>
          <p:cNvSpPr>
            <a:spLocks/>
          </p:cNvSpPr>
          <p:nvPr/>
        </p:nvSpPr>
        <p:spPr bwMode="auto">
          <a:xfrm>
            <a:off x="4143375" y="2857500"/>
            <a:ext cx="709613" cy="234950"/>
          </a:xfrm>
          <a:custGeom>
            <a:avLst/>
            <a:gdLst>
              <a:gd name="T0" fmla="*/ 2147483647 w 453"/>
              <a:gd name="T1" fmla="*/ 0 h 128"/>
              <a:gd name="T2" fmla="*/ 0 w 453"/>
              <a:gd name="T3" fmla="*/ 2147483647 h 128"/>
              <a:gd name="T4" fmla="*/ 0 60000 65536"/>
              <a:gd name="T5" fmla="*/ 0 60000 65536"/>
              <a:gd name="T6" fmla="*/ 0 w 453"/>
              <a:gd name="T7" fmla="*/ 0 h 128"/>
              <a:gd name="T8" fmla="*/ 453 w 453"/>
              <a:gd name="T9" fmla="*/ 128 h 1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3" h="128">
                <a:moveTo>
                  <a:pt x="453" y="0"/>
                </a:moveTo>
                <a:cubicBezTo>
                  <a:pt x="385" y="22"/>
                  <a:pt x="257" y="61"/>
                  <a:pt x="0" y="128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8137" name="Freeform 9"/>
          <p:cNvSpPr>
            <a:spLocks/>
          </p:cNvSpPr>
          <p:nvPr/>
        </p:nvSpPr>
        <p:spPr bwMode="auto">
          <a:xfrm flipV="1">
            <a:off x="4143375" y="4000500"/>
            <a:ext cx="714375" cy="176213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grpSp>
        <p:nvGrpSpPr>
          <p:cNvPr id="48138" name="Group 16"/>
          <p:cNvGrpSpPr>
            <a:grpSpLocks/>
          </p:cNvGrpSpPr>
          <p:nvPr/>
        </p:nvGrpSpPr>
        <p:grpSpPr bwMode="auto">
          <a:xfrm>
            <a:off x="1571625" y="3429000"/>
            <a:ext cx="285750" cy="307975"/>
            <a:chOff x="1928794" y="3357542"/>
            <a:chExt cx="284996" cy="308622"/>
          </a:xfrm>
        </p:grpSpPr>
        <p:sp>
          <p:nvSpPr>
            <p:cNvPr id="48148" name="Freeform 9"/>
            <p:cNvSpPr>
              <a:spLocks/>
            </p:cNvSpPr>
            <p:nvPr/>
          </p:nvSpPr>
          <p:spPr bwMode="auto">
            <a:xfrm flipV="1">
              <a:off x="1928794" y="3357542"/>
              <a:ext cx="284996" cy="142896"/>
            </a:xfrm>
            <a:custGeom>
              <a:avLst/>
              <a:gdLst>
                <a:gd name="T0" fmla="*/ 2147483647 w 182"/>
                <a:gd name="T1" fmla="*/ 2147483647 h 78"/>
                <a:gd name="T2" fmla="*/ 0 w 182"/>
                <a:gd name="T3" fmla="*/ 0 h 78"/>
                <a:gd name="T4" fmla="*/ 0 60000 65536"/>
                <a:gd name="T5" fmla="*/ 0 60000 65536"/>
                <a:gd name="T6" fmla="*/ 0 w 182"/>
                <a:gd name="T7" fmla="*/ 0 h 78"/>
                <a:gd name="T8" fmla="*/ 182 w 182"/>
                <a:gd name="T9" fmla="*/ 78 h 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78">
                  <a:moveTo>
                    <a:pt x="182" y="7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48149" name="Freeform 9"/>
            <p:cNvSpPr>
              <a:spLocks/>
            </p:cNvSpPr>
            <p:nvPr/>
          </p:nvSpPr>
          <p:spPr bwMode="auto">
            <a:xfrm>
              <a:off x="1928794" y="3500438"/>
              <a:ext cx="214314" cy="165726"/>
            </a:xfrm>
            <a:custGeom>
              <a:avLst/>
              <a:gdLst>
                <a:gd name="T0" fmla="*/ 2147483647 w 182"/>
                <a:gd name="T1" fmla="*/ 2147483647 h 42"/>
                <a:gd name="T2" fmla="*/ 0 w 182"/>
                <a:gd name="T3" fmla="*/ 0 h 42"/>
                <a:gd name="T4" fmla="*/ 0 60000 65536"/>
                <a:gd name="T5" fmla="*/ 0 60000 65536"/>
                <a:gd name="T6" fmla="*/ 0 w 182"/>
                <a:gd name="T7" fmla="*/ 0 h 42"/>
                <a:gd name="T8" fmla="*/ 182 w 182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42">
                  <a:moveTo>
                    <a:pt x="182" y="4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48150" name="Freeform 9"/>
            <p:cNvSpPr>
              <a:spLocks/>
            </p:cNvSpPr>
            <p:nvPr/>
          </p:nvSpPr>
          <p:spPr bwMode="auto">
            <a:xfrm>
              <a:off x="1928794" y="3500438"/>
              <a:ext cx="266704" cy="23675"/>
            </a:xfrm>
            <a:custGeom>
              <a:avLst/>
              <a:gdLst>
                <a:gd name="T0" fmla="*/ 2147483647 w 182"/>
                <a:gd name="T1" fmla="*/ 2147483647 h 6"/>
                <a:gd name="T2" fmla="*/ 0 w 182"/>
                <a:gd name="T3" fmla="*/ 0 h 6"/>
                <a:gd name="T4" fmla="*/ 0 60000 65536"/>
                <a:gd name="T5" fmla="*/ 0 60000 65536"/>
                <a:gd name="T6" fmla="*/ 0 w 182"/>
                <a:gd name="T7" fmla="*/ 0 h 6"/>
                <a:gd name="T8" fmla="*/ 182 w 182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6">
                  <a:moveTo>
                    <a:pt x="182" y="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sp>
        <p:nvSpPr>
          <p:cNvPr id="48139" name="Freeform 9"/>
          <p:cNvSpPr>
            <a:spLocks/>
          </p:cNvSpPr>
          <p:nvPr/>
        </p:nvSpPr>
        <p:spPr bwMode="auto">
          <a:xfrm>
            <a:off x="6643688" y="2143125"/>
            <a:ext cx="592137" cy="3054350"/>
          </a:xfrm>
          <a:custGeom>
            <a:avLst/>
            <a:gdLst>
              <a:gd name="T0" fmla="*/ 2147483647 w 378"/>
              <a:gd name="T1" fmla="*/ 0 h 1667"/>
              <a:gd name="T2" fmla="*/ 2147483647 w 378"/>
              <a:gd name="T3" fmla="*/ 2147483647 h 1667"/>
              <a:gd name="T4" fmla="*/ 0 w 378"/>
              <a:gd name="T5" fmla="*/ 2147483647 h 1667"/>
              <a:gd name="T6" fmla="*/ 2147483647 w 378"/>
              <a:gd name="T7" fmla="*/ 2147483647 h 1667"/>
              <a:gd name="T8" fmla="*/ 2147483647 w 378"/>
              <a:gd name="T9" fmla="*/ 2147483647 h 16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8"/>
              <a:gd name="T16" fmla="*/ 0 h 1667"/>
              <a:gd name="T17" fmla="*/ 378 w 378"/>
              <a:gd name="T18" fmla="*/ 1667 h 16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8" h="1667">
                <a:moveTo>
                  <a:pt x="340" y="0"/>
                </a:moveTo>
                <a:cubicBezTo>
                  <a:pt x="309" y="30"/>
                  <a:pt x="254" y="197"/>
                  <a:pt x="197" y="334"/>
                </a:cubicBezTo>
                <a:cubicBezTo>
                  <a:pt x="140" y="471"/>
                  <a:pt x="14" y="698"/>
                  <a:pt x="0" y="820"/>
                </a:cubicBezTo>
                <a:cubicBezTo>
                  <a:pt x="11" y="987"/>
                  <a:pt x="184" y="1193"/>
                  <a:pt x="261" y="1334"/>
                </a:cubicBezTo>
                <a:cubicBezTo>
                  <a:pt x="260" y="1398"/>
                  <a:pt x="378" y="1631"/>
                  <a:pt x="374" y="1667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48140" name="Picture 4" descr="C:\Documents and Settings\Jeong\Desktop\bw0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3" y="3500438"/>
            <a:ext cx="1000125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8141" name="Group 17"/>
          <p:cNvGrpSpPr>
            <a:grpSpLocks/>
          </p:cNvGrpSpPr>
          <p:nvPr/>
        </p:nvGrpSpPr>
        <p:grpSpPr bwMode="auto">
          <a:xfrm>
            <a:off x="4000500" y="2500313"/>
            <a:ext cx="446088" cy="2000250"/>
            <a:chOff x="4000496" y="2500306"/>
            <a:chExt cx="446088" cy="2000262"/>
          </a:xfrm>
        </p:grpSpPr>
        <p:sp>
          <p:nvSpPr>
            <p:cNvPr id="48147" name="Freeform 24"/>
            <p:cNvSpPr>
              <a:spLocks/>
            </p:cNvSpPr>
            <p:nvPr/>
          </p:nvSpPr>
          <p:spPr bwMode="auto">
            <a:xfrm>
              <a:off x="4429125" y="3071813"/>
              <a:ext cx="3175" cy="912812"/>
            </a:xfrm>
            <a:custGeom>
              <a:avLst/>
              <a:gdLst>
                <a:gd name="T0" fmla="*/ 0 w 2"/>
                <a:gd name="T1" fmla="*/ 2147483647 h 575"/>
                <a:gd name="T2" fmla="*/ 2147483647 w 2"/>
                <a:gd name="T3" fmla="*/ 0 h 575"/>
                <a:gd name="T4" fmla="*/ 0 60000 65536"/>
                <a:gd name="T5" fmla="*/ 0 60000 65536"/>
                <a:gd name="T6" fmla="*/ 0 w 2"/>
                <a:gd name="T7" fmla="*/ 0 h 575"/>
                <a:gd name="T8" fmla="*/ 2 w 2"/>
                <a:gd name="T9" fmla="*/ 575 h 5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5">
                  <a:moveTo>
                    <a:pt x="0" y="575"/>
                  </a:moveTo>
                  <a:lnTo>
                    <a:pt x="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graphicFrame>
          <p:nvGraphicFramePr>
            <p:cNvPr id="48130" name="Object 3"/>
            <p:cNvGraphicFramePr>
              <a:graphicFrameLocks noChangeAspect="1"/>
            </p:cNvGraphicFramePr>
            <p:nvPr/>
          </p:nvGraphicFramePr>
          <p:xfrm>
            <a:off x="4071934" y="2500306"/>
            <a:ext cx="241300" cy="338137"/>
          </p:xfrm>
          <a:graphic>
            <a:graphicData uri="http://schemas.openxmlformats.org/presentationml/2006/ole">
              <p:oleObj spid="_x0000_s48130" name="Equation" r:id="rId4" imgW="88560" imgH="164880" progId="Equation.DSMT4">
                <p:embed/>
              </p:oleObj>
            </a:graphicData>
          </a:graphic>
        </p:graphicFrame>
        <p:graphicFrame>
          <p:nvGraphicFramePr>
            <p:cNvPr id="48131" name="Object 19"/>
            <p:cNvGraphicFramePr>
              <a:graphicFrameLocks noChangeAspect="1"/>
            </p:cNvGraphicFramePr>
            <p:nvPr/>
          </p:nvGraphicFramePr>
          <p:xfrm>
            <a:off x="4000496" y="4143380"/>
            <a:ext cx="446088" cy="357188"/>
          </p:xfrm>
          <a:graphic>
            <a:graphicData uri="http://schemas.openxmlformats.org/presentationml/2006/ole">
              <p:oleObj spid="_x0000_s48131" name="Equation" r:id="rId5" imgW="126720" imgH="164880" progId="Equation.DSMT4">
                <p:embed/>
              </p:oleObj>
            </a:graphicData>
          </a:graphic>
        </p:graphicFrame>
      </p:grpSp>
      <p:sp>
        <p:nvSpPr>
          <p:cNvPr id="48142" name="Freeform 9"/>
          <p:cNvSpPr>
            <a:spLocks/>
          </p:cNvSpPr>
          <p:nvPr/>
        </p:nvSpPr>
        <p:spPr bwMode="auto">
          <a:xfrm rot="1048545" flipV="1">
            <a:off x="4533900" y="4294188"/>
            <a:ext cx="571500" cy="306387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8143" name="Freeform 9"/>
          <p:cNvSpPr>
            <a:spLocks/>
          </p:cNvSpPr>
          <p:nvPr/>
        </p:nvSpPr>
        <p:spPr bwMode="auto">
          <a:xfrm rot="9119726" flipH="1">
            <a:off x="4603750" y="3790950"/>
            <a:ext cx="703263" cy="307975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8144" name="Freeform 9"/>
          <p:cNvSpPr>
            <a:spLocks/>
          </p:cNvSpPr>
          <p:nvPr/>
        </p:nvSpPr>
        <p:spPr bwMode="auto">
          <a:xfrm flipV="1">
            <a:off x="4500563" y="3071813"/>
            <a:ext cx="714375" cy="176212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8145" name="Freeform 9"/>
          <p:cNvSpPr>
            <a:spLocks/>
          </p:cNvSpPr>
          <p:nvPr/>
        </p:nvSpPr>
        <p:spPr bwMode="auto">
          <a:xfrm rot="9742484" flipH="1" flipV="1">
            <a:off x="4464050" y="2503488"/>
            <a:ext cx="544513" cy="317500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48146" name="Rectangle 22"/>
          <p:cNvSpPr>
            <a:spLocks noChangeArrowheads="1"/>
          </p:cNvSpPr>
          <p:nvPr/>
        </p:nvSpPr>
        <p:spPr bwMode="auto">
          <a:xfrm>
            <a:off x="3962400" y="609600"/>
            <a:ext cx="12112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000" b="0">
                <a:solidFill>
                  <a:srgbClr val="000000"/>
                </a:solidFill>
                <a:latin typeface="Calibri" pitchFamily="-28" charset="0"/>
              </a:rPr>
              <a:t>총알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ea typeface="Gulim" pitchFamily="-28" charset="-127"/>
                <a:cs typeface="Gulim" pitchFamily="-28" charset="-127"/>
              </a:rPr>
              <a:t>미시적인 입자를 사용한다면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?</a:t>
            </a:r>
          </a:p>
        </p:txBody>
      </p:sp>
      <p:pic>
        <p:nvPicPr>
          <p:cNvPr id="49155" name="Picture 4" descr="C:\Documents and Settings\Jeong\Desktop\images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2571750" y="2214563"/>
            <a:ext cx="4603750" cy="3357562"/>
          </a:xfr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Freeform 24"/>
          <p:cNvSpPr>
            <a:spLocks/>
          </p:cNvSpPr>
          <p:nvPr/>
        </p:nvSpPr>
        <p:spPr bwMode="auto">
          <a:xfrm>
            <a:off x="4429125" y="3071813"/>
            <a:ext cx="3175" cy="912812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0181" name="Freeform 24"/>
          <p:cNvSpPr>
            <a:spLocks/>
          </p:cNvSpPr>
          <p:nvPr/>
        </p:nvSpPr>
        <p:spPr bwMode="auto">
          <a:xfrm>
            <a:off x="4429125" y="2000250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0182" name="Freeform 24"/>
          <p:cNvSpPr>
            <a:spLocks/>
          </p:cNvSpPr>
          <p:nvPr/>
        </p:nvSpPr>
        <p:spPr bwMode="auto">
          <a:xfrm>
            <a:off x="4429125" y="4143375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0183" name="Freeform 24"/>
          <p:cNvSpPr>
            <a:spLocks/>
          </p:cNvSpPr>
          <p:nvPr/>
        </p:nvSpPr>
        <p:spPr bwMode="auto">
          <a:xfrm>
            <a:off x="7786688" y="1928813"/>
            <a:ext cx="3175" cy="324008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0184" name="Freeform 9"/>
          <p:cNvSpPr>
            <a:spLocks/>
          </p:cNvSpPr>
          <p:nvPr/>
        </p:nvSpPr>
        <p:spPr bwMode="auto">
          <a:xfrm>
            <a:off x="4143375" y="2857500"/>
            <a:ext cx="709613" cy="234950"/>
          </a:xfrm>
          <a:custGeom>
            <a:avLst/>
            <a:gdLst>
              <a:gd name="T0" fmla="*/ 2147483647 w 453"/>
              <a:gd name="T1" fmla="*/ 0 h 128"/>
              <a:gd name="T2" fmla="*/ 0 w 453"/>
              <a:gd name="T3" fmla="*/ 2147483647 h 128"/>
              <a:gd name="T4" fmla="*/ 0 60000 65536"/>
              <a:gd name="T5" fmla="*/ 0 60000 65536"/>
              <a:gd name="T6" fmla="*/ 0 w 453"/>
              <a:gd name="T7" fmla="*/ 0 h 128"/>
              <a:gd name="T8" fmla="*/ 453 w 453"/>
              <a:gd name="T9" fmla="*/ 128 h 1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3" h="128">
                <a:moveTo>
                  <a:pt x="453" y="0"/>
                </a:moveTo>
                <a:cubicBezTo>
                  <a:pt x="385" y="22"/>
                  <a:pt x="257" y="61"/>
                  <a:pt x="0" y="128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0185" name="Freeform 24"/>
          <p:cNvSpPr>
            <a:spLocks/>
          </p:cNvSpPr>
          <p:nvPr/>
        </p:nvSpPr>
        <p:spPr bwMode="auto">
          <a:xfrm>
            <a:off x="4500563" y="3857625"/>
            <a:ext cx="3175" cy="339725"/>
          </a:xfrm>
          <a:custGeom>
            <a:avLst/>
            <a:gdLst>
              <a:gd name="T0" fmla="*/ 0 w 2"/>
              <a:gd name="T1" fmla="*/ 2147483647 h 214"/>
              <a:gd name="T2" fmla="*/ 2147483647 w 2"/>
              <a:gd name="T3" fmla="*/ 2147483647 h 214"/>
              <a:gd name="T4" fmla="*/ 0 60000 65536"/>
              <a:gd name="T5" fmla="*/ 0 60000 65536"/>
              <a:gd name="T6" fmla="*/ 0 w 2"/>
              <a:gd name="T7" fmla="*/ 0 h 214"/>
              <a:gd name="T8" fmla="*/ 2 w 2"/>
              <a:gd name="T9" fmla="*/ 214 h 2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214">
                <a:moveTo>
                  <a:pt x="0" y="192"/>
                </a:moveTo>
                <a:cubicBezTo>
                  <a:pt x="1" y="0"/>
                  <a:pt x="1" y="214"/>
                  <a:pt x="2" y="22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0186" name="Freeform 9"/>
          <p:cNvSpPr>
            <a:spLocks/>
          </p:cNvSpPr>
          <p:nvPr/>
        </p:nvSpPr>
        <p:spPr bwMode="auto">
          <a:xfrm>
            <a:off x="6715125" y="1928813"/>
            <a:ext cx="760413" cy="3197225"/>
          </a:xfrm>
          <a:custGeom>
            <a:avLst/>
            <a:gdLst>
              <a:gd name="T0" fmla="*/ 2147483647 w 486"/>
              <a:gd name="T1" fmla="*/ 0 h 1745"/>
              <a:gd name="T2" fmla="*/ 2147483647 w 486"/>
              <a:gd name="T3" fmla="*/ 2147483647 h 1745"/>
              <a:gd name="T4" fmla="*/ 2147483647 w 486"/>
              <a:gd name="T5" fmla="*/ 2147483647 h 1745"/>
              <a:gd name="T6" fmla="*/ 2147483647 w 486"/>
              <a:gd name="T7" fmla="*/ 2147483647 h 1745"/>
              <a:gd name="T8" fmla="*/ 2147483647 w 486"/>
              <a:gd name="T9" fmla="*/ 2147483647 h 1745"/>
              <a:gd name="T10" fmla="*/ 2147483647 w 486"/>
              <a:gd name="T11" fmla="*/ 2147483647 h 174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86"/>
              <a:gd name="T19" fmla="*/ 0 h 1745"/>
              <a:gd name="T20" fmla="*/ 486 w 486"/>
              <a:gd name="T21" fmla="*/ 1745 h 174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6" h="1745">
                <a:moveTo>
                  <a:pt x="315" y="0"/>
                </a:moveTo>
                <a:cubicBezTo>
                  <a:pt x="288" y="24"/>
                  <a:pt x="296" y="71"/>
                  <a:pt x="247" y="143"/>
                </a:cubicBezTo>
                <a:cubicBezTo>
                  <a:pt x="198" y="215"/>
                  <a:pt x="0" y="316"/>
                  <a:pt x="21" y="430"/>
                </a:cubicBezTo>
                <a:cubicBezTo>
                  <a:pt x="32" y="597"/>
                  <a:pt x="205" y="686"/>
                  <a:pt x="282" y="827"/>
                </a:cubicBezTo>
                <a:cubicBezTo>
                  <a:pt x="334" y="941"/>
                  <a:pt x="390" y="962"/>
                  <a:pt x="424" y="1115"/>
                </a:cubicBezTo>
                <a:cubicBezTo>
                  <a:pt x="458" y="1268"/>
                  <a:pt x="461" y="1640"/>
                  <a:pt x="486" y="1745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50187" name="Picture 4" descr="C:\Documents and Settings\Jeong\Desktop\image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8" y="3286125"/>
            <a:ext cx="12668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0188" name="Group 16"/>
          <p:cNvGrpSpPr>
            <a:grpSpLocks/>
          </p:cNvGrpSpPr>
          <p:nvPr/>
        </p:nvGrpSpPr>
        <p:grpSpPr bwMode="auto">
          <a:xfrm>
            <a:off x="1571625" y="3429000"/>
            <a:ext cx="285750" cy="307975"/>
            <a:chOff x="1928794" y="3357542"/>
            <a:chExt cx="284996" cy="308622"/>
          </a:xfrm>
        </p:grpSpPr>
        <p:sp>
          <p:nvSpPr>
            <p:cNvPr id="50194" name="Freeform 9"/>
            <p:cNvSpPr>
              <a:spLocks/>
            </p:cNvSpPr>
            <p:nvPr/>
          </p:nvSpPr>
          <p:spPr bwMode="auto">
            <a:xfrm flipV="1">
              <a:off x="1928794" y="3357542"/>
              <a:ext cx="284996" cy="142896"/>
            </a:xfrm>
            <a:custGeom>
              <a:avLst/>
              <a:gdLst>
                <a:gd name="T0" fmla="*/ 2147483647 w 182"/>
                <a:gd name="T1" fmla="*/ 2147483647 h 78"/>
                <a:gd name="T2" fmla="*/ 0 w 182"/>
                <a:gd name="T3" fmla="*/ 0 h 78"/>
                <a:gd name="T4" fmla="*/ 0 60000 65536"/>
                <a:gd name="T5" fmla="*/ 0 60000 65536"/>
                <a:gd name="T6" fmla="*/ 0 w 182"/>
                <a:gd name="T7" fmla="*/ 0 h 78"/>
                <a:gd name="T8" fmla="*/ 182 w 182"/>
                <a:gd name="T9" fmla="*/ 78 h 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78">
                  <a:moveTo>
                    <a:pt x="182" y="7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50195" name="Freeform 9"/>
            <p:cNvSpPr>
              <a:spLocks/>
            </p:cNvSpPr>
            <p:nvPr/>
          </p:nvSpPr>
          <p:spPr bwMode="auto">
            <a:xfrm>
              <a:off x="1928794" y="3500438"/>
              <a:ext cx="214314" cy="165726"/>
            </a:xfrm>
            <a:custGeom>
              <a:avLst/>
              <a:gdLst>
                <a:gd name="T0" fmla="*/ 2147483647 w 182"/>
                <a:gd name="T1" fmla="*/ 2147483647 h 42"/>
                <a:gd name="T2" fmla="*/ 0 w 182"/>
                <a:gd name="T3" fmla="*/ 0 h 42"/>
                <a:gd name="T4" fmla="*/ 0 60000 65536"/>
                <a:gd name="T5" fmla="*/ 0 60000 65536"/>
                <a:gd name="T6" fmla="*/ 0 w 182"/>
                <a:gd name="T7" fmla="*/ 0 h 42"/>
                <a:gd name="T8" fmla="*/ 182 w 182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42">
                  <a:moveTo>
                    <a:pt x="182" y="4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50196" name="Freeform 9"/>
            <p:cNvSpPr>
              <a:spLocks/>
            </p:cNvSpPr>
            <p:nvPr/>
          </p:nvSpPr>
          <p:spPr bwMode="auto">
            <a:xfrm>
              <a:off x="1928794" y="3500438"/>
              <a:ext cx="266704" cy="23675"/>
            </a:xfrm>
            <a:custGeom>
              <a:avLst/>
              <a:gdLst>
                <a:gd name="T0" fmla="*/ 2147483647 w 182"/>
                <a:gd name="T1" fmla="*/ 2147483647 h 6"/>
                <a:gd name="T2" fmla="*/ 0 w 182"/>
                <a:gd name="T3" fmla="*/ 0 h 6"/>
                <a:gd name="T4" fmla="*/ 0 60000 65536"/>
                <a:gd name="T5" fmla="*/ 0 60000 65536"/>
                <a:gd name="T6" fmla="*/ 0 w 182"/>
                <a:gd name="T7" fmla="*/ 0 h 6"/>
                <a:gd name="T8" fmla="*/ 182 w 182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6">
                  <a:moveTo>
                    <a:pt x="182" y="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grpSp>
        <p:nvGrpSpPr>
          <p:cNvPr id="50189" name="Group 14"/>
          <p:cNvGrpSpPr>
            <a:grpSpLocks/>
          </p:cNvGrpSpPr>
          <p:nvPr/>
        </p:nvGrpSpPr>
        <p:grpSpPr bwMode="auto">
          <a:xfrm>
            <a:off x="4000500" y="2500313"/>
            <a:ext cx="446088" cy="2000250"/>
            <a:chOff x="4000496" y="2500306"/>
            <a:chExt cx="446088" cy="2000262"/>
          </a:xfrm>
        </p:grpSpPr>
        <p:sp>
          <p:nvSpPr>
            <p:cNvPr id="50193" name="Freeform 24"/>
            <p:cNvSpPr>
              <a:spLocks/>
            </p:cNvSpPr>
            <p:nvPr/>
          </p:nvSpPr>
          <p:spPr bwMode="auto">
            <a:xfrm>
              <a:off x="4429125" y="3071813"/>
              <a:ext cx="3175" cy="912812"/>
            </a:xfrm>
            <a:custGeom>
              <a:avLst/>
              <a:gdLst>
                <a:gd name="T0" fmla="*/ 0 w 2"/>
                <a:gd name="T1" fmla="*/ 2147483647 h 575"/>
                <a:gd name="T2" fmla="*/ 2147483647 w 2"/>
                <a:gd name="T3" fmla="*/ 0 h 575"/>
                <a:gd name="T4" fmla="*/ 0 60000 65536"/>
                <a:gd name="T5" fmla="*/ 0 60000 65536"/>
                <a:gd name="T6" fmla="*/ 0 w 2"/>
                <a:gd name="T7" fmla="*/ 0 h 575"/>
                <a:gd name="T8" fmla="*/ 2 w 2"/>
                <a:gd name="T9" fmla="*/ 575 h 5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5">
                  <a:moveTo>
                    <a:pt x="0" y="575"/>
                  </a:moveTo>
                  <a:lnTo>
                    <a:pt x="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graphicFrame>
          <p:nvGraphicFramePr>
            <p:cNvPr id="50178" name="Object 3"/>
            <p:cNvGraphicFramePr>
              <a:graphicFrameLocks noChangeAspect="1"/>
            </p:cNvGraphicFramePr>
            <p:nvPr/>
          </p:nvGraphicFramePr>
          <p:xfrm>
            <a:off x="4071934" y="2500306"/>
            <a:ext cx="241300" cy="338137"/>
          </p:xfrm>
          <a:graphic>
            <a:graphicData uri="http://schemas.openxmlformats.org/presentationml/2006/ole">
              <p:oleObj spid="_x0000_s50178" name="Equation" r:id="rId4" imgW="88560" imgH="164880" progId="Equation.DSMT4">
                <p:embed/>
              </p:oleObj>
            </a:graphicData>
          </a:graphic>
        </p:graphicFrame>
        <p:graphicFrame>
          <p:nvGraphicFramePr>
            <p:cNvPr id="50179" name="Object 16"/>
            <p:cNvGraphicFramePr>
              <a:graphicFrameLocks noChangeAspect="1"/>
            </p:cNvGraphicFramePr>
            <p:nvPr/>
          </p:nvGraphicFramePr>
          <p:xfrm>
            <a:off x="4000496" y="4143380"/>
            <a:ext cx="446088" cy="357188"/>
          </p:xfrm>
          <a:graphic>
            <a:graphicData uri="http://schemas.openxmlformats.org/presentationml/2006/ole">
              <p:oleObj spid="_x0000_s50179" name="Equation" r:id="rId5" imgW="126720" imgH="164880" progId="Equation.DSMT4">
                <p:embed/>
              </p:oleObj>
            </a:graphicData>
          </a:graphic>
        </p:graphicFrame>
      </p:grpSp>
      <p:sp>
        <p:nvSpPr>
          <p:cNvPr id="50190" name="Freeform 9"/>
          <p:cNvSpPr>
            <a:spLocks/>
          </p:cNvSpPr>
          <p:nvPr/>
        </p:nvSpPr>
        <p:spPr bwMode="auto">
          <a:xfrm flipV="1">
            <a:off x="4500563" y="3071813"/>
            <a:ext cx="714375" cy="176212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0191" name="Freeform 9"/>
          <p:cNvSpPr>
            <a:spLocks/>
          </p:cNvSpPr>
          <p:nvPr/>
        </p:nvSpPr>
        <p:spPr bwMode="auto">
          <a:xfrm rot="9742484" flipH="1" flipV="1">
            <a:off x="4464050" y="2503488"/>
            <a:ext cx="544513" cy="317500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0192" name="Rectangle 20"/>
          <p:cNvSpPr>
            <a:spLocks noChangeArrowheads="1"/>
          </p:cNvSpPr>
          <p:nvPr/>
        </p:nvSpPr>
        <p:spPr bwMode="auto">
          <a:xfrm>
            <a:off x="4038600" y="511175"/>
            <a:ext cx="12112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000" b="0">
                <a:solidFill>
                  <a:srgbClr val="000000"/>
                </a:solidFill>
                <a:latin typeface="Calibri" pitchFamily="-28" charset="0"/>
              </a:rPr>
              <a:t>전자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Freeform 24"/>
          <p:cNvSpPr>
            <a:spLocks/>
          </p:cNvSpPr>
          <p:nvPr/>
        </p:nvSpPr>
        <p:spPr bwMode="auto">
          <a:xfrm>
            <a:off x="4429125" y="3071813"/>
            <a:ext cx="3175" cy="912812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1205" name="Freeform 24"/>
          <p:cNvSpPr>
            <a:spLocks/>
          </p:cNvSpPr>
          <p:nvPr/>
        </p:nvSpPr>
        <p:spPr bwMode="auto">
          <a:xfrm>
            <a:off x="4429125" y="2000250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1206" name="Freeform 24"/>
          <p:cNvSpPr>
            <a:spLocks/>
          </p:cNvSpPr>
          <p:nvPr/>
        </p:nvSpPr>
        <p:spPr bwMode="auto">
          <a:xfrm>
            <a:off x="4429125" y="4143375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1207" name="Freeform 24"/>
          <p:cNvSpPr>
            <a:spLocks/>
          </p:cNvSpPr>
          <p:nvPr/>
        </p:nvSpPr>
        <p:spPr bwMode="auto">
          <a:xfrm>
            <a:off x="7786688" y="1928813"/>
            <a:ext cx="3175" cy="324008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1208" name="Freeform 9"/>
          <p:cNvSpPr>
            <a:spLocks/>
          </p:cNvSpPr>
          <p:nvPr/>
        </p:nvSpPr>
        <p:spPr bwMode="auto">
          <a:xfrm flipV="1">
            <a:off x="4143375" y="4000500"/>
            <a:ext cx="714375" cy="176213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51209" name="Picture 4" descr="C:\Documents and Settings\Jeong\Desktop\image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8" y="3286125"/>
            <a:ext cx="12668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1210" name="Group 16"/>
          <p:cNvGrpSpPr>
            <a:grpSpLocks/>
          </p:cNvGrpSpPr>
          <p:nvPr/>
        </p:nvGrpSpPr>
        <p:grpSpPr bwMode="auto">
          <a:xfrm>
            <a:off x="1571625" y="3429000"/>
            <a:ext cx="285750" cy="307975"/>
            <a:chOff x="1928794" y="3357542"/>
            <a:chExt cx="284996" cy="308622"/>
          </a:xfrm>
        </p:grpSpPr>
        <p:sp>
          <p:nvSpPr>
            <p:cNvPr id="51218" name="Freeform 9"/>
            <p:cNvSpPr>
              <a:spLocks/>
            </p:cNvSpPr>
            <p:nvPr/>
          </p:nvSpPr>
          <p:spPr bwMode="auto">
            <a:xfrm flipV="1">
              <a:off x="1928794" y="3357542"/>
              <a:ext cx="284996" cy="142896"/>
            </a:xfrm>
            <a:custGeom>
              <a:avLst/>
              <a:gdLst>
                <a:gd name="T0" fmla="*/ 2147483647 w 182"/>
                <a:gd name="T1" fmla="*/ 2147483647 h 78"/>
                <a:gd name="T2" fmla="*/ 0 w 182"/>
                <a:gd name="T3" fmla="*/ 0 h 78"/>
                <a:gd name="T4" fmla="*/ 0 60000 65536"/>
                <a:gd name="T5" fmla="*/ 0 60000 65536"/>
                <a:gd name="T6" fmla="*/ 0 w 182"/>
                <a:gd name="T7" fmla="*/ 0 h 78"/>
                <a:gd name="T8" fmla="*/ 182 w 182"/>
                <a:gd name="T9" fmla="*/ 78 h 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78">
                  <a:moveTo>
                    <a:pt x="182" y="7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51219" name="Freeform 9"/>
            <p:cNvSpPr>
              <a:spLocks/>
            </p:cNvSpPr>
            <p:nvPr/>
          </p:nvSpPr>
          <p:spPr bwMode="auto">
            <a:xfrm>
              <a:off x="1928794" y="3500438"/>
              <a:ext cx="214314" cy="165726"/>
            </a:xfrm>
            <a:custGeom>
              <a:avLst/>
              <a:gdLst>
                <a:gd name="T0" fmla="*/ 2147483647 w 182"/>
                <a:gd name="T1" fmla="*/ 2147483647 h 42"/>
                <a:gd name="T2" fmla="*/ 0 w 182"/>
                <a:gd name="T3" fmla="*/ 0 h 42"/>
                <a:gd name="T4" fmla="*/ 0 60000 65536"/>
                <a:gd name="T5" fmla="*/ 0 60000 65536"/>
                <a:gd name="T6" fmla="*/ 0 w 182"/>
                <a:gd name="T7" fmla="*/ 0 h 42"/>
                <a:gd name="T8" fmla="*/ 182 w 182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42">
                  <a:moveTo>
                    <a:pt x="182" y="4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51220" name="Freeform 9"/>
            <p:cNvSpPr>
              <a:spLocks/>
            </p:cNvSpPr>
            <p:nvPr/>
          </p:nvSpPr>
          <p:spPr bwMode="auto">
            <a:xfrm>
              <a:off x="1928794" y="3500438"/>
              <a:ext cx="266704" cy="23675"/>
            </a:xfrm>
            <a:custGeom>
              <a:avLst/>
              <a:gdLst>
                <a:gd name="T0" fmla="*/ 2147483647 w 182"/>
                <a:gd name="T1" fmla="*/ 2147483647 h 6"/>
                <a:gd name="T2" fmla="*/ 0 w 182"/>
                <a:gd name="T3" fmla="*/ 0 h 6"/>
                <a:gd name="T4" fmla="*/ 0 60000 65536"/>
                <a:gd name="T5" fmla="*/ 0 60000 65536"/>
                <a:gd name="T6" fmla="*/ 0 w 182"/>
                <a:gd name="T7" fmla="*/ 0 h 6"/>
                <a:gd name="T8" fmla="*/ 182 w 182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6">
                  <a:moveTo>
                    <a:pt x="182" y="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sp>
        <p:nvSpPr>
          <p:cNvPr id="51211" name="Freeform 24"/>
          <p:cNvSpPr>
            <a:spLocks/>
          </p:cNvSpPr>
          <p:nvPr/>
        </p:nvSpPr>
        <p:spPr bwMode="auto">
          <a:xfrm>
            <a:off x="4500563" y="2786063"/>
            <a:ext cx="3175" cy="339725"/>
          </a:xfrm>
          <a:custGeom>
            <a:avLst/>
            <a:gdLst>
              <a:gd name="T0" fmla="*/ 0 w 2"/>
              <a:gd name="T1" fmla="*/ 2147483647 h 214"/>
              <a:gd name="T2" fmla="*/ 2147483647 w 2"/>
              <a:gd name="T3" fmla="*/ 2147483647 h 214"/>
              <a:gd name="T4" fmla="*/ 0 60000 65536"/>
              <a:gd name="T5" fmla="*/ 0 60000 65536"/>
              <a:gd name="T6" fmla="*/ 0 w 2"/>
              <a:gd name="T7" fmla="*/ 0 h 214"/>
              <a:gd name="T8" fmla="*/ 2 w 2"/>
              <a:gd name="T9" fmla="*/ 214 h 2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214">
                <a:moveTo>
                  <a:pt x="0" y="192"/>
                </a:moveTo>
                <a:cubicBezTo>
                  <a:pt x="1" y="0"/>
                  <a:pt x="1" y="214"/>
                  <a:pt x="2" y="22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1212" name="Freeform 9"/>
          <p:cNvSpPr>
            <a:spLocks/>
          </p:cNvSpPr>
          <p:nvPr/>
        </p:nvSpPr>
        <p:spPr bwMode="auto">
          <a:xfrm>
            <a:off x="6572250" y="2143125"/>
            <a:ext cx="857250" cy="3197225"/>
          </a:xfrm>
          <a:custGeom>
            <a:avLst/>
            <a:gdLst>
              <a:gd name="T0" fmla="*/ 2147483647 w 547"/>
              <a:gd name="T1" fmla="*/ 0 h 1745"/>
              <a:gd name="T2" fmla="*/ 2147483647 w 547"/>
              <a:gd name="T3" fmla="*/ 2147483647 h 1745"/>
              <a:gd name="T4" fmla="*/ 2147483647 w 547"/>
              <a:gd name="T5" fmla="*/ 2147483647 h 1745"/>
              <a:gd name="T6" fmla="*/ 2147483647 w 547"/>
              <a:gd name="T7" fmla="*/ 2147483647 h 1745"/>
              <a:gd name="T8" fmla="*/ 2147483647 w 547"/>
              <a:gd name="T9" fmla="*/ 2147483647 h 1745"/>
              <a:gd name="T10" fmla="*/ 2147483647 w 547"/>
              <a:gd name="T11" fmla="*/ 2147483647 h 174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47"/>
              <a:gd name="T19" fmla="*/ 0 h 1745"/>
              <a:gd name="T20" fmla="*/ 547 w 547"/>
              <a:gd name="T21" fmla="*/ 1745 h 174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47" h="1745">
                <a:moveTo>
                  <a:pt x="521" y="0"/>
                </a:moveTo>
                <a:cubicBezTo>
                  <a:pt x="547" y="35"/>
                  <a:pt x="518" y="39"/>
                  <a:pt x="507" y="169"/>
                </a:cubicBezTo>
                <a:cubicBezTo>
                  <a:pt x="507" y="275"/>
                  <a:pt x="450" y="489"/>
                  <a:pt x="409" y="664"/>
                </a:cubicBezTo>
                <a:cubicBezTo>
                  <a:pt x="420" y="831"/>
                  <a:pt x="0" y="1076"/>
                  <a:pt x="77" y="1217"/>
                </a:cubicBezTo>
                <a:cubicBezTo>
                  <a:pt x="129" y="1331"/>
                  <a:pt x="337" y="1417"/>
                  <a:pt x="402" y="1505"/>
                </a:cubicBezTo>
                <a:cubicBezTo>
                  <a:pt x="467" y="1593"/>
                  <a:pt x="439" y="1640"/>
                  <a:pt x="464" y="1745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grpSp>
        <p:nvGrpSpPr>
          <p:cNvPr id="51213" name="Group 14"/>
          <p:cNvGrpSpPr>
            <a:grpSpLocks/>
          </p:cNvGrpSpPr>
          <p:nvPr/>
        </p:nvGrpSpPr>
        <p:grpSpPr bwMode="auto">
          <a:xfrm>
            <a:off x="4000500" y="2500313"/>
            <a:ext cx="446088" cy="2000250"/>
            <a:chOff x="4000496" y="2500306"/>
            <a:chExt cx="446088" cy="2000262"/>
          </a:xfrm>
        </p:grpSpPr>
        <p:sp>
          <p:nvSpPr>
            <p:cNvPr id="51217" name="Freeform 24"/>
            <p:cNvSpPr>
              <a:spLocks/>
            </p:cNvSpPr>
            <p:nvPr/>
          </p:nvSpPr>
          <p:spPr bwMode="auto">
            <a:xfrm>
              <a:off x="4429125" y="3071813"/>
              <a:ext cx="3175" cy="912812"/>
            </a:xfrm>
            <a:custGeom>
              <a:avLst/>
              <a:gdLst>
                <a:gd name="T0" fmla="*/ 0 w 2"/>
                <a:gd name="T1" fmla="*/ 2147483647 h 575"/>
                <a:gd name="T2" fmla="*/ 2147483647 w 2"/>
                <a:gd name="T3" fmla="*/ 0 h 575"/>
                <a:gd name="T4" fmla="*/ 0 60000 65536"/>
                <a:gd name="T5" fmla="*/ 0 60000 65536"/>
                <a:gd name="T6" fmla="*/ 0 w 2"/>
                <a:gd name="T7" fmla="*/ 0 h 575"/>
                <a:gd name="T8" fmla="*/ 2 w 2"/>
                <a:gd name="T9" fmla="*/ 575 h 5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5">
                  <a:moveTo>
                    <a:pt x="0" y="575"/>
                  </a:moveTo>
                  <a:lnTo>
                    <a:pt x="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graphicFrame>
          <p:nvGraphicFramePr>
            <p:cNvPr id="51202" name="Object 3"/>
            <p:cNvGraphicFramePr>
              <a:graphicFrameLocks noChangeAspect="1"/>
            </p:cNvGraphicFramePr>
            <p:nvPr/>
          </p:nvGraphicFramePr>
          <p:xfrm>
            <a:off x="4071934" y="2500306"/>
            <a:ext cx="241300" cy="338137"/>
          </p:xfrm>
          <a:graphic>
            <a:graphicData uri="http://schemas.openxmlformats.org/presentationml/2006/ole">
              <p:oleObj spid="_x0000_s51202" name="Equation" r:id="rId4" imgW="88560" imgH="164880" progId="Equation.DSMT4">
                <p:embed/>
              </p:oleObj>
            </a:graphicData>
          </a:graphic>
        </p:graphicFrame>
        <p:graphicFrame>
          <p:nvGraphicFramePr>
            <p:cNvPr id="51203" name="Object 16"/>
            <p:cNvGraphicFramePr>
              <a:graphicFrameLocks noChangeAspect="1"/>
            </p:cNvGraphicFramePr>
            <p:nvPr/>
          </p:nvGraphicFramePr>
          <p:xfrm>
            <a:off x="4000496" y="4143380"/>
            <a:ext cx="446088" cy="357188"/>
          </p:xfrm>
          <a:graphic>
            <a:graphicData uri="http://schemas.openxmlformats.org/presentationml/2006/ole">
              <p:oleObj spid="_x0000_s51203" name="Equation" r:id="rId5" imgW="126720" imgH="164880" progId="Equation.DSMT4">
                <p:embed/>
              </p:oleObj>
            </a:graphicData>
          </a:graphic>
        </p:graphicFrame>
      </p:grpSp>
      <p:sp>
        <p:nvSpPr>
          <p:cNvPr id="51214" name="Freeform 9"/>
          <p:cNvSpPr>
            <a:spLocks/>
          </p:cNvSpPr>
          <p:nvPr/>
        </p:nvSpPr>
        <p:spPr bwMode="auto">
          <a:xfrm rot="1048545" flipV="1">
            <a:off x="4533900" y="4294188"/>
            <a:ext cx="571500" cy="306387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1215" name="Freeform 9"/>
          <p:cNvSpPr>
            <a:spLocks/>
          </p:cNvSpPr>
          <p:nvPr/>
        </p:nvSpPr>
        <p:spPr bwMode="auto">
          <a:xfrm rot="9119726" flipH="1">
            <a:off x="4603750" y="3790950"/>
            <a:ext cx="703263" cy="307975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1216" name="Rectangle 20"/>
          <p:cNvSpPr>
            <a:spLocks noChangeArrowheads="1"/>
          </p:cNvSpPr>
          <p:nvPr/>
        </p:nvSpPr>
        <p:spPr bwMode="auto">
          <a:xfrm>
            <a:off x="4038600" y="511175"/>
            <a:ext cx="12112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000" b="0">
                <a:solidFill>
                  <a:srgbClr val="000000"/>
                </a:solidFill>
                <a:latin typeface="Calibri" pitchFamily="-28" charset="0"/>
              </a:rPr>
              <a:t>전자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Freeform 24"/>
          <p:cNvSpPr>
            <a:spLocks/>
          </p:cNvSpPr>
          <p:nvPr/>
        </p:nvSpPr>
        <p:spPr bwMode="auto">
          <a:xfrm>
            <a:off x="4429125" y="3071813"/>
            <a:ext cx="3175" cy="912812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2229" name="Freeform 24"/>
          <p:cNvSpPr>
            <a:spLocks/>
          </p:cNvSpPr>
          <p:nvPr/>
        </p:nvSpPr>
        <p:spPr bwMode="auto">
          <a:xfrm>
            <a:off x="4429125" y="2000250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2230" name="Freeform 24"/>
          <p:cNvSpPr>
            <a:spLocks/>
          </p:cNvSpPr>
          <p:nvPr/>
        </p:nvSpPr>
        <p:spPr bwMode="auto">
          <a:xfrm>
            <a:off x="4429125" y="4143375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2231" name="Freeform 24"/>
          <p:cNvSpPr>
            <a:spLocks/>
          </p:cNvSpPr>
          <p:nvPr/>
        </p:nvSpPr>
        <p:spPr bwMode="auto">
          <a:xfrm>
            <a:off x="7786688" y="1928813"/>
            <a:ext cx="3175" cy="324008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2232" name="Freeform 9"/>
          <p:cNvSpPr>
            <a:spLocks/>
          </p:cNvSpPr>
          <p:nvPr/>
        </p:nvSpPr>
        <p:spPr bwMode="auto">
          <a:xfrm>
            <a:off x="4143375" y="2857500"/>
            <a:ext cx="709613" cy="234950"/>
          </a:xfrm>
          <a:custGeom>
            <a:avLst/>
            <a:gdLst>
              <a:gd name="T0" fmla="*/ 2147483647 w 453"/>
              <a:gd name="T1" fmla="*/ 0 h 128"/>
              <a:gd name="T2" fmla="*/ 0 w 453"/>
              <a:gd name="T3" fmla="*/ 2147483647 h 128"/>
              <a:gd name="T4" fmla="*/ 0 60000 65536"/>
              <a:gd name="T5" fmla="*/ 0 60000 65536"/>
              <a:gd name="T6" fmla="*/ 0 w 453"/>
              <a:gd name="T7" fmla="*/ 0 h 128"/>
              <a:gd name="T8" fmla="*/ 453 w 453"/>
              <a:gd name="T9" fmla="*/ 128 h 1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3" h="128">
                <a:moveTo>
                  <a:pt x="453" y="0"/>
                </a:moveTo>
                <a:cubicBezTo>
                  <a:pt x="385" y="22"/>
                  <a:pt x="257" y="61"/>
                  <a:pt x="0" y="128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2233" name="Freeform 9"/>
          <p:cNvSpPr>
            <a:spLocks/>
          </p:cNvSpPr>
          <p:nvPr/>
        </p:nvSpPr>
        <p:spPr bwMode="auto">
          <a:xfrm flipV="1">
            <a:off x="4143375" y="4000500"/>
            <a:ext cx="714375" cy="176213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52234" name="Picture 4" descr="C:\Documents and Settings\Jeong\Desktop\image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8" y="3286125"/>
            <a:ext cx="12668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2235" name="Group 16"/>
          <p:cNvGrpSpPr>
            <a:grpSpLocks/>
          </p:cNvGrpSpPr>
          <p:nvPr/>
        </p:nvGrpSpPr>
        <p:grpSpPr bwMode="auto">
          <a:xfrm>
            <a:off x="1571625" y="3429000"/>
            <a:ext cx="285750" cy="307975"/>
            <a:chOff x="1928794" y="3357542"/>
            <a:chExt cx="284996" cy="308622"/>
          </a:xfrm>
        </p:grpSpPr>
        <p:sp>
          <p:nvSpPr>
            <p:cNvPr id="52245" name="Freeform 9"/>
            <p:cNvSpPr>
              <a:spLocks/>
            </p:cNvSpPr>
            <p:nvPr/>
          </p:nvSpPr>
          <p:spPr bwMode="auto">
            <a:xfrm flipV="1">
              <a:off x="1928794" y="3357542"/>
              <a:ext cx="284996" cy="142896"/>
            </a:xfrm>
            <a:custGeom>
              <a:avLst/>
              <a:gdLst>
                <a:gd name="T0" fmla="*/ 2147483647 w 182"/>
                <a:gd name="T1" fmla="*/ 2147483647 h 78"/>
                <a:gd name="T2" fmla="*/ 0 w 182"/>
                <a:gd name="T3" fmla="*/ 0 h 78"/>
                <a:gd name="T4" fmla="*/ 0 60000 65536"/>
                <a:gd name="T5" fmla="*/ 0 60000 65536"/>
                <a:gd name="T6" fmla="*/ 0 w 182"/>
                <a:gd name="T7" fmla="*/ 0 h 78"/>
                <a:gd name="T8" fmla="*/ 182 w 182"/>
                <a:gd name="T9" fmla="*/ 78 h 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78">
                  <a:moveTo>
                    <a:pt x="182" y="7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52246" name="Freeform 9"/>
            <p:cNvSpPr>
              <a:spLocks/>
            </p:cNvSpPr>
            <p:nvPr/>
          </p:nvSpPr>
          <p:spPr bwMode="auto">
            <a:xfrm>
              <a:off x="1928794" y="3500438"/>
              <a:ext cx="214314" cy="165726"/>
            </a:xfrm>
            <a:custGeom>
              <a:avLst/>
              <a:gdLst>
                <a:gd name="T0" fmla="*/ 2147483647 w 182"/>
                <a:gd name="T1" fmla="*/ 2147483647 h 42"/>
                <a:gd name="T2" fmla="*/ 0 w 182"/>
                <a:gd name="T3" fmla="*/ 0 h 42"/>
                <a:gd name="T4" fmla="*/ 0 60000 65536"/>
                <a:gd name="T5" fmla="*/ 0 60000 65536"/>
                <a:gd name="T6" fmla="*/ 0 w 182"/>
                <a:gd name="T7" fmla="*/ 0 h 42"/>
                <a:gd name="T8" fmla="*/ 182 w 182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42">
                  <a:moveTo>
                    <a:pt x="182" y="4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52247" name="Freeform 9"/>
            <p:cNvSpPr>
              <a:spLocks/>
            </p:cNvSpPr>
            <p:nvPr/>
          </p:nvSpPr>
          <p:spPr bwMode="auto">
            <a:xfrm>
              <a:off x="1928794" y="3500438"/>
              <a:ext cx="266704" cy="23675"/>
            </a:xfrm>
            <a:custGeom>
              <a:avLst/>
              <a:gdLst>
                <a:gd name="T0" fmla="*/ 2147483647 w 182"/>
                <a:gd name="T1" fmla="*/ 2147483647 h 6"/>
                <a:gd name="T2" fmla="*/ 0 w 182"/>
                <a:gd name="T3" fmla="*/ 0 h 6"/>
                <a:gd name="T4" fmla="*/ 0 60000 65536"/>
                <a:gd name="T5" fmla="*/ 0 60000 65536"/>
                <a:gd name="T6" fmla="*/ 0 w 182"/>
                <a:gd name="T7" fmla="*/ 0 h 6"/>
                <a:gd name="T8" fmla="*/ 182 w 182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6">
                  <a:moveTo>
                    <a:pt x="182" y="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sp>
        <p:nvSpPr>
          <p:cNvPr id="52236" name="Freeform 9"/>
          <p:cNvSpPr>
            <a:spLocks/>
          </p:cNvSpPr>
          <p:nvPr/>
        </p:nvSpPr>
        <p:spPr bwMode="auto">
          <a:xfrm>
            <a:off x="6756400" y="2143125"/>
            <a:ext cx="814388" cy="3054350"/>
          </a:xfrm>
          <a:custGeom>
            <a:avLst/>
            <a:gdLst>
              <a:gd name="T0" fmla="*/ 2147483647 w 520"/>
              <a:gd name="T1" fmla="*/ 0 h 1667"/>
              <a:gd name="T2" fmla="*/ 2147483647 w 520"/>
              <a:gd name="T3" fmla="*/ 2147483647 h 1667"/>
              <a:gd name="T4" fmla="*/ 2147483647 w 520"/>
              <a:gd name="T5" fmla="*/ 2147483647 h 1667"/>
              <a:gd name="T6" fmla="*/ 2147483647 w 520"/>
              <a:gd name="T7" fmla="*/ 2147483647 h 1667"/>
              <a:gd name="T8" fmla="*/ 2147483647 w 520"/>
              <a:gd name="T9" fmla="*/ 2147483647 h 1667"/>
              <a:gd name="T10" fmla="*/ 0 w 520"/>
              <a:gd name="T11" fmla="*/ 2147483647 h 1667"/>
              <a:gd name="T12" fmla="*/ 2147483647 w 520"/>
              <a:gd name="T13" fmla="*/ 2147483647 h 1667"/>
              <a:gd name="T14" fmla="*/ 2147483647 w 520"/>
              <a:gd name="T15" fmla="*/ 2147483647 h 1667"/>
              <a:gd name="T16" fmla="*/ 2147483647 w 520"/>
              <a:gd name="T17" fmla="*/ 2147483647 h 166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20"/>
              <a:gd name="T28" fmla="*/ 0 h 1667"/>
              <a:gd name="T29" fmla="*/ 520 w 520"/>
              <a:gd name="T30" fmla="*/ 1667 h 166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20" h="1667">
                <a:moveTo>
                  <a:pt x="453" y="0"/>
                </a:moveTo>
                <a:cubicBezTo>
                  <a:pt x="422" y="30"/>
                  <a:pt x="214" y="154"/>
                  <a:pt x="219" y="217"/>
                </a:cubicBezTo>
                <a:cubicBezTo>
                  <a:pt x="224" y="280"/>
                  <a:pt x="449" y="365"/>
                  <a:pt x="483" y="380"/>
                </a:cubicBezTo>
                <a:cubicBezTo>
                  <a:pt x="498" y="453"/>
                  <a:pt x="31" y="506"/>
                  <a:pt x="33" y="578"/>
                </a:cubicBezTo>
                <a:cubicBezTo>
                  <a:pt x="35" y="650"/>
                  <a:pt x="500" y="731"/>
                  <a:pt x="495" y="812"/>
                </a:cubicBezTo>
                <a:cubicBezTo>
                  <a:pt x="490" y="893"/>
                  <a:pt x="0" y="986"/>
                  <a:pt x="0" y="1064"/>
                </a:cubicBezTo>
                <a:cubicBezTo>
                  <a:pt x="0" y="1142"/>
                  <a:pt x="472" y="1216"/>
                  <a:pt x="496" y="1280"/>
                </a:cubicBezTo>
                <a:cubicBezTo>
                  <a:pt x="520" y="1345"/>
                  <a:pt x="284" y="1387"/>
                  <a:pt x="283" y="1451"/>
                </a:cubicBezTo>
                <a:cubicBezTo>
                  <a:pt x="282" y="1515"/>
                  <a:pt x="491" y="1631"/>
                  <a:pt x="487" y="1667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grpSp>
        <p:nvGrpSpPr>
          <p:cNvPr id="52237" name="Group 14"/>
          <p:cNvGrpSpPr>
            <a:grpSpLocks/>
          </p:cNvGrpSpPr>
          <p:nvPr/>
        </p:nvGrpSpPr>
        <p:grpSpPr bwMode="auto">
          <a:xfrm>
            <a:off x="4000500" y="2500313"/>
            <a:ext cx="446088" cy="2000250"/>
            <a:chOff x="4000496" y="2500306"/>
            <a:chExt cx="446088" cy="2000262"/>
          </a:xfrm>
        </p:grpSpPr>
        <p:sp>
          <p:nvSpPr>
            <p:cNvPr id="52244" name="Freeform 24"/>
            <p:cNvSpPr>
              <a:spLocks/>
            </p:cNvSpPr>
            <p:nvPr/>
          </p:nvSpPr>
          <p:spPr bwMode="auto">
            <a:xfrm>
              <a:off x="4429125" y="3071813"/>
              <a:ext cx="3175" cy="912812"/>
            </a:xfrm>
            <a:custGeom>
              <a:avLst/>
              <a:gdLst>
                <a:gd name="T0" fmla="*/ 0 w 2"/>
                <a:gd name="T1" fmla="*/ 2147483647 h 575"/>
                <a:gd name="T2" fmla="*/ 2147483647 w 2"/>
                <a:gd name="T3" fmla="*/ 0 h 575"/>
                <a:gd name="T4" fmla="*/ 0 60000 65536"/>
                <a:gd name="T5" fmla="*/ 0 60000 65536"/>
                <a:gd name="T6" fmla="*/ 0 w 2"/>
                <a:gd name="T7" fmla="*/ 0 h 575"/>
                <a:gd name="T8" fmla="*/ 2 w 2"/>
                <a:gd name="T9" fmla="*/ 575 h 5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5">
                  <a:moveTo>
                    <a:pt x="0" y="575"/>
                  </a:moveTo>
                  <a:lnTo>
                    <a:pt x="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graphicFrame>
          <p:nvGraphicFramePr>
            <p:cNvPr id="52226" name="Object 3"/>
            <p:cNvGraphicFramePr>
              <a:graphicFrameLocks noChangeAspect="1"/>
            </p:cNvGraphicFramePr>
            <p:nvPr/>
          </p:nvGraphicFramePr>
          <p:xfrm>
            <a:off x="4071934" y="2500306"/>
            <a:ext cx="241300" cy="338137"/>
          </p:xfrm>
          <a:graphic>
            <a:graphicData uri="http://schemas.openxmlformats.org/presentationml/2006/ole">
              <p:oleObj spid="_x0000_s52226" name="Equation" r:id="rId4" imgW="88560" imgH="164880" progId="Equation.DSMT4">
                <p:embed/>
              </p:oleObj>
            </a:graphicData>
          </a:graphic>
        </p:graphicFrame>
        <p:graphicFrame>
          <p:nvGraphicFramePr>
            <p:cNvPr id="52227" name="Object 16"/>
            <p:cNvGraphicFramePr>
              <a:graphicFrameLocks noChangeAspect="1"/>
            </p:cNvGraphicFramePr>
            <p:nvPr/>
          </p:nvGraphicFramePr>
          <p:xfrm>
            <a:off x="4000496" y="4143380"/>
            <a:ext cx="446088" cy="357188"/>
          </p:xfrm>
          <a:graphic>
            <a:graphicData uri="http://schemas.openxmlformats.org/presentationml/2006/ole">
              <p:oleObj spid="_x0000_s52227" name="Equation" r:id="rId5" imgW="126720" imgH="164880" progId="Equation.DSMT4">
                <p:embed/>
              </p:oleObj>
            </a:graphicData>
          </a:graphic>
        </p:graphicFrame>
      </p:grpSp>
      <p:sp>
        <p:nvSpPr>
          <p:cNvPr id="52238" name="Rectangle 18"/>
          <p:cNvSpPr>
            <a:spLocks noChangeArrowheads="1"/>
          </p:cNvSpPr>
          <p:nvPr/>
        </p:nvSpPr>
        <p:spPr bwMode="auto">
          <a:xfrm>
            <a:off x="1331913" y="5805488"/>
            <a:ext cx="668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2400">
                <a:solidFill>
                  <a:schemeClr val="tx1"/>
                </a:solidFill>
                <a:latin typeface="Times New Roman" pitchFamily="-28" charset="0"/>
              </a:rPr>
              <a:t>총알의 경우와 아주 다른 통계적 패턴이 나타난다</a:t>
            </a:r>
            <a:r>
              <a:rPr lang="en-US" altLang="ko-KR" sz="2400">
                <a:solidFill>
                  <a:schemeClr val="tx1"/>
                </a:solidFill>
                <a:latin typeface="Times New Roman" pitchFamily="-28" charset="0"/>
              </a:rPr>
              <a:t>.</a:t>
            </a:r>
          </a:p>
        </p:txBody>
      </p:sp>
      <p:sp>
        <p:nvSpPr>
          <p:cNvPr id="52239" name="Freeform 9"/>
          <p:cNvSpPr>
            <a:spLocks/>
          </p:cNvSpPr>
          <p:nvPr/>
        </p:nvSpPr>
        <p:spPr bwMode="auto">
          <a:xfrm flipV="1">
            <a:off x="4500563" y="3071813"/>
            <a:ext cx="714375" cy="176212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2240" name="Freeform 9"/>
          <p:cNvSpPr>
            <a:spLocks/>
          </p:cNvSpPr>
          <p:nvPr/>
        </p:nvSpPr>
        <p:spPr bwMode="auto">
          <a:xfrm rot="9742484" flipH="1" flipV="1">
            <a:off x="4464050" y="2503488"/>
            <a:ext cx="544513" cy="317500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2241" name="Freeform 9"/>
          <p:cNvSpPr>
            <a:spLocks/>
          </p:cNvSpPr>
          <p:nvPr/>
        </p:nvSpPr>
        <p:spPr bwMode="auto">
          <a:xfrm rot="1048545" flipV="1">
            <a:off x="4533900" y="4294188"/>
            <a:ext cx="571500" cy="306387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2242" name="Freeform 9"/>
          <p:cNvSpPr>
            <a:spLocks/>
          </p:cNvSpPr>
          <p:nvPr/>
        </p:nvSpPr>
        <p:spPr bwMode="auto">
          <a:xfrm rot="9119726" flipH="1">
            <a:off x="4603750" y="3790950"/>
            <a:ext cx="703263" cy="307975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2243" name="Rectangle 23"/>
          <p:cNvSpPr>
            <a:spLocks noChangeArrowheads="1"/>
          </p:cNvSpPr>
          <p:nvPr/>
        </p:nvSpPr>
        <p:spPr bwMode="auto">
          <a:xfrm>
            <a:off x="4038600" y="511175"/>
            <a:ext cx="12112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000" b="0">
                <a:solidFill>
                  <a:srgbClr val="000000"/>
                </a:solidFill>
                <a:latin typeface="Calibri" pitchFamily="-28" charset="0"/>
              </a:rPr>
              <a:t>전자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C:\Documents and Settings\Jeong\Desktop\presentations\콜로키움2007\pics\water4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63" y="785813"/>
            <a:ext cx="6624637" cy="552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5105400" y="533400"/>
            <a:ext cx="4572000" cy="186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buFontTx/>
              <a:buNone/>
            </a:pPr>
            <a:r>
              <a:rPr lang="ko-KR" altLang="en-US" sz="3600" b="0">
                <a:solidFill>
                  <a:srgbClr val="000000"/>
                </a:solidFill>
                <a:latin typeface="Calibri" pitchFamily="-28" charset="0"/>
              </a:rPr>
              <a:t>고전적 파동</a:t>
            </a:r>
            <a:endParaRPr lang="en-US" altLang="ko-KR" sz="3600" b="0">
              <a:solidFill>
                <a:srgbClr val="000000"/>
              </a:solidFill>
              <a:latin typeface="Calibri" pitchFamily="-28" charset="0"/>
            </a:endParaRPr>
          </a:p>
          <a:p>
            <a:pPr algn="ctr">
              <a:buFontTx/>
              <a:buNone/>
            </a:pPr>
            <a:r>
              <a:rPr lang="ko-KR" altLang="en-US" sz="3600" b="0">
                <a:solidFill>
                  <a:srgbClr val="000000"/>
                </a:solidFill>
                <a:latin typeface="Calibri" pitchFamily="-28" charset="0"/>
              </a:rPr>
              <a:t>의 </a:t>
            </a:r>
            <a:br>
              <a:rPr lang="ko-KR" altLang="en-US" sz="3600" b="0">
                <a:solidFill>
                  <a:srgbClr val="000000"/>
                </a:solidFill>
                <a:latin typeface="Calibri" pitchFamily="-28" charset="0"/>
              </a:rPr>
            </a:br>
            <a:r>
              <a:rPr lang="ko-KR" altLang="en-US" sz="3600" b="0">
                <a:solidFill>
                  <a:srgbClr val="000000"/>
                </a:solidFill>
                <a:latin typeface="Calibri" pitchFamily="-28" charset="0"/>
              </a:rPr>
              <a:t>간섭 무늬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/>
          </p:cNvSpPr>
          <p:nvPr>
            <p:ph type="title"/>
          </p:nvPr>
        </p:nvSpPr>
        <p:spPr>
          <a:xfrm>
            <a:off x="395288" y="549275"/>
            <a:ext cx="8229600" cy="1143000"/>
          </a:xfrm>
        </p:spPr>
        <p:txBody>
          <a:bodyPr/>
          <a:lstStyle/>
          <a:p>
            <a:r>
              <a:rPr lang="ko-KR" altLang="en-US" b="1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입자와 파동의 이중성</a:t>
            </a:r>
            <a:r>
              <a:rPr lang="ko-KR" altLang="en-US" sz="3600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/>
            </a:r>
            <a:br>
              <a:rPr lang="ko-KR" altLang="en-US" sz="3600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</a:br>
            <a:r>
              <a:rPr lang="ko-KR" altLang="en-US" sz="3600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 </a:t>
            </a:r>
            <a:r>
              <a:rPr lang="en-US" altLang="ko-KR" sz="3600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(wave-particle duality)</a:t>
            </a:r>
          </a:p>
        </p:txBody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>
          <a:xfrm>
            <a:off x="468313" y="1916113"/>
            <a:ext cx="8147050" cy="4525962"/>
          </a:xfrm>
        </p:spPr>
        <p:txBody>
          <a:bodyPr/>
          <a:lstStyle/>
          <a:p>
            <a:pPr>
              <a:buFont typeface="Wingdings" pitchFamily="-28" charset="2"/>
              <a:buChar char="§"/>
            </a:pPr>
            <a:endParaRPr lang="ko-KR" altLang="en-US" sz="3700">
              <a:ea typeface="Gulim" pitchFamily="-28" charset="-127"/>
              <a:cs typeface="Gulim" pitchFamily="-28" charset="-127"/>
            </a:endParaRPr>
          </a:p>
          <a:p>
            <a:pPr>
              <a:buFont typeface="Wingdings" pitchFamily="-28" charset="2"/>
              <a:buChar char="§"/>
            </a:pPr>
            <a:r>
              <a:rPr lang="ko-KR" altLang="en-US" sz="3700">
                <a:ea typeface="Gulim" pitchFamily="-28" charset="-127"/>
                <a:cs typeface="Gulim" pitchFamily="-28" charset="-127"/>
              </a:rPr>
              <a:t>빛을 포함한 모든 양자 입자들</a:t>
            </a:r>
            <a:r>
              <a:rPr lang="en-US" altLang="ko-KR" sz="3700">
                <a:ea typeface="Gulim" pitchFamily="-28" charset="-127"/>
                <a:cs typeface="Gulim" pitchFamily="-28" charset="-127"/>
              </a:rPr>
              <a:t>(quantum particles)</a:t>
            </a:r>
            <a:r>
              <a:rPr lang="en-US" altLang="ko-KR" sz="3700" baseline="30000">
                <a:ea typeface="Gulim" pitchFamily="-28" charset="-127"/>
                <a:cs typeface="Gulim" pitchFamily="-28" charset="-127"/>
              </a:rPr>
              <a:t> </a:t>
            </a:r>
            <a:r>
              <a:rPr lang="ko-KR" altLang="en-US" sz="3700">
                <a:ea typeface="Gulim" pitchFamily="-28" charset="-127"/>
                <a:cs typeface="Gulim" pitchFamily="-28" charset="-127"/>
              </a:rPr>
              <a:t>은 입자와 파동의 이중성</a:t>
            </a:r>
            <a:r>
              <a:rPr lang="en-US" altLang="ko-KR" sz="3700">
                <a:ea typeface="Gulim" pitchFamily="-28" charset="-127"/>
                <a:cs typeface="Gulim" pitchFamily="-28" charset="-127"/>
              </a:rPr>
              <a:t>(wave-particle duality)</a:t>
            </a:r>
            <a:r>
              <a:rPr lang="ko-KR" altLang="en-US" sz="3700">
                <a:ea typeface="Gulim" pitchFamily="-28" charset="-127"/>
                <a:cs typeface="Gulim" pitchFamily="-28" charset="-127"/>
              </a:rPr>
              <a:t>을 가진다</a:t>
            </a:r>
            <a:r>
              <a:rPr lang="en-US" altLang="ko-KR" sz="3700" smtClean="0">
                <a:ea typeface="Gulim" pitchFamily="-28" charset="-127"/>
                <a:cs typeface="Gulim" pitchFamily="-28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 descr="C:\Documents and Settings\Jeong\Desktop\presentations\콜로키움2007\pics\muster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" y="1571625"/>
            <a:ext cx="8001000" cy="392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2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85813" y="5786438"/>
            <a:ext cx="7772400" cy="714375"/>
          </a:xfrm>
        </p:spPr>
        <p:txBody>
          <a:bodyPr/>
          <a:lstStyle/>
          <a:p>
            <a:pPr eaLnBrk="1" hangingPunct="1"/>
            <a:r>
              <a:rPr lang="en-US" altLang="ko-KR" sz="1800">
                <a:ea typeface="Gulim" pitchFamily="-28" charset="-127"/>
                <a:cs typeface="Gulim" pitchFamily="-28" charset="-127"/>
              </a:rPr>
              <a:t>Researchers led by Pier Giorgio Merli, the University of Milan (1974).</a:t>
            </a:r>
          </a:p>
          <a:p>
            <a:pPr eaLnBrk="1" hangingPunct="1"/>
            <a:r>
              <a:rPr lang="en-US" altLang="ko-KR" sz="1800">
                <a:ea typeface="Gulim" pitchFamily="-28" charset="-127"/>
                <a:cs typeface="Gulim" pitchFamily="-28" charset="-127"/>
              </a:rPr>
              <a:t>Tonomura </a:t>
            </a:r>
            <a:r>
              <a:rPr lang="en-US" altLang="ko-KR" sz="1800" i="1">
                <a:ea typeface="Gulim" pitchFamily="-28" charset="-127"/>
                <a:cs typeface="Gulim" pitchFamily="-28" charset="-127"/>
              </a:rPr>
              <a:t>et al</a:t>
            </a:r>
            <a:r>
              <a:rPr lang="en-US" altLang="ko-KR" sz="1800">
                <a:ea typeface="Gulim" pitchFamily="-28" charset="-127"/>
                <a:cs typeface="Gulim" pitchFamily="-28" charset="-127"/>
              </a:rPr>
              <a:t>., Hitachi in Japan (</a:t>
            </a:r>
            <a:r>
              <a:rPr lang="ko-KR" altLang="en-US" sz="1800">
                <a:ea typeface="Gulim" pitchFamily="-28" charset="-127"/>
                <a:cs typeface="Gulim" pitchFamily="-28" charset="-127"/>
              </a:rPr>
              <a:t>1989</a:t>
            </a:r>
            <a:r>
              <a:rPr lang="en-US" altLang="ko-KR" sz="1800">
                <a:ea typeface="Gulim" pitchFamily="-28" charset="-127"/>
                <a:cs typeface="Gulim" pitchFamily="-28" charset="-127"/>
              </a:rPr>
              <a:t>).</a:t>
            </a: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3505200" y="533400"/>
            <a:ext cx="24066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000" b="0">
                <a:solidFill>
                  <a:srgbClr val="000000"/>
                </a:solidFill>
                <a:latin typeface="Calibri" pitchFamily="-28" charset="0"/>
              </a:rPr>
              <a:t>실험 결과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Title 1"/>
          <p:cNvSpPr>
            <a:spLocks noGrp="1"/>
          </p:cNvSpPr>
          <p:nvPr>
            <p:ph type="title" idx="4294967295"/>
          </p:nvPr>
        </p:nvSpPr>
        <p:spPr>
          <a:xfrm>
            <a:off x="714375" y="500063"/>
            <a:ext cx="7772400" cy="747712"/>
          </a:xfrm>
        </p:spPr>
        <p:txBody>
          <a:bodyPr/>
          <a:lstStyle/>
          <a:p>
            <a:pPr eaLnBrk="1" hangingPunct="1"/>
            <a:r>
              <a:rPr lang="ko-KR" altLang="en-US" sz="3200">
                <a:ea typeface="Gulim" pitchFamily="-28" charset="-127"/>
                <a:cs typeface="Gulim" pitchFamily="-28" charset="-127"/>
              </a:rPr>
              <a:t>전자는 두 슬릿을 한꺼번에 통과했는가</a:t>
            </a:r>
            <a:r>
              <a:rPr lang="en-US" altLang="ko-KR" sz="3200">
                <a:ea typeface="Gulim" pitchFamily="-28" charset="-127"/>
                <a:cs typeface="Gulim" pitchFamily="-28" charset="-127"/>
              </a:rPr>
              <a:t>?</a:t>
            </a:r>
          </a:p>
        </p:txBody>
      </p:sp>
      <p:sp>
        <p:nvSpPr>
          <p:cNvPr id="56325" name="Freeform 24"/>
          <p:cNvSpPr>
            <a:spLocks/>
          </p:cNvSpPr>
          <p:nvPr/>
        </p:nvSpPr>
        <p:spPr bwMode="auto">
          <a:xfrm>
            <a:off x="4429125" y="3071813"/>
            <a:ext cx="3175" cy="912812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6326" name="Freeform 24"/>
          <p:cNvSpPr>
            <a:spLocks/>
          </p:cNvSpPr>
          <p:nvPr/>
        </p:nvSpPr>
        <p:spPr bwMode="auto">
          <a:xfrm>
            <a:off x="4429125" y="2000250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6327" name="Freeform 24"/>
          <p:cNvSpPr>
            <a:spLocks/>
          </p:cNvSpPr>
          <p:nvPr/>
        </p:nvSpPr>
        <p:spPr bwMode="auto">
          <a:xfrm>
            <a:off x="4429125" y="4143375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6328" name="Freeform 24"/>
          <p:cNvSpPr>
            <a:spLocks/>
          </p:cNvSpPr>
          <p:nvPr/>
        </p:nvSpPr>
        <p:spPr bwMode="auto">
          <a:xfrm>
            <a:off x="7786688" y="1928813"/>
            <a:ext cx="3175" cy="324008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6329" name="Freeform 9"/>
          <p:cNvSpPr>
            <a:spLocks/>
          </p:cNvSpPr>
          <p:nvPr/>
        </p:nvSpPr>
        <p:spPr bwMode="auto">
          <a:xfrm>
            <a:off x="4143375" y="2857500"/>
            <a:ext cx="709613" cy="234950"/>
          </a:xfrm>
          <a:custGeom>
            <a:avLst/>
            <a:gdLst>
              <a:gd name="T0" fmla="*/ 2147483647 w 453"/>
              <a:gd name="T1" fmla="*/ 0 h 128"/>
              <a:gd name="T2" fmla="*/ 0 w 453"/>
              <a:gd name="T3" fmla="*/ 2147483647 h 128"/>
              <a:gd name="T4" fmla="*/ 0 60000 65536"/>
              <a:gd name="T5" fmla="*/ 0 60000 65536"/>
              <a:gd name="T6" fmla="*/ 0 w 453"/>
              <a:gd name="T7" fmla="*/ 0 h 128"/>
              <a:gd name="T8" fmla="*/ 453 w 453"/>
              <a:gd name="T9" fmla="*/ 128 h 1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3" h="128">
                <a:moveTo>
                  <a:pt x="453" y="0"/>
                </a:moveTo>
                <a:cubicBezTo>
                  <a:pt x="385" y="22"/>
                  <a:pt x="257" y="61"/>
                  <a:pt x="0" y="128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6330" name="Freeform 9"/>
          <p:cNvSpPr>
            <a:spLocks/>
          </p:cNvSpPr>
          <p:nvPr/>
        </p:nvSpPr>
        <p:spPr bwMode="auto">
          <a:xfrm flipV="1">
            <a:off x="4143375" y="4000500"/>
            <a:ext cx="714375" cy="176213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56331" name="Picture 4" descr="C:\Documents and Settings\Jeong\Desktop\image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8" y="3286125"/>
            <a:ext cx="12668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6332" name="Group 16"/>
          <p:cNvGrpSpPr>
            <a:grpSpLocks/>
          </p:cNvGrpSpPr>
          <p:nvPr/>
        </p:nvGrpSpPr>
        <p:grpSpPr bwMode="auto">
          <a:xfrm>
            <a:off x="1571625" y="3429000"/>
            <a:ext cx="285750" cy="307975"/>
            <a:chOff x="1928794" y="3357542"/>
            <a:chExt cx="284996" cy="308622"/>
          </a:xfrm>
        </p:grpSpPr>
        <p:sp>
          <p:nvSpPr>
            <p:cNvPr id="56340" name="Freeform 9"/>
            <p:cNvSpPr>
              <a:spLocks/>
            </p:cNvSpPr>
            <p:nvPr/>
          </p:nvSpPr>
          <p:spPr bwMode="auto">
            <a:xfrm flipV="1">
              <a:off x="1928794" y="3357542"/>
              <a:ext cx="284996" cy="142896"/>
            </a:xfrm>
            <a:custGeom>
              <a:avLst/>
              <a:gdLst>
                <a:gd name="T0" fmla="*/ 2147483647 w 182"/>
                <a:gd name="T1" fmla="*/ 2147483647 h 78"/>
                <a:gd name="T2" fmla="*/ 0 w 182"/>
                <a:gd name="T3" fmla="*/ 0 h 78"/>
                <a:gd name="T4" fmla="*/ 0 60000 65536"/>
                <a:gd name="T5" fmla="*/ 0 60000 65536"/>
                <a:gd name="T6" fmla="*/ 0 w 182"/>
                <a:gd name="T7" fmla="*/ 0 h 78"/>
                <a:gd name="T8" fmla="*/ 182 w 182"/>
                <a:gd name="T9" fmla="*/ 78 h 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78">
                  <a:moveTo>
                    <a:pt x="182" y="7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56341" name="Freeform 9"/>
            <p:cNvSpPr>
              <a:spLocks/>
            </p:cNvSpPr>
            <p:nvPr/>
          </p:nvSpPr>
          <p:spPr bwMode="auto">
            <a:xfrm>
              <a:off x="1928794" y="3500438"/>
              <a:ext cx="214314" cy="165726"/>
            </a:xfrm>
            <a:custGeom>
              <a:avLst/>
              <a:gdLst>
                <a:gd name="T0" fmla="*/ 2147483647 w 182"/>
                <a:gd name="T1" fmla="*/ 2147483647 h 42"/>
                <a:gd name="T2" fmla="*/ 0 w 182"/>
                <a:gd name="T3" fmla="*/ 0 h 42"/>
                <a:gd name="T4" fmla="*/ 0 60000 65536"/>
                <a:gd name="T5" fmla="*/ 0 60000 65536"/>
                <a:gd name="T6" fmla="*/ 0 w 182"/>
                <a:gd name="T7" fmla="*/ 0 h 42"/>
                <a:gd name="T8" fmla="*/ 182 w 182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42">
                  <a:moveTo>
                    <a:pt x="182" y="4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56342" name="Freeform 9"/>
            <p:cNvSpPr>
              <a:spLocks/>
            </p:cNvSpPr>
            <p:nvPr/>
          </p:nvSpPr>
          <p:spPr bwMode="auto">
            <a:xfrm>
              <a:off x="1928794" y="3500438"/>
              <a:ext cx="266704" cy="23675"/>
            </a:xfrm>
            <a:custGeom>
              <a:avLst/>
              <a:gdLst>
                <a:gd name="T0" fmla="*/ 2147483647 w 182"/>
                <a:gd name="T1" fmla="*/ 2147483647 h 6"/>
                <a:gd name="T2" fmla="*/ 0 w 182"/>
                <a:gd name="T3" fmla="*/ 0 h 6"/>
                <a:gd name="T4" fmla="*/ 0 60000 65536"/>
                <a:gd name="T5" fmla="*/ 0 60000 65536"/>
                <a:gd name="T6" fmla="*/ 0 w 182"/>
                <a:gd name="T7" fmla="*/ 0 h 6"/>
                <a:gd name="T8" fmla="*/ 182 w 182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6">
                  <a:moveTo>
                    <a:pt x="182" y="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sp>
        <p:nvSpPr>
          <p:cNvPr id="56333" name="Freeform 24"/>
          <p:cNvSpPr>
            <a:spLocks/>
          </p:cNvSpPr>
          <p:nvPr/>
        </p:nvSpPr>
        <p:spPr bwMode="auto">
          <a:xfrm>
            <a:off x="4929188" y="4071938"/>
            <a:ext cx="3175" cy="339725"/>
          </a:xfrm>
          <a:custGeom>
            <a:avLst/>
            <a:gdLst>
              <a:gd name="T0" fmla="*/ 0 w 2"/>
              <a:gd name="T1" fmla="*/ 2147483647 h 214"/>
              <a:gd name="T2" fmla="*/ 2147483647 w 2"/>
              <a:gd name="T3" fmla="*/ 2147483647 h 214"/>
              <a:gd name="T4" fmla="*/ 0 60000 65536"/>
              <a:gd name="T5" fmla="*/ 0 60000 65536"/>
              <a:gd name="T6" fmla="*/ 0 w 2"/>
              <a:gd name="T7" fmla="*/ 0 h 214"/>
              <a:gd name="T8" fmla="*/ 2 w 2"/>
              <a:gd name="T9" fmla="*/ 214 h 2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214">
                <a:moveTo>
                  <a:pt x="0" y="192"/>
                </a:moveTo>
                <a:cubicBezTo>
                  <a:pt x="1" y="0"/>
                  <a:pt x="1" y="214"/>
                  <a:pt x="2" y="22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6334" name="Freeform 24"/>
          <p:cNvSpPr>
            <a:spLocks/>
          </p:cNvSpPr>
          <p:nvPr/>
        </p:nvSpPr>
        <p:spPr bwMode="auto">
          <a:xfrm>
            <a:off x="4929188" y="2714625"/>
            <a:ext cx="3175" cy="339725"/>
          </a:xfrm>
          <a:custGeom>
            <a:avLst/>
            <a:gdLst>
              <a:gd name="T0" fmla="*/ 0 w 2"/>
              <a:gd name="T1" fmla="*/ 2147483647 h 214"/>
              <a:gd name="T2" fmla="*/ 2147483647 w 2"/>
              <a:gd name="T3" fmla="*/ 2147483647 h 214"/>
              <a:gd name="T4" fmla="*/ 0 60000 65536"/>
              <a:gd name="T5" fmla="*/ 0 60000 65536"/>
              <a:gd name="T6" fmla="*/ 0 w 2"/>
              <a:gd name="T7" fmla="*/ 0 h 214"/>
              <a:gd name="T8" fmla="*/ 2 w 2"/>
              <a:gd name="T9" fmla="*/ 214 h 2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214">
                <a:moveTo>
                  <a:pt x="0" y="192"/>
                </a:moveTo>
                <a:cubicBezTo>
                  <a:pt x="1" y="0"/>
                  <a:pt x="1" y="214"/>
                  <a:pt x="2" y="22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6335" name="Freeform 9"/>
          <p:cNvSpPr>
            <a:spLocks/>
          </p:cNvSpPr>
          <p:nvPr/>
        </p:nvSpPr>
        <p:spPr bwMode="auto">
          <a:xfrm>
            <a:off x="6643688" y="2143125"/>
            <a:ext cx="592137" cy="3054350"/>
          </a:xfrm>
          <a:custGeom>
            <a:avLst/>
            <a:gdLst>
              <a:gd name="T0" fmla="*/ 2147483647 w 378"/>
              <a:gd name="T1" fmla="*/ 0 h 1667"/>
              <a:gd name="T2" fmla="*/ 2147483647 w 378"/>
              <a:gd name="T3" fmla="*/ 2147483647 h 1667"/>
              <a:gd name="T4" fmla="*/ 0 w 378"/>
              <a:gd name="T5" fmla="*/ 2147483647 h 1667"/>
              <a:gd name="T6" fmla="*/ 2147483647 w 378"/>
              <a:gd name="T7" fmla="*/ 2147483647 h 1667"/>
              <a:gd name="T8" fmla="*/ 2147483647 w 378"/>
              <a:gd name="T9" fmla="*/ 2147483647 h 16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8"/>
              <a:gd name="T16" fmla="*/ 0 h 1667"/>
              <a:gd name="T17" fmla="*/ 378 w 378"/>
              <a:gd name="T18" fmla="*/ 1667 h 16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8" h="1667">
                <a:moveTo>
                  <a:pt x="340" y="0"/>
                </a:moveTo>
                <a:cubicBezTo>
                  <a:pt x="309" y="30"/>
                  <a:pt x="254" y="197"/>
                  <a:pt x="197" y="334"/>
                </a:cubicBezTo>
                <a:cubicBezTo>
                  <a:pt x="140" y="471"/>
                  <a:pt x="14" y="698"/>
                  <a:pt x="0" y="820"/>
                </a:cubicBezTo>
                <a:cubicBezTo>
                  <a:pt x="11" y="987"/>
                  <a:pt x="184" y="1193"/>
                  <a:pt x="261" y="1334"/>
                </a:cubicBezTo>
                <a:cubicBezTo>
                  <a:pt x="260" y="1398"/>
                  <a:pt x="378" y="1631"/>
                  <a:pt x="374" y="1667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grpSp>
        <p:nvGrpSpPr>
          <p:cNvPr id="56336" name="Group 16"/>
          <p:cNvGrpSpPr>
            <a:grpSpLocks/>
          </p:cNvGrpSpPr>
          <p:nvPr/>
        </p:nvGrpSpPr>
        <p:grpSpPr bwMode="auto">
          <a:xfrm>
            <a:off x="4000500" y="2500313"/>
            <a:ext cx="446088" cy="2000250"/>
            <a:chOff x="4000496" y="2500306"/>
            <a:chExt cx="446088" cy="2000262"/>
          </a:xfrm>
        </p:grpSpPr>
        <p:sp>
          <p:nvSpPr>
            <p:cNvPr id="56339" name="Freeform 24"/>
            <p:cNvSpPr>
              <a:spLocks/>
            </p:cNvSpPr>
            <p:nvPr/>
          </p:nvSpPr>
          <p:spPr bwMode="auto">
            <a:xfrm>
              <a:off x="4429125" y="3071813"/>
              <a:ext cx="3175" cy="912812"/>
            </a:xfrm>
            <a:custGeom>
              <a:avLst/>
              <a:gdLst>
                <a:gd name="T0" fmla="*/ 0 w 2"/>
                <a:gd name="T1" fmla="*/ 2147483647 h 575"/>
                <a:gd name="T2" fmla="*/ 2147483647 w 2"/>
                <a:gd name="T3" fmla="*/ 0 h 575"/>
                <a:gd name="T4" fmla="*/ 0 60000 65536"/>
                <a:gd name="T5" fmla="*/ 0 60000 65536"/>
                <a:gd name="T6" fmla="*/ 0 w 2"/>
                <a:gd name="T7" fmla="*/ 0 h 575"/>
                <a:gd name="T8" fmla="*/ 2 w 2"/>
                <a:gd name="T9" fmla="*/ 575 h 5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5">
                  <a:moveTo>
                    <a:pt x="0" y="575"/>
                  </a:moveTo>
                  <a:lnTo>
                    <a:pt x="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graphicFrame>
          <p:nvGraphicFramePr>
            <p:cNvPr id="56322" name="Object 3"/>
            <p:cNvGraphicFramePr>
              <a:graphicFrameLocks noChangeAspect="1"/>
            </p:cNvGraphicFramePr>
            <p:nvPr/>
          </p:nvGraphicFramePr>
          <p:xfrm>
            <a:off x="4071934" y="2500306"/>
            <a:ext cx="241300" cy="338137"/>
          </p:xfrm>
          <a:graphic>
            <a:graphicData uri="http://schemas.openxmlformats.org/presentationml/2006/ole">
              <p:oleObj spid="_x0000_s56322" name="Equation" r:id="rId4" imgW="88560" imgH="164880" progId="Equation.DSMT4">
                <p:embed/>
              </p:oleObj>
            </a:graphicData>
          </a:graphic>
        </p:graphicFrame>
        <p:graphicFrame>
          <p:nvGraphicFramePr>
            <p:cNvPr id="56323" name="Object 18"/>
            <p:cNvGraphicFramePr>
              <a:graphicFrameLocks noChangeAspect="1"/>
            </p:cNvGraphicFramePr>
            <p:nvPr/>
          </p:nvGraphicFramePr>
          <p:xfrm>
            <a:off x="4000496" y="4143380"/>
            <a:ext cx="446088" cy="357188"/>
          </p:xfrm>
          <a:graphic>
            <a:graphicData uri="http://schemas.openxmlformats.org/presentationml/2006/ole">
              <p:oleObj spid="_x0000_s56323" name="Equation" r:id="rId5" imgW="126720" imgH="164880" progId="Equation.DSMT4">
                <p:embed/>
              </p:oleObj>
            </a:graphicData>
          </a:graphic>
        </p:graphicFrame>
      </p:grpSp>
      <p:sp>
        <p:nvSpPr>
          <p:cNvPr id="22" name="Explosion 2 21"/>
          <p:cNvSpPr/>
          <p:nvPr/>
        </p:nvSpPr>
        <p:spPr>
          <a:xfrm>
            <a:off x="5072063" y="2428875"/>
            <a:ext cx="642937" cy="714375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AU">
              <a:solidFill>
                <a:srgbClr val="FFFFFF"/>
              </a:solidFill>
              <a:ea typeface="Gulim" pitchFamily="-28" charset="-127"/>
              <a:cs typeface="Gulim" pitchFamily="-28" charset="-127"/>
            </a:endParaRPr>
          </a:p>
        </p:txBody>
      </p:sp>
      <p:sp>
        <p:nvSpPr>
          <p:cNvPr id="23" name="Explosion 2 22"/>
          <p:cNvSpPr/>
          <p:nvPr/>
        </p:nvSpPr>
        <p:spPr>
          <a:xfrm>
            <a:off x="5072063" y="3857625"/>
            <a:ext cx="642937" cy="714375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AU">
              <a:solidFill>
                <a:srgbClr val="FFFFFF"/>
              </a:solidFill>
              <a:ea typeface="Gulim" pitchFamily="-28" charset="-127"/>
              <a:cs typeface="Gulim" pitchFamily="-2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Title 1"/>
          <p:cNvSpPr>
            <a:spLocks noGrp="1"/>
          </p:cNvSpPr>
          <p:nvPr>
            <p:ph type="title" idx="4294967295"/>
          </p:nvPr>
        </p:nvSpPr>
        <p:spPr>
          <a:xfrm>
            <a:off x="714375" y="500063"/>
            <a:ext cx="7772400" cy="747712"/>
          </a:xfrm>
        </p:spPr>
        <p:txBody>
          <a:bodyPr/>
          <a:lstStyle/>
          <a:p>
            <a:pPr eaLnBrk="1" hangingPunct="1"/>
            <a:r>
              <a:rPr lang="ko-KR" altLang="en-US" sz="3200">
                <a:ea typeface="Gulim" pitchFamily="-28" charset="-127"/>
                <a:cs typeface="Gulim" pitchFamily="-28" charset="-127"/>
              </a:rPr>
              <a:t>파동 함수를 도입해서 상태들을 표현한다</a:t>
            </a:r>
            <a:r>
              <a:rPr lang="en-US" altLang="ko-KR" sz="3200">
                <a:ea typeface="Gulim" pitchFamily="-28" charset="-127"/>
                <a:cs typeface="Gulim" pitchFamily="-28" charset="-127"/>
              </a:rPr>
              <a:t>.</a:t>
            </a:r>
          </a:p>
        </p:txBody>
      </p:sp>
      <p:sp>
        <p:nvSpPr>
          <p:cNvPr id="57350" name="Freeform 24"/>
          <p:cNvSpPr>
            <a:spLocks/>
          </p:cNvSpPr>
          <p:nvPr/>
        </p:nvSpPr>
        <p:spPr bwMode="auto">
          <a:xfrm>
            <a:off x="4429125" y="2000250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7351" name="Freeform 24"/>
          <p:cNvSpPr>
            <a:spLocks/>
          </p:cNvSpPr>
          <p:nvPr/>
        </p:nvSpPr>
        <p:spPr bwMode="auto">
          <a:xfrm>
            <a:off x="4429125" y="4143375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7352" name="Freeform 24"/>
          <p:cNvSpPr>
            <a:spLocks/>
          </p:cNvSpPr>
          <p:nvPr/>
        </p:nvSpPr>
        <p:spPr bwMode="auto">
          <a:xfrm>
            <a:off x="7786688" y="1928813"/>
            <a:ext cx="3175" cy="324008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7353" name="Freeform 9"/>
          <p:cNvSpPr>
            <a:spLocks/>
          </p:cNvSpPr>
          <p:nvPr/>
        </p:nvSpPr>
        <p:spPr bwMode="auto">
          <a:xfrm>
            <a:off x="4143375" y="2857500"/>
            <a:ext cx="709613" cy="234950"/>
          </a:xfrm>
          <a:custGeom>
            <a:avLst/>
            <a:gdLst>
              <a:gd name="T0" fmla="*/ 2147483647 w 453"/>
              <a:gd name="T1" fmla="*/ 0 h 128"/>
              <a:gd name="T2" fmla="*/ 0 w 453"/>
              <a:gd name="T3" fmla="*/ 2147483647 h 128"/>
              <a:gd name="T4" fmla="*/ 0 60000 65536"/>
              <a:gd name="T5" fmla="*/ 0 60000 65536"/>
              <a:gd name="T6" fmla="*/ 0 w 453"/>
              <a:gd name="T7" fmla="*/ 0 h 128"/>
              <a:gd name="T8" fmla="*/ 453 w 453"/>
              <a:gd name="T9" fmla="*/ 128 h 1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3" h="128">
                <a:moveTo>
                  <a:pt x="453" y="0"/>
                </a:moveTo>
                <a:cubicBezTo>
                  <a:pt x="385" y="22"/>
                  <a:pt x="257" y="61"/>
                  <a:pt x="0" y="128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7354" name="Freeform 24"/>
          <p:cNvSpPr>
            <a:spLocks/>
          </p:cNvSpPr>
          <p:nvPr/>
        </p:nvSpPr>
        <p:spPr bwMode="auto">
          <a:xfrm>
            <a:off x="4500563" y="3857625"/>
            <a:ext cx="3175" cy="339725"/>
          </a:xfrm>
          <a:custGeom>
            <a:avLst/>
            <a:gdLst>
              <a:gd name="T0" fmla="*/ 0 w 2"/>
              <a:gd name="T1" fmla="*/ 2147483647 h 214"/>
              <a:gd name="T2" fmla="*/ 2147483647 w 2"/>
              <a:gd name="T3" fmla="*/ 2147483647 h 214"/>
              <a:gd name="T4" fmla="*/ 0 60000 65536"/>
              <a:gd name="T5" fmla="*/ 0 60000 65536"/>
              <a:gd name="T6" fmla="*/ 0 w 2"/>
              <a:gd name="T7" fmla="*/ 0 h 214"/>
              <a:gd name="T8" fmla="*/ 2 w 2"/>
              <a:gd name="T9" fmla="*/ 214 h 2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214">
                <a:moveTo>
                  <a:pt x="0" y="192"/>
                </a:moveTo>
                <a:cubicBezTo>
                  <a:pt x="1" y="0"/>
                  <a:pt x="1" y="214"/>
                  <a:pt x="2" y="22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7355" name="Freeform 9"/>
          <p:cNvSpPr>
            <a:spLocks/>
          </p:cNvSpPr>
          <p:nvPr/>
        </p:nvSpPr>
        <p:spPr bwMode="auto">
          <a:xfrm>
            <a:off x="6715125" y="1928813"/>
            <a:ext cx="760413" cy="3197225"/>
          </a:xfrm>
          <a:custGeom>
            <a:avLst/>
            <a:gdLst>
              <a:gd name="T0" fmla="*/ 2147483647 w 486"/>
              <a:gd name="T1" fmla="*/ 0 h 1745"/>
              <a:gd name="T2" fmla="*/ 2147483647 w 486"/>
              <a:gd name="T3" fmla="*/ 2147483647 h 1745"/>
              <a:gd name="T4" fmla="*/ 2147483647 w 486"/>
              <a:gd name="T5" fmla="*/ 2147483647 h 1745"/>
              <a:gd name="T6" fmla="*/ 2147483647 w 486"/>
              <a:gd name="T7" fmla="*/ 2147483647 h 1745"/>
              <a:gd name="T8" fmla="*/ 2147483647 w 486"/>
              <a:gd name="T9" fmla="*/ 2147483647 h 1745"/>
              <a:gd name="T10" fmla="*/ 2147483647 w 486"/>
              <a:gd name="T11" fmla="*/ 2147483647 h 174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86"/>
              <a:gd name="T19" fmla="*/ 0 h 1745"/>
              <a:gd name="T20" fmla="*/ 486 w 486"/>
              <a:gd name="T21" fmla="*/ 1745 h 174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6" h="1745">
                <a:moveTo>
                  <a:pt x="315" y="0"/>
                </a:moveTo>
                <a:cubicBezTo>
                  <a:pt x="288" y="24"/>
                  <a:pt x="296" y="71"/>
                  <a:pt x="247" y="143"/>
                </a:cubicBezTo>
                <a:cubicBezTo>
                  <a:pt x="198" y="215"/>
                  <a:pt x="0" y="316"/>
                  <a:pt x="21" y="430"/>
                </a:cubicBezTo>
                <a:cubicBezTo>
                  <a:pt x="32" y="597"/>
                  <a:pt x="205" y="686"/>
                  <a:pt x="282" y="827"/>
                </a:cubicBezTo>
                <a:cubicBezTo>
                  <a:pt x="334" y="941"/>
                  <a:pt x="390" y="962"/>
                  <a:pt x="424" y="1115"/>
                </a:cubicBezTo>
                <a:cubicBezTo>
                  <a:pt x="458" y="1268"/>
                  <a:pt x="461" y="1640"/>
                  <a:pt x="486" y="1745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57356" name="Picture 4" descr="C:\Documents and Settings\Jeong\Desktop\image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8" y="3286125"/>
            <a:ext cx="12668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7357" name="Group 16"/>
          <p:cNvGrpSpPr>
            <a:grpSpLocks/>
          </p:cNvGrpSpPr>
          <p:nvPr/>
        </p:nvGrpSpPr>
        <p:grpSpPr bwMode="auto">
          <a:xfrm>
            <a:off x="1571625" y="3429000"/>
            <a:ext cx="285750" cy="307975"/>
            <a:chOff x="1928794" y="3357542"/>
            <a:chExt cx="284996" cy="308622"/>
          </a:xfrm>
        </p:grpSpPr>
        <p:sp>
          <p:nvSpPr>
            <p:cNvPr id="57360" name="Freeform 9"/>
            <p:cNvSpPr>
              <a:spLocks/>
            </p:cNvSpPr>
            <p:nvPr/>
          </p:nvSpPr>
          <p:spPr bwMode="auto">
            <a:xfrm flipV="1">
              <a:off x="1928794" y="3357542"/>
              <a:ext cx="284996" cy="142896"/>
            </a:xfrm>
            <a:custGeom>
              <a:avLst/>
              <a:gdLst>
                <a:gd name="T0" fmla="*/ 2147483647 w 182"/>
                <a:gd name="T1" fmla="*/ 2147483647 h 78"/>
                <a:gd name="T2" fmla="*/ 0 w 182"/>
                <a:gd name="T3" fmla="*/ 0 h 78"/>
                <a:gd name="T4" fmla="*/ 0 60000 65536"/>
                <a:gd name="T5" fmla="*/ 0 60000 65536"/>
                <a:gd name="T6" fmla="*/ 0 w 182"/>
                <a:gd name="T7" fmla="*/ 0 h 78"/>
                <a:gd name="T8" fmla="*/ 182 w 182"/>
                <a:gd name="T9" fmla="*/ 78 h 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78">
                  <a:moveTo>
                    <a:pt x="182" y="7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57361" name="Freeform 9"/>
            <p:cNvSpPr>
              <a:spLocks/>
            </p:cNvSpPr>
            <p:nvPr/>
          </p:nvSpPr>
          <p:spPr bwMode="auto">
            <a:xfrm>
              <a:off x="1928794" y="3500438"/>
              <a:ext cx="214314" cy="165726"/>
            </a:xfrm>
            <a:custGeom>
              <a:avLst/>
              <a:gdLst>
                <a:gd name="T0" fmla="*/ 2147483647 w 182"/>
                <a:gd name="T1" fmla="*/ 2147483647 h 42"/>
                <a:gd name="T2" fmla="*/ 0 w 182"/>
                <a:gd name="T3" fmla="*/ 0 h 42"/>
                <a:gd name="T4" fmla="*/ 0 60000 65536"/>
                <a:gd name="T5" fmla="*/ 0 60000 65536"/>
                <a:gd name="T6" fmla="*/ 0 w 182"/>
                <a:gd name="T7" fmla="*/ 0 h 42"/>
                <a:gd name="T8" fmla="*/ 182 w 182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42">
                  <a:moveTo>
                    <a:pt x="182" y="4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57362" name="Freeform 9"/>
            <p:cNvSpPr>
              <a:spLocks/>
            </p:cNvSpPr>
            <p:nvPr/>
          </p:nvSpPr>
          <p:spPr bwMode="auto">
            <a:xfrm>
              <a:off x="1928794" y="3500438"/>
              <a:ext cx="266704" cy="23675"/>
            </a:xfrm>
            <a:custGeom>
              <a:avLst/>
              <a:gdLst>
                <a:gd name="T0" fmla="*/ 2147483647 w 182"/>
                <a:gd name="T1" fmla="*/ 2147483647 h 6"/>
                <a:gd name="T2" fmla="*/ 0 w 182"/>
                <a:gd name="T3" fmla="*/ 0 h 6"/>
                <a:gd name="T4" fmla="*/ 0 60000 65536"/>
                <a:gd name="T5" fmla="*/ 0 60000 65536"/>
                <a:gd name="T6" fmla="*/ 0 w 182"/>
                <a:gd name="T7" fmla="*/ 0 h 6"/>
                <a:gd name="T8" fmla="*/ 182 w 182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6">
                  <a:moveTo>
                    <a:pt x="182" y="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grpSp>
        <p:nvGrpSpPr>
          <p:cNvPr id="57358" name="Group 18"/>
          <p:cNvGrpSpPr>
            <a:grpSpLocks/>
          </p:cNvGrpSpPr>
          <p:nvPr/>
        </p:nvGrpSpPr>
        <p:grpSpPr bwMode="auto">
          <a:xfrm>
            <a:off x="4000500" y="2500313"/>
            <a:ext cx="446088" cy="2000250"/>
            <a:chOff x="4000496" y="2500306"/>
            <a:chExt cx="446088" cy="2000262"/>
          </a:xfrm>
        </p:grpSpPr>
        <p:sp>
          <p:nvSpPr>
            <p:cNvPr id="57359" name="Freeform 24"/>
            <p:cNvSpPr>
              <a:spLocks/>
            </p:cNvSpPr>
            <p:nvPr/>
          </p:nvSpPr>
          <p:spPr bwMode="auto">
            <a:xfrm>
              <a:off x="4429125" y="3071813"/>
              <a:ext cx="3175" cy="912812"/>
            </a:xfrm>
            <a:custGeom>
              <a:avLst/>
              <a:gdLst>
                <a:gd name="T0" fmla="*/ 0 w 2"/>
                <a:gd name="T1" fmla="*/ 2147483647 h 575"/>
                <a:gd name="T2" fmla="*/ 2147483647 w 2"/>
                <a:gd name="T3" fmla="*/ 0 h 575"/>
                <a:gd name="T4" fmla="*/ 0 60000 65536"/>
                <a:gd name="T5" fmla="*/ 0 60000 65536"/>
                <a:gd name="T6" fmla="*/ 0 w 2"/>
                <a:gd name="T7" fmla="*/ 0 h 575"/>
                <a:gd name="T8" fmla="*/ 2 w 2"/>
                <a:gd name="T9" fmla="*/ 575 h 5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5">
                  <a:moveTo>
                    <a:pt x="0" y="575"/>
                  </a:moveTo>
                  <a:lnTo>
                    <a:pt x="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graphicFrame>
          <p:nvGraphicFramePr>
            <p:cNvPr id="57347" name="Object 17"/>
            <p:cNvGraphicFramePr>
              <a:graphicFrameLocks noChangeAspect="1"/>
            </p:cNvGraphicFramePr>
            <p:nvPr/>
          </p:nvGraphicFramePr>
          <p:xfrm>
            <a:off x="4071934" y="2500306"/>
            <a:ext cx="241300" cy="338137"/>
          </p:xfrm>
          <a:graphic>
            <a:graphicData uri="http://schemas.openxmlformats.org/presentationml/2006/ole">
              <p:oleObj spid="_x0000_s57347" name="Equation" r:id="rId4" imgW="88560" imgH="164880" progId="Equation.DSMT4">
                <p:embed/>
              </p:oleObj>
            </a:graphicData>
          </a:graphic>
        </p:graphicFrame>
        <p:graphicFrame>
          <p:nvGraphicFramePr>
            <p:cNvPr id="57348" name="Object 18"/>
            <p:cNvGraphicFramePr>
              <a:graphicFrameLocks noChangeAspect="1"/>
            </p:cNvGraphicFramePr>
            <p:nvPr/>
          </p:nvGraphicFramePr>
          <p:xfrm>
            <a:off x="4000496" y="4143380"/>
            <a:ext cx="446088" cy="357188"/>
          </p:xfrm>
          <a:graphic>
            <a:graphicData uri="http://schemas.openxmlformats.org/presentationml/2006/ole">
              <p:oleObj spid="_x0000_s57348" name="Equation" r:id="rId5" imgW="126720" imgH="164880" progId="Equation.DSMT4">
                <p:embed/>
              </p:oleObj>
            </a:graphicData>
          </a:graphic>
        </p:graphicFrame>
      </p:grpSp>
      <p:graphicFrame>
        <p:nvGraphicFramePr>
          <p:cNvPr id="57346" name="Object 3"/>
          <p:cNvGraphicFramePr>
            <a:graphicFrameLocks noChangeAspect="1"/>
          </p:cNvGraphicFramePr>
          <p:nvPr/>
        </p:nvGraphicFramePr>
        <p:xfrm>
          <a:off x="3908425" y="5476875"/>
          <a:ext cx="1181100" cy="527050"/>
        </p:xfrm>
        <a:graphic>
          <a:graphicData uri="http://schemas.openxmlformats.org/presentationml/2006/ole">
            <p:oleObj spid="_x0000_s57346" name="Equation" r:id="rId6" imgW="482400" imgH="21564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3" name="Freeform 24"/>
          <p:cNvSpPr>
            <a:spLocks/>
          </p:cNvSpPr>
          <p:nvPr/>
        </p:nvSpPr>
        <p:spPr bwMode="auto">
          <a:xfrm>
            <a:off x="4429125" y="3071813"/>
            <a:ext cx="3175" cy="912812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8374" name="Freeform 24"/>
          <p:cNvSpPr>
            <a:spLocks/>
          </p:cNvSpPr>
          <p:nvPr/>
        </p:nvSpPr>
        <p:spPr bwMode="auto">
          <a:xfrm>
            <a:off x="4429125" y="2000250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8375" name="Freeform 24"/>
          <p:cNvSpPr>
            <a:spLocks/>
          </p:cNvSpPr>
          <p:nvPr/>
        </p:nvSpPr>
        <p:spPr bwMode="auto">
          <a:xfrm>
            <a:off x="4429125" y="4143375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8376" name="Freeform 24"/>
          <p:cNvSpPr>
            <a:spLocks/>
          </p:cNvSpPr>
          <p:nvPr/>
        </p:nvSpPr>
        <p:spPr bwMode="auto">
          <a:xfrm>
            <a:off x="7786688" y="1928813"/>
            <a:ext cx="3175" cy="324008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8377" name="Freeform 9"/>
          <p:cNvSpPr>
            <a:spLocks/>
          </p:cNvSpPr>
          <p:nvPr/>
        </p:nvSpPr>
        <p:spPr bwMode="auto">
          <a:xfrm flipV="1">
            <a:off x="4143375" y="4000500"/>
            <a:ext cx="714375" cy="176213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58378" name="Picture 4" descr="C:\Documents and Settings\Jeong\Desktop\image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8" y="3286125"/>
            <a:ext cx="12668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8379" name="Group 16"/>
          <p:cNvGrpSpPr>
            <a:grpSpLocks/>
          </p:cNvGrpSpPr>
          <p:nvPr/>
        </p:nvGrpSpPr>
        <p:grpSpPr bwMode="auto">
          <a:xfrm>
            <a:off x="1571625" y="3429000"/>
            <a:ext cx="285750" cy="307975"/>
            <a:chOff x="1928794" y="3357542"/>
            <a:chExt cx="284996" cy="308622"/>
          </a:xfrm>
        </p:grpSpPr>
        <p:sp>
          <p:nvSpPr>
            <p:cNvPr id="58384" name="Freeform 9"/>
            <p:cNvSpPr>
              <a:spLocks/>
            </p:cNvSpPr>
            <p:nvPr/>
          </p:nvSpPr>
          <p:spPr bwMode="auto">
            <a:xfrm flipV="1">
              <a:off x="1928794" y="3357542"/>
              <a:ext cx="284996" cy="142896"/>
            </a:xfrm>
            <a:custGeom>
              <a:avLst/>
              <a:gdLst>
                <a:gd name="T0" fmla="*/ 2147483647 w 182"/>
                <a:gd name="T1" fmla="*/ 2147483647 h 78"/>
                <a:gd name="T2" fmla="*/ 0 w 182"/>
                <a:gd name="T3" fmla="*/ 0 h 78"/>
                <a:gd name="T4" fmla="*/ 0 60000 65536"/>
                <a:gd name="T5" fmla="*/ 0 60000 65536"/>
                <a:gd name="T6" fmla="*/ 0 w 182"/>
                <a:gd name="T7" fmla="*/ 0 h 78"/>
                <a:gd name="T8" fmla="*/ 182 w 182"/>
                <a:gd name="T9" fmla="*/ 78 h 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78">
                  <a:moveTo>
                    <a:pt x="182" y="7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58385" name="Freeform 9"/>
            <p:cNvSpPr>
              <a:spLocks/>
            </p:cNvSpPr>
            <p:nvPr/>
          </p:nvSpPr>
          <p:spPr bwMode="auto">
            <a:xfrm>
              <a:off x="1928794" y="3500438"/>
              <a:ext cx="214314" cy="165726"/>
            </a:xfrm>
            <a:custGeom>
              <a:avLst/>
              <a:gdLst>
                <a:gd name="T0" fmla="*/ 2147483647 w 182"/>
                <a:gd name="T1" fmla="*/ 2147483647 h 42"/>
                <a:gd name="T2" fmla="*/ 0 w 182"/>
                <a:gd name="T3" fmla="*/ 0 h 42"/>
                <a:gd name="T4" fmla="*/ 0 60000 65536"/>
                <a:gd name="T5" fmla="*/ 0 60000 65536"/>
                <a:gd name="T6" fmla="*/ 0 w 182"/>
                <a:gd name="T7" fmla="*/ 0 h 42"/>
                <a:gd name="T8" fmla="*/ 182 w 182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42">
                  <a:moveTo>
                    <a:pt x="182" y="4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58386" name="Freeform 9"/>
            <p:cNvSpPr>
              <a:spLocks/>
            </p:cNvSpPr>
            <p:nvPr/>
          </p:nvSpPr>
          <p:spPr bwMode="auto">
            <a:xfrm>
              <a:off x="1928794" y="3500438"/>
              <a:ext cx="266704" cy="23675"/>
            </a:xfrm>
            <a:custGeom>
              <a:avLst/>
              <a:gdLst>
                <a:gd name="T0" fmla="*/ 2147483647 w 182"/>
                <a:gd name="T1" fmla="*/ 2147483647 h 6"/>
                <a:gd name="T2" fmla="*/ 0 w 182"/>
                <a:gd name="T3" fmla="*/ 0 h 6"/>
                <a:gd name="T4" fmla="*/ 0 60000 65536"/>
                <a:gd name="T5" fmla="*/ 0 60000 65536"/>
                <a:gd name="T6" fmla="*/ 0 w 182"/>
                <a:gd name="T7" fmla="*/ 0 h 6"/>
                <a:gd name="T8" fmla="*/ 182 w 182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6">
                  <a:moveTo>
                    <a:pt x="182" y="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sp>
        <p:nvSpPr>
          <p:cNvPr id="58380" name="Freeform 24"/>
          <p:cNvSpPr>
            <a:spLocks/>
          </p:cNvSpPr>
          <p:nvPr/>
        </p:nvSpPr>
        <p:spPr bwMode="auto">
          <a:xfrm>
            <a:off x="4500563" y="2786063"/>
            <a:ext cx="3175" cy="339725"/>
          </a:xfrm>
          <a:custGeom>
            <a:avLst/>
            <a:gdLst>
              <a:gd name="T0" fmla="*/ 0 w 2"/>
              <a:gd name="T1" fmla="*/ 2147483647 h 214"/>
              <a:gd name="T2" fmla="*/ 2147483647 w 2"/>
              <a:gd name="T3" fmla="*/ 2147483647 h 214"/>
              <a:gd name="T4" fmla="*/ 0 60000 65536"/>
              <a:gd name="T5" fmla="*/ 0 60000 65536"/>
              <a:gd name="T6" fmla="*/ 0 w 2"/>
              <a:gd name="T7" fmla="*/ 0 h 214"/>
              <a:gd name="T8" fmla="*/ 2 w 2"/>
              <a:gd name="T9" fmla="*/ 214 h 2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214">
                <a:moveTo>
                  <a:pt x="0" y="192"/>
                </a:moveTo>
                <a:cubicBezTo>
                  <a:pt x="1" y="0"/>
                  <a:pt x="1" y="214"/>
                  <a:pt x="2" y="22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8381" name="Freeform 9"/>
          <p:cNvSpPr>
            <a:spLocks/>
          </p:cNvSpPr>
          <p:nvPr/>
        </p:nvSpPr>
        <p:spPr bwMode="auto">
          <a:xfrm>
            <a:off x="6572250" y="2143125"/>
            <a:ext cx="857250" cy="3197225"/>
          </a:xfrm>
          <a:custGeom>
            <a:avLst/>
            <a:gdLst>
              <a:gd name="T0" fmla="*/ 2147483647 w 547"/>
              <a:gd name="T1" fmla="*/ 0 h 1745"/>
              <a:gd name="T2" fmla="*/ 2147483647 w 547"/>
              <a:gd name="T3" fmla="*/ 2147483647 h 1745"/>
              <a:gd name="T4" fmla="*/ 2147483647 w 547"/>
              <a:gd name="T5" fmla="*/ 2147483647 h 1745"/>
              <a:gd name="T6" fmla="*/ 2147483647 w 547"/>
              <a:gd name="T7" fmla="*/ 2147483647 h 1745"/>
              <a:gd name="T8" fmla="*/ 2147483647 w 547"/>
              <a:gd name="T9" fmla="*/ 2147483647 h 1745"/>
              <a:gd name="T10" fmla="*/ 2147483647 w 547"/>
              <a:gd name="T11" fmla="*/ 2147483647 h 174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47"/>
              <a:gd name="T19" fmla="*/ 0 h 1745"/>
              <a:gd name="T20" fmla="*/ 547 w 547"/>
              <a:gd name="T21" fmla="*/ 1745 h 174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47" h="1745">
                <a:moveTo>
                  <a:pt x="521" y="0"/>
                </a:moveTo>
                <a:cubicBezTo>
                  <a:pt x="547" y="35"/>
                  <a:pt x="518" y="39"/>
                  <a:pt x="507" y="169"/>
                </a:cubicBezTo>
                <a:cubicBezTo>
                  <a:pt x="507" y="275"/>
                  <a:pt x="450" y="489"/>
                  <a:pt x="409" y="664"/>
                </a:cubicBezTo>
                <a:cubicBezTo>
                  <a:pt x="420" y="831"/>
                  <a:pt x="0" y="1076"/>
                  <a:pt x="77" y="1217"/>
                </a:cubicBezTo>
                <a:cubicBezTo>
                  <a:pt x="129" y="1331"/>
                  <a:pt x="337" y="1417"/>
                  <a:pt x="402" y="1505"/>
                </a:cubicBezTo>
                <a:cubicBezTo>
                  <a:pt x="467" y="1593"/>
                  <a:pt x="439" y="1640"/>
                  <a:pt x="464" y="1745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grpSp>
        <p:nvGrpSpPr>
          <p:cNvPr id="58382" name="Group 16"/>
          <p:cNvGrpSpPr>
            <a:grpSpLocks/>
          </p:cNvGrpSpPr>
          <p:nvPr/>
        </p:nvGrpSpPr>
        <p:grpSpPr bwMode="auto">
          <a:xfrm>
            <a:off x="4000500" y="2500313"/>
            <a:ext cx="446088" cy="2000250"/>
            <a:chOff x="4000496" y="2500306"/>
            <a:chExt cx="446088" cy="2000262"/>
          </a:xfrm>
        </p:grpSpPr>
        <p:sp>
          <p:nvSpPr>
            <p:cNvPr id="58383" name="Freeform 24"/>
            <p:cNvSpPr>
              <a:spLocks/>
            </p:cNvSpPr>
            <p:nvPr/>
          </p:nvSpPr>
          <p:spPr bwMode="auto">
            <a:xfrm>
              <a:off x="4429125" y="3071813"/>
              <a:ext cx="3175" cy="912812"/>
            </a:xfrm>
            <a:custGeom>
              <a:avLst/>
              <a:gdLst>
                <a:gd name="T0" fmla="*/ 0 w 2"/>
                <a:gd name="T1" fmla="*/ 2147483647 h 575"/>
                <a:gd name="T2" fmla="*/ 2147483647 w 2"/>
                <a:gd name="T3" fmla="*/ 0 h 575"/>
                <a:gd name="T4" fmla="*/ 0 60000 65536"/>
                <a:gd name="T5" fmla="*/ 0 60000 65536"/>
                <a:gd name="T6" fmla="*/ 0 w 2"/>
                <a:gd name="T7" fmla="*/ 0 h 575"/>
                <a:gd name="T8" fmla="*/ 2 w 2"/>
                <a:gd name="T9" fmla="*/ 575 h 5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5">
                  <a:moveTo>
                    <a:pt x="0" y="575"/>
                  </a:moveTo>
                  <a:lnTo>
                    <a:pt x="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graphicFrame>
          <p:nvGraphicFramePr>
            <p:cNvPr id="58371" name="Object 17"/>
            <p:cNvGraphicFramePr>
              <a:graphicFrameLocks noChangeAspect="1"/>
            </p:cNvGraphicFramePr>
            <p:nvPr/>
          </p:nvGraphicFramePr>
          <p:xfrm>
            <a:off x="4071934" y="2500306"/>
            <a:ext cx="241300" cy="338137"/>
          </p:xfrm>
          <a:graphic>
            <a:graphicData uri="http://schemas.openxmlformats.org/presentationml/2006/ole">
              <p:oleObj spid="_x0000_s58371" name="Equation" r:id="rId4" imgW="88560" imgH="164880" progId="Equation.DSMT4">
                <p:embed/>
              </p:oleObj>
            </a:graphicData>
          </a:graphic>
        </p:graphicFrame>
        <p:graphicFrame>
          <p:nvGraphicFramePr>
            <p:cNvPr id="58372" name="Object 18"/>
            <p:cNvGraphicFramePr>
              <a:graphicFrameLocks noChangeAspect="1"/>
            </p:cNvGraphicFramePr>
            <p:nvPr/>
          </p:nvGraphicFramePr>
          <p:xfrm>
            <a:off x="4000496" y="4143380"/>
            <a:ext cx="446088" cy="357188"/>
          </p:xfrm>
          <a:graphic>
            <a:graphicData uri="http://schemas.openxmlformats.org/presentationml/2006/ole">
              <p:oleObj spid="_x0000_s58372" name="Equation" r:id="rId5" imgW="126720" imgH="164880" progId="Equation.DSMT4">
                <p:embed/>
              </p:oleObj>
            </a:graphicData>
          </a:graphic>
        </p:graphicFrame>
      </p:grpSp>
      <p:graphicFrame>
        <p:nvGraphicFramePr>
          <p:cNvPr id="58370" name="Object 3"/>
          <p:cNvGraphicFramePr>
            <a:graphicFrameLocks noChangeAspect="1"/>
          </p:cNvGraphicFramePr>
          <p:nvPr/>
        </p:nvGraphicFramePr>
        <p:xfrm>
          <a:off x="3892550" y="5476875"/>
          <a:ext cx="1212850" cy="527050"/>
        </p:xfrm>
        <a:graphic>
          <a:graphicData uri="http://schemas.openxmlformats.org/presentationml/2006/ole">
            <p:oleObj spid="_x0000_s58370" name="Equation" r:id="rId6" imgW="495000" imgH="21564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7" name="Freeform 24"/>
          <p:cNvSpPr>
            <a:spLocks/>
          </p:cNvSpPr>
          <p:nvPr/>
        </p:nvSpPr>
        <p:spPr bwMode="auto">
          <a:xfrm>
            <a:off x="4429125" y="3071813"/>
            <a:ext cx="3175" cy="912812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9398" name="Freeform 24"/>
          <p:cNvSpPr>
            <a:spLocks/>
          </p:cNvSpPr>
          <p:nvPr/>
        </p:nvSpPr>
        <p:spPr bwMode="auto">
          <a:xfrm>
            <a:off x="4429125" y="2000250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9399" name="Freeform 24"/>
          <p:cNvSpPr>
            <a:spLocks/>
          </p:cNvSpPr>
          <p:nvPr/>
        </p:nvSpPr>
        <p:spPr bwMode="auto">
          <a:xfrm>
            <a:off x="4429125" y="4143375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9400" name="Freeform 24"/>
          <p:cNvSpPr>
            <a:spLocks/>
          </p:cNvSpPr>
          <p:nvPr/>
        </p:nvSpPr>
        <p:spPr bwMode="auto">
          <a:xfrm>
            <a:off x="7786688" y="1928813"/>
            <a:ext cx="3175" cy="324008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9401" name="Freeform 9"/>
          <p:cNvSpPr>
            <a:spLocks/>
          </p:cNvSpPr>
          <p:nvPr/>
        </p:nvSpPr>
        <p:spPr bwMode="auto">
          <a:xfrm>
            <a:off x="4143375" y="2857500"/>
            <a:ext cx="709613" cy="234950"/>
          </a:xfrm>
          <a:custGeom>
            <a:avLst/>
            <a:gdLst>
              <a:gd name="T0" fmla="*/ 2147483647 w 453"/>
              <a:gd name="T1" fmla="*/ 0 h 128"/>
              <a:gd name="T2" fmla="*/ 0 w 453"/>
              <a:gd name="T3" fmla="*/ 2147483647 h 128"/>
              <a:gd name="T4" fmla="*/ 0 60000 65536"/>
              <a:gd name="T5" fmla="*/ 0 60000 65536"/>
              <a:gd name="T6" fmla="*/ 0 w 453"/>
              <a:gd name="T7" fmla="*/ 0 h 128"/>
              <a:gd name="T8" fmla="*/ 453 w 453"/>
              <a:gd name="T9" fmla="*/ 128 h 1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3" h="128">
                <a:moveTo>
                  <a:pt x="453" y="0"/>
                </a:moveTo>
                <a:cubicBezTo>
                  <a:pt x="385" y="22"/>
                  <a:pt x="257" y="61"/>
                  <a:pt x="0" y="128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59402" name="Freeform 9"/>
          <p:cNvSpPr>
            <a:spLocks/>
          </p:cNvSpPr>
          <p:nvPr/>
        </p:nvSpPr>
        <p:spPr bwMode="auto">
          <a:xfrm flipV="1">
            <a:off x="4143375" y="4000500"/>
            <a:ext cx="714375" cy="176213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59403" name="Picture 4" descr="C:\Documents and Settings\Jeong\Desktop\image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8" y="3286125"/>
            <a:ext cx="12668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9404" name="Group 16"/>
          <p:cNvGrpSpPr>
            <a:grpSpLocks/>
          </p:cNvGrpSpPr>
          <p:nvPr/>
        </p:nvGrpSpPr>
        <p:grpSpPr bwMode="auto">
          <a:xfrm>
            <a:off x="1571625" y="3429000"/>
            <a:ext cx="285750" cy="307975"/>
            <a:chOff x="1928794" y="3357542"/>
            <a:chExt cx="284996" cy="308622"/>
          </a:xfrm>
        </p:grpSpPr>
        <p:sp>
          <p:nvSpPr>
            <p:cNvPr id="59409" name="Freeform 9"/>
            <p:cNvSpPr>
              <a:spLocks/>
            </p:cNvSpPr>
            <p:nvPr/>
          </p:nvSpPr>
          <p:spPr bwMode="auto">
            <a:xfrm flipV="1">
              <a:off x="1928794" y="3357542"/>
              <a:ext cx="284996" cy="142896"/>
            </a:xfrm>
            <a:custGeom>
              <a:avLst/>
              <a:gdLst>
                <a:gd name="T0" fmla="*/ 2147483647 w 182"/>
                <a:gd name="T1" fmla="*/ 2147483647 h 78"/>
                <a:gd name="T2" fmla="*/ 0 w 182"/>
                <a:gd name="T3" fmla="*/ 0 h 78"/>
                <a:gd name="T4" fmla="*/ 0 60000 65536"/>
                <a:gd name="T5" fmla="*/ 0 60000 65536"/>
                <a:gd name="T6" fmla="*/ 0 w 182"/>
                <a:gd name="T7" fmla="*/ 0 h 78"/>
                <a:gd name="T8" fmla="*/ 182 w 182"/>
                <a:gd name="T9" fmla="*/ 78 h 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78">
                  <a:moveTo>
                    <a:pt x="182" y="7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59410" name="Freeform 9"/>
            <p:cNvSpPr>
              <a:spLocks/>
            </p:cNvSpPr>
            <p:nvPr/>
          </p:nvSpPr>
          <p:spPr bwMode="auto">
            <a:xfrm>
              <a:off x="1928794" y="3500438"/>
              <a:ext cx="214314" cy="165726"/>
            </a:xfrm>
            <a:custGeom>
              <a:avLst/>
              <a:gdLst>
                <a:gd name="T0" fmla="*/ 2147483647 w 182"/>
                <a:gd name="T1" fmla="*/ 2147483647 h 42"/>
                <a:gd name="T2" fmla="*/ 0 w 182"/>
                <a:gd name="T3" fmla="*/ 0 h 42"/>
                <a:gd name="T4" fmla="*/ 0 60000 65536"/>
                <a:gd name="T5" fmla="*/ 0 60000 65536"/>
                <a:gd name="T6" fmla="*/ 0 w 182"/>
                <a:gd name="T7" fmla="*/ 0 h 42"/>
                <a:gd name="T8" fmla="*/ 182 w 182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42">
                  <a:moveTo>
                    <a:pt x="182" y="4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59411" name="Freeform 9"/>
            <p:cNvSpPr>
              <a:spLocks/>
            </p:cNvSpPr>
            <p:nvPr/>
          </p:nvSpPr>
          <p:spPr bwMode="auto">
            <a:xfrm>
              <a:off x="1928794" y="3500438"/>
              <a:ext cx="266704" cy="23675"/>
            </a:xfrm>
            <a:custGeom>
              <a:avLst/>
              <a:gdLst>
                <a:gd name="T0" fmla="*/ 2147483647 w 182"/>
                <a:gd name="T1" fmla="*/ 2147483647 h 6"/>
                <a:gd name="T2" fmla="*/ 0 w 182"/>
                <a:gd name="T3" fmla="*/ 0 h 6"/>
                <a:gd name="T4" fmla="*/ 0 60000 65536"/>
                <a:gd name="T5" fmla="*/ 0 60000 65536"/>
                <a:gd name="T6" fmla="*/ 0 w 182"/>
                <a:gd name="T7" fmla="*/ 0 h 6"/>
                <a:gd name="T8" fmla="*/ 182 w 182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6">
                  <a:moveTo>
                    <a:pt x="182" y="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sp>
        <p:nvSpPr>
          <p:cNvPr id="59405" name="Freeform 9"/>
          <p:cNvSpPr>
            <a:spLocks/>
          </p:cNvSpPr>
          <p:nvPr/>
        </p:nvSpPr>
        <p:spPr bwMode="auto">
          <a:xfrm>
            <a:off x="6756400" y="2143125"/>
            <a:ext cx="814388" cy="3054350"/>
          </a:xfrm>
          <a:custGeom>
            <a:avLst/>
            <a:gdLst>
              <a:gd name="T0" fmla="*/ 2147483647 w 520"/>
              <a:gd name="T1" fmla="*/ 0 h 1667"/>
              <a:gd name="T2" fmla="*/ 2147483647 w 520"/>
              <a:gd name="T3" fmla="*/ 2147483647 h 1667"/>
              <a:gd name="T4" fmla="*/ 2147483647 w 520"/>
              <a:gd name="T5" fmla="*/ 2147483647 h 1667"/>
              <a:gd name="T6" fmla="*/ 2147483647 w 520"/>
              <a:gd name="T7" fmla="*/ 2147483647 h 1667"/>
              <a:gd name="T8" fmla="*/ 2147483647 w 520"/>
              <a:gd name="T9" fmla="*/ 2147483647 h 1667"/>
              <a:gd name="T10" fmla="*/ 0 w 520"/>
              <a:gd name="T11" fmla="*/ 2147483647 h 1667"/>
              <a:gd name="T12" fmla="*/ 2147483647 w 520"/>
              <a:gd name="T13" fmla="*/ 2147483647 h 1667"/>
              <a:gd name="T14" fmla="*/ 2147483647 w 520"/>
              <a:gd name="T15" fmla="*/ 2147483647 h 1667"/>
              <a:gd name="T16" fmla="*/ 2147483647 w 520"/>
              <a:gd name="T17" fmla="*/ 2147483647 h 166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20"/>
              <a:gd name="T28" fmla="*/ 0 h 1667"/>
              <a:gd name="T29" fmla="*/ 520 w 520"/>
              <a:gd name="T30" fmla="*/ 1667 h 166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20" h="1667">
                <a:moveTo>
                  <a:pt x="453" y="0"/>
                </a:moveTo>
                <a:cubicBezTo>
                  <a:pt x="422" y="30"/>
                  <a:pt x="214" y="154"/>
                  <a:pt x="219" y="217"/>
                </a:cubicBezTo>
                <a:cubicBezTo>
                  <a:pt x="224" y="280"/>
                  <a:pt x="449" y="365"/>
                  <a:pt x="483" y="380"/>
                </a:cubicBezTo>
                <a:cubicBezTo>
                  <a:pt x="498" y="453"/>
                  <a:pt x="31" y="506"/>
                  <a:pt x="33" y="578"/>
                </a:cubicBezTo>
                <a:cubicBezTo>
                  <a:pt x="35" y="650"/>
                  <a:pt x="500" y="731"/>
                  <a:pt x="495" y="812"/>
                </a:cubicBezTo>
                <a:cubicBezTo>
                  <a:pt x="490" y="893"/>
                  <a:pt x="0" y="986"/>
                  <a:pt x="0" y="1064"/>
                </a:cubicBezTo>
                <a:cubicBezTo>
                  <a:pt x="0" y="1142"/>
                  <a:pt x="472" y="1216"/>
                  <a:pt x="496" y="1280"/>
                </a:cubicBezTo>
                <a:cubicBezTo>
                  <a:pt x="520" y="1345"/>
                  <a:pt x="284" y="1387"/>
                  <a:pt x="283" y="1451"/>
                </a:cubicBezTo>
                <a:cubicBezTo>
                  <a:pt x="282" y="1515"/>
                  <a:pt x="491" y="1631"/>
                  <a:pt x="487" y="1667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grpSp>
        <p:nvGrpSpPr>
          <p:cNvPr id="59406" name="Group 16"/>
          <p:cNvGrpSpPr>
            <a:grpSpLocks/>
          </p:cNvGrpSpPr>
          <p:nvPr/>
        </p:nvGrpSpPr>
        <p:grpSpPr bwMode="auto">
          <a:xfrm>
            <a:off x="4000500" y="2500313"/>
            <a:ext cx="446088" cy="2000250"/>
            <a:chOff x="4000496" y="2500306"/>
            <a:chExt cx="446088" cy="2000262"/>
          </a:xfrm>
        </p:grpSpPr>
        <p:sp>
          <p:nvSpPr>
            <p:cNvPr id="59408" name="Freeform 24"/>
            <p:cNvSpPr>
              <a:spLocks/>
            </p:cNvSpPr>
            <p:nvPr/>
          </p:nvSpPr>
          <p:spPr bwMode="auto">
            <a:xfrm>
              <a:off x="4429125" y="3071813"/>
              <a:ext cx="3175" cy="912812"/>
            </a:xfrm>
            <a:custGeom>
              <a:avLst/>
              <a:gdLst>
                <a:gd name="T0" fmla="*/ 0 w 2"/>
                <a:gd name="T1" fmla="*/ 2147483647 h 575"/>
                <a:gd name="T2" fmla="*/ 2147483647 w 2"/>
                <a:gd name="T3" fmla="*/ 0 h 575"/>
                <a:gd name="T4" fmla="*/ 0 60000 65536"/>
                <a:gd name="T5" fmla="*/ 0 60000 65536"/>
                <a:gd name="T6" fmla="*/ 0 w 2"/>
                <a:gd name="T7" fmla="*/ 0 h 575"/>
                <a:gd name="T8" fmla="*/ 2 w 2"/>
                <a:gd name="T9" fmla="*/ 575 h 5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5">
                  <a:moveTo>
                    <a:pt x="0" y="575"/>
                  </a:moveTo>
                  <a:lnTo>
                    <a:pt x="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graphicFrame>
          <p:nvGraphicFramePr>
            <p:cNvPr id="59395" name="Object 17"/>
            <p:cNvGraphicFramePr>
              <a:graphicFrameLocks noChangeAspect="1"/>
            </p:cNvGraphicFramePr>
            <p:nvPr/>
          </p:nvGraphicFramePr>
          <p:xfrm>
            <a:off x="4071934" y="2500306"/>
            <a:ext cx="241300" cy="338137"/>
          </p:xfrm>
          <a:graphic>
            <a:graphicData uri="http://schemas.openxmlformats.org/presentationml/2006/ole">
              <p:oleObj spid="_x0000_s59395" name="Equation" r:id="rId4" imgW="88560" imgH="164880" progId="Equation.DSMT4">
                <p:embed/>
              </p:oleObj>
            </a:graphicData>
          </a:graphic>
        </p:graphicFrame>
        <p:graphicFrame>
          <p:nvGraphicFramePr>
            <p:cNvPr id="59396" name="Object 18"/>
            <p:cNvGraphicFramePr>
              <a:graphicFrameLocks noChangeAspect="1"/>
            </p:cNvGraphicFramePr>
            <p:nvPr/>
          </p:nvGraphicFramePr>
          <p:xfrm>
            <a:off x="4000496" y="4143380"/>
            <a:ext cx="446088" cy="357188"/>
          </p:xfrm>
          <a:graphic>
            <a:graphicData uri="http://schemas.openxmlformats.org/presentationml/2006/ole">
              <p:oleObj spid="_x0000_s59396" name="Equation" r:id="rId5" imgW="126720" imgH="164880" progId="Equation.DSMT4">
                <p:embed/>
              </p:oleObj>
            </a:graphicData>
          </a:graphic>
        </p:graphicFrame>
      </p:grpSp>
      <p:graphicFrame>
        <p:nvGraphicFramePr>
          <p:cNvPr id="59394" name="Object 3"/>
          <p:cNvGraphicFramePr>
            <a:graphicFrameLocks noChangeAspect="1"/>
          </p:cNvGraphicFramePr>
          <p:nvPr/>
        </p:nvGraphicFramePr>
        <p:xfrm>
          <a:off x="2590800" y="5275263"/>
          <a:ext cx="3819525" cy="930275"/>
        </p:xfrm>
        <a:graphic>
          <a:graphicData uri="http://schemas.openxmlformats.org/presentationml/2006/ole">
            <p:oleObj spid="_x0000_s59394" name="Equation" r:id="rId6" imgW="1562100" imgH="381000" progId="Equation.3">
              <p:embed/>
            </p:oleObj>
          </a:graphicData>
        </a:graphic>
      </p:graphicFrame>
      <p:sp>
        <p:nvSpPr>
          <p:cNvPr id="59407" name="Rectangle 19"/>
          <p:cNvSpPr>
            <a:spLocks noChangeArrowheads="1"/>
          </p:cNvSpPr>
          <p:nvPr/>
        </p:nvSpPr>
        <p:spPr bwMode="auto">
          <a:xfrm>
            <a:off x="2819400" y="533400"/>
            <a:ext cx="36036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000" b="0">
                <a:solidFill>
                  <a:srgbClr val="000000"/>
                </a:solidFill>
                <a:latin typeface="Calibri" pitchFamily="-28" charset="0"/>
              </a:rPr>
              <a:t>양자 중첩 상태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ct 2"/>
          <p:cNvGraphicFramePr>
            <a:graphicFrameLocks noChangeAspect="1"/>
          </p:cNvGraphicFramePr>
          <p:nvPr>
            <p:ph sz="quarter" idx="1"/>
          </p:nvPr>
        </p:nvGraphicFramePr>
        <p:xfrm>
          <a:off x="2346325" y="1685925"/>
          <a:ext cx="255588" cy="279400"/>
        </p:xfrm>
        <a:graphic>
          <a:graphicData uri="http://schemas.openxmlformats.org/presentationml/2006/ole">
            <p:oleObj spid="_x0000_s60418" name="Equation" r:id="rId3" imgW="241200" imgH="253800" progId="Equation.3">
              <p:embed/>
            </p:oleObj>
          </a:graphicData>
        </a:graphic>
      </p:graphicFrame>
      <p:graphicFrame>
        <p:nvGraphicFramePr>
          <p:cNvPr id="60419" name="Object 3"/>
          <p:cNvGraphicFramePr>
            <a:graphicFrameLocks noChangeAspect="1"/>
          </p:cNvGraphicFramePr>
          <p:nvPr>
            <p:ph sz="quarter" idx="2"/>
          </p:nvPr>
        </p:nvGraphicFramePr>
        <p:xfrm>
          <a:off x="5943600" y="1700213"/>
          <a:ext cx="1452563" cy="252412"/>
        </p:xfrm>
        <a:graphic>
          <a:graphicData uri="http://schemas.openxmlformats.org/presentationml/2006/ole">
            <p:oleObj spid="_x0000_s60419" name="Equation" r:id="rId4" imgW="1371600" imgH="228600" progId="Equation.3">
              <p:embed/>
            </p:oleObj>
          </a:graphicData>
        </a:graphic>
      </p:graphicFrame>
      <p:graphicFrame>
        <p:nvGraphicFramePr>
          <p:cNvPr id="60420" name="Object 4"/>
          <p:cNvGraphicFramePr>
            <a:graphicFrameLocks noChangeAspect="1"/>
          </p:cNvGraphicFramePr>
          <p:nvPr>
            <p:ph sz="quarter" idx="3"/>
          </p:nvPr>
        </p:nvGraphicFramePr>
        <p:xfrm>
          <a:off x="2346325" y="4033838"/>
          <a:ext cx="255588" cy="279400"/>
        </p:xfrm>
        <a:graphic>
          <a:graphicData uri="http://schemas.openxmlformats.org/presentationml/2006/ole">
            <p:oleObj spid="_x0000_s60420" name="Equation" r:id="rId5" imgW="241200" imgH="253800" progId="Equation.3">
              <p:embed/>
            </p:oleObj>
          </a:graphicData>
        </a:graphic>
      </p:graphicFrame>
      <p:pic>
        <p:nvPicPr>
          <p:cNvPr id="60422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58888" y="1628775"/>
            <a:ext cx="6264275" cy="414972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0423" name="Rectangle 6"/>
          <p:cNvSpPr>
            <a:spLocks noChangeArrowheads="1"/>
          </p:cNvSpPr>
          <p:nvPr/>
        </p:nvSpPr>
        <p:spPr bwMode="auto">
          <a:xfrm>
            <a:off x="4067175" y="1341438"/>
            <a:ext cx="946150" cy="39687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sz="2000" i="1">
                <a:solidFill>
                  <a:srgbClr val="FF0000"/>
                </a:solidFill>
                <a:latin typeface="Times New Roman" pitchFamily="-28" charset="0"/>
              </a:rPr>
              <a:t>Adding</a:t>
            </a:r>
          </a:p>
        </p:txBody>
      </p:sp>
      <p:pic>
        <p:nvPicPr>
          <p:cNvPr id="60424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5364163" y="4365625"/>
            <a:ext cx="1223962" cy="611188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pic>
        <p:nvPicPr>
          <p:cNvPr id="60425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3419475" y="1773238"/>
            <a:ext cx="719138" cy="287337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0426" name="Freeform 24"/>
          <p:cNvSpPr>
            <a:spLocks/>
          </p:cNvSpPr>
          <p:nvPr/>
        </p:nvSpPr>
        <p:spPr bwMode="auto">
          <a:xfrm>
            <a:off x="4356100" y="4562475"/>
            <a:ext cx="2305050" cy="1588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10160">
            <a:solidFill>
              <a:srgbClr val="FF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60427" name="Freeform 24"/>
          <p:cNvSpPr>
            <a:spLocks/>
          </p:cNvSpPr>
          <p:nvPr/>
        </p:nvSpPr>
        <p:spPr bwMode="auto">
          <a:xfrm>
            <a:off x="6022975" y="4354513"/>
            <a:ext cx="3175" cy="71913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10160">
            <a:solidFill>
              <a:srgbClr val="FF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60428" name="Picture 1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4859338" y="2781300"/>
            <a:ext cx="865187" cy="431800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0429" name="Rectangle 12"/>
          <p:cNvSpPr>
            <a:spLocks noChangeArrowheads="1"/>
          </p:cNvSpPr>
          <p:nvPr/>
        </p:nvSpPr>
        <p:spPr bwMode="auto">
          <a:xfrm>
            <a:off x="3348038" y="1341438"/>
            <a:ext cx="2376487" cy="251936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None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</p:txBody>
      </p:sp>
      <p:graphicFrame>
        <p:nvGraphicFramePr>
          <p:cNvPr id="60421" name="Object 5"/>
          <p:cNvGraphicFramePr>
            <a:graphicFrameLocks noChangeAspect="1"/>
          </p:cNvGraphicFramePr>
          <p:nvPr/>
        </p:nvGraphicFramePr>
        <p:xfrm>
          <a:off x="1093788" y="2493963"/>
          <a:ext cx="376237" cy="503237"/>
        </p:xfrm>
        <a:graphic>
          <a:graphicData uri="http://schemas.openxmlformats.org/presentationml/2006/ole">
            <p:oleObj spid="_x0000_s60421" name="Equation" r:id="rId8" imgW="190440" imgH="253800" progId="Equation.3">
              <p:embed/>
            </p:oleObj>
          </a:graphicData>
        </a:graphic>
      </p:graphicFrame>
      <p:sp>
        <p:nvSpPr>
          <p:cNvPr id="60430" name="Explosion 2 21"/>
          <p:cNvSpPr>
            <a:spLocks noChangeArrowheads="1"/>
          </p:cNvSpPr>
          <p:nvPr/>
        </p:nvSpPr>
        <p:spPr bwMode="auto">
          <a:xfrm>
            <a:off x="6373813" y="5013325"/>
            <a:ext cx="642937" cy="714375"/>
          </a:xfrm>
          <a:prstGeom prst="irregularSeal2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AU">
              <a:solidFill>
                <a:srgbClr val="FFFFFF"/>
              </a:solidFill>
              <a:latin typeface="Calibri" pitchFamily="-28" charset="0"/>
            </a:endParaRPr>
          </a:p>
        </p:txBody>
      </p:sp>
      <p:pic>
        <p:nvPicPr>
          <p:cNvPr id="60431" name="Picture 1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6300788" y="4941888"/>
            <a:ext cx="1008062" cy="935037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0432" name="Rectangle 16"/>
          <p:cNvSpPr>
            <a:spLocks noChangeArrowheads="1"/>
          </p:cNvSpPr>
          <p:nvPr/>
        </p:nvSpPr>
        <p:spPr bwMode="auto">
          <a:xfrm>
            <a:off x="7451725" y="4292600"/>
            <a:ext cx="760413" cy="39687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sz="2000">
                <a:solidFill>
                  <a:srgbClr val="FF0000"/>
                </a:solidFill>
                <a:latin typeface="Times New Roman" pitchFamily="-28" charset="0"/>
              </a:rPr>
              <a:t>silent</a:t>
            </a:r>
          </a:p>
        </p:txBody>
      </p:sp>
      <p:pic>
        <p:nvPicPr>
          <p:cNvPr id="60433" name="Picture 1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7451725" y="4005263"/>
            <a:ext cx="1008063" cy="1020762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0434" name="Explosion 2 21"/>
          <p:cNvSpPr>
            <a:spLocks noChangeArrowheads="1"/>
          </p:cNvSpPr>
          <p:nvPr/>
        </p:nvSpPr>
        <p:spPr bwMode="auto">
          <a:xfrm>
            <a:off x="7451725" y="4076700"/>
            <a:ext cx="642938" cy="779463"/>
          </a:xfrm>
          <a:prstGeom prst="irregularSeal2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AU">
              <a:solidFill>
                <a:srgbClr val="FFFFFF"/>
              </a:solidFill>
              <a:latin typeface="Calibri" pitchFamily="-28" charset="0"/>
            </a:endParaRPr>
          </a:p>
        </p:txBody>
      </p:sp>
      <p:sp>
        <p:nvSpPr>
          <p:cNvPr id="60435" name="Rectangle 19"/>
          <p:cNvSpPr>
            <a:spLocks noChangeArrowheads="1"/>
          </p:cNvSpPr>
          <p:nvPr/>
        </p:nvSpPr>
        <p:spPr bwMode="auto">
          <a:xfrm>
            <a:off x="6373813" y="5229225"/>
            <a:ext cx="760412" cy="39687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sz="2000">
                <a:solidFill>
                  <a:srgbClr val="FF0000"/>
                </a:solidFill>
                <a:latin typeface="Times New Roman" pitchFamily="-28" charset="0"/>
              </a:rPr>
              <a:t>silent</a:t>
            </a:r>
          </a:p>
        </p:txBody>
      </p:sp>
      <p:pic>
        <p:nvPicPr>
          <p:cNvPr id="60436" name="Picture 2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7380288" y="3933825"/>
            <a:ext cx="1439862" cy="110172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pic>
        <p:nvPicPr>
          <p:cNvPr id="60437" name="Picture 2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6372225" y="5157788"/>
            <a:ext cx="1366838" cy="576262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pic>
        <p:nvPicPr>
          <p:cNvPr id="60438" name="Picture 2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3203575" y="1268413"/>
            <a:ext cx="2592388" cy="2952750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0439" name="Freeform 24"/>
          <p:cNvSpPr>
            <a:spLocks/>
          </p:cNvSpPr>
          <p:nvPr/>
        </p:nvSpPr>
        <p:spPr bwMode="auto">
          <a:xfrm>
            <a:off x="2987675" y="2744788"/>
            <a:ext cx="3022600" cy="158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10160">
            <a:solidFill>
              <a:srgbClr val="FF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60440" name="Picture 2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6372225" y="1989138"/>
            <a:ext cx="1439863" cy="110172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pic>
        <p:nvPicPr>
          <p:cNvPr id="60441" name="Picture 2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6038850" y="1644650"/>
            <a:ext cx="936625" cy="110172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0442" name="Rectangle 26"/>
          <p:cNvSpPr>
            <a:spLocks noChangeArrowheads="1"/>
          </p:cNvSpPr>
          <p:nvPr/>
        </p:nvSpPr>
        <p:spPr bwMode="auto">
          <a:xfrm>
            <a:off x="5651500" y="2278063"/>
            <a:ext cx="74295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b="0">
                <a:solidFill>
                  <a:schemeClr val="tx1"/>
                </a:solidFill>
              </a:rPr>
              <a:t>mirror</a:t>
            </a:r>
          </a:p>
        </p:txBody>
      </p:sp>
      <p:sp>
        <p:nvSpPr>
          <p:cNvPr id="60443" name="Rectangle 27"/>
          <p:cNvSpPr>
            <a:spLocks noChangeArrowheads="1"/>
          </p:cNvSpPr>
          <p:nvPr/>
        </p:nvSpPr>
        <p:spPr bwMode="auto">
          <a:xfrm>
            <a:off x="2627313" y="4797425"/>
            <a:ext cx="74295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b="0">
                <a:solidFill>
                  <a:schemeClr val="tx1"/>
                </a:solidFill>
              </a:rPr>
              <a:t>mirror</a:t>
            </a:r>
          </a:p>
        </p:txBody>
      </p:sp>
      <p:sp>
        <p:nvSpPr>
          <p:cNvPr id="60444" name="Rectangle 28"/>
          <p:cNvSpPr>
            <a:spLocks noChangeArrowheads="1"/>
          </p:cNvSpPr>
          <p:nvPr/>
        </p:nvSpPr>
        <p:spPr bwMode="auto">
          <a:xfrm>
            <a:off x="2195513" y="2205038"/>
            <a:ext cx="541337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b="0">
                <a:solidFill>
                  <a:schemeClr val="tx1"/>
                </a:solidFill>
              </a:rPr>
              <a:t>BS1</a:t>
            </a:r>
          </a:p>
        </p:txBody>
      </p:sp>
      <p:sp>
        <p:nvSpPr>
          <p:cNvPr id="60445" name="Rectangle 29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noFill/>
        </p:spPr>
        <p:txBody>
          <a:bodyPr/>
          <a:lstStyle/>
          <a:p>
            <a:r>
              <a:rPr lang="ko-KR" altLang="en-US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또 다른 형태의 양자 간섭 실험</a:t>
            </a:r>
            <a:endParaRPr lang="en-US" altLang="ko-KR">
              <a:solidFill>
                <a:schemeClr val="accent2"/>
              </a:solidFill>
              <a:ea typeface="Gulim" pitchFamily="-28" charset="-127"/>
              <a:cs typeface="Gulim" pitchFamily="-28" charset="-127"/>
            </a:endParaRPr>
          </a:p>
        </p:txBody>
      </p:sp>
      <p:sp>
        <p:nvSpPr>
          <p:cNvPr id="60446" name="Rectangle 30"/>
          <p:cNvSpPr>
            <a:spLocks noChangeArrowheads="1"/>
          </p:cNvSpPr>
          <p:nvPr/>
        </p:nvSpPr>
        <p:spPr bwMode="auto">
          <a:xfrm>
            <a:off x="7451725" y="4292600"/>
            <a:ext cx="760413" cy="39687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sz="2000">
                <a:solidFill>
                  <a:srgbClr val="FF0000"/>
                </a:solidFill>
                <a:latin typeface="Times New Roman" pitchFamily="-28" charset="0"/>
              </a:rPr>
              <a:t>silent</a:t>
            </a:r>
          </a:p>
        </p:txBody>
      </p:sp>
      <p:pic>
        <p:nvPicPr>
          <p:cNvPr id="60447" name="Picture 3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7451725" y="4005263"/>
            <a:ext cx="1008063" cy="1020762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3" name="Explosion 2 21"/>
          <p:cNvSpPr>
            <a:spLocks noChangeArrowheads="1"/>
          </p:cNvSpPr>
          <p:nvPr/>
        </p:nvSpPr>
        <p:spPr bwMode="auto">
          <a:xfrm>
            <a:off x="7380288" y="3933825"/>
            <a:ext cx="642937" cy="720725"/>
          </a:xfrm>
          <a:prstGeom prst="irregularSeal2">
            <a:avLst/>
          </a:prstGeom>
          <a:solidFill>
            <a:srgbClr val="FFFF00"/>
          </a:solidFill>
          <a:ln w="25400">
            <a:solidFill>
              <a:srgbClr val="385D8A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AU">
              <a:solidFill>
                <a:srgbClr val="FFFFFF"/>
              </a:solidFill>
              <a:latin typeface="Calibri" pitchFamily="-28" charset="0"/>
            </a:endParaRPr>
          </a:p>
        </p:txBody>
      </p:sp>
      <p:sp>
        <p:nvSpPr>
          <p:cNvPr id="60449" name="Rectangle 33"/>
          <p:cNvSpPr>
            <a:spLocks noChangeArrowheads="1"/>
          </p:cNvSpPr>
          <p:nvPr/>
        </p:nvSpPr>
        <p:spPr bwMode="auto">
          <a:xfrm>
            <a:off x="6300788" y="5837238"/>
            <a:ext cx="760412" cy="39687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sz="2000">
                <a:solidFill>
                  <a:srgbClr val="FF0000"/>
                </a:solidFill>
                <a:latin typeface="Times New Roman" pitchFamily="-28" charset="0"/>
              </a:rPr>
              <a:t>silent</a:t>
            </a:r>
          </a:p>
        </p:txBody>
      </p:sp>
      <p:pic>
        <p:nvPicPr>
          <p:cNvPr id="60450" name="Picture 3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6300788" y="5549900"/>
            <a:ext cx="1008062" cy="1020763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4" name="Explosion 2 21"/>
          <p:cNvSpPr>
            <a:spLocks noChangeArrowheads="1"/>
          </p:cNvSpPr>
          <p:nvPr/>
        </p:nvSpPr>
        <p:spPr bwMode="auto">
          <a:xfrm>
            <a:off x="6229350" y="5478463"/>
            <a:ext cx="642938" cy="720725"/>
          </a:xfrm>
          <a:prstGeom prst="irregularSeal2">
            <a:avLst/>
          </a:prstGeom>
          <a:solidFill>
            <a:srgbClr val="FFFF00"/>
          </a:solidFill>
          <a:ln w="25400">
            <a:solidFill>
              <a:srgbClr val="385D8A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AU">
              <a:solidFill>
                <a:srgbClr val="FFFFFF"/>
              </a:solidFill>
              <a:latin typeface="Calibri" pitchFamily="-28" charset="0"/>
            </a:endParaRPr>
          </a:p>
        </p:txBody>
      </p:sp>
      <p:pic>
        <p:nvPicPr>
          <p:cNvPr id="60452" name="Picture 3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6059488" y="2693988"/>
            <a:ext cx="1439862" cy="71437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4" grpId="0" animBg="1"/>
      <p:bldP spid="4" grpId="1" animBg="1"/>
      <p:bldP spid="4" grpId="2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2"/>
          <p:cNvGraphicFramePr>
            <a:graphicFrameLocks noChangeAspect="1"/>
          </p:cNvGraphicFramePr>
          <p:nvPr>
            <p:ph sz="quarter" idx="1"/>
          </p:nvPr>
        </p:nvGraphicFramePr>
        <p:xfrm>
          <a:off x="2346325" y="1685925"/>
          <a:ext cx="255588" cy="279400"/>
        </p:xfrm>
        <a:graphic>
          <a:graphicData uri="http://schemas.openxmlformats.org/presentationml/2006/ole">
            <p:oleObj spid="_x0000_s61442" name="Equation" r:id="rId3" imgW="241200" imgH="253800" progId="Equation.3">
              <p:embed/>
            </p:oleObj>
          </a:graphicData>
        </a:graphic>
      </p:graphicFrame>
      <p:graphicFrame>
        <p:nvGraphicFramePr>
          <p:cNvPr id="61443" name="Object 3"/>
          <p:cNvGraphicFramePr>
            <a:graphicFrameLocks noChangeAspect="1"/>
          </p:cNvGraphicFramePr>
          <p:nvPr>
            <p:ph sz="quarter" idx="2"/>
          </p:nvPr>
        </p:nvGraphicFramePr>
        <p:xfrm>
          <a:off x="5943600" y="1700213"/>
          <a:ext cx="1452563" cy="252412"/>
        </p:xfrm>
        <a:graphic>
          <a:graphicData uri="http://schemas.openxmlformats.org/presentationml/2006/ole">
            <p:oleObj spid="_x0000_s61443" name="Equation" r:id="rId4" imgW="1371600" imgH="228600" progId="Equation.3">
              <p:embed/>
            </p:oleObj>
          </a:graphicData>
        </a:graphic>
      </p:graphicFrame>
      <p:graphicFrame>
        <p:nvGraphicFramePr>
          <p:cNvPr id="61444" name="Object 4"/>
          <p:cNvGraphicFramePr>
            <a:graphicFrameLocks noChangeAspect="1"/>
          </p:cNvGraphicFramePr>
          <p:nvPr>
            <p:ph sz="quarter" idx="3"/>
          </p:nvPr>
        </p:nvGraphicFramePr>
        <p:xfrm>
          <a:off x="2346325" y="4033838"/>
          <a:ext cx="255588" cy="279400"/>
        </p:xfrm>
        <a:graphic>
          <a:graphicData uri="http://schemas.openxmlformats.org/presentationml/2006/ole">
            <p:oleObj spid="_x0000_s61444" name="Equation" r:id="rId5" imgW="241200" imgH="253800" progId="Equation.3">
              <p:embed/>
            </p:oleObj>
          </a:graphicData>
        </a:graphic>
      </p:graphicFrame>
      <p:pic>
        <p:nvPicPr>
          <p:cNvPr id="61446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58888" y="1628775"/>
            <a:ext cx="6264275" cy="414972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1447" name="Rectangle 7"/>
          <p:cNvSpPr>
            <a:spLocks noChangeArrowheads="1"/>
          </p:cNvSpPr>
          <p:nvPr/>
        </p:nvSpPr>
        <p:spPr bwMode="auto">
          <a:xfrm>
            <a:off x="4067175" y="1341438"/>
            <a:ext cx="946150" cy="39687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sz="2000" i="1">
                <a:solidFill>
                  <a:srgbClr val="FF0000"/>
                </a:solidFill>
                <a:latin typeface="Times New Roman" pitchFamily="-28" charset="0"/>
              </a:rPr>
              <a:t>Adding</a:t>
            </a:r>
          </a:p>
        </p:txBody>
      </p:sp>
      <p:pic>
        <p:nvPicPr>
          <p:cNvPr id="61448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3419475" y="1773238"/>
            <a:ext cx="719138" cy="287337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1449" name="Freeform 24"/>
          <p:cNvSpPr>
            <a:spLocks/>
          </p:cNvSpPr>
          <p:nvPr/>
        </p:nvSpPr>
        <p:spPr bwMode="auto">
          <a:xfrm>
            <a:off x="4356100" y="4562475"/>
            <a:ext cx="2305050" cy="1588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10160">
            <a:solidFill>
              <a:srgbClr val="FF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61450" name="Freeform 24"/>
          <p:cNvSpPr>
            <a:spLocks/>
          </p:cNvSpPr>
          <p:nvPr/>
        </p:nvSpPr>
        <p:spPr bwMode="auto">
          <a:xfrm>
            <a:off x="6022975" y="4354513"/>
            <a:ext cx="3175" cy="71913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10160">
            <a:solidFill>
              <a:srgbClr val="FF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61451" name="Picture 1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4859338" y="2781300"/>
            <a:ext cx="865187" cy="431800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3348038" y="1341438"/>
            <a:ext cx="2376487" cy="251936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Char char="•"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80000"/>
              </a:lnSpc>
              <a:buFont typeface="Arial" pitchFamily="-28" charset="0"/>
              <a:buNone/>
            </a:pPr>
            <a:endParaRPr lang="ko-KR" altLang="en-US" sz="1200" b="0">
              <a:solidFill>
                <a:schemeClr val="tx1"/>
              </a:solidFill>
              <a:latin typeface="Calibri" pitchFamily="-28" charset="0"/>
            </a:endParaRPr>
          </a:p>
        </p:txBody>
      </p:sp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1093788" y="2493963"/>
          <a:ext cx="376237" cy="503237"/>
        </p:xfrm>
        <a:graphic>
          <a:graphicData uri="http://schemas.openxmlformats.org/presentationml/2006/ole">
            <p:oleObj spid="_x0000_s61445" name="Equation" r:id="rId8" imgW="190440" imgH="253800" progId="Equation.3">
              <p:embed/>
            </p:oleObj>
          </a:graphicData>
        </a:graphic>
      </p:graphicFrame>
      <p:sp>
        <p:nvSpPr>
          <p:cNvPr id="61453" name="Explosion 2 21"/>
          <p:cNvSpPr>
            <a:spLocks noChangeArrowheads="1"/>
          </p:cNvSpPr>
          <p:nvPr/>
        </p:nvSpPr>
        <p:spPr bwMode="auto">
          <a:xfrm>
            <a:off x="6373813" y="5013325"/>
            <a:ext cx="642937" cy="714375"/>
          </a:xfrm>
          <a:prstGeom prst="irregularSeal2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AU">
              <a:solidFill>
                <a:srgbClr val="FFFFFF"/>
              </a:solidFill>
              <a:latin typeface="Calibri" pitchFamily="-28" charset="0"/>
            </a:endParaRPr>
          </a:p>
        </p:txBody>
      </p:sp>
      <p:pic>
        <p:nvPicPr>
          <p:cNvPr id="61454" name="Picture 1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6300788" y="4941888"/>
            <a:ext cx="1008062" cy="935037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1455" name="Rectangle 16"/>
          <p:cNvSpPr>
            <a:spLocks noChangeArrowheads="1"/>
          </p:cNvSpPr>
          <p:nvPr/>
        </p:nvSpPr>
        <p:spPr bwMode="auto">
          <a:xfrm>
            <a:off x="7451725" y="4292600"/>
            <a:ext cx="760413" cy="39687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sz="2000">
                <a:solidFill>
                  <a:srgbClr val="FF0000"/>
                </a:solidFill>
                <a:latin typeface="Times New Roman" pitchFamily="-28" charset="0"/>
              </a:rPr>
              <a:t>silent</a:t>
            </a:r>
          </a:p>
        </p:txBody>
      </p:sp>
      <p:pic>
        <p:nvPicPr>
          <p:cNvPr id="61456" name="Picture 1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7451725" y="4005263"/>
            <a:ext cx="1008063" cy="1020762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1457" name="Explosion 2 21"/>
          <p:cNvSpPr>
            <a:spLocks noChangeArrowheads="1"/>
          </p:cNvSpPr>
          <p:nvPr/>
        </p:nvSpPr>
        <p:spPr bwMode="auto">
          <a:xfrm>
            <a:off x="7451725" y="4076700"/>
            <a:ext cx="642938" cy="779463"/>
          </a:xfrm>
          <a:prstGeom prst="irregularSeal2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AU">
              <a:solidFill>
                <a:srgbClr val="FFFFFF"/>
              </a:solidFill>
              <a:latin typeface="Calibri" pitchFamily="-28" charset="0"/>
            </a:endParaRPr>
          </a:p>
        </p:txBody>
      </p:sp>
      <p:sp>
        <p:nvSpPr>
          <p:cNvPr id="61458" name="Rectangle 19"/>
          <p:cNvSpPr>
            <a:spLocks noChangeArrowheads="1"/>
          </p:cNvSpPr>
          <p:nvPr/>
        </p:nvSpPr>
        <p:spPr bwMode="auto">
          <a:xfrm>
            <a:off x="6373813" y="5229225"/>
            <a:ext cx="760412" cy="39687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sz="2000">
                <a:solidFill>
                  <a:srgbClr val="FF0000"/>
                </a:solidFill>
                <a:latin typeface="Times New Roman" pitchFamily="-28" charset="0"/>
              </a:rPr>
              <a:t>silent</a:t>
            </a:r>
          </a:p>
        </p:txBody>
      </p:sp>
      <p:pic>
        <p:nvPicPr>
          <p:cNvPr id="61459" name="Picture 2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7380288" y="3933825"/>
            <a:ext cx="1439862" cy="110172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pic>
        <p:nvPicPr>
          <p:cNvPr id="61460" name="Picture 2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6372225" y="5157788"/>
            <a:ext cx="1366838" cy="576262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pic>
        <p:nvPicPr>
          <p:cNvPr id="61461" name="Picture 2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3203575" y="1196975"/>
            <a:ext cx="2592388" cy="2952750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1462" name="Freeform 24"/>
          <p:cNvSpPr>
            <a:spLocks/>
          </p:cNvSpPr>
          <p:nvPr/>
        </p:nvSpPr>
        <p:spPr bwMode="auto">
          <a:xfrm>
            <a:off x="2987675" y="2744788"/>
            <a:ext cx="3022600" cy="158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10160">
            <a:solidFill>
              <a:srgbClr val="FF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61463" name="Picture 2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6372225" y="1989138"/>
            <a:ext cx="1439863" cy="110172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pic>
        <p:nvPicPr>
          <p:cNvPr id="61464" name="Picture 2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6038850" y="1644650"/>
            <a:ext cx="936625" cy="1101725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1465" name="Rectangle 26"/>
          <p:cNvSpPr>
            <a:spLocks noChangeArrowheads="1"/>
          </p:cNvSpPr>
          <p:nvPr/>
        </p:nvSpPr>
        <p:spPr bwMode="auto">
          <a:xfrm>
            <a:off x="5651500" y="2278063"/>
            <a:ext cx="74295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b="0">
                <a:solidFill>
                  <a:schemeClr val="tx1"/>
                </a:solidFill>
              </a:rPr>
              <a:t>mirror</a:t>
            </a:r>
          </a:p>
        </p:txBody>
      </p:sp>
      <p:sp>
        <p:nvSpPr>
          <p:cNvPr id="61466" name="Rectangle 27"/>
          <p:cNvSpPr>
            <a:spLocks noChangeArrowheads="1"/>
          </p:cNvSpPr>
          <p:nvPr/>
        </p:nvSpPr>
        <p:spPr bwMode="auto">
          <a:xfrm>
            <a:off x="2627313" y="4797425"/>
            <a:ext cx="74295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b="0">
                <a:solidFill>
                  <a:schemeClr val="tx1"/>
                </a:solidFill>
              </a:rPr>
              <a:t>mirror</a:t>
            </a:r>
          </a:p>
        </p:txBody>
      </p:sp>
      <p:sp>
        <p:nvSpPr>
          <p:cNvPr id="61467" name="Rectangle 28"/>
          <p:cNvSpPr>
            <a:spLocks noChangeArrowheads="1"/>
          </p:cNvSpPr>
          <p:nvPr/>
        </p:nvSpPr>
        <p:spPr bwMode="auto">
          <a:xfrm>
            <a:off x="2195513" y="2205038"/>
            <a:ext cx="541337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b="0">
                <a:solidFill>
                  <a:schemeClr val="tx1"/>
                </a:solidFill>
              </a:rPr>
              <a:t>BS1</a:t>
            </a:r>
          </a:p>
        </p:txBody>
      </p:sp>
      <p:sp>
        <p:nvSpPr>
          <p:cNvPr id="61468" name="Rectangle 29"/>
          <p:cNvSpPr>
            <a:spLocks noChangeArrowheads="1"/>
          </p:cNvSpPr>
          <p:nvPr/>
        </p:nvSpPr>
        <p:spPr bwMode="auto">
          <a:xfrm>
            <a:off x="6156325" y="4797425"/>
            <a:ext cx="541338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b="0">
                <a:solidFill>
                  <a:schemeClr val="tx1"/>
                </a:solidFill>
              </a:rPr>
              <a:t>BS2</a:t>
            </a:r>
          </a:p>
        </p:txBody>
      </p:sp>
      <p:sp>
        <p:nvSpPr>
          <p:cNvPr id="3" name="Explosion 2 21"/>
          <p:cNvSpPr>
            <a:spLocks noChangeArrowheads="1"/>
          </p:cNvSpPr>
          <p:nvPr/>
        </p:nvSpPr>
        <p:spPr bwMode="auto">
          <a:xfrm>
            <a:off x="5940425" y="5589588"/>
            <a:ext cx="642938" cy="720725"/>
          </a:xfrm>
          <a:prstGeom prst="irregularSeal2">
            <a:avLst/>
          </a:prstGeom>
          <a:solidFill>
            <a:srgbClr val="FFFF00"/>
          </a:solidFill>
          <a:ln w="25400">
            <a:solidFill>
              <a:srgbClr val="385D8A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AU">
              <a:solidFill>
                <a:srgbClr val="FFFFFF"/>
              </a:solidFill>
              <a:latin typeface="Calibri" pitchFamily="-28" charset="0"/>
            </a:endParaRPr>
          </a:p>
        </p:txBody>
      </p:sp>
      <p:pic>
        <p:nvPicPr>
          <p:cNvPr id="61470" name="Picture 3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flipV="1">
            <a:off x="6059488" y="2693988"/>
            <a:ext cx="1439862" cy="71437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</p:spPr>
      </p:pic>
      <p:sp>
        <p:nvSpPr>
          <p:cNvPr id="61471" name="Rectangle 33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noFill/>
        </p:spPr>
        <p:txBody>
          <a:bodyPr/>
          <a:lstStyle/>
          <a:p>
            <a:r>
              <a:rPr lang="ko-KR" altLang="en-US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또 다른 형태의 양자 간섭 실험</a:t>
            </a:r>
            <a:endParaRPr lang="en-US" altLang="ko-KR">
              <a:solidFill>
                <a:schemeClr val="accent2"/>
              </a:solidFill>
              <a:ea typeface="Gulim" pitchFamily="-28" charset="-127"/>
              <a:cs typeface="Gulim" pitchFamily="-2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6" name="Object 4"/>
          <p:cNvGraphicFramePr>
            <a:graphicFrameLocks noChangeAspect="1"/>
          </p:cNvGraphicFramePr>
          <p:nvPr>
            <p:ph sz="quarter" idx="4294967295"/>
          </p:nvPr>
        </p:nvGraphicFramePr>
        <p:xfrm>
          <a:off x="5857875" y="4329113"/>
          <a:ext cx="382588" cy="425450"/>
        </p:xfrm>
        <a:graphic>
          <a:graphicData uri="http://schemas.openxmlformats.org/presentationml/2006/ole">
            <p:oleObj spid="_x0000_s62466" name="Equation" r:id="rId3" imgW="228600" imgH="253800" progId="Equation.3">
              <p:embed/>
            </p:oleObj>
          </a:graphicData>
        </a:graphic>
      </p:graphicFrame>
      <p:graphicFrame>
        <p:nvGraphicFramePr>
          <p:cNvPr id="62467" name="Object 7"/>
          <p:cNvGraphicFramePr>
            <a:graphicFrameLocks noChangeAspect="1"/>
          </p:cNvGraphicFramePr>
          <p:nvPr>
            <p:ph sz="quarter" idx="4294967295"/>
          </p:nvPr>
        </p:nvGraphicFramePr>
        <p:xfrm>
          <a:off x="5857875" y="3338513"/>
          <a:ext cx="346075" cy="431800"/>
        </p:xfrm>
        <a:graphic>
          <a:graphicData uri="http://schemas.openxmlformats.org/presentationml/2006/ole">
            <p:oleObj spid="_x0000_s62467" name="Equation" r:id="rId4" imgW="203040" imgH="253800" progId="Equation.3">
              <p:embed/>
            </p:oleObj>
          </a:graphicData>
        </a:graphic>
      </p:graphicFrame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1143000" y="3643313"/>
            <a:ext cx="6097588" cy="762000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ko-KR" altLang="en-US" sz="2000">
                <a:latin typeface="Times New Roman" pitchFamily="-28" charset="0"/>
              </a:rPr>
              <a:t>두 준위 원자의</a:t>
            </a:r>
            <a:r>
              <a:rPr lang="en-US" altLang="ko-KR" sz="2000">
                <a:latin typeface="Times New Roman" pitchFamily="-28" charset="0"/>
              </a:rPr>
              <a:t> </a:t>
            </a:r>
            <a:r>
              <a:rPr lang="ko-KR" altLang="en-US" sz="2000">
                <a:latin typeface="Times New Roman" pitchFamily="-28" charset="0"/>
              </a:rPr>
              <a:t>상태</a:t>
            </a:r>
            <a:r>
              <a:rPr lang="en-GB" altLang="ko-KR" sz="2000">
                <a:latin typeface="Times New Roman" pitchFamily="-28" charset="0"/>
              </a:rPr>
              <a:t>:</a:t>
            </a:r>
          </a:p>
          <a:p>
            <a:endParaRPr lang="en-GB" altLang="ko-KR" sz="2000">
              <a:latin typeface="Times New Roman" pitchFamily="-28" charset="0"/>
            </a:endParaRPr>
          </a:p>
          <a:p>
            <a:pPr>
              <a:buFontTx/>
              <a:buNone/>
            </a:pPr>
            <a:r>
              <a:rPr lang="ko-KR" altLang="en-US" sz="2000">
                <a:latin typeface="Times New Roman" pitchFamily="-28" charset="0"/>
              </a:rPr>
              <a:t>들뜬 상태</a:t>
            </a:r>
            <a:r>
              <a:rPr lang="ko-KR" altLang="en-GB" sz="2000">
                <a:latin typeface="Times New Roman" pitchFamily="-28" charset="0"/>
              </a:rPr>
              <a:t> “</a:t>
            </a:r>
            <a:r>
              <a:rPr lang="en-GB" altLang="ko-KR" sz="2000">
                <a:latin typeface="Times New Roman" pitchFamily="-28" charset="0"/>
              </a:rPr>
              <a:t>e”</a:t>
            </a:r>
          </a:p>
          <a:p>
            <a:endParaRPr lang="en-GB" altLang="ko-KR" sz="2000">
              <a:latin typeface="Times New Roman" pitchFamily="-28" charset="0"/>
            </a:endParaRPr>
          </a:p>
          <a:p>
            <a:endParaRPr lang="en-GB" altLang="ko-KR" sz="2000">
              <a:latin typeface="Times New Roman" pitchFamily="-28" charset="0"/>
            </a:endParaRPr>
          </a:p>
          <a:p>
            <a:pPr>
              <a:buFontTx/>
              <a:buNone/>
            </a:pPr>
            <a:r>
              <a:rPr lang="ko-KR" altLang="en-US" sz="2000">
                <a:latin typeface="Times New Roman" pitchFamily="-28" charset="0"/>
              </a:rPr>
              <a:t>바닥 상태</a:t>
            </a:r>
            <a:r>
              <a:rPr lang="ko-KR" altLang="en-GB" sz="2000">
                <a:latin typeface="Times New Roman" pitchFamily="-28" charset="0"/>
              </a:rPr>
              <a:t> “</a:t>
            </a:r>
            <a:r>
              <a:rPr lang="en-GB" altLang="ko-KR" sz="2000">
                <a:latin typeface="Times New Roman" pitchFamily="-28" charset="0"/>
              </a:rPr>
              <a:t>g”</a:t>
            </a:r>
          </a:p>
          <a:p>
            <a:endParaRPr lang="en-GB" altLang="ko-KR" sz="2000">
              <a:latin typeface="Times New Roman" pitchFamily="-28" charset="0"/>
            </a:endParaRPr>
          </a:p>
          <a:p>
            <a:endParaRPr lang="en-GB" altLang="ko-KR" sz="2000">
              <a:latin typeface="Times New Roman" pitchFamily="-28" charset="0"/>
            </a:endParaRPr>
          </a:p>
        </p:txBody>
      </p:sp>
      <p:sp>
        <p:nvSpPr>
          <p:cNvPr id="62470" name="Rectangle 6"/>
          <p:cNvSpPr>
            <a:spLocks noChangeArrowheads="1"/>
          </p:cNvSpPr>
          <p:nvPr/>
        </p:nvSpPr>
        <p:spPr bwMode="auto">
          <a:xfrm>
            <a:off x="533400" y="1295400"/>
            <a:ext cx="8001000" cy="457200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2400" i="1">
                <a:solidFill>
                  <a:srgbClr val="000000"/>
                </a:solidFill>
                <a:latin typeface="Times New Roman" pitchFamily="-28" charset="0"/>
              </a:rPr>
              <a:t>          서로 다른 두 양자 상태들은 중첩될 수 있다</a:t>
            </a:r>
            <a:r>
              <a:rPr lang="en-US" altLang="ko-KR" sz="2400" i="1">
                <a:solidFill>
                  <a:srgbClr val="000000"/>
                </a:solidFill>
                <a:latin typeface="Times New Roman" pitchFamily="-28" charset="0"/>
              </a:rPr>
              <a:t>.</a:t>
            </a:r>
          </a:p>
        </p:txBody>
      </p:sp>
      <p:pic>
        <p:nvPicPr>
          <p:cNvPr id="62471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67075" y="3262313"/>
            <a:ext cx="2209800" cy="1522412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</p:pic>
      <p:graphicFrame>
        <p:nvGraphicFramePr>
          <p:cNvPr id="62468" name="Object 9"/>
          <p:cNvGraphicFramePr>
            <a:graphicFrameLocks noChangeAspect="1"/>
          </p:cNvGraphicFramePr>
          <p:nvPr/>
        </p:nvGraphicFramePr>
        <p:xfrm>
          <a:off x="3071813" y="5357813"/>
          <a:ext cx="3114675" cy="642937"/>
        </p:xfrm>
        <a:graphic>
          <a:graphicData uri="http://schemas.openxmlformats.org/presentationml/2006/ole">
            <p:oleObj spid="_x0000_s62468" name="Equation" r:id="rId6" imgW="1231560" imgH="253800" progId="Equation.3">
              <p:embed/>
            </p:oleObj>
          </a:graphicData>
        </a:graphic>
      </p:graphicFrame>
      <p:sp>
        <p:nvSpPr>
          <p:cNvPr id="62472" name="Rectangle 8"/>
          <p:cNvSpPr>
            <a:spLocks noChangeArrowheads="1"/>
          </p:cNvSpPr>
          <p:nvPr/>
        </p:nvSpPr>
        <p:spPr bwMode="auto">
          <a:xfrm>
            <a:off x="3048000" y="533400"/>
            <a:ext cx="3035300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2900" b="0">
                <a:solidFill>
                  <a:srgbClr val="C0504D"/>
                </a:solidFill>
                <a:latin typeface="Calibri" pitchFamily="-28" charset="0"/>
              </a:rPr>
              <a:t>양자 중첩의 원리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6" descr="dira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1295400"/>
            <a:ext cx="2289175" cy="32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3491" name="Group 39"/>
          <p:cNvGrpSpPr>
            <a:grpSpLocks/>
          </p:cNvGrpSpPr>
          <p:nvPr/>
        </p:nvGrpSpPr>
        <p:grpSpPr bwMode="auto">
          <a:xfrm>
            <a:off x="304800" y="4495800"/>
            <a:ext cx="8415338" cy="1762125"/>
            <a:chOff x="171" y="3039"/>
            <a:chExt cx="5301" cy="1110"/>
          </a:xfrm>
        </p:grpSpPr>
        <p:sp>
          <p:nvSpPr>
            <p:cNvPr id="63493" name="Rectangle 8"/>
            <p:cNvSpPr>
              <a:spLocks noChangeArrowheads="1"/>
            </p:cNvSpPr>
            <p:nvPr/>
          </p:nvSpPr>
          <p:spPr bwMode="auto">
            <a:xfrm>
              <a:off x="431" y="3475"/>
              <a:ext cx="4952" cy="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marL="342900" indent="-342900">
                <a:buFontTx/>
                <a:buNone/>
              </a:pPr>
              <a:r>
                <a:rPr lang="en-US" altLang="ko-KR" sz="2800">
                  <a:solidFill>
                    <a:srgbClr val="000000"/>
                  </a:solidFill>
                  <a:latin typeface="Times New Roman" pitchFamily="-28" charset="0"/>
                </a:rPr>
                <a:t>   “</a:t>
              </a:r>
              <a:r>
                <a:rPr lang="ko-KR" altLang="en-US" sz="2800" i="1">
                  <a:solidFill>
                    <a:srgbClr val="000000"/>
                  </a:solidFill>
                  <a:latin typeface="Times New Roman" pitchFamily="-28" charset="0"/>
                </a:rPr>
                <a:t>양자 역학의 심장부에는 중첩 원리가 있다</a:t>
              </a:r>
              <a:r>
                <a:rPr lang="en-US" altLang="ko-KR" sz="2800">
                  <a:solidFill>
                    <a:srgbClr val="000000"/>
                  </a:solidFill>
                  <a:latin typeface="Times New Roman" pitchFamily="-28" charset="0"/>
                </a:rPr>
                <a:t>.”</a:t>
              </a:r>
              <a:endParaRPr lang="en-US" altLang="ja-JP" sz="2800">
                <a:latin typeface="Times New Roman" pitchFamily="-28" charset="0"/>
              </a:endParaRPr>
            </a:p>
          </p:txBody>
        </p:sp>
        <p:sp>
          <p:nvSpPr>
            <p:cNvPr id="63494" name="Freeform 37"/>
            <p:cNvSpPr>
              <a:spLocks/>
            </p:cNvSpPr>
            <p:nvPr/>
          </p:nvSpPr>
          <p:spPr bwMode="auto">
            <a:xfrm>
              <a:off x="171" y="3039"/>
              <a:ext cx="5301" cy="1110"/>
            </a:xfrm>
            <a:custGeom>
              <a:avLst/>
              <a:gdLst>
                <a:gd name="T0" fmla="*/ 1859 w 5301"/>
                <a:gd name="T1" fmla="*/ 359 h 1110"/>
                <a:gd name="T2" fmla="*/ 925 w 5301"/>
                <a:gd name="T3" fmla="*/ 393 h 1110"/>
                <a:gd name="T4" fmla="*/ 197 w 5301"/>
                <a:gd name="T5" fmla="*/ 513 h 1110"/>
                <a:gd name="T6" fmla="*/ 237 w 5301"/>
                <a:gd name="T7" fmla="*/ 977 h 1110"/>
                <a:gd name="T8" fmla="*/ 1621 w 5301"/>
                <a:gd name="T9" fmla="*/ 1097 h 1110"/>
                <a:gd name="T10" fmla="*/ 3565 w 5301"/>
                <a:gd name="T11" fmla="*/ 1057 h 1110"/>
                <a:gd name="T12" fmla="*/ 5029 w 5301"/>
                <a:gd name="T13" fmla="*/ 929 h 1110"/>
                <a:gd name="T14" fmla="*/ 5197 w 5301"/>
                <a:gd name="T15" fmla="*/ 545 h 1110"/>
                <a:gd name="T16" fmla="*/ 4536 w 5301"/>
                <a:gd name="T17" fmla="*/ 418 h 1110"/>
                <a:gd name="T18" fmla="*/ 2652 w 5301"/>
                <a:gd name="T19" fmla="*/ 312 h 1110"/>
                <a:gd name="T20" fmla="*/ 2637 w 5301"/>
                <a:gd name="T21" fmla="*/ 9 h 1110"/>
                <a:gd name="T22" fmla="*/ 2269 w 5301"/>
                <a:gd name="T23" fmla="*/ 257 h 1110"/>
                <a:gd name="T24" fmla="*/ 1859 w 5301"/>
                <a:gd name="T25" fmla="*/ 359 h 11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301"/>
                <a:gd name="T40" fmla="*/ 0 h 1110"/>
                <a:gd name="T41" fmla="*/ 5301 w 5301"/>
                <a:gd name="T42" fmla="*/ 1110 h 111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301" h="1110">
                  <a:moveTo>
                    <a:pt x="1859" y="359"/>
                  </a:moveTo>
                  <a:cubicBezTo>
                    <a:pt x="1635" y="382"/>
                    <a:pt x="1202" y="367"/>
                    <a:pt x="925" y="393"/>
                  </a:cubicBezTo>
                  <a:cubicBezTo>
                    <a:pt x="648" y="419"/>
                    <a:pt x="312" y="416"/>
                    <a:pt x="197" y="513"/>
                  </a:cubicBezTo>
                  <a:cubicBezTo>
                    <a:pt x="82" y="610"/>
                    <a:pt x="0" y="880"/>
                    <a:pt x="237" y="977"/>
                  </a:cubicBezTo>
                  <a:cubicBezTo>
                    <a:pt x="474" y="1074"/>
                    <a:pt x="1066" y="1084"/>
                    <a:pt x="1621" y="1097"/>
                  </a:cubicBezTo>
                  <a:cubicBezTo>
                    <a:pt x="2176" y="1110"/>
                    <a:pt x="2997" y="1085"/>
                    <a:pt x="3565" y="1057"/>
                  </a:cubicBezTo>
                  <a:cubicBezTo>
                    <a:pt x="4133" y="1029"/>
                    <a:pt x="4757" y="1014"/>
                    <a:pt x="5029" y="929"/>
                  </a:cubicBezTo>
                  <a:cubicBezTo>
                    <a:pt x="5301" y="844"/>
                    <a:pt x="5279" y="630"/>
                    <a:pt x="5197" y="545"/>
                  </a:cubicBezTo>
                  <a:cubicBezTo>
                    <a:pt x="5115" y="460"/>
                    <a:pt x="4960" y="457"/>
                    <a:pt x="4536" y="418"/>
                  </a:cubicBezTo>
                  <a:cubicBezTo>
                    <a:pt x="4112" y="379"/>
                    <a:pt x="2968" y="380"/>
                    <a:pt x="2652" y="312"/>
                  </a:cubicBezTo>
                  <a:cubicBezTo>
                    <a:pt x="2336" y="244"/>
                    <a:pt x="2701" y="18"/>
                    <a:pt x="2637" y="9"/>
                  </a:cubicBezTo>
                  <a:cubicBezTo>
                    <a:pt x="2573" y="0"/>
                    <a:pt x="2399" y="199"/>
                    <a:pt x="2269" y="257"/>
                  </a:cubicBezTo>
                  <a:cubicBezTo>
                    <a:pt x="2139" y="315"/>
                    <a:pt x="1944" y="338"/>
                    <a:pt x="1859" y="359"/>
                  </a:cubicBez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>
              <a:prstShdw prst="shdw17" dist="17961" dir="2700000">
                <a:srgbClr val="00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sp>
        <p:nvSpPr>
          <p:cNvPr id="63492" name="Rectangle 38"/>
          <p:cNvSpPr>
            <a:spLocks noChangeArrowheads="1"/>
          </p:cNvSpPr>
          <p:nvPr/>
        </p:nvSpPr>
        <p:spPr bwMode="auto">
          <a:xfrm>
            <a:off x="1857375" y="2857500"/>
            <a:ext cx="1436688" cy="630238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266700" indent="-266700"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Times New Roman" pitchFamily="-28" charset="0"/>
              </a:rPr>
              <a:t>P. A. M. Dirac</a:t>
            </a:r>
          </a:p>
          <a:p>
            <a:pPr marL="266700" indent="-266700"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Times New Roman" pitchFamily="-28" charset="0"/>
              </a:rPr>
              <a:t>  (1902-1984)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373063"/>
            <a:ext cx="7772400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chemeClr val="tx2"/>
                </a:solidFill>
                <a:ea typeface="Gulim" pitchFamily="-28" charset="-127"/>
                <a:cs typeface="Gulim" pitchFamily="-28" charset="-127"/>
              </a:rPr>
              <a:t>양자 얽힘이란 무엇인가</a:t>
            </a:r>
            <a:r>
              <a:rPr lang="en-US" altLang="ko-KR">
                <a:solidFill>
                  <a:schemeClr val="tx2"/>
                </a:solidFill>
                <a:ea typeface="Gulim" pitchFamily="-28" charset="-127"/>
                <a:cs typeface="Gulim" pitchFamily="-28" charset="-127"/>
              </a:rPr>
              <a:t>?</a:t>
            </a:r>
          </a:p>
        </p:txBody>
      </p:sp>
      <p:sp>
        <p:nvSpPr>
          <p:cNvPr id="64515" name="Rectangle 31"/>
          <p:cNvSpPr>
            <a:spLocks noChangeArrowheads="1"/>
          </p:cNvSpPr>
          <p:nvPr/>
        </p:nvSpPr>
        <p:spPr bwMode="auto">
          <a:xfrm>
            <a:off x="538163" y="4830763"/>
            <a:ext cx="4500562" cy="3968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342900" indent="-342900"/>
            <a:r>
              <a:rPr lang="ko-KR" altLang="en-US" sz="2000">
                <a:solidFill>
                  <a:schemeClr val="tx1"/>
                </a:solidFill>
                <a:latin typeface="Times New Roman" pitchFamily="-28" charset="0"/>
              </a:rPr>
              <a:t>얽힌 광자쌍</a:t>
            </a:r>
          </a:p>
        </p:txBody>
      </p:sp>
      <p:pic>
        <p:nvPicPr>
          <p:cNvPr id="64516" name="Picture 32" descr="edamatu_e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9975" y="1916113"/>
            <a:ext cx="4537075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17" name="Rectangle 33"/>
          <p:cNvSpPr>
            <a:spLocks noChangeArrowheads="1"/>
          </p:cNvSpPr>
          <p:nvPr/>
        </p:nvSpPr>
        <p:spPr bwMode="auto">
          <a:xfrm>
            <a:off x="5362575" y="3849688"/>
            <a:ext cx="273050" cy="304800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None/>
            </a:pPr>
            <a:r>
              <a:rPr lang="en-US" altLang="ko-KR">
                <a:solidFill>
                  <a:schemeClr val="tx1"/>
                </a:solidFill>
                <a:latin typeface="Times New Roman" pitchFamily="-28" charset="0"/>
              </a:rPr>
              <a:t>1</a:t>
            </a:r>
            <a:endParaRPr lang="en-US" altLang="ja-JP">
              <a:solidFill>
                <a:schemeClr val="tx1"/>
              </a:solidFill>
              <a:latin typeface="Times New Roman" pitchFamily="-28" charset="0"/>
            </a:endParaRPr>
          </a:p>
        </p:txBody>
      </p:sp>
      <p:sp>
        <p:nvSpPr>
          <p:cNvPr id="64518" name="Rectangle 34"/>
          <p:cNvSpPr>
            <a:spLocks noChangeArrowheads="1"/>
          </p:cNvSpPr>
          <p:nvPr/>
        </p:nvSpPr>
        <p:spPr bwMode="auto">
          <a:xfrm>
            <a:off x="5938838" y="2697163"/>
            <a:ext cx="255587" cy="304800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None/>
            </a:pPr>
            <a:r>
              <a:rPr lang="en-US" altLang="ko-KR">
                <a:solidFill>
                  <a:schemeClr val="tx1"/>
                </a:solidFill>
                <a:latin typeface="Times New Roman" pitchFamily="-28" charset="0"/>
              </a:rPr>
              <a:t>2</a:t>
            </a:r>
            <a:endParaRPr lang="en-US" altLang="ja-JP">
              <a:solidFill>
                <a:schemeClr val="tx1"/>
              </a:solidFill>
              <a:latin typeface="Times New Roman" pitchFamily="-2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52800" y="1981200"/>
            <a:ext cx="1835150" cy="3698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buFontTx/>
              <a:buNone/>
              <a:defRPr/>
            </a:pPr>
            <a:r>
              <a:rPr lang="ko-KR" altLang="en-US" sz="1800">
                <a:solidFill>
                  <a:srgbClr val="000000"/>
                </a:solidFill>
                <a:latin typeface="Times New Roman" pitchFamily="-28" charset="0"/>
              </a:rPr>
              <a:t>비선형 결정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/>
          </p:cNvSpPr>
          <p:nvPr>
            <p:ph type="title"/>
          </p:nvPr>
        </p:nvSpPr>
        <p:spPr>
          <a:xfrm>
            <a:off x="323850" y="476250"/>
            <a:ext cx="8496300" cy="1143000"/>
          </a:xfrm>
        </p:spPr>
        <p:txBody>
          <a:bodyPr/>
          <a:lstStyle/>
          <a:p>
            <a:r>
              <a:rPr lang="ko-KR" altLang="en-US" sz="3600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양자역학은 자연스러운 고전적 가정과 충돌한다</a:t>
            </a:r>
            <a:r>
              <a:rPr lang="en-US" altLang="ko-KR" sz="3600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.</a:t>
            </a:r>
          </a:p>
        </p:txBody>
      </p:sp>
      <p:sp>
        <p:nvSpPr>
          <p:cNvPr id="65539" name="Rectangle 3"/>
          <p:cNvSpPr>
            <a:spLocks noGrp="1"/>
          </p:cNvSpPr>
          <p:nvPr>
            <p:ph type="body" idx="1"/>
          </p:nvPr>
        </p:nvSpPr>
        <p:spPr>
          <a:xfrm>
            <a:off x="684213" y="1916113"/>
            <a:ext cx="7704137" cy="46085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ko-KR" sz="2400">
                <a:ea typeface="Gulim" pitchFamily="-28" charset="-127"/>
                <a:cs typeface="Gulim" pitchFamily="-28" charset="-127"/>
              </a:rPr>
              <a:t>Einstein-Podolsky-Rosen (EPR) </a:t>
            </a:r>
            <a:r>
              <a:rPr lang="ko-KR" altLang="en-US" sz="2400">
                <a:ea typeface="Gulim" pitchFamily="-28" charset="-127"/>
                <a:cs typeface="Gulim" pitchFamily="-28" charset="-127"/>
              </a:rPr>
              <a:t>의 파라독스</a:t>
            </a:r>
            <a:r>
              <a:rPr lang="en-US" altLang="ko-KR" sz="2400">
                <a:ea typeface="Gulim" pitchFamily="-28" charset="-127"/>
                <a:cs typeface="Gulim" pitchFamily="-28" charset="-127"/>
              </a:rPr>
              <a:t>(1935):  </a:t>
            </a:r>
            <a:r>
              <a:rPr lang="ko-KR" altLang="en-US" sz="2400">
                <a:ea typeface="Gulim" pitchFamily="-28" charset="-127"/>
                <a:cs typeface="Gulim" pitchFamily="-28" charset="-127"/>
              </a:rPr>
              <a:t>양자역학은 완전한 물리이론인가</a:t>
            </a:r>
            <a:r>
              <a:rPr lang="en-US" altLang="ko-KR" sz="2400">
                <a:ea typeface="Gulim" pitchFamily="-28" charset="-127"/>
                <a:cs typeface="Gulim" pitchFamily="-28" charset="-127"/>
              </a:rPr>
              <a:t>?</a:t>
            </a:r>
          </a:p>
          <a:p>
            <a:pPr>
              <a:lnSpc>
                <a:spcPct val="80000"/>
              </a:lnSpc>
              <a:buFont typeface="Arial" pitchFamily="-28" charset="0"/>
              <a:buNone/>
            </a:pPr>
            <a:r>
              <a:rPr lang="en-US" altLang="ko-KR" sz="1800">
                <a:ea typeface="Gulim" pitchFamily="-28" charset="-127"/>
                <a:cs typeface="Gulim" pitchFamily="-28" charset="-127"/>
              </a:rPr>
              <a:t>      [A. Einstein, B. Podolsky, and N. Rosen, Phys. Rev. 47, 777 (1935).]</a:t>
            </a:r>
          </a:p>
          <a:p>
            <a:pPr>
              <a:lnSpc>
                <a:spcPct val="80000"/>
              </a:lnSpc>
            </a:pPr>
            <a:endParaRPr lang="en-AU" altLang="ko-KR" sz="1800">
              <a:ea typeface="Gulim" pitchFamily="-28" charset="-127"/>
              <a:cs typeface="Gulim" pitchFamily="-28" charset="-127"/>
            </a:endParaRPr>
          </a:p>
          <a:p>
            <a:pPr>
              <a:lnSpc>
                <a:spcPct val="80000"/>
              </a:lnSpc>
            </a:pPr>
            <a:r>
              <a:rPr lang="ko-KR" altLang="en-US" sz="2400">
                <a:ea typeface="Gulim" pitchFamily="-28" charset="-127"/>
                <a:cs typeface="Gulim" pitchFamily="-28" charset="-127"/>
              </a:rPr>
              <a:t>국소적 실재론</a:t>
            </a:r>
            <a:r>
              <a:rPr lang="en-AU" altLang="ko-KR" sz="2400">
                <a:ea typeface="Gulim" pitchFamily="-28" charset="-127"/>
                <a:cs typeface="Gulim" pitchFamily="-28" charset="-127"/>
              </a:rPr>
              <a:t>: </a:t>
            </a:r>
            <a:r>
              <a:rPr lang="ko-KR" altLang="en-US" sz="2400" b="1" i="1">
                <a:ea typeface="Gulim" pitchFamily="-28" charset="-127"/>
                <a:cs typeface="Gulim" pitchFamily="-28" charset="-127"/>
              </a:rPr>
              <a:t>국소성</a:t>
            </a:r>
            <a:r>
              <a:rPr lang="ko-KR" altLang="en-US" sz="2400">
                <a:ea typeface="Gulim" pitchFamily="-28" charset="-127"/>
                <a:cs typeface="Gulim" pitchFamily="-28" charset="-127"/>
              </a:rPr>
              <a:t> </a:t>
            </a:r>
            <a:r>
              <a:rPr lang="en-AU" altLang="ko-KR" sz="2400" b="1" i="1">
                <a:ea typeface="Gulim" pitchFamily="-28" charset="-127"/>
                <a:cs typeface="Gulim" pitchFamily="-28" charset="-127"/>
              </a:rPr>
              <a:t>+ </a:t>
            </a:r>
            <a:r>
              <a:rPr lang="ko-KR" altLang="en-US" sz="2400" b="1" i="1">
                <a:ea typeface="Gulim" pitchFamily="-28" charset="-127"/>
                <a:cs typeface="Gulim" pitchFamily="-28" charset="-127"/>
              </a:rPr>
              <a:t>실재론 </a:t>
            </a:r>
            <a:endParaRPr lang="en-AU" altLang="ko-KR" sz="2400" b="1" i="1">
              <a:ea typeface="Gulim" pitchFamily="-28" charset="-127"/>
              <a:cs typeface="Gulim" pitchFamily="-28" charset="-127"/>
            </a:endParaRPr>
          </a:p>
          <a:p>
            <a:pPr>
              <a:lnSpc>
                <a:spcPct val="80000"/>
              </a:lnSpc>
              <a:buFont typeface="Arial" pitchFamily="-28" charset="0"/>
              <a:buNone/>
            </a:pPr>
            <a:r>
              <a:rPr lang="en-AU" altLang="ko-KR" sz="2400">
                <a:ea typeface="Gulim" pitchFamily="-28" charset="-127"/>
                <a:cs typeface="Gulim" pitchFamily="-28" charset="-127"/>
              </a:rPr>
              <a:t>     - </a:t>
            </a:r>
            <a:r>
              <a:rPr lang="ko-KR" altLang="en-US" sz="2400" b="1" i="1">
                <a:ea typeface="Gulim" pitchFamily="-28" charset="-127"/>
                <a:cs typeface="Gulim" pitchFamily="-28" charset="-127"/>
              </a:rPr>
              <a:t>국소성</a:t>
            </a:r>
            <a:r>
              <a:rPr lang="en-AU" altLang="ko-KR" sz="2400">
                <a:ea typeface="Gulim" pitchFamily="-28" charset="-127"/>
                <a:cs typeface="Gulim" pitchFamily="-28" charset="-127"/>
              </a:rPr>
              <a:t>:</a:t>
            </a:r>
            <a:r>
              <a:rPr lang="en-AU" altLang="ja-JP" sz="2400">
                <a:ea typeface="ＭＳ Ｐゴシック" pitchFamily="-28" charset="-128"/>
                <a:cs typeface="ＭＳ Ｐゴシック" pitchFamily="-28" charset="-128"/>
              </a:rPr>
              <a:t> </a:t>
            </a:r>
            <a:r>
              <a:rPr lang="en-AU" altLang="ko-KR" sz="2400">
                <a:ea typeface="Gulim" pitchFamily="-28" charset="-127"/>
                <a:cs typeface="Gulim" pitchFamily="-28" charset="-127"/>
              </a:rPr>
              <a:t>“</a:t>
            </a:r>
            <a:r>
              <a:rPr lang="ko-KR" altLang="en-US" sz="2400">
                <a:ea typeface="Gulim" pitchFamily="-28" charset="-127"/>
                <a:cs typeface="Gulim" pitchFamily="-28" charset="-127"/>
              </a:rPr>
              <a:t>서로 멀리 떨어져 있는 물체들은 즉각적이고 직접적인 영향을 미칠 수 없다</a:t>
            </a:r>
            <a:r>
              <a:rPr lang="en-AU" altLang="ko-KR" sz="2400" i="1">
                <a:ea typeface="Gulim" pitchFamily="-28" charset="-127"/>
                <a:cs typeface="Gulim" pitchFamily="-28" charset="-127"/>
              </a:rPr>
              <a:t>.</a:t>
            </a:r>
            <a:r>
              <a:rPr lang="en-AU" altLang="ko-KR" sz="2400">
                <a:ea typeface="Gulim" pitchFamily="-28" charset="-127"/>
                <a:cs typeface="Gulim" pitchFamily="-28" charset="-127"/>
              </a:rPr>
              <a:t>”</a:t>
            </a:r>
          </a:p>
          <a:p>
            <a:pPr>
              <a:lnSpc>
                <a:spcPct val="80000"/>
              </a:lnSpc>
              <a:buFont typeface="Arial" pitchFamily="-28" charset="0"/>
              <a:buNone/>
            </a:pPr>
            <a:r>
              <a:rPr lang="en-US" altLang="ko-KR" sz="2400">
                <a:ea typeface="Gulim" pitchFamily="-28" charset="-127"/>
                <a:cs typeface="Gulim" pitchFamily="-28" charset="-127"/>
              </a:rPr>
              <a:t>     - </a:t>
            </a:r>
            <a:r>
              <a:rPr lang="ko-KR" altLang="en-US" sz="2400" b="1" i="1">
                <a:ea typeface="Gulim" pitchFamily="-28" charset="-127"/>
                <a:cs typeface="Gulim" pitchFamily="-28" charset="-127"/>
              </a:rPr>
              <a:t>실재론</a:t>
            </a:r>
            <a:r>
              <a:rPr lang="en-US" altLang="ko-KR" sz="2400">
                <a:ea typeface="Gulim" pitchFamily="-28" charset="-127"/>
                <a:cs typeface="Gulim" pitchFamily="-28" charset="-127"/>
              </a:rPr>
              <a:t>: “</a:t>
            </a:r>
            <a:r>
              <a:rPr lang="ko-KR" altLang="en-US" sz="2400">
                <a:ea typeface="Gulim" pitchFamily="-28" charset="-127"/>
                <a:cs typeface="Gulim" pitchFamily="-28" charset="-127"/>
              </a:rPr>
              <a:t>측정의 결과는 단순히 물리적 계가 측정 전에 이미 가지고 있었던 속성의 결과이다</a:t>
            </a:r>
            <a:r>
              <a:rPr lang="en-US" altLang="ko-KR" sz="2400">
                <a:ea typeface="Gulim" pitchFamily="-28" charset="-127"/>
                <a:cs typeface="Gulim" pitchFamily="-28" charset="-127"/>
              </a:rPr>
              <a:t>. </a:t>
            </a:r>
            <a:r>
              <a:rPr lang="ko-KR" altLang="en-US" sz="2400">
                <a:ea typeface="Gulim" pitchFamily="-28" charset="-127"/>
                <a:cs typeface="Gulim" pitchFamily="-28" charset="-127"/>
              </a:rPr>
              <a:t>즉</a:t>
            </a:r>
            <a:r>
              <a:rPr lang="en-US" altLang="ko-KR" sz="2400">
                <a:ea typeface="Gulim" pitchFamily="-28" charset="-127"/>
                <a:cs typeface="Gulim" pitchFamily="-28" charset="-127"/>
              </a:rPr>
              <a:t>, </a:t>
            </a:r>
            <a:r>
              <a:rPr lang="ko-KR" altLang="en-US" sz="2400">
                <a:ea typeface="Gulim" pitchFamily="-28" charset="-127"/>
                <a:cs typeface="Gulim" pitchFamily="-28" charset="-127"/>
              </a:rPr>
              <a:t>외적 실재는 우리의 측정과 무관하게 존재한다</a:t>
            </a:r>
            <a:r>
              <a:rPr lang="en-US" altLang="ko-KR" sz="2400">
                <a:ea typeface="Gulim" pitchFamily="-28" charset="-127"/>
                <a:cs typeface="Gulim" pitchFamily="-28" charset="-127"/>
              </a:rPr>
              <a:t>.”</a:t>
            </a:r>
          </a:p>
          <a:p>
            <a:pPr>
              <a:lnSpc>
                <a:spcPct val="80000"/>
              </a:lnSpc>
              <a:buFont typeface="Arial" pitchFamily="-28" charset="0"/>
              <a:buNone/>
            </a:pPr>
            <a:endParaRPr lang="en-AU" altLang="ko-KR" sz="2400">
              <a:ea typeface="Gulim" pitchFamily="-28" charset="-127"/>
              <a:cs typeface="Gulim" pitchFamily="-2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63" name="Group 5"/>
          <p:cNvGrpSpPr>
            <a:grpSpLocks/>
          </p:cNvGrpSpPr>
          <p:nvPr/>
        </p:nvGrpSpPr>
        <p:grpSpPr bwMode="auto">
          <a:xfrm>
            <a:off x="6877050" y="4149725"/>
            <a:ext cx="1441450" cy="2516188"/>
            <a:chOff x="672" y="1113"/>
            <a:chExt cx="1005" cy="1664"/>
          </a:xfrm>
        </p:grpSpPr>
        <p:sp>
          <p:nvSpPr>
            <p:cNvPr id="66566" name="Text Box 6"/>
            <p:cNvSpPr txBox="1">
              <a:spLocks noChangeArrowheads="1"/>
            </p:cNvSpPr>
            <p:nvPr/>
          </p:nvSpPr>
          <p:spPr bwMode="auto">
            <a:xfrm>
              <a:off x="720" y="2263"/>
              <a:ext cx="957" cy="5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ts val="1075"/>
                </a:spcBef>
                <a:buClr>
                  <a:srgbClr val="000000"/>
                </a:buClr>
                <a:buSzPct val="42000"/>
                <a:buFont typeface="Times New Roman" pitchFamily="-28" charset="0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800">
                  <a:solidFill>
                    <a:schemeClr val="tx1"/>
                  </a:solidFill>
                  <a:latin typeface="Times New Roman" pitchFamily="-28" charset="0"/>
                </a:rPr>
                <a:t>John S. Bell</a:t>
              </a:r>
            </a:p>
            <a:p>
              <a:pPr>
                <a:spcBef>
                  <a:spcPts val="1075"/>
                </a:spcBef>
                <a:buClr>
                  <a:srgbClr val="000000"/>
                </a:buClr>
                <a:buSzPct val="42000"/>
                <a:buFont typeface="Times New Roman" pitchFamily="-28" charset="0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800">
                  <a:solidFill>
                    <a:schemeClr val="tx1"/>
                  </a:solidFill>
                  <a:latin typeface="Times New Roman" pitchFamily="-28" charset="0"/>
                </a:rPr>
                <a:t>(1928-1990)</a:t>
              </a:r>
            </a:p>
          </p:txBody>
        </p:sp>
        <p:pic>
          <p:nvPicPr>
            <p:cNvPr id="66567" name="Picture 7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72" y="1113"/>
              <a:ext cx="890" cy="1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6564" name="Rectangle 13"/>
          <p:cNvSpPr>
            <a:spLocks noChangeArrowheads="1"/>
          </p:cNvSpPr>
          <p:nvPr/>
        </p:nvSpPr>
        <p:spPr bwMode="auto">
          <a:xfrm>
            <a:off x="827088" y="1628775"/>
            <a:ext cx="7416800" cy="280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0"/>
              </a:spcBef>
            </a:pPr>
            <a:r>
              <a:rPr lang="ko-KR" altLang="en-US" sz="2400" b="0">
                <a:solidFill>
                  <a:schemeClr val="tx1"/>
                </a:solidFill>
                <a:latin typeface="Times New Roman" pitchFamily="-28" charset="0"/>
              </a:rPr>
              <a:t>존 벨은 국소적 실재론에 의하면 반드시 지켜져야만 하는 부등식을 제안했다</a:t>
            </a:r>
            <a:r>
              <a:rPr lang="en-US" altLang="ko-KR" sz="2400" b="0">
                <a:solidFill>
                  <a:schemeClr val="tx1"/>
                </a:solidFill>
                <a:latin typeface="Times New Roman" pitchFamily="-28" charset="0"/>
              </a:rPr>
              <a:t>.</a:t>
            </a:r>
            <a:r>
              <a:rPr lang="en-GB" altLang="ko-KR" sz="2400" b="0">
                <a:solidFill>
                  <a:schemeClr val="tx1"/>
                </a:solidFill>
                <a:latin typeface="Times New Roman" pitchFamily="-28" charset="0"/>
              </a:rPr>
              <a:t> [J. S. Bell, Physics 1</a:t>
            </a:r>
            <a:r>
              <a:rPr lang="en-GB" altLang="ko-KR" sz="2400" b="0" i="1">
                <a:solidFill>
                  <a:schemeClr val="tx1"/>
                </a:solidFill>
                <a:latin typeface="Times New Roman" pitchFamily="-28" charset="0"/>
              </a:rPr>
              <a:t>, </a:t>
            </a:r>
            <a:r>
              <a:rPr lang="en-GB" altLang="ko-KR" sz="2400" b="0">
                <a:solidFill>
                  <a:schemeClr val="tx1"/>
                </a:solidFill>
                <a:latin typeface="Times New Roman" pitchFamily="-28" charset="0"/>
              </a:rPr>
              <a:t>195 (1964)].</a:t>
            </a:r>
          </a:p>
          <a:p>
            <a:pPr marL="342900" indent="-342900">
              <a:spcBef>
                <a:spcPct val="0"/>
              </a:spcBef>
            </a:pPr>
            <a:endParaRPr lang="en-AU" altLang="ko-KR" sz="2400" b="0">
              <a:solidFill>
                <a:schemeClr val="tx1"/>
              </a:solidFill>
              <a:latin typeface="Times New Roman" pitchFamily="-28" charset="0"/>
            </a:endParaRPr>
          </a:p>
          <a:p>
            <a:pPr marL="342900" indent="-342900">
              <a:spcBef>
                <a:spcPct val="0"/>
              </a:spcBef>
            </a:pPr>
            <a:r>
              <a:rPr lang="ko-KR" altLang="en-US" sz="2400" b="0">
                <a:solidFill>
                  <a:schemeClr val="tx1"/>
                </a:solidFill>
                <a:latin typeface="Times New Roman" pitchFamily="-28" charset="0"/>
              </a:rPr>
              <a:t>양자역학에 의하면 벨의 부등식은 위배된다</a:t>
            </a:r>
            <a:r>
              <a:rPr lang="en-US" altLang="ko-KR" sz="2400" b="0">
                <a:solidFill>
                  <a:schemeClr val="tx1"/>
                </a:solidFill>
                <a:latin typeface="Times New Roman" pitchFamily="-28" charset="0"/>
              </a:rPr>
              <a:t>. </a:t>
            </a:r>
            <a:r>
              <a:rPr lang="ko-KR" altLang="en-US" sz="2400" b="0">
                <a:solidFill>
                  <a:schemeClr val="tx1"/>
                </a:solidFill>
                <a:latin typeface="Times New Roman" pitchFamily="-28" charset="0"/>
              </a:rPr>
              <a:t>즉 양자역학과 국소적 실재론은 양립할 수 없다</a:t>
            </a:r>
            <a:r>
              <a:rPr lang="en-AU" altLang="ko-KR" sz="2400" b="0">
                <a:solidFill>
                  <a:schemeClr val="tx1"/>
                </a:solidFill>
                <a:latin typeface="Times New Roman" pitchFamily="-28" charset="0"/>
              </a:rPr>
              <a:t>.</a:t>
            </a:r>
          </a:p>
          <a:p>
            <a:pPr marL="342900" indent="-342900" eaLnBrk="0" hangingPunct="0">
              <a:lnSpc>
                <a:spcPct val="80000"/>
              </a:lnSpc>
            </a:pPr>
            <a:endParaRPr lang="en-US" altLang="ja-JP" sz="2400" b="0">
              <a:solidFill>
                <a:schemeClr val="tx1"/>
              </a:solidFill>
              <a:latin typeface="Times New Roman" pitchFamily="-28" charset="0"/>
            </a:endParaRPr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1331913" y="4797425"/>
          <a:ext cx="4975225" cy="436563"/>
        </p:xfrm>
        <a:graphic>
          <a:graphicData uri="http://schemas.openxmlformats.org/presentationml/2006/ole">
            <p:oleObj spid="_x0000_s66562" name="Equation" r:id="rId4" imgW="2171520" imgH="190440" progId="Equation.3">
              <p:embed/>
            </p:oleObj>
          </a:graphicData>
        </a:graphic>
      </p:graphicFrame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2971800" y="457200"/>
            <a:ext cx="3194050" cy="76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400" b="0">
                <a:solidFill>
                  <a:srgbClr val="C0504D"/>
                </a:solidFill>
                <a:latin typeface="Calibri" pitchFamily="-28" charset="0"/>
              </a:rPr>
              <a:t>벨의 부등식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50825" y="1412875"/>
            <a:ext cx="4267200" cy="4419600"/>
            <a:chOff x="192" y="960"/>
            <a:chExt cx="2688" cy="2784"/>
          </a:xfrm>
        </p:grpSpPr>
        <p:pic>
          <p:nvPicPr>
            <p:cNvPr id="67590" name="Picture 3" descr="agbell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32" y="960"/>
              <a:ext cx="2352" cy="1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7591" name="Rectangle 4"/>
            <p:cNvSpPr>
              <a:spLocks noChangeArrowheads="1"/>
            </p:cNvSpPr>
            <p:nvPr/>
          </p:nvSpPr>
          <p:spPr bwMode="auto">
            <a:xfrm>
              <a:off x="192" y="3216"/>
              <a:ext cx="2688" cy="5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marL="342900" indent="-342900" algn="ctr">
                <a:buFontTx/>
                <a:buNone/>
              </a:pPr>
              <a:r>
                <a:rPr lang="en-US" altLang="ko-KR" sz="2000">
                  <a:solidFill>
                    <a:schemeClr val="tx1"/>
                  </a:solidFill>
                  <a:latin typeface="Times New Roman" pitchFamily="-28" charset="0"/>
                </a:rPr>
                <a:t>Alexander Graham Bell (1847-1922)</a:t>
              </a:r>
            </a:p>
            <a:p>
              <a:pPr marL="342900" indent="-342900" algn="ctr">
                <a:buFontTx/>
                <a:buNone/>
              </a:pPr>
              <a:r>
                <a:rPr lang="en-US" altLang="ko-KR" sz="2000">
                  <a:solidFill>
                    <a:schemeClr val="tx1"/>
                  </a:solidFill>
                  <a:latin typeface="Times New Roman" pitchFamily="-28" charset="0"/>
                </a:rPr>
                <a:t>Scottish (Edinburgh) Inventor</a:t>
              </a:r>
            </a:p>
            <a:p>
              <a:pPr marL="342900" indent="-342900" algn="ctr">
                <a:buFontTx/>
                <a:buNone/>
              </a:pPr>
              <a:r>
                <a:rPr lang="ko-KR" altLang="en-US" sz="2000">
                  <a:solidFill>
                    <a:schemeClr val="tx1"/>
                  </a:solidFill>
                  <a:latin typeface="Times New Roman" pitchFamily="-28" charset="0"/>
                </a:rPr>
                <a:t>스코틀랜드 에딘버러의 발명가</a:t>
              </a:r>
              <a:endParaRPr lang="en-US" altLang="ko-KR" sz="2000">
                <a:solidFill>
                  <a:schemeClr val="tx1"/>
                </a:solidFill>
                <a:latin typeface="Times New Roman" pitchFamily="-28" charset="0"/>
              </a:endParaRPr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4589463" y="941388"/>
            <a:ext cx="4545012" cy="5253037"/>
            <a:chOff x="3120" y="624"/>
            <a:chExt cx="2863" cy="3309"/>
          </a:xfrm>
        </p:grpSpPr>
        <p:graphicFrame>
          <p:nvGraphicFramePr>
            <p:cNvPr id="67586" name="Object 2"/>
            <p:cNvGraphicFramePr>
              <a:graphicFrameLocks noChangeAspect="1"/>
            </p:cNvGraphicFramePr>
            <p:nvPr/>
          </p:nvGraphicFramePr>
          <p:xfrm>
            <a:off x="3264" y="624"/>
            <a:ext cx="1983" cy="2592"/>
          </p:xfrm>
          <a:graphic>
            <a:graphicData uri="http://schemas.openxmlformats.org/presentationml/2006/ole">
              <p:oleObj spid="_x0000_s67586" name="비트맵 이미지" r:id="rId4" imgW="2076740" imgH="2715004" progId="Paint.Picture">
                <p:embed/>
              </p:oleObj>
            </a:graphicData>
          </a:graphic>
        </p:graphicFrame>
        <p:sp>
          <p:nvSpPr>
            <p:cNvPr id="67589" name="Rectangle 7"/>
            <p:cNvSpPr>
              <a:spLocks noChangeArrowheads="1"/>
            </p:cNvSpPr>
            <p:nvPr/>
          </p:nvSpPr>
          <p:spPr bwMode="auto">
            <a:xfrm>
              <a:off x="3120" y="3216"/>
              <a:ext cx="2863" cy="717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buFontTx/>
                <a:buNone/>
              </a:pPr>
              <a:r>
                <a:rPr lang="en-US" altLang="ko-KR" sz="2000">
                  <a:solidFill>
                    <a:schemeClr val="tx2"/>
                  </a:solidFill>
                  <a:latin typeface="Times New Roman" pitchFamily="-28" charset="0"/>
                </a:rPr>
                <a:t>  John Stewart Bell (1928-1990)</a:t>
              </a:r>
            </a:p>
            <a:p>
              <a:pPr>
                <a:buFontTx/>
                <a:buNone/>
              </a:pPr>
              <a:r>
                <a:rPr lang="en-US" altLang="ko-KR" sz="2000">
                  <a:solidFill>
                    <a:schemeClr val="tx2"/>
                  </a:solidFill>
                  <a:latin typeface="Times New Roman" pitchFamily="-28" charset="0"/>
                </a:rPr>
                <a:t>Northern Irish (Belfast) Physicist</a:t>
              </a:r>
            </a:p>
            <a:p>
              <a:pPr>
                <a:buFontTx/>
                <a:buNone/>
              </a:pPr>
              <a:r>
                <a:rPr lang="ko-KR" altLang="en-US" sz="2000">
                  <a:solidFill>
                    <a:schemeClr val="tx2"/>
                  </a:solidFill>
                  <a:latin typeface="Times New Roman" pitchFamily="-28" charset="0"/>
                </a:rPr>
                <a:t>영국 북아일랜드 벨패스트의 물리학자</a:t>
              </a:r>
              <a:endParaRPr lang="en-US" altLang="ko-KR" sz="2000">
                <a:solidFill>
                  <a:schemeClr val="tx2"/>
                </a:solidFill>
                <a:latin typeface="Times New Roman" pitchFamily="-2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/>
          </p:cNvSpPr>
          <p:nvPr>
            <p:ph type="title"/>
          </p:nvPr>
        </p:nvSpPr>
        <p:spPr>
          <a:xfrm>
            <a:off x="323850" y="404813"/>
            <a:ext cx="7988300" cy="1143000"/>
          </a:xfrm>
        </p:spPr>
        <p:txBody>
          <a:bodyPr/>
          <a:lstStyle/>
          <a:p>
            <a:r>
              <a:rPr lang="ko-KR" altLang="en-US" sz="3200" b="1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불확정성의 원리</a:t>
            </a:r>
            <a:endParaRPr lang="en-US" altLang="ko-KR" sz="3200" b="1">
              <a:solidFill>
                <a:schemeClr val="accent2"/>
              </a:solidFill>
              <a:ea typeface="Gulim" pitchFamily="-28" charset="-127"/>
              <a:cs typeface="Gulim" pitchFamily="-28" charset="-127"/>
            </a:endParaRPr>
          </a:p>
        </p:txBody>
      </p:sp>
      <p:sp>
        <p:nvSpPr>
          <p:cNvPr id="624643" name="Rectangle 3"/>
          <p:cNvSpPr>
            <a:spLocks/>
          </p:cNvSpPr>
          <p:nvPr/>
        </p:nvSpPr>
        <p:spPr bwMode="auto">
          <a:xfrm>
            <a:off x="755650" y="2205038"/>
            <a:ext cx="7345363" cy="287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0" hangingPunct="0">
              <a:buFont typeface="Arial" pitchFamily="-28" charset="0"/>
              <a:buChar char="•"/>
            </a:pPr>
            <a:endParaRPr lang="en-US" altLang="ko-KR" sz="2200" b="0">
              <a:solidFill>
                <a:schemeClr val="tx1"/>
              </a:solidFill>
              <a:latin typeface="Calibri" pitchFamily="-28" charset="0"/>
            </a:endParaRPr>
          </a:p>
        </p:txBody>
      </p:sp>
      <p:graphicFrame>
        <p:nvGraphicFramePr>
          <p:cNvPr id="624644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3563938" y="1557338"/>
          <a:ext cx="1754187" cy="1066800"/>
        </p:xfrm>
        <a:graphic>
          <a:graphicData uri="http://schemas.openxmlformats.org/presentationml/2006/ole">
            <p:oleObj spid="_x0000_s68610" name="Equation" r:id="rId3" imgW="672840" imgH="393480" progId="Equation.3">
              <p:embed/>
            </p:oleObj>
          </a:graphicData>
        </a:graphic>
      </p:graphicFrame>
      <p:sp>
        <p:nvSpPr>
          <p:cNvPr id="624645" name="Rectangle 5"/>
          <p:cNvSpPr>
            <a:spLocks/>
          </p:cNvSpPr>
          <p:nvPr/>
        </p:nvSpPr>
        <p:spPr bwMode="auto">
          <a:xfrm>
            <a:off x="755650" y="1412875"/>
            <a:ext cx="7993063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0" hangingPunct="0">
              <a:buFont typeface="Wingdings" pitchFamily="-28" charset="2"/>
              <a:buChar char="l"/>
            </a:pPr>
            <a:endParaRPr lang="ko-KR" altLang="en-US" sz="240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buFont typeface="Wingdings" pitchFamily="-28" charset="2"/>
              <a:buChar char="l"/>
            </a:pPr>
            <a:r>
              <a:rPr lang="ko-KR" altLang="en-US" sz="2400">
                <a:solidFill>
                  <a:schemeClr val="tx1"/>
                </a:solidFill>
                <a:latin typeface="Calibri" pitchFamily="-28" charset="0"/>
              </a:rPr>
              <a:t>불확정성의 원리</a:t>
            </a:r>
            <a:r>
              <a:rPr lang="en-US" altLang="ko-KR" sz="2400">
                <a:solidFill>
                  <a:schemeClr val="tx1"/>
                </a:solidFill>
                <a:latin typeface="Calibri" pitchFamily="-28" charset="0"/>
              </a:rPr>
              <a:t>:</a:t>
            </a:r>
            <a:r>
              <a:rPr lang="en-US" altLang="ko-KR" sz="2400" b="0">
                <a:solidFill>
                  <a:schemeClr val="tx1"/>
                </a:solidFill>
                <a:latin typeface="Calibri" pitchFamily="-28" charset="0"/>
              </a:rPr>
              <a:t> </a:t>
            </a:r>
          </a:p>
          <a:p>
            <a:pPr marL="342900" indent="-342900" eaLnBrk="0" hangingPunct="0">
              <a:buFont typeface="Wingdings" pitchFamily="-28" charset="2"/>
              <a:buChar char="l"/>
            </a:pPr>
            <a:endParaRPr lang="en-US" altLang="ko-KR" sz="24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buFont typeface="Wingdings" pitchFamily="-28" charset="2"/>
              <a:buChar char="l"/>
            </a:pPr>
            <a:r>
              <a:rPr lang="ko-KR" altLang="en-US" sz="2400">
                <a:solidFill>
                  <a:schemeClr val="tx1"/>
                </a:solidFill>
                <a:latin typeface="Calibri" pitchFamily="-28" charset="0"/>
              </a:rPr>
              <a:t>입자의 위치와 운동량을 동시에 정확히 결정하는 것이 불가능하다</a:t>
            </a:r>
            <a:r>
              <a:rPr lang="en-US" altLang="ko-KR" sz="2400">
                <a:solidFill>
                  <a:schemeClr val="tx1"/>
                </a:solidFill>
                <a:latin typeface="Calibri" pitchFamily="-28" charset="0"/>
              </a:rPr>
              <a:t>.</a:t>
            </a:r>
          </a:p>
          <a:p>
            <a:pPr marL="342900" indent="-342900" eaLnBrk="0" hangingPunct="0">
              <a:buFont typeface="Wingdings" pitchFamily="-28" charset="2"/>
              <a:buChar char="l"/>
            </a:pPr>
            <a:endParaRPr lang="en-US" altLang="ko-KR" sz="240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buFont typeface="Wingdings" pitchFamily="-28" charset="2"/>
              <a:buChar char="l"/>
            </a:pPr>
            <a:r>
              <a:rPr lang="ko-KR" altLang="en-US" sz="2400">
                <a:solidFill>
                  <a:schemeClr val="tx1"/>
                </a:solidFill>
                <a:latin typeface="Calibri" pitchFamily="-28" charset="0"/>
              </a:rPr>
              <a:t>한 입자의 위치를 정확하게 측정하면 운동량이 극히 부정확해지고 운동량을 정확하게 측정하면 위치가 부정확해진다</a:t>
            </a:r>
            <a:r>
              <a:rPr lang="en-US" altLang="ko-KR" sz="2400">
                <a:solidFill>
                  <a:schemeClr val="tx1"/>
                </a:solidFill>
                <a:latin typeface="Calibri" pitchFamily="-28" charset="0"/>
              </a:rPr>
              <a:t>.</a:t>
            </a:r>
          </a:p>
          <a:p>
            <a:pPr marL="342900" indent="-342900" eaLnBrk="0" hangingPunct="0">
              <a:buFont typeface="Wingdings" pitchFamily="-28" charset="2"/>
              <a:buChar char="l"/>
            </a:pPr>
            <a:endParaRPr lang="ko-KR" altLang="en-US" sz="240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buFont typeface="Wingdings" pitchFamily="-28" charset="2"/>
              <a:buChar char="l"/>
            </a:pPr>
            <a:r>
              <a:rPr lang="ko-KR" altLang="en-US" sz="2400">
                <a:solidFill>
                  <a:schemeClr val="tx1"/>
                </a:solidFill>
                <a:latin typeface="Calibri" pitchFamily="-28" charset="0"/>
              </a:rPr>
              <a:t>양자역학은 측정에 대해 근본적인 한계가 있음을 보여준다</a:t>
            </a:r>
            <a:r>
              <a:rPr lang="en-US" altLang="ko-KR" sz="2400">
                <a:solidFill>
                  <a:schemeClr val="tx1"/>
                </a:solidFill>
                <a:latin typeface="Calibri" pitchFamily="-28" charset="0"/>
              </a:rPr>
              <a:t>.</a:t>
            </a:r>
          </a:p>
        </p:txBody>
      </p:sp>
      <p:grpSp>
        <p:nvGrpSpPr>
          <p:cNvPr id="68614" name="Group 11"/>
          <p:cNvGrpSpPr>
            <a:grpSpLocks/>
          </p:cNvGrpSpPr>
          <p:nvPr/>
        </p:nvGrpSpPr>
        <p:grpSpPr bwMode="auto">
          <a:xfrm>
            <a:off x="6256338" y="404813"/>
            <a:ext cx="1682750" cy="2282825"/>
            <a:chOff x="3941" y="255"/>
            <a:chExt cx="1060" cy="1438"/>
          </a:xfrm>
        </p:grpSpPr>
        <p:pic>
          <p:nvPicPr>
            <p:cNvPr id="68615" name="Picture 9" descr="250px-180px-Werner_Heisenber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969" y="255"/>
              <a:ext cx="984" cy="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8616" name="Rectangle 14"/>
            <p:cNvSpPr>
              <a:spLocks noChangeArrowheads="1"/>
            </p:cNvSpPr>
            <p:nvPr/>
          </p:nvSpPr>
          <p:spPr bwMode="auto">
            <a:xfrm>
              <a:off x="3941" y="1340"/>
              <a:ext cx="1060" cy="353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  <a:latin typeface="Times New Roman" pitchFamily="-28" charset="0"/>
                </a:rPr>
                <a:t>Werner Heisenberg</a:t>
              </a:r>
            </a:p>
            <a:p>
              <a:pPr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  <a:latin typeface="Times New Roman" pitchFamily="-28" charset="0"/>
                </a:rPr>
                <a:t>      (1901-1976)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43" grpId="0"/>
      <p:bldP spid="62464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6"/>
          <p:cNvSpPr>
            <a:spLocks noChangeArrowheads="1"/>
          </p:cNvSpPr>
          <p:nvPr/>
        </p:nvSpPr>
        <p:spPr bwMode="auto">
          <a:xfrm>
            <a:off x="3348038" y="549275"/>
            <a:ext cx="2265362" cy="762000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GB" altLang="ko-KR" sz="2000">
                <a:solidFill>
                  <a:schemeClr val="tx1"/>
                </a:solidFill>
                <a:latin typeface="Times New Roman" pitchFamily="-28" charset="0"/>
              </a:rPr>
              <a:t>E</a:t>
            </a:r>
            <a:r>
              <a:rPr lang="en-US" altLang="ko-KR" sz="2000">
                <a:solidFill>
                  <a:schemeClr val="tx1"/>
                </a:solidFill>
                <a:latin typeface="Times New Roman" pitchFamily="-28" charset="0"/>
              </a:rPr>
              <a:t>rwin</a:t>
            </a:r>
            <a:r>
              <a:rPr lang="ko-KR" altLang="en-GB" sz="2000">
                <a:solidFill>
                  <a:schemeClr val="tx1"/>
                </a:solidFill>
                <a:latin typeface="Times New Roman" pitchFamily="-28" charset="0"/>
              </a:rPr>
              <a:t> </a:t>
            </a:r>
            <a:r>
              <a:rPr lang="en-GB" altLang="ko-KR" sz="2000">
                <a:solidFill>
                  <a:schemeClr val="tx1"/>
                </a:solidFill>
                <a:latin typeface="Times New Roman" pitchFamily="-28" charset="0"/>
              </a:rPr>
              <a:t>Schr</a:t>
            </a:r>
            <a:r>
              <a:rPr lang="en-US" altLang="ko-KR" sz="2000">
                <a:solidFill>
                  <a:schemeClr val="tx1"/>
                </a:solidFill>
                <a:latin typeface="Times New Roman" pitchFamily="-28" charset="0"/>
              </a:rPr>
              <a:t>ö</a:t>
            </a:r>
            <a:r>
              <a:rPr lang="en-GB" altLang="ko-KR" sz="2000">
                <a:solidFill>
                  <a:schemeClr val="tx1"/>
                </a:solidFill>
                <a:latin typeface="Times New Roman" pitchFamily="-28" charset="0"/>
              </a:rPr>
              <a:t>dinger</a:t>
            </a:r>
          </a:p>
          <a:p>
            <a:pPr>
              <a:buFontTx/>
              <a:buNone/>
            </a:pPr>
            <a:r>
              <a:rPr lang="en-GB" altLang="ko-KR" sz="2000">
                <a:solidFill>
                  <a:schemeClr val="tx1"/>
                </a:solidFill>
                <a:latin typeface="Times New Roman" pitchFamily="-28" charset="0"/>
              </a:rPr>
              <a:t>      (1887-1961)</a:t>
            </a:r>
            <a:endParaRPr lang="en-US" altLang="ko-KR" sz="2000">
              <a:solidFill>
                <a:schemeClr val="tx1"/>
              </a:solidFill>
              <a:latin typeface="Times New Roman" pitchFamily="-28" charset="0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2627313" y="5340350"/>
            <a:ext cx="4073525" cy="817563"/>
            <a:chOff x="1655" y="3364"/>
            <a:chExt cx="2566" cy="515"/>
          </a:xfrm>
        </p:grpSpPr>
        <p:graphicFrame>
          <p:nvGraphicFramePr>
            <p:cNvPr id="69635" name="Object 4"/>
            <p:cNvGraphicFramePr>
              <a:graphicFrameLocks noChangeAspect="1"/>
            </p:cNvGraphicFramePr>
            <p:nvPr/>
          </p:nvGraphicFramePr>
          <p:xfrm>
            <a:off x="1655" y="3364"/>
            <a:ext cx="2208" cy="515"/>
          </p:xfrm>
          <a:graphic>
            <a:graphicData uri="http://schemas.openxmlformats.org/presentationml/2006/ole">
              <p:oleObj spid="_x0000_s69635" name="Equation" r:id="rId3" imgW="1638300" imgH="381000" progId="Equation.3">
                <p:embed/>
              </p:oleObj>
            </a:graphicData>
          </a:graphic>
        </p:graphicFrame>
        <p:sp>
          <p:nvSpPr>
            <p:cNvPr id="69643" name="Rectangle 8"/>
            <p:cNvSpPr>
              <a:spLocks noChangeArrowheads="1"/>
            </p:cNvSpPr>
            <p:nvPr/>
          </p:nvSpPr>
          <p:spPr bwMode="auto">
            <a:xfrm>
              <a:off x="3959" y="3387"/>
              <a:ext cx="262" cy="407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buFontTx/>
                <a:buNone/>
              </a:pPr>
              <a:r>
                <a:rPr lang="en-GB" altLang="ko-KR" sz="3600">
                  <a:solidFill>
                    <a:schemeClr val="tx1"/>
                  </a:solidFill>
                  <a:latin typeface="Times New Roman" pitchFamily="-28" charset="0"/>
                </a:rPr>
                <a:t>?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195638" y="3843338"/>
            <a:ext cx="2976562" cy="1490662"/>
            <a:chOff x="3195638" y="3843338"/>
            <a:chExt cx="2976562" cy="1295400"/>
          </a:xfrm>
        </p:grpSpPr>
        <p:sp>
          <p:nvSpPr>
            <p:cNvPr id="69641" name="Rectangle 7"/>
            <p:cNvSpPr>
              <a:spLocks noChangeArrowheads="1"/>
            </p:cNvSpPr>
            <p:nvPr/>
          </p:nvSpPr>
          <p:spPr bwMode="auto">
            <a:xfrm>
              <a:off x="3452813" y="4364395"/>
              <a:ext cx="2719387" cy="641906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>
                <a:buFontTx/>
                <a:buNone/>
              </a:pPr>
              <a:r>
                <a:rPr lang="ko-KR" altLang="en-US" sz="2100">
                  <a:solidFill>
                    <a:srgbClr val="FF0000"/>
                  </a:solidFill>
                  <a:latin typeface="Forte" pitchFamily="66" charset="0"/>
                </a:rPr>
                <a:t>고양이는 왜 안될까</a:t>
              </a:r>
              <a:r>
                <a:rPr lang="ko-KR" altLang="en-GB" sz="2100">
                  <a:solidFill>
                    <a:srgbClr val="FF0000"/>
                  </a:solidFill>
                  <a:latin typeface="Forte" pitchFamily="66" charset="0"/>
                </a:rPr>
                <a:t> </a:t>
              </a:r>
              <a:r>
                <a:rPr lang="en-GB" altLang="ko-KR" sz="2100">
                  <a:solidFill>
                    <a:srgbClr val="FF0000"/>
                  </a:solidFill>
                  <a:latin typeface="Forte" pitchFamily="66" charset="0"/>
                </a:rPr>
                <a:t>?!</a:t>
              </a:r>
            </a:p>
          </p:txBody>
        </p:sp>
        <p:sp>
          <p:nvSpPr>
            <p:cNvPr id="69642" name="Freeform 9"/>
            <p:cNvSpPr>
              <a:spLocks/>
            </p:cNvSpPr>
            <p:nvPr/>
          </p:nvSpPr>
          <p:spPr bwMode="auto">
            <a:xfrm>
              <a:off x="3195638" y="3843338"/>
              <a:ext cx="2878137" cy="1295400"/>
            </a:xfrm>
            <a:custGeom>
              <a:avLst/>
              <a:gdLst>
                <a:gd name="T0" fmla="*/ 2147483647 w 1838"/>
                <a:gd name="T1" fmla="*/ 2147483647 h 863"/>
                <a:gd name="T2" fmla="*/ 2147483647 w 1838"/>
                <a:gd name="T3" fmla="*/ 2147483647 h 863"/>
                <a:gd name="T4" fmla="*/ 2147483647 w 1838"/>
                <a:gd name="T5" fmla="*/ 2147483647 h 863"/>
                <a:gd name="T6" fmla="*/ 2147483647 w 1838"/>
                <a:gd name="T7" fmla="*/ 2147483647 h 863"/>
                <a:gd name="T8" fmla="*/ 2147483647 w 1838"/>
                <a:gd name="T9" fmla="*/ 2147483647 h 863"/>
                <a:gd name="T10" fmla="*/ 2147483647 w 1838"/>
                <a:gd name="T11" fmla="*/ 2147483647 h 863"/>
                <a:gd name="T12" fmla="*/ 2147483647 w 1838"/>
                <a:gd name="T13" fmla="*/ 2147483647 h 863"/>
                <a:gd name="T14" fmla="*/ 2147483647 w 1838"/>
                <a:gd name="T15" fmla="*/ 2147483647 h 863"/>
                <a:gd name="T16" fmla="*/ 2147483647 w 1838"/>
                <a:gd name="T17" fmla="*/ 2147483647 h 863"/>
                <a:gd name="T18" fmla="*/ 2147483647 w 1838"/>
                <a:gd name="T19" fmla="*/ 2147483647 h 863"/>
                <a:gd name="T20" fmla="*/ 2147483647 w 1838"/>
                <a:gd name="T21" fmla="*/ 2147483647 h 863"/>
                <a:gd name="T22" fmla="*/ 2147483647 w 1838"/>
                <a:gd name="T23" fmla="*/ 2147483647 h 863"/>
                <a:gd name="T24" fmla="*/ 2147483647 w 1838"/>
                <a:gd name="T25" fmla="*/ 2147483647 h 8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838"/>
                <a:gd name="T40" fmla="*/ 0 h 863"/>
                <a:gd name="T41" fmla="*/ 1838 w 1838"/>
                <a:gd name="T42" fmla="*/ 863 h 86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838" h="863">
                  <a:moveTo>
                    <a:pt x="653" y="235"/>
                  </a:moveTo>
                  <a:cubicBezTo>
                    <a:pt x="585" y="257"/>
                    <a:pt x="435" y="257"/>
                    <a:pt x="337" y="285"/>
                  </a:cubicBezTo>
                  <a:cubicBezTo>
                    <a:pt x="239" y="314"/>
                    <a:pt x="108" y="328"/>
                    <a:pt x="65" y="403"/>
                  </a:cubicBezTo>
                  <a:cubicBezTo>
                    <a:pt x="22" y="478"/>
                    <a:pt x="0" y="661"/>
                    <a:pt x="81" y="735"/>
                  </a:cubicBezTo>
                  <a:cubicBezTo>
                    <a:pt x="162" y="809"/>
                    <a:pt x="366" y="833"/>
                    <a:pt x="553" y="848"/>
                  </a:cubicBezTo>
                  <a:cubicBezTo>
                    <a:pt x="740" y="863"/>
                    <a:pt x="1002" y="854"/>
                    <a:pt x="1201" y="827"/>
                  </a:cubicBezTo>
                  <a:cubicBezTo>
                    <a:pt x="1400" y="800"/>
                    <a:pt x="1652" y="761"/>
                    <a:pt x="1745" y="688"/>
                  </a:cubicBezTo>
                  <a:cubicBezTo>
                    <a:pt x="1838" y="615"/>
                    <a:pt x="1791" y="456"/>
                    <a:pt x="1759" y="387"/>
                  </a:cubicBezTo>
                  <a:cubicBezTo>
                    <a:pt x="1727" y="318"/>
                    <a:pt x="1691" y="307"/>
                    <a:pt x="1551" y="277"/>
                  </a:cubicBezTo>
                  <a:cubicBezTo>
                    <a:pt x="1411" y="246"/>
                    <a:pt x="1057" y="246"/>
                    <a:pt x="919" y="201"/>
                  </a:cubicBezTo>
                  <a:cubicBezTo>
                    <a:pt x="781" y="156"/>
                    <a:pt x="752" y="16"/>
                    <a:pt x="724" y="8"/>
                  </a:cubicBezTo>
                  <a:cubicBezTo>
                    <a:pt x="696" y="0"/>
                    <a:pt x="760" y="113"/>
                    <a:pt x="748" y="151"/>
                  </a:cubicBezTo>
                  <a:cubicBezTo>
                    <a:pt x="736" y="189"/>
                    <a:pt x="721" y="213"/>
                    <a:pt x="653" y="235"/>
                  </a:cubicBez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none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graphicFrame>
        <p:nvGraphicFramePr>
          <p:cNvPr id="583690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900113" y="1916113"/>
          <a:ext cx="1371600" cy="1219200"/>
        </p:xfrm>
        <a:graphic>
          <a:graphicData uri="http://schemas.openxmlformats.org/presentationml/2006/ole">
            <p:oleObj spid="_x0000_s69634" name="Microsoft ClipArt Gallery" r:id="rId4" imgW="4431960" imgH="4317840" progId="MS_ClipArt_Gallery">
              <p:embed/>
            </p:oleObj>
          </a:graphicData>
        </a:graphic>
      </p:graphicFrame>
      <p:pic>
        <p:nvPicPr>
          <p:cNvPr id="583691" name="Picture 11" descr="NR712-Warhol~Red-Cat-from-Twenty-Five-Cats-Posters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27763" y="1484313"/>
            <a:ext cx="2044700" cy="273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40" name="Picture 13" descr="Erwin_Schrodinger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563938" y="1341438"/>
            <a:ext cx="1757362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58" name="Group 9"/>
          <p:cNvGrpSpPr>
            <a:grpSpLocks/>
          </p:cNvGrpSpPr>
          <p:nvPr/>
        </p:nvGrpSpPr>
        <p:grpSpPr bwMode="auto">
          <a:xfrm>
            <a:off x="2044700" y="803275"/>
            <a:ext cx="4706938" cy="366713"/>
            <a:chOff x="0" y="0"/>
            <a:chExt cx="2700" cy="41802"/>
          </a:xfrm>
        </p:grpSpPr>
        <p:sp>
          <p:nvSpPr>
            <p:cNvPr id="70662" name="Rectangle 10"/>
            <p:cNvSpPr>
              <a:spLocks noChangeArrowheads="1"/>
            </p:cNvSpPr>
            <p:nvPr/>
          </p:nvSpPr>
          <p:spPr bwMode="auto">
            <a:xfrm>
              <a:off x="0" y="0"/>
              <a:ext cx="2700" cy="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>
                <a:buFontTx/>
                <a:buNone/>
              </a:pPr>
              <a:endParaRPr lang="en-AU" sz="2000" b="0">
                <a:solidFill>
                  <a:srgbClr val="000000"/>
                </a:solidFill>
                <a:latin typeface="Times New Roman" pitchFamily="-28" charset="0"/>
              </a:endParaRPr>
            </a:p>
          </p:txBody>
        </p:sp>
        <p:sp>
          <p:nvSpPr>
            <p:cNvPr id="70663" name="Rectangle 11"/>
            <p:cNvSpPr>
              <a:spLocks noChangeArrowheads="1"/>
            </p:cNvSpPr>
            <p:nvPr/>
          </p:nvSpPr>
          <p:spPr bwMode="auto">
            <a:xfrm>
              <a:off x="0" y="0"/>
              <a:ext cx="2700" cy="41802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ko-KR" sz="1800" b="0">
                  <a:solidFill>
                    <a:schemeClr val="tx1"/>
                  </a:solidFill>
                  <a:latin typeface="Times New Roman" pitchFamily="-28" charset="0"/>
                </a:rPr>
                <a:t>E. Schr</a:t>
              </a:r>
              <a:r>
                <a:rPr lang="en-US" altLang="ko-KR" sz="1800" b="0">
                  <a:solidFill>
                    <a:schemeClr val="tx1"/>
                  </a:solidFill>
                  <a:latin typeface="Times New Roman" pitchFamily="-28" charset="0"/>
                </a:rPr>
                <a:t>ö</a:t>
              </a:r>
              <a:r>
                <a:rPr lang="en-GB" altLang="ko-KR" sz="1800" b="0">
                  <a:solidFill>
                    <a:schemeClr val="tx1"/>
                  </a:solidFill>
                  <a:latin typeface="Times New Roman" pitchFamily="-28" charset="0"/>
                </a:rPr>
                <a:t>dinger, </a:t>
              </a:r>
              <a:r>
                <a:rPr lang="en-GB" altLang="ko-KR" sz="1800" b="0" i="1">
                  <a:solidFill>
                    <a:schemeClr val="tx1"/>
                  </a:solidFill>
                  <a:latin typeface="Times New Roman" pitchFamily="-28" charset="0"/>
                </a:rPr>
                <a:t>Naturwissenschaftern</a:t>
              </a:r>
              <a:r>
                <a:rPr lang="en-GB" altLang="ko-KR" sz="1800" b="0">
                  <a:solidFill>
                    <a:schemeClr val="tx1"/>
                  </a:solidFill>
                  <a:latin typeface="Times New Roman" pitchFamily="-28" charset="0"/>
                </a:rPr>
                <a:t>. 23 (1935)</a:t>
              </a:r>
            </a:p>
          </p:txBody>
        </p:sp>
      </p:grpSp>
      <p:pic>
        <p:nvPicPr>
          <p:cNvPr id="70659" name="Picture 6" descr="Kat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550" y="1700213"/>
            <a:ext cx="7200900" cy="3602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660" name="Rectangle 20"/>
          <p:cNvSpPr>
            <a:spLocks noChangeArrowheads="1"/>
          </p:cNvSpPr>
          <p:nvPr/>
        </p:nvSpPr>
        <p:spPr bwMode="auto">
          <a:xfrm>
            <a:off x="2916238" y="5445125"/>
            <a:ext cx="3505200" cy="366713"/>
          </a:xfrm>
          <a:prstGeom prst="rect">
            <a:avLst/>
          </a:prstGeom>
          <a:noFill/>
          <a:ln w="12700">
            <a:noFill/>
            <a:miter lim="800000"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sz="1800">
                <a:solidFill>
                  <a:schemeClr val="tx1"/>
                </a:solidFill>
                <a:latin typeface="Times New Roman" pitchFamily="-28" charset="0"/>
              </a:rPr>
              <a:t>The Brussels Journal (29/10/2007)</a:t>
            </a:r>
            <a:endParaRPr lang="en-US" altLang="ko-KR" sz="1800">
              <a:solidFill>
                <a:schemeClr val="tx1"/>
              </a:solidFill>
            </a:endParaRPr>
          </a:p>
        </p:txBody>
      </p:sp>
      <p:sp>
        <p:nvSpPr>
          <p:cNvPr id="70661" name="Rectangle 8"/>
          <p:cNvSpPr>
            <a:spLocks noChangeArrowheads="1"/>
          </p:cNvSpPr>
          <p:nvPr/>
        </p:nvSpPr>
        <p:spPr bwMode="auto">
          <a:xfrm>
            <a:off x="1905000" y="192088"/>
            <a:ext cx="5199063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3600" b="0">
                <a:solidFill>
                  <a:srgbClr val="C0504D"/>
                </a:solidFill>
                <a:latin typeface="Times New Roman" pitchFamily="-28" charset="0"/>
              </a:rPr>
              <a:t>슈뢰딩거의 고양이 역설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 idx="4294967295"/>
          </p:nvPr>
        </p:nvSpPr>
        <p:spPr>
          <a:xfrm>
            <a:off x="1019175" y="609600"/>
            <a:ext cx="6905625" cy="74771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ko-KR" altLang="en-US" sz="3600">
                <a:ea typeface="Gulim" pitchFamily="-28" charset="-127"/>
                <a:cs typeface="Gulim" pitchFamily="-28" charset="-127"/>
              </a:rPr>
              <a:t>우리가 정말로 양자 세계에 살고 있다면</a:t>
            </a:r>
            <a:r>
              <a:rPr lang="en-US" altLang="ko-KR" sz="3600">
                <a:ea typeface="Gulim" pitchFamily="-28" charset="-127"/>
                <a:cs typeface="Gulim" pitchFamily="-28" charset="-127"/>
              </a:rPr>
              <a:t>….</a:t>
            </a:r>
          </a:p>
        </p:txBody>
      </p:sp>
      <p:sp>
        <p:nvSpPr>
          <p:cNvPr id="71685" name="Freeform 24"/>
          <p:cNvSpPr>
            <a:spLocks/>
          </p:cNvSpPr>
          <p:nvPr/>
        </p:nvSpPr>
        <p:spPr bwMode="auto">
          <a:xfrm>
            <a:off x="4429125" y="3071813"/>
            <a:ext cx="3175" cy="912812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71686" name="Freeform 24"/>
          <p:cNvSpPr>
            <a:spLocks/>
          </p:cNvSpPr>
          <p:nvPr/>
        </p:nvSpPr>
        <p:spPr bwMode="auto">
          <a:xfrm>
            <a:off x="4429125" y="2000250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71687" name="Freeform 24"/>
          <p:cNvSpPr>
            <a:spLocks/>
          </p:cNvSpPr>
          <p:nvPr/>
        </p:nvSpPr>
        <p:spPr bwMode="auto">
          <a:xfrm>
            <a:off x="4429125" y="4143375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71688" name="Freeform 24"/>
          <p:cNvSpPr>
            <a:spLocks/>
          </p:cNvSpPr>
          <p:nvPr/>
        </p:nvSpPr>
        <p:spPr bwMode="auto">
          <a:xfrm>
            <a:off x="7786688" y="1928813"/>
            <a:ext cx="3175" cy="324008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71689" name="Freeform 9"/>
          <p:cNvSpPr>
            <a:spLocks/>
          </p:cNvSpPr>
          <p:nvPr/>
        </p:nvSpPr>
        <p:spPr bwMode="auto">
          <a:xfrm>
            <a:off x="4143375" y="2857500"/>
            <a:ext cx="709613" cy="234950"/>
          </a:xfrm>
          <a:custGeom>
            <a:avLst/>
            <a:gdLst>
              <a:gd name="T0" fmla="*/ 2147483647 w 453"/>
              <a:gd name="T1" fmla="*/ 0 h 128"/>
              <a:gd name="T2" fmla="*/ 0 w 453"/>
              <a:gd name="T3" fmla="*/ 2147483647 h 128"/>
              <a:gd name="T4" fmla="*/ 0 60000 65536"/>
              <a:gd name="T5" fmla="*/ 0 60000 65536"/>
              <a:gd name="T6" fmla="*/ 0 w 453"/>
              <a:gd name="T7" fmla="*/ 0 h 128"/>
              <a:gd name="T8" fmla="*/ 453 w 453"/>
              <a:gd name="T9" fmla="*/ 128 h 1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3" h="128">
                <a:moveTo>
                  <a:pt x="453" y="0"/>
                </a:moveTo>
                <a:cubicBezTo>
                  <a:pt x="385" y="22"/>
                  <a:pt x="257" y="61"/>
                  <a:pt x="0" y="128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71690" name="Freeform 9"/>
          <p:cNvSpPr>
            <a:spLocks/>
          </p:cNvSpPr>
          <p:nvPr/>
        </p:nvSpPr>
        <p:spPr bwMode="auto">
          <a:xfrm flipV="1">
            <a:off x="4143375" y="4000500"/>
            <a:ext cx="714375" cy="176213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grpSp>
        <p:nvGrpSpPr>
          <p:cNvPr id="71691" name="Group 16"/>
          <p:cNvGrpSpPr>
            <a:grpSpLocks/>
          </p:cNvGrpSpPr>
          <p:nvPr/>
        </p:nvGrpSpPr>
        <p:grpSpPr bwMode="auto">
          <a:xfrm>
            <a:off x="1571625" y="3429000"/>
            <a:ext cx="285750" cy="307975"/>
            <a:chOff x="1928794" y="3357542"/>
            <a:chExt cx="284996" cy="308622"/>
          </a:xfrm>
        </p:grpSpPr>
        <p:sp>
          <p:nvSpPr>
            <p:cNvPr id="71711" name="Freeform 9"/>
            <p:cNvSpPr>
              <a:spLocks/>
            </p:cNvSpPr>
            <p:nvPr/>
          </p:nvSpPr>
          <p:spPr bwMode="auto">
            <a:xfrm flipV="1">
              <a:off x="1928794" y="3357542"/>
              <a:ext cx="284996" cy="142896"/>
            </a:xfrm>
            <a:custGeom>
              <a:avLst/>
              <a:gdLst>
                <a:gd name="T0" fmla="*/ 2147483647 w 182"/>
                <a:gd name="T1" fmla="*/ 2147483647 h 78"/>
                <a:gd name="T2" fmla="*/ 0 w 182"/>
                <a:gd name="T3" fmla="*/ 0 h 78"/>
                <a:gd name="T4" fmla="*/ 0 60000 65536"/>
                <a:gd name="T5" fmla="*/ 0 60000 65536"/>
                <a:gd name="T6" fmla="*/ 0 w 182"/>
                <a:gd name="T7" fmla="*/ 0 h 78"/>
                <a:gd name="T8" fmla="*/ 182 w 182"/>
                <a:gd name="T9" fmla="*/ 78 h 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78">
                  <a:moveTo>
                    <a:pt x="182" y="7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71712" name="Freeform 9"/>
            <p:cNvSpPr>
              <a:spLocks/>
            </p:cNvSpPr>
            <p:nvPr/>
          </p:nvSpPr>
          <p:spPr bwMode="auto">
            <a:xfrm>
              <a:off x="1928794" y="3500438"/>
              <a:ext cx="214314" cy="165726"/>
            </a:xfrm>
            <a:custGeom>
              <a:avLst/>
              <a:gdLst>
                <a:gd name="T0" fmla="*/ 2147483647 w 182"/>
                <a:gd name="T1" fmla="*/ 2147483647 h 42"/>
                <a:gd name="T2" fmla="*/ 0 w 182"/>
                <a:gd name="T3" fmla="*/ 0 h 42"/>
                <a:gd name="T4" fmla="*/ 0 60000 65536"/>
                <a:gd name="T5" fmla="*/ 0 60000 65536"/>
                <a:gd name="T6" fmla="*/ 0 w 182"/>
                <a:gd name="T7" fmla="*/ 0 h 42"/>
                <a:gd name="T8" fmla="*/ 182 w 182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42">
                  <a:moveTo>
                    <a:pt x="182" y="4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71713" name="Freeform 9"/>
            <p:cNvSpPr>
              <a:spLocks/>
            </p:cNvSpPr>
            <p:nvPr/>
          </p:nvSpPr>
          <p:spPr bwMode="auto">
            <a:xfrm>
              <a:off x="1928794" y="3500438"/>
              <a:ext cx="266704" cy="23675"/>
            </a:xfrm>
            <a:custGeom>
              <a:avLst/>
              <a:gdLst>
                <a:gd name="T0" fmla="*/ 2147483647 w 182"/>
                <a:gd name="T1" fmla="*/ 2147483647 h 6"/>
                <a:gd name="T2" fmla="*/ 0 w 182"/>
                <a:gd name="T3" fmla="*/ 0 h 6"/>
                <a:gd name="T4" fmla="*/ 0 60000 65536"/>
                <a:gd name="T5" fmla="*/ 0 60000 65536"/>
                <a:gd name="T6" fmla="*/ 0 w 182"/>
                <a:gd name="T7" fmla="*/ 0 h 6"/>
                <a:gd name="T8" fmla="*/ 182 w 182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6">
                  <a:moveTo>
                    <a:pt x="182" y="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sp>
        <p:nvSpPr>
          <p:cNvPr id="71692" name="Freeform 9"/>
          <p:cNvSpPr>
            <a:spLocks/>
          </p:cNvSpPr>
          <p:nvPr/>
        </p:nvSpPr>
        <p:spPr bwMode="auto">
          <a:xfrm>
            <a:off x="6681788" y="2143125"/>
            <a:ext cx="592137" cy="3054350"/>
          </a:xfrm>
          <a:custGeom>
            <a:avLst/>
            <a:gdLst>
              <a:gd name="T0" fmla="*/ 2147483647 w 378"/>
              <a:gd name="T1" fmla="*/ 0 h 1667"/>
              <a:gd name="T2" fmla="*/ 2147483647 w 378"/>
              <a:gd name="T3" fmla="*/ 2147483647 h 1667"/>
              <a:gd name="T4" fmla="*/ 0 w 378"/>
              <a:gd name="T5" fmla="*/ 2147483647 h 1667"/>
              <a:gd name="T6" fmla="*/ 2147483647 w 378"/>
              <a:gd name="T7" fmla="*/ 2147483647 h 1667"/>
              <a:gd name="T8" fmla="*/ 2147483647 w 378"/>
              <a:gd name="T9" fmla="*/ 2147483647 h 16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8"/>
              <a:gd name="T16" fmla="*/ 0 h 1667"/>
              <a:gd name="T17" fmla="*/ 378 w 378"/>
              <a:gd name="T18" fmla="*/ 1667 h 16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8" h="1667">
                <a:moveTo>
                  <a:pt x="340" y="0"/>
                </a:moveTo>
                <a:cubicBezTo>
                  <a:pt x="309" y="30"/>
                  <a:pt x="254" y="197"/>
                  <a:pt x="197" y="334"/>
                </a:cubicBezTo>
                <a:cubicBezTo>
                  <a:pt x="140" y="471"/>
                  <a:pt x="14" y="698"/>
                  <a:pt x="0" y="820"/>
                </a:cubicBezTo>
                <a:cubicBezTo>
                  <a:pt x="11" y="987"/>
                  <a:pt x="184" y="1193"/>
                  <a:pt x="261" y="1334"/>
                </a:cubicBezTo>
                <a:cubicBezTo>
                  <a:pt x="260" y="1398"/>
                  <a:pt x="378" y="1631"/>
                  <a:pt x="374" y="1667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71693" name="Picture 4" descr="C:\Documents and Settings\Jeong\Desktop\bw0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3" y="3500438"/>
            <a:ext cx="1000125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500" name="Picture 2" descr="C:\Documents and Settings\Jeong\Desktop\200604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57750" y="4286250"/>
            <a:ext cx="1712913" cy="171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5572125" y="4294188"/>
            <a:ext cx="1357313" cy="520700"/>
            <a:chOff x="5572125" y="4294188"/>
            <a:chExt cx="1357313" cy="520700"/>
          </a:xfrm>
        </p:grpSpPr>
        <p:sp>
          <p:nvSpPr>
            <p:cNvPr id="71709" name="Freeform 9"/>
            <p:cNvSpPr>
              <a:spLocks/>
            </p:cNvSpPr>
            <p:nvPr/>
          </p:nvSpPr>
          <p:spPr bwMode="auto">
            <a:xfrm>
              <a:off x="5572125" y="4311650"/>
              <a:ext cx="1357313" cy="93663"/>
            </a:xfrm>
            <a:custGeom>
              <a:avLst/>
              <a:gdLst>
                <a:gd name="T0" fmla="*/ 2147483647 w 456"/>
                <a:gd name="T1" fmla="*/ 0 h 29"/>
                <a:gd name="T2" fmla="*/ 0 w 456"/>
                <a:gd name="T3" fmla="*/ 2147483647 h 29"/>
                <a:gd name="T4" fmla="*/ 0 60000 65536"/>
                <a:gd name="T5" fmla="*/ 0 60000 65536"/>
                <a:gd name="T6" fmla="*/ 0 w 456"/>
                <a:gd name="T7" fmla="*/ 0 h 29"/>
                <a:gd name="T8" fmla="*/ 456 w 456"/>
                <a:gd name="T9" fmla="*/ 29 h 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6" h="29">
                  <a:moveTo>
                    <a:pt x="456" y="0"/>
                  </a:moveTo>
                  <a:lnTo>
                    <a:pt x="0" y="29"/>
                  </a:lnTo>
                </a:path>
              </a:pathLst>
            </a:custGeom>
            <a:noFill/>
            <a:ln w="12700">
              <a:solidFill>
                <a:srgbClr val="0066FF"/>
              </a:solidFill>
              <a:round/>
              <a:headEnd type="none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71710" name="Freeform 9"/>
            <p:cNvSpPr>
              <a:spLocks/>
            </p:cNvSpPr>
            <p:nvPr/>
          </p:nvSpPr>
          <p:spPr bwMode="auto">
            <a:xfrm>
              <a:off x="5786438" y="4294188"/>
              <a:ext cx="1143000" cy="520700"/>
            </a:xfrm>
            <a:custGeom>
              <a:avLst/>
              <a:gdLst>
                <a:gd name="T0" fmla="*/ 2147483647 w 384"/>
                <a:gd name="T1" fmla="*/ 0 h 49"/>
                <a:gd name="T2" fmla="*/ 0 w 384"/>
                <a:gd name="T3" fmla="*/ 2147483647 h 49"/>
                <a:gd name="T4" fmla="*/ 0 60000 65536"/>
                <a:gd name="T5" fmla="*/ 0 60000 65536"/>
                <a:gd name="T6" fmla="*/ 0 w 384"/>
                <a:gd name="T7" fmla="*/ 0 h 49"/>
                <a:gd name="T8" fmla="*/ 384 w 384"/>
                <a:gd name="T9" fmla="*/ 49 h 4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84" h="49">
                  <a:moveTo>
                    <a:pt x="384" y="0"/>
                  </a:moveTo>
                  <a:lnTo>
                    <a:pt x="0" y="49"/>
                  </a:lnTo>
                </a:path>
              </a:pathLst>
            </a:custGeom>
            <a:noFill/>
            <a:ln w="12700">
              <a:solidFill>
                <a:srgbClr val="0066FF"/>
              </a:solidFill>
              <a:round/>
              <a:headEnd type="none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3924300" y="4500563"/>
            <a:ext cx="1433513" cy="1470025"/>
            <a:chOff x="3924000" y="4500570"/>
            <a:chExt cx="1433813" cy="1470018"/>
          </a:xfrm>
        </p:grpSpPr>
        <p:sp>
          <p:nvSpPr>
            <p:cNvPr id="71707" name="Freeform 9"/>
            <p:cNvSpPr>
              <a:spLocks/>
            </p:cNvSpPr>
            <p:nvPr/>
          </p:nvSpPr>
          <p:spPr bwMode="auto">
            <a:xfrm>
              <a:off x="3949700" y="5072063"/>
              <a:ext cx="1408113" cy="898525"/>
            </a:xfrm>
            <a:custGeom>
              <a:avLst/>
              <a:gdLst>
                <a:gd name="T0" fmla="*/ 2147483647 w 473"/>
                <a:gd name="T1" fmla="*/ 0 h 278"/>
                <a:gd name="T2" fmla="*/ 0 w 473"/>
                <a:gd name="T3" fmla="*/ 2147483647 h 278"/>
                <a:gd name="T4" fmla="*/ 0 60000 65536"/>
                <a:gd name="T5" fmla="*/ 0 60000 65536"/>
                <a:gd name="T6" fmla="*/ 0 w 473"/>
                <a:gd name="T7" fmla="*/ 0 h 278"/>
                <a:gd name="T8" fmla="*/ 473 w 473"/>
                <a:gd name="T9" fmla="*/ 278 h 2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73" h="278">
                  <a:moveTo>
                    <a:pt x="473" y="0"/>
                  </a:moveTo>
                  <a:cubicBezTo>
                    <a:pt x="345" y="69"/>
                    <a:pt x="0" y="278"/>
                    <a:pt x="0" y="278"/>
                  </a:cubicBezTo>
                </a:path>
              </a:pathLst>
            </a:custGeom>
            <a:noFill/>
            <a:ln w="12700">
              <a:solidFill>
                <a:srgbClr val="0066FF"/>
              </a:solidFill>
              <a:round/>
              <a:headEnd type="none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71708" name="Freeform 9"/>
            <p:cNvSpPr>
              <a:spLocks/>
            </p:cNvSpPr>
            <p:nvPr/>
          </p:nvSpPr>
          <p:spPr bwMode="auto">
            <a:xfrm>
              <a:off x="3924000" y="4500570"/>
              <a:ext cx="1193770" cy="685206"/>
            </a:xfrm>
            <a:custGeom>
              <a:avLst/>
              <a:gdLst>
                <a:gd name="T0" fmla="*/ 2147483647 w 401"/>
                <a:gd name="T1" fmla="*/ 0 h 212"/>
                <a:gd name="T2" fmla="*/ 0 w 401"/>
                <a:gd name="T3" fmla="*/ 2147483647 h 212"/>
                <a:gd name="T4" fmla="*/ 0 60000 65536"/>
                <a:gd name="T5" fmla="*/ 0 60000 65536"/>
                <a:gd name="T6" fmla="*/ 0 w 401"/>
                <a:gd name="T7" fmla="*/ 0 h 212"/>
                <a:gd name="T8" fmla="*/ 401 w 401"/>
                <a:gd name="T9" fmla="*/ 212 h 2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1" h="212">
                  <a:moveTo>
                    <a:pt x="401" y="0"/>
                  </a:moveTo>
                  <a:cubicBezTo>
                    <a:pt x="273" y="69"/>
                    <a:pt x="0" y="212"/>
                    <a:pt x="0" y="212"/>
                  </a:cubicBezTo>
                </a:path>
              </a:pathLst>
            </a:custGeom>
            <a:noFill/>
            <a:ln w="12700">
              <a:solidFill>
                <a:srgbClr val="0066FF"/>
              </a:solidFill>
              <a:round/>
              <a:headEnd type="none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785813" y="5194300"/>
            <a:ext cx="3201987" cy="774700"/>
            <a:chOff x="785813" y="5194300"/>
            <a:chExt cx="3202499" cy="774700"/>
          </a:xfrm>
        </p:grpSpPr>
        <p:grpSp>
          <p:nvGrpSpPr>
            <p:cNvPr id="71703" name="Group 23"/>
            <p:cNvGrpSpPr>
              <a:grpSpLocks/>
            </p:cNvGrpSpPr>
            <p:nvPr/>
          </p:nvGrpSpPr>
          <p:grpSpPr bwMode="auto">
            <a:xfrm>
              <a:off x="785813" y="5194300"/>
              <a:ext cx="3202499" cy="774700"/>
              <a:chOff x="785813" y="5194300"/>
              <a:chExt cx="3202499" cy="774700"/>
            </a:xfrm>
          </p:grpSpPr>
          <p:sp>
            <p:nvSpPr>
              <p:cNvPr id="71705" name="Freeform 9"/>
              <p:cNvSpPr>
                <a:spLocks/>
              </p:cNvSpPr>
              <p:nvPr/>
            </p:nvSpPr>
            <p:spPr bwMode="auto">
              <a:xfrm flipV="1">
                <a:off x="878400" y="5214938"/>
                <a:ext cx="3109912" cy="720725"/>
              </a:xfrm>
              <a:custGeom>
                <a:avLst/>
                <a:gdLst>
                  <a:gd name="T0" fmla="*/ 2147483647 w 564"/>
                  <a:gd name="T1" fmla="*/ 0 h 1654"/>
                  <a:gd name="T2" fmla="*/ 2147483647 w 564"/>
                  <a:gd name="T3" fmla="*/ 2147483647 h 1654"/>
                  <a:gd name="T4" fmla="*/ 2147483647 w 564"/>
                  <a:gd name="T5" fmla="*/ 2147483647 h 1654"/>
                  <a:gd name="T6" fmla="*/ 2147483647 w 564"/>
                  <a:gd name="T7" fmla="*/ 2147483647 h 1654"/>
                  <a:gd name="T8" fmla="*/ 2147483647 w 564"/>
                  <a:gd name="T9" fmla="*/ 2147483647 h 1654"/>
                  <a:gd name="T10" fmla="*/ 0 w 564"/>
                  <a:gd name="T11" fmla="*/ 2147483647 h 1654"/>
                  <a:gd name="T12" fmla="*/ 2147483647 w 564"/>
                  <a:gd name="T13" fmla="*/ 2147483647 h 1654"/>
                  <a:gd name="T14" fmla="*/ 2147483647 w 564"/>
                  <a:gd name="T15" fmla="*/ 2147483647 h 1654"/>
                  <a:gd name="T16" fmla="*/ 2147483647 w 564"/>
                  <a:gd name="T17" fmla="*/ 2147483647 h 165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564"/>
                  <a:gd name="T28" fmla="*/ 0 h 1654"/>
                  <a:gd name="T29" fmla="*/ 564 w 564"/>
                  <a:gd name="T30" fmla="*/ 1654 h 165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564" h="1654">
                    <a:moveTo>
                      <a:pt x="536" y="0"/>
                    </a:moveTo>
                    <a:cubicBezTo>
                      <a:pt x="505" y="30"/>
                      <a:pt x="9" y="194"/>
                      <a:pt x="8" y="255"/>
                    </a:cubicBezTo>
                    <a:cubicBezTo>
                      <a:pt x="7" y="316"/>
                      <a:pt x="493" y="352"/>
                      <a:pt x="527" y="367"/>
                    </a:cubicBezTo>
                    <a:cubicBezTo>
                      <a:pt x="542" y="440"/>
                      <a:pt x="2" y="544"/>
                      <a:pt x="4" y="616"/>
                    </a:cubicBezTo>
                    <a:cubicBezTo>
                      <a:pt x="6" y="688"/>
                      <a:pt x="532" y="727"/>
                      <a:pt x="539" y="799"/>
                    </a:cubicBezTo>
                    <a:cubicBezTo>
                      <a:pt x="546" y="872"/>
                      <a:pt x="0" y="982"/>
                      <a:pt x="0" y="1060"/>
                    </a:cubicBezTo>
                    <a:cubicBezTo>
                      <a:pt x="0" y="1138"/>
                      <a:pt x="516" y="1203"/>
                      <a:pt x="540" y="1267"/>
                    </a:cubicBezTo>
                    <a:cubicBezTo>
                      <a:pt x="564" y="1332"/>
                      <a:pt x="9" y="1374"/>
                      <a:pt x="8" y="1438"/>
                    </a:cubicBezTo>
                    <a:cubicBezTo>
                      <a:pt x="7" y="1502"/>
                      <a:pt x="440" y="1618"/>
                      <a:pt x="531" y="1654"/>
                    </a:cubicBezTo>
                  </a:path>
                </a:pathLst>
              </a:custGeom>
              <a:noFill/>
              <a:ln w="12700">
                <a:solidFill>
                  <a:srgbClr val="FF3300"/>
                </a:solidFill>
                <a:round/>
                <a:headEnd type="none" w="lg" len="lg"/>
                <a:tailEnd type="none" w="lg" len="lg"/>
              </a:ln>
              <a:effectLst>
                <a:prstShdw prst="shdw17" dist="17961" dir="2700000">
                  <a:srgbClr val="990000">
                    <a:alpha val="74997"/>
                  </a:srgbClr>
                </a:prstShdw>
              </a:effectLst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endParaRPr lang="en-AU">
                  <a:latin typeface="Times New Roman" pitchFamily="-28" charset="0"/>
                </a:endParaRPr>
              </a:p>
            </p:txBody>
          </p:sp>
          <p:sp>
            <p:nvSpPr>
              <p:cNvPr id="71706" name="Rectangle 57"/>
              <p:cNvSpPr>
                <a:spLocks noChangeArrowheads="1"/>
              </p:cNvSpPr>
              <p:nvPr/>
            </p:nvSpPr>
            <p:spPr bwMode="auto">
              <a:xfrm>
                <a:off x="785813" y="5194300"/>
                <a:ext cx="3143250" cy="774700"/>
              </a:xfrm>
              <a:prstGeom prst="rect">
                <a:avLst/>
              </a:prstGeom>
              <a:noFill/>
              <a:ln w="38100">
                <a:solidFill>
                  <a:srgbClr val="0066FF"/>
                </a:solidFill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GB" altLang="ko-KR" b="0">
                    <a:solidFill>
                      <a:srgbClr val="FF0000"/>
                    </a:solidFill>
                    <a:latin typeface="Times New Roman" pitchFamily="-28" charset="0"/>
                  </a:rPr>
                  <a:t>      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GB" altLang="ko-KR" b="0">
                  <a:solidFill>
                    <a:srgbClr val="FF0000"/>
                  </a:solidFill>
                  <a:latin typeface="Times New Roman" pitchFamily="-28" charset="0"/>
                </a:endParaRP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GB" altLang="ko-KR" b="0">
                  <a:solidFill>
                    <a:srgbClr val="FF0000"/>
                  </a:solidFill>
                  <a:latin typeface="Times New Roman" pitchFamily="-28" charset="0"/>
                </a:endParaRPr>
              </a:p>
            </p:txBody>
          </p:sp>
        </p:grpSp>
        <p:sp>
          <p:nvSpPr>
            <p:cNvPr id="71704" name="Freeform 24"/>
            <p:cNvSpPr>
              <a:spLocks/>
            </p:cNvSpPr>
            <p:nvPr/>
          </p:nvSpPr>
          <p:spPr bwMode="auto">
            <a:xfrm>
              <a:off x="3857620" y="5214950"/>
              <a:ext cx="3175" cy="720000"/>
            </a:xfrm>
            <a:custGeom>
              <a:avLst/>
              <a:gdLst>
                <a:gd name="T0" fmla="*/ 0 w 2"/>
                <a:gd name="T1" fmla="*/ 2147483647 h 575"/>
                <a:gd name="T2" fmla="*/ 2147483647 w 2"/>
                <a:gd name="T3" fmla="*/ 0 h 575"/>
                <a:gd name="T4" fmla="*/ 0 60000 65536"/>
                <a:gd name="T5" fmla="*/ 0 60000 65536"/>
                <a:gd name="T6" fmla="*/ 0 w 2"/>
                <a:gd name="T7" fmla="*/ 0 h 575"/>
                <a:gd name="T8" fmla="*/ 2 w 2"/>
                <a:gd name="T9" fmla="*/ 575 h 5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5">
                  <a:moveTo>
                    <a:pt x="0" y="575"/>
                  </a:moveTo>
                  <a:lnTo>
                    <a:pt x="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grpSp>
        <p:nvGrpSpPr>
          <p:cNvPr id="71698" name="Group 26"/>
          <p:cNvGrpSpPr>
            <a:grpSpLocks/>
          </p:cNvGrpSpPr>
          <p:nvPr/>
        </p:nvGrpSpPr>
        <p:grpSpPr bwMode="auto">
          <a:xfrm>
            <a:off x="4000500" y="2500313"/>
            <a:ext cx="446088" cy="2000250"/>
            <a:chOff x="4000496" y="2500306"/>
            <a:chExt cx="446088" cy="2000262"/>
          </a:xfrm>
        </p:grpSpPr>
        <p:sp>
          <p:nvSpPr>
            <p:cNvPr id="71702" name="Freeform 24"/>
            <p:cNvSpPr>
              <a:spLocks/>
            </p:cNvSpPr>
            <p:nvPr/>
          </p:nvSpPr>
          <p:spPr bwMode="auto">
            <a:xfrm>
              <a:off x="4429125" y="3071813"/>
              <a:ext cx="3175" cy="912812"/>
            </a:xfrm>
            <a:custGeom>
              <a:avLst/>
              <a:gdLst>
                <a:gd name="T0" fmla="*/ 0 w 2"/>
                <a:gd name="T1" fmla="*/ 2147483647 h 575"/>
                <a:gd name="T2" fmla="*/ 2147483647 w 2"/>
                <a:gd name="T3" fmla="*/ 0 h 575"/>
                <a:gd name="T4" fmla="*/ 0 60000 65536"/>
                <a:gd name="T5" fmla="*/ 0 60000 65536"/>
                <a:gd name="T6" fmla="*/ 0 w 2"/>
                <a:gd name="T7" fmla="*/ 0 h 575"/>
                <a:gd name="T8" fmla="*/ 2 w 2"/>
                <a:gd name="T9" fmla="*/ 575 h 5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5">
                  <a:moveTo>
                    <a:pt x="0" y="575"/>
                  </a:moveTo>
                  <a:lnTo>
                    <a:pt x="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graphicFrame>
          <p:nvGraphicFramePr>
            <p:cNvPr id="71682" name="Object 3"/>
            <p:cNvGraphicFramePr>
              <a:graphicFrameLocks noChangeAspect="1"/>
            </p:cNvGraphicFramePr>
            <p:nvPr/>
          </p:nvGraphicFramePr>
          <p:xfrm>
            <a:off x="4071934" y="2500306"/>
            <a:ext cx="241300" cy="338137"/>
          </p:xfrm>
          <a:graphic>
            <a:graphicData uri="http://schemas.openxmlformats.org/presentationml/2006/ole">
              <p:oleObj spid="_x0000_s71682" name="Equation" r:id="rId5" imgW="88560" imgH="164880" progId="Equation.DSMT4">
                <p:embed/>
              </p:oleObj>
            </a:graphicData>
          </a:graphic>
        </p:graphicFrame>
        <p:graphicFrame>
          <p:nvGraphicFramePr>
            <p:cNvPr id="71683" name="Object 3"/>
            <p:cNvGraphicFramePr>
              <a:graphicFrameLocks noChangeAspect="1"/>
            </p:cNvGraphicFramePr>
            <p:nvPr/>
          </p:nvGraphicFramePr>
          <p:xfrm>
            <a:off x="4000496" y="4143380"/>
            <a:ext cx="446088" cy="357188"/>
          </p:xfrm>
          <a:graphic>
            <a:graphicData uri="http://schemas.openxmlformats.org/presentationml/2006/ole">
              <p:oleObj spid="_x0000_s71683" name="Equation" r:id="rId6" imgW="126720" imgH="164880" progId="Equation.DSMT4">
                <p:embed/>
              </p:oleObj>
            </a:graphicData>
          </a:graphic>
        </p:graphicFrame>
      </p:grp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4962525" y="5357813"/>
            <a:ext cx="2930525" cy="1114425"/>
            <a:chOff x="4962873" y="5357337"/>
            <a:chExt cx="2930329" cy="1115039"/>
          </a:xfrm>
        </p:grpSpPr>
        <p:sp>
          <p:nvSpPr>
            <p:cNvPr id="71700" name="Rectangle 31"/>
            <p:cNvSpPr>
              <a:spLocks noChangeArrowheads="1"/>
            </p:cNvSpPr>
            <p:nvPr/>
          </p:nvSpPr>
          <p:spPr bwMode="auto">
            <a:xfrm>
              <a:off x="5143856" y="6072067"/>
              <a:ext cx="2749346" cy="400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buFontTx/>
                <a:buNone/>
              </a:pPr>
              <a:r>
                <a:rPr lang="ko-KR" altLang="en-US" sz="2000">
                  <a:solidFill>
                    <a:schemeClr val="tx1"/>
                  </a:solidFill>
                  <a:latin typeface="Times New Roman" pitchFamily="-28" charset="0"/>
                </a:rPr>
                <a:t>매우 정확한 측정 장치</a:t>
              </a:r>
              <a:endParaRPr lang="en-US" altLang="ko-KR" sz="2000">
                <a:solidFill>
                  <a:schemeClr val="tx1"/>
                </a:solidFill>
                <a:latin typeface="Times New Roman" pitchFamily="-28" charset="0"/>
              </a:endParaRPr>
            </a:p>
          </p:txBody>
        </p:sp>
        <p:sp>
          <p:nvSpPr>
            <p:cNvPr id="71701" name="Freeform 9"/>
            <p:cNvSpPr>
              <a:spLocks/>
            </p:cNvSpPr>
            <p:nvPr/>
          </p:nvSpPr>
          <p:spPr bwMode="auto">
            <a:xfrm>
              <a:off x="4962873" y="5357337"/>
              <a:ext cx="466383" cy="737383"/>
            </a:xfrm>
            <a:custGeom>
              <a:avLst/>
              <a:gdLst>
                <a:gd name="T0" fmla="*/ 2147483647 w 229"/>
                <a:gd name="T1" fmla="*/ 0 h 230"/>
                <a:gd name="T2" fmla="*/ 2147483647 w 229"/>
                <a:gd name="T3" fmla="*/ 2147483647 h 230"/>
                <a:gd name="T4" fmla="*/ 2147483647 w 229"/>
                <a:gd name="T5" fmla="*/ 2147483647 h 230"/>
                <a:gd name="T6" fmla="*/ 2147483647 w 229"/>
                <a:gd name="T7" fmla="*/ 2147483647 h 2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9"/>
                <a:gd name="T13" fmla="*/ 0 h 230"/>
                <a:gd name="T14" fmla="*/ 229 w 229"/>
                <a:gd name="T15" fmla="*/ 230 h 2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9" h="230">
                  <a:moveTo>
                    <a:pt x="229" y="0"/>
                  </a:moveTo>
                  <a:lnTo>
                    <a:pt x="49" y="73"/>
                  </a:lnTo>
                  <a:cubicBezTo>
                    <a:pt x="23" y="91"/>
                    <a:pt x="0" y="150"/>
                    <a:pt x="6" y="176"/>
                  </a:cubicBezTo>
                  <a:cubicBezTo>
                    <a:pt x="12" y="202"/>
                    <a:pt x="103" y="221"/>
                    <a:pt x="88" y="23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Gulim" pitchFamily="-28" charset="-127"/>
                <a:cs typeface="Gulim" pitchFamily="-28" charset="-127"/>
              </a:rPr>
              <a:t>왜 양자 간섭과 같은 양자 현상은 거시적 세계에서는 잘 관측되지 않는가</a:t>
            </a:r>
            <a:r>
              <a:rPr lang="en-US" altLang="ko-KR">
                <a:ea typeface="Gulim" pitchFamily="-28" charset="-127"/>
                <a:cs typeface="Gulim" pitchFamily="-28" charset="-127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500063"/>
            <a:ext cx="7772400" cy="803275"/>
          </a:xfrm>
        </p:spPr>
        <p:txBody>
          <a:bodyPr/>
          <a:lstStyle/>
          <a:p>
            <a:pPr eaLnBrk="1" hangingPunct="1"/>
            <a:r>
              <a:rPr lang="ko-KR" altLang="en-US" sz="3600">
                <a:solidFill>
                  <a:schemeClr val="tx2"/>
                </a:solidFill>
                <a:ea typeface="Gulim" pitchFamily="-28" charset="-127"/>
                <a:cs typeface="Gulim" pitchFamily="-28" charset="-127"/>
              </a:rPr>
              <a:t>결어긋남</a:t>
            </a:r>
            <a:r>
              <a:rPr lang="en-US" altLang="ko-KR" sz="3600">
                <a:solidFill>
                  <a:schemeClr val="tx2"/>
                </a:solidFill>
                <a:ea typeface="Gulim" pitchFamily="-28" charset="-127"/>
                <a:cs typeface="Gulim" pitchFamily="-28" charset="-127"/>
              </a:rPr>
              <a:t>(decohernce)</a:t>
            </a:r>
          </a:p>
        </p:txBody>
      </p:sp>
      <p:sp>
        <p:nvSpPr>
          <p:cNvPr id="73731" name="Rectangle 12"/>
          <p:cNvSpPr>
            <a:spLocks noChangeArrowheads="1"/>
          </p:cNvSpPr>
          <p:nvPr/>
        </p:nvSpPr>
        <p:spPr bwMode="auto">
          <a:xfrm>
            <a:off x="1500188" y="1285875"/>
            <a:ext cx="60721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sz="1600" b="0">
                <a:solidFill>
                  <a:schemeClr val="tx1"/>
                </a:solidFill>
                <a:latin typeface="Times New Roman" pitchFamily="-28" charset="0"/>
              </a:rPr>
              <a:t>[W. H. Zurek</a:t>
            </a:r>
            <a:r>
              <a:rPr lang="en-GB" altLang="ko-KR" sz="1600" b="0">
                <a:solidFill>
                  <a:schemeClr val="tx1"/>
                </a:solidFill>
                <a:latin typeface="Times New Roman" pitchFamily="-28" charset="0"/>
              </a:rPr>
              <a:t>, </a:t>
            </a:r>
            <a:r>
              <a:rPr lang="en-US" altLang="ko-KR" sz="1600" b="0">
                <a:solidFill>
                  <a:schemeClr val="tx1"/>
                </a:solidFill>
                <a:latin typeface="Times New Roman" pitchFamily="-28" charset="0"/>
              </a:rPr>
              <a:t>Rev. Mod. Phys. 75, 715 (2003) and references therein]</a:t>
            </a:r>
            <a:endParaRPr lang="en-AU" altLang="ja-JP" sz="1600">
              <a:latin typeface="Times New Roman" pitchFamily="-28" charset="0"/>
            </a:endParaRPr>
          </a:p>
        </p:txBody>
      </p:sp>
      <p:sp>
        <p:nvSpPr>
          <p:cNvPr id="73732" name="Rectangle 11"/>
          <p:cNvSpPr>
            <a:spLocks/>
          </p:cNvSpPr>
          <p:nvPr/>
        </p:nvSpPr>
        <p:spPr bwMode="auto">
          <a:xfrm>
            <a:off x="611188" y="2060575"/>
            <a:ext cx="777240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0" hangingPunct="0">
              <a:lnSpc>
                <a:spcPct val="90000"/>
              </a:lnSpc>
              <a:buFont typeface="Arial" pitchFamily="-28" charset="0"/>
              <a:buChar char="•"/>
            </a:pPr>
            <a:r>
              <a:rPr lang="ko-KR" altLang="en-US" sz="2400" b="0">
                <a:solidFill>
                  <a:schemeClr val="tx1"/>
                </a:solidFill>
                <a:latin typeface="Calibri" pitchFamily="-28" charset="0"/>
              </a:rPr>
              <a:t>거시적 물리계는 외부 환경으로부터 분리시키기 어렵다</a:t>
            </a:r>
            <a:r>
              <a:rPr lang="en-US" altLang="ko-KR" sz="2400" b="0">
                <a:solidFill>
                  <a:schemeClr val="tx1"/>
                </a:solidFill>
                <a:latin typeface="Calibri" pitchFamily="-28" charset="0"/>
              </a:rPr>
              <a:t>. </a:t>
            </a:r>
            <a:r>
              <a:rPr lang="ko-KR" altLang="en-US" sz="2400" b="0">
                <a:solidFill>
                  <a:schemeClr val="tx1"/>
                </a:solidFill>
                <a:latin typeface="Calibri" pitchFamily="-28" charset="0"/>
              </a:rPr>
              <a:t>따라서 외부 환경과 계속해서 상호 작용을 한다</a:t>
            </a:r>
            <a:r>
              <a:rPr lang="en-US" altLang="ko-KR" sz="2400" b="0">
                <a:solidFill>
                  <a:schemeClr val="tx1"/>
                </a:solidFill>
                <a:latin typeface="Calibri" pitchFamily="-28" charset="0"/>
              </a:rPr>
              <a:t>.</a:t>
            </a:r>
          </a:p>
          <a:p>
            <a:pPr marL="342900" indent="-342900" eaLnBrk="0" hangingPunct="0">
              <a:lnSpc>
                <a:spcPct val="90000"/>
              </a:lnSpc>
              <a:buFont typeface="Arial" pitchFamily="-28" charset="0"/>
              <a:buChar char="•"/>
            </a:pPr>
            <a:endParaRPr lang="en-US" altLang="ko-KR" sz="24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90000"/>
              </a:lnSpc>
              <a:buFont typeface="Arial" pitchFamily="-28" charset="0"/>
              <a:buChar char="•"/>
            </a:pPr>
            <a:r>
              <a:rPr lang="ko-KR" altLang="en-US" sz="2400" b="0">
                <a:solidFill>
                  <a:schemeClr val="tx1"/>
                </a:solidFill>
                <a:latin typeface="Calibri" pitchFamily="-28" charset="0"/>
              </a:rPr>
              <a:t>이러한 상호작용으로 인해 거시적 양자 중첩 상태는 그 양자적 성질을 쉽게 잃어버린다</a:t>
            </a:r>
            <a:r>
              <a:rPr lang="en-US" altLang="ko-KR" sz="2400" b="0">
                <a:solidFill>
                  <a:schemeClr val="tx1"/>
                </a:solidFill>
                <a:latin typeface="Calibri" pitchFamily="-28" charset="0"/>
              </a:rPr>
              <a:t>.</a:t>
            </a:r>
          </a:p>
          <a:p>
            <a:pPr marL="342900" indent="-342900" eaLnBrk="0" hangingPunct="0">
              <a:lnSpc>
                <a:spcPct val="90000"/>
              </a:lnSpc>
              <a:buFont typeface="Arial" pitchFamily="-28" charset="0"/>
              <a:buChar char="•"/>
            </a:pPr>
            <a:endParaRPr lang="en-US" altLang="ko-KR" sz="2400" b="0">
              <a:solidFill>
                <a:schemeClr val="tx1"/>
              </a:solidFill>
              <a:latin typeface="Calibri" pitchFamily="-28" charset="0"/>
            </a:endParaRPr>
          </a:p>
          <a:p>
            <a:pPr marL="342900" indent="-342900" eaLnBrk="0" hangingPunct="0">
              <a:lnSpc>
                <a:spcPct val="90000"/>
              </a:lnSpc>
              <a:buFont typeface="Arial" pitchFamily="-28" charset="0"/>
              <a:buChar char="•"/>
            </a:pPr>
            <a:r>
              <a:rPr lang="ko-KR" altLang="en-US" sz="2400" b="0">
                <a:solidFill>
                  <a:schemeClr val="tx1"/>
                </a:solidFill>
                <a:latin typeface="Calibri" pitchFamily="-28" charset="0"/>
              </a:rPr>
              <a:t>따라서 거시적인 양자 상태를 만들어 내고 측정하는 것은 극히 어렵다</a:t>
            </a:r>
            <a:r>
              <a:rPr lang="en-US" altLang="ko-KR" sz="2400" b="0">
                <a:solidFill>
                  <a:schemeClr val="tx1"/>
                </a:solidFill>
                <a:latin typeface="Calibri" pitchFamily="-28" charset="0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Freeform 24"/>
          <p:cNvSpPr>
            <a:spLocks/>
          </p:cNvSpPr>
          <p:nvPr/>
        </p:nvSpPr>
        <p:spPr bwMode="auto">
          <a:xfrm>
            <a:off x="4429125" y="3071813"/>
            <a:ext cx="3175" cy="912812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74757" name="Freeform 24"/>
          <p:cNvSpPr>
            <a:spLocks/>
          </p:cNvSpPr>
          <p:nvPr/>
        </p:nvSpPr>
        <p:spPr bwMode="auto">
          <a:xfrm>
            <a:off x="4429125" y="2000250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74758" name="Freeform 24"/>
          <p:cNvSpPr>
            <a:spLocks/>
          </p:cNvSpPr>
          <p:nvPr/>
        </p:nvSpPr>
        <p:spPr bwMode="auto">
          <a:xfrm>
            <a:off x="4429125" y="4143375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74759" name="Freeform 24"/>
          <p:cNvSpPr>
            <a:spLocks/>
          </p:cNvSpPr>
          <p:nvPr/>
        </p:nvSpPr>
        <p:spPr bwMode="auto">
          <a:xfrm>
            <a:off x="7786688" y="1928813"/>
            <a:ext cx="3175" cy="3240087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64518" name="Freeform 9"/>
          <p:cNvSpPr>
            <a:spLocks/>
          </p:cNvSpPr>
          <p:nvPr/>
        </p:nvSpPr>
        <p:spPr bwMode="auto">
          <a:xfrm>
            <a:off x="4143375" y="2857500"/>
            <a:ext cx="709613" cy="234950"/>
          </a:xfrm>
          <a:custGeom>
            <a:avLst/>
            <a:gdLst>
              <a:gd name="T0" fmla="*/ 2147483647 w 453"/>
              <a:gd name="T1" fmla="*/ 0 h 128"/>
              <a:gd name="T2" fmla="*/ 0 w 453"/>
              <a:gd name="T3" fmla="*/ 2147483647 h 128"/>
              <a:gd name="T4" fmla="*/ 0 60000 65536"/>
              <a:gd name="T5" fmla="*/ 0 60000 65536"/>
              <a:gd name="T6" fmla="*/ 0 w 453"/>
              <a:gd name="T7" fmla="*/ 0 h 128"/>
              <a:gd name="T8" fmla="*/ 453 w 453"/>
              <a:gd name="T9" fmla="*/ 128 h 1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3" h="128">
                <a:moveTo>
                  <a:pt x="453" y="0"/>
                </a:moveTo>
                <a:cubicBezTo>
                  <a:pt x="385" y="22"/>
                  <a:pt x="257" y="61"/>
                  <a:pt x="0" y="128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64519" name="Freeform 9"/>
          <p:cNvSpPr>
            <a:spLocks/>
          </p:cNvSpPr>
          <p:nvPr/>
        </p:nvSpPr>
        <p:spPr bwMode="auto">
          <a:xfrm flipV="1">
            <a:off x="4143375" y="4000500"/>
            <a:ext cx="714375" cy="176213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grpSp>
        <p:nvGrpSpPr>
          <p:cNvPr id="74762" name="Group 16"/>
          <p:cNvGrpSpPr>
            <a:grpSpLocks/>
          </p:cNvGrpSpPr>
          <p:nvPr/>
        </p:nvGrpSpPr>
        <p:grpSpPr bwMode="auto">
          <a:xfrm>
            <a:off x="1571625" y="3429000"/>
            <a:ext cx="285750" cy="307975"/>
            <a:chOff x="1928794" y="3357542"/>
            <a:chExt cx="284996" cy="308622"/>
          </a:xfrm>
        </p:grpSpPr>
        <p:sp>
          <p:nvSpPr>
            <p:cNvPr id="74791" name="Freeform 9"/>
            <p:cNvSpPr>
              <a:spLocks/>
            </p:cNvSpPr>
            <p:nvPr/>
          </p:nvSpPr>
          <p:spPr bwMode="auto">
            <a:xfrm flipV="1">
              <a:off x="1928794" y="3357542"/>
              <a:ext cx="284996" cy="142896"/>
            </a:xfrm>
            <a:custGeom>
              <a:avLst/>
              <a:gdLst>
                <a:gd name="T0" fmla="*/ 2147483647 w 182"/>
                <a:gd name="T1" fmla="*/ 2147483647 h 78"/>
                <a:gd name="T2" fmla="*/ 0 w 182"/>
                <a:gd name="T3" fmla="*/ 0 h 78"/>
                <a:gd name="T4" fmla="*/ 0 60000 65536"/>
                <a:gd name="T5" fmla="*/ 0 60000 65536"/>
                <a:gd name="T6" fmla="*/ 0 w 182"/>
                <a:gd name="T7" fmla="*/ 0 h 78"/>
                <a:gd name="T8" fmla="*/ 182 w 182"/>
                <a:gd name="T9" fmla="*/ 78 h 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78">
                  <a:moveTo>
                    <a:pt x="182" y="7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74792" name="Freeform 9"/>
            <p:cNvSpPr>
              <a:spLocks/>
            </p:cNvSpPr>
            <p:nvPr/>
          </p:nvSpPr>
          <p:spPr bwMode="auto">
            <a:xfrm>
              <a:off x="1928794" y="3500438"/>
              <a:ext cx="214314" cy="165726"/>
            </a:xfrm>
            <a:custGeom>
              <a:avLst/>
              <a:gdLst>
                <a:gd name="T0" fmla="*/ 2147483647 w 182"/>
                <a:gd name="T1" fmla="*/ 2147483647 h 42"/>
                <a:gd name="T2" fmla="*/ 0 w 182"/>
                <a:gd name="T3" fmla="*/ 0 h 42"/>
                <a:gd name="T4" fmla="*/ 0 60000 65536"/>
                <a:gd name="T5" fmla="*/ 0 60000 65536"/>
                <a:gd name="T6" fmla="*/ 0 w 182"/>
                <a:gd name="T7" fmla="*/ 0 h 42"/>
                <a:gd name="T8" fmla="*/ 182 w 182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42">
                  <a:moveTo>
                    <a:pt x="182" y="4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74793" name="Freeform 9"/>
            <p:cNvSpPr>
              <a:spLocks/>
            </p:cNvSpPr>
            <p:nvPr/>
          </p:nvSpPr>
          <p:spPr bwMode="auto">
            <a:xfrm>
              <a:off x="1928794" y="3500438"/>
              <a:ext cx="266704" cy="23675"/>
            </a:xfrm>
            <a:custGeom>
              <a:avLst/>
              <a:gdLst>
                <a:gd name="T0" fmla="*/ 2147483647 w 182"/>
                <a:gd name="T1" fmla="*/ 2147483647 h 6"/>
                <a:gd name="T2" fmla="*/ 0 w 182"/>
                <a:gd name="T3" fmla="*/ 0 h 6"/>
                <a:gd name="T4" fmla="*/ 0 60000 65536"/>
                <a:gd name="T5" fmla="*/ 0 60000 65536"/>
                <a:gd name="T6" fmla="*/ 0 w 182"/>
                <a:gd name="T7" fmla="*/ 0 h 6"/>
                <a:gd name="T8" fmla="*/ 182 w 182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6">
                  <a:moveTo>
                    <a:pt x="182" y="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sp>
        <p:nvSpPr>
          <p:cNvPr id="64521" name="Freeform 9"/>
          <p:cNvSpPr>
            <a:spLocks/>
          </p:cNvSpPr>
          <p:nvPr/>
        </p:nvSpPr>
        <p:spPr bwMode="auto">
          <a:xfrm>
            <a:off x="6681788" y="2143125"/>
            <a:ext cx="592137" cy="3054350"/>
          </a:xfrm>
          <a:custGeom>
            <a:avLst/>
            <a:gdLst>
              <a:gd name="T0" fmla="*/ 2147483647 w 378"/>
              <a:gd name="T1" fmla="*/ 0 h 1667"/>
              <a:gd name="T2" fmla="*/ 2147483647 w 378"/>
              <a:gd name="T3" fmla="*/ 2147483647 h 1667"/>
              <a:gd name="T4" fmla="*/ 0 w 378"/>
              <a:gd name="T5" fmla="*/ 2147483647 h 1667"/>
              <a:gd name="T6" fmla="*/ 2147483647 w 378"/>
              <a:gd name="T7" fmla="*/ 2147483647 h 1667"/>
              <a:gd name="T8" fmla="*/ 2147483647 w 378"/>
              <a:gd name="T9" fmla="*/ 2147483647 h 16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8"/>
              <a:gd name="T16" fmla="*/ 0 h 1667"/>
              <a:gd name="T17" fmla="*/ 378 w 378"/>
              <a:gd name="T18" fmla="*/ 1667 h 16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8" h="1667">
                <a:moveTo>
                  <a:pt x="340" y="0"/>
                </a:moveTo>
                <a:cubicBezTo>
                  <a:pt x="309" y="30"/>
                  <a:pt x="254" y="197"/>
                  <a:pt x="197" y="334"/>
                </a:cubicBezTo>
                <a:cubicBezTo>
                  <a:pt x="140" y="471"/>
                  <a:pt x="14" y="698"/>
                  <a:pt x="0" y="820"/>
                </a:cubicBezTo>
                <a:cubicBezTo>
                  <a:pt x="11" y="987"/>
                  <a:pt x="184" y="1193"/>
                  <a:pt x="261" y="1334"/>
                </a:cubicBezTo>
                <a:cubicBezTo>
                  <a:pt x="260" y="1398"/>
                  <a:pt x="378" y="1631"/>
                  <a:pt x="374" y="1667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none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74764" name="Picture 4" descr="C:\Documents and Settings\Jeong\Desktop\bw0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3" y="3500438"/>
            <a:ext cx="1000125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31" name="Picture 2" descr="C:\Documents and Settings\Jeong\Desktop\AIXGNCALJNZ8BCAEK8JGGCAVE2E2WCAPJFNRKCAAWMHULCAARSIHDCAIW3CNNCAGEP5KMCAAA95KFCA0D0WAACAF72520CA4IEYBMCA9A63YMCAC3QNVHCAWQ5V0RCAXMVPIZCATM2EECCAK64Y22CALWSGZ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14625" y="2928938"/>
            <a:ext cx="750888" cy="75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34" name="Freeform 3077"/>
          <p:cNvSpPr>
            <a:spLocks/>
          </p:cNvSpPr>
          <p:nvPr/>
        </p:nvSpPr>
        <p:spPr bwMode="auto">
          <a:xfrm>
            <a:off x="2357438" y="1571625"/>
            <a:ext cx="363537" cy="1285875"/>
          </a:xfrm>
          <a:custGeom>
            <a:avLst/>
            <a:gdLst>
              <a:gd name="T0" fmla="*/ 0 w 257"/>
              <a:gd name="T1" fmla="*/ 0 h 896"/>
              <a:gd name="T2" fmla="*/ 2147483647 w 257"/>
              <a:gd name="T3" fmla="*/ 2147483647 h 896"/>
              <a:gd name="T4" fmla="*/ 2147483647 w 257"/>
              <a:gd name="T5" fmla="*/ 2147483647 h 896"/>
              <a:gd name="T6" fmla="*/ 2147483647 w 257"/>
              <a:gd name="T7" fmla="*/ 2147483647 h 896"/>
              <a:gd name="T8" fmla="*/ 2147483647 w 257"/>
              <a:gd name="T9" fmla="*/ 2147483647 h 8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7"/>
              <a:gd name="T16" fmla="*/ 0 h 896"/>
              <a:gd name="T17" fmla="*/ 257 w 257"/>
              <a:gd name="T18" fmla="*/ 896 h 8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7" h="896">
                <a:moveTo>
                  <a:pt x="0" y="0"/>
                </a:moveTo>
                <a:lnTo>
                  <a:pt x="257" y="154"/>
                </a:lnTo>
                <a:lnTo>
                  <a:pt x="12" y="314"/>
                </a:lnTo>
                <a:lnTo>
                  <a:pt x="228" y="419"/>
                </a:lnTo>
                <a:lnTo>
                  <a:pt x="169" y="896"/>
                </a:lnTo>
              </a:path>
            </a:pathLst>
          </a:custGeom>
          <a:noFill/>
          <a:ln w="25400">
            <a:solidFill>
              <a:srgbClr val="00FF00"/>
            </a:solidFill>
            <a:round/>
            <a:headEnd type="triangle" w="med" len="med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21535" name="Freeform 3078"/>
          <p:cNvSpPr>
            <a:spLocks/>
          </p:cNvSpPr>
          <p:nvPr/>
        </p:nvSpPr>
        <p:spPr bwMode="auto">
          <a:xfrm>
            <a:off x="3643313" y="1571625"/>
            <a:ext cx="433387" cy="1214438"/>
          </a:xfrm>
          <a:custGeom>
            <a:avLst/>
            <a:gdLst>
              <a:gd name="T0" fmla="*/ 2147483647 w 306"/>
              <a:gd name="T1" fmla="*/ 0 h 846"/>
              <a:gd name="T2" fmla="*/ 2147483647 w 306"/>
              <a:gd name="T3" fmla="*/ 2147483647 h 846"/>
              <a:gd name="T4" fmla="*/ 2147483647 w 306"/>
              <a:gd name="T5" fmla="*/ 2147483647 h 846"/>
              <a:gd name="T6" fmla="*/ 2147483647 w 306"/>
              <a:gd name="T7" fmla="*/ 2147483647 h 846"/>
              <a:gd name="T8" fmla="*/ 0 w 306"/>
              <a:gd name="T9" fmla="*/ 2147483647 h 8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846"/>
              <a:gd name="T17" fmla="*/ 306 w 306"/>
              <a:gd name="T18" fmla="*/ 846 h 8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846">
                <a:moveTo>
                  <a:pt x="234" y="0"/>
                </a:moveTo>
                <a:lnTo>
                  <a:pt x="90" y="228"/>
                </a:lnTo>
                <a:lnTo>
                  <a:pt x="306" y="516"/>
                </a:lnTo>
                <a:lnTo>
                  <a:pt x="58" y="580"/>
                </a:lnTo>
                <a:lnTo>
                  <a:pt x="0" y="846"/>
                </a:lnTo>
              </a:path>
            </a:pathLst>
          </a:custGeom>
          <a:noFill/>
          <a:ln w="25400">
            <a:solidFill>
              <a:srgbClr val="00FF00"/>
            </a:solidFill>
            <a:round/>
            <a:headEnd type="triangle" w="med" len="med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21536" name="Freeform 3079"/>
          <p:cNvSpPr>
            <a:spLocks/>
          </p:cNvSpPr>
          <p:nvPr/>
        </p:nvSpPr>
        <p:spPr bwMode="auto">
          <a:xfrm>
            <a:off x="3081338" y="1571625"/>
            <a:ext cx="296862" cy="1268413"/>
          </a:xfrm>
          <a:custGeom>
            <a:avLst/>
            <a:gdLst>
              <a:gd name="T0" fmla="*/ 2147483647 w 210"/>
              <a:gd name="T1" fmla="*/ 0 h 884"/>
              <a:gd name="T2" fmla="*/ 2147483647 w 210"/>
              <a:gd name="T3" fmla="*/ 2147483647 h 884"/>
              <a:gd name="T4" fmla="*/ 2147483647 w 210"/>
              <a:gd name="T5" fmla="*/ 2147483647 h 884"/>
              <a:gd name="T6" fmla="*/ 0 w 210"/>
              <a:gd name="T7" fmla="*/ 2147483647 h 884"/>
              <a:gd name="T8" fmla="*/ 2147483647 w 210"/>
              <a:gd name="T9" fmla="*/ 2147483647 h 8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0"/>
              <a:gd name="T16" fmla="*/ 0 h 884"/>
              <a:gd name="T17" fmla="*/ 210 w 210"/>
              <a:gd name="T18" fmla="*/ 884 h 8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0" h="884">
                <a:moveTo>
                  <a:pt x="210" y="0"/>
                </a:moveTo>
                <a:lnTo>
                  <a:pt x="66" y="228"/>
                </a:lnTo>
                <a:lnTo>
                  <a:pt x="209" y="443"/>
                </a:lnTo>
                <a:lnTo>
                  <a:pt x="0" y="522"/>
                </a:lnTo>
                <a:lnTo>
                  <a:pt x="4" y="884"/>
                </a:lnTo>
              </a:path>
            </a:pathLst>
          </a:custGeom>
          <a:noFill/>
          <a:ln w="25400">
            <a:solidFill>
              <a:srgbClr val="00FF00"/>
            </a:solidFill>
            <a:round/>
            <a:headEnd type="triangle" w="med" len="med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sp>
        <p:nvSpPr>
          <p:cNvPr id="74769" name="Freeform 24"/>
          <p:cNvSpPr>
            <a:spLocks/>
          </p:cNvSpPr>
          <p:nvPr/>
        </p:nvSpPr>
        <p:spPr bwMode="auto">
          <a:xfrm>
            <a:off x="4429125" y="4143375"/>
            <a:ext cx="3175" cy="912813"/>
          </a:xfrm>
          <a:custGeom>
            <a:avLst/>
            <a:gdLst>
              <a:gd name="T0" fmla="*/ 0 w 2"/>
              <a:gd name="T1" fmla="*/ 2147483647 h 575"/>
              <a:gd name="T2" fmla="*/ 2147483647 w 2"/>
              <a:gd name="T3" fmla="*/ 0 h 575"/>
              <a:gd name="T4" fmla="*/ 0 60000 65536"/>
              <a:gd name="T5" fmla="*/ 0 60000 65536"/>
              <a:gd name="T6" fmla="*/ 0 w 2"/>
              <a:gd name="T7" fmla="*/ 0 h 575"/>
              <a:gd name="T8" fmla="*/ 2 w 2"/>
              <a:gd name="T9" fmla="*/ 575 h 5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75">
                <a:moveTo>
                  <a:pt x="0" y="575"/>
                </a:moveTo>
                <a:lnTo>
                  <a:pt x="2" y="0"/>
                </a:ln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AU">
              <a:latin typeface="Times New Roman" pitchFamily="-28" charset="0"/>
            </a:endParaRPr>
          </a:p>
        </p:txBody>
      </p:sp>
      <p:pic>
        <p:nvPicPr>
          <p:cNvPr id="30" name="Picture 2" descr="C:\Documents and Settings\Jeong\Desktop\200604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57750" y="4286250"/>
            <a:ext cx="1712913" cy="171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5572125" y="4294188"/>
            <a:ext cx="1357313" cy="520700"/>
            <a:chOff x="5572125" y="4294188"/>
            <a:chExt cx="1357313" cy="520700"/>
          </a:xfrm>
        </p:grpSpPr>
        <p:sp>
          <p:nvSpPr>
            <p:cNvPr id="74789" name="Freeform 9"/>
            <p:cNvSpPr>
              <a:spLocks/>
            </p:cNvSpPr>
            <p:nvPr/>
          </p:nvSpPr>
          <p:spPr bwMode="auto">
            <a:xfrm>
              <a:off x="5572125" y="4311650"/>
              <a:ext cx="1357313" cy="93663"/>
            </a:xfrm>
            <a:custGeom>
              <a:avLst/>
              <a:gdLst>
                <a:gd name="T0" fmla="*/ 2147483647 w 456"/>
                <a:gd name="T1" fmla="*/ 0 h 29"/>
                <a:gd name="T2" fmla="*/ 0 w 456"/>
                <a:gd name="T3" fmla="*/ 2147483647 h 29"/>
                <a:gd name="T4" fmla="*/ 0 60000 65536"/>
                <a:gd name="T5" fmla="*/ 0 60000 65536"/>
                <a:gd name="T6" fmla="*/ 0 w 456"/>
                <a:gd name="T7" fmla="*/ 0 h 29"/>
                <a:gd name="T8" fmla="*/ 456 w 456"/>
                <a:gd name="T9" fmla="*/ 29 h 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6" h="29">
                  <a:moveTo>
                    <a:pt x="456" y="0"/>
                  </a:moveTo>
                  <a:lnTo>
                    <a:pt x="0" y="29"/>
                  </a:lnTo>
                </a:path>
              </a:pathLst>
            </a:custGeom>
            <a:noFill/>
            <a:ln w="12700">
              <a:solidFill>
                <a:srgbClr val="0066FF"/>
              </a:solidFill>
              <a:round/>
              <a:headEnd type="none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74790" name="Freeform 9"/>
            <p:cNvSpPr>
              <a:spLocks/>
            </p:cNvSpPr>
            <p:nvPr/>
          </p:nvSpPr>
          <p:spPr bwMode="auto">
            <a:xfrm>
              <a:off x="5786438" y="4294188"/>
              <a:ext cx="1143000" cy="520700"/>
            </a:xfrm>
            <a:custGeom>
              <a:avLst/>
              <a:gdLst>
                <a:gd name="T0" fmla="*/ 2147483647 w 384"/>
                <a:gd name="T1" fmla="*/ 0 h 49"/>
                <a:gd name="T2" fmla="*/ 0 w 384"/>
                <a:gd name="T3" fmla="*/ 2147483647 h 49"/>
                <a:gd name="T4" fmla="*/ 0 60000 65536"/>
                <a:gd name="T5" fmla="*/ 0 60000 65536"/>
                <a:gd name="T6" fmla="*/ 0 w 384"/>
                <a:gd name="T7" fmla="*/ 0 h 49"/>
                <a:gd name="T8" fmla="*/ 384 w 384"/>
                <a:gd name="T9" fmla="*/ 49 h 4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84" h="49">
                  <a:moveTo>
                    <a:pt x="384" y="0"/>
                  </a:moveTo>
                  <a:lnTo>
                    <a:pt x="0" y="49"/>
                  </a:lnTo>
                </a:path>
              </a:pathLst>
            </a:custGeom>
            <a:noFill/>
            <a:ln w="12700">
              <a:solidFill>
                <a:srgbClr val="0066FF"/>
              </a:solidFill>
              <a:round/>
              <a:headEnd type="none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3924300" y="4500563"/>
            <a:ext cx="1433513" cy="1470025"/>
            <a:chOff x="3924000" y="4500570"/>
            <a:chExt cx="1433813" cy="1470018"/>
          </a:xfrm>
        </p:grpSpPr>
        <p:sp>
          <p:nvSpPr>
            <p:cNvPr id="74787" name="Freeform 9"/>
            <p:cNvSpPr>
              <a:spLocks/>
            </p:cNvSpPr>
            <p:nvPr/>
          </p:nvSpPr>
          <p:spPr bwMode="auto">
            <a:xfrm>
              <a:off x="3949700" y="5072063"/>
              <a:ext cx="1408113" cy="898525"/>
            </a:xfrm>
            <a:custGeom>
              <a:avLst/>
              <a:gdLst>
                <a:gd name="T0" fmla="*/ 2147483647 w 473"/>
                <a:gd name="T1" fmla="*/ 0 h 278"/>
                <a:gd name="T2" fmla="*/ 0 w 473"/>
                <a:gd name="T3" fmla="*/ 2147483647 h 278"/>
                <a:gd name="T4" fmla="*/ 0 60000 65536"/>
                <a:gd name="T5" fmla="*/ 0 60000 65536"/>
                <a:gd name="T6" fmla="*/ 0 w 473"/>
                <a:gd name="T7" fmla="*/ 0 h 278"/>
                <a:gd name="T8" fmla="*/ 473 w 473"/>
                <a:gd name="T9" fmla="*/ 278 h 2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73" h="278">
                  <a:moveTo>
                    <a:pt x="473" y="0"/>
                  </a:moveTo>
                  <a:cubicBezTo>
                    <a:pt x="345" y="69"/>
                    <a:pt x="0" y="278"/>
                    <a:pt x="0" y="278"/>
                  </a:cubicBezTo>
                </a:path>
              </a:pathLst>
            </a:custGeom>
            <a:noFill/>
            <a:ln w="12700">
              <a:solidFill>
                <a:srgbClr val="0066FF"/>
              </a:solidFill>
              <a:round/>
              <a:headEnd type="none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74788" name="Freeform 9"/>
            <p:cNvSpPr>
              <a:spLocks/>
            </p:cNvSpPr>
            <p:nvPr/>
          </p:nvSpPr>
          <p:spPr bwMode="auto">
            <a:xfrm>
              <a:off x="3924000" y="4500570"/>
              <a:ext cx="1193770" cy="685206"/>
            </a:xfrm>
            <a:custGeom>
              <a:avLst/>
              <a:gdLst>
                <a:gd name="T0" fmla="*/ 2147483647 w 401"/>
                <a:gd name="T1" fmla="*/ 0 h 212"/>
                <a:gd name="T2" fmla="*/ 0 w 401"/>
                <a:gd name="T3" fmla="*/ 2147483647 h 212"/>
                <a:gd name="T4" fmla="*/ 0 60000 65536"/>
                <a:gd name="T5" fmla="*/ 0 60000 65536"/>
                <a:gd name="T6" fmla="*/ 0 w 401"/>
                <a:gd name="T7" fmla="*/ 0 h 212"/>
                <a:gd name="T8" fmla="*/ 401 w 401"/>
                <a:gd name="T9" fmla="*/ 212 h 2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1" h="212">
                  <a:moveTo>
                    <a:pt x="401" y="0"/>
                  </a:moveTo>
                  <a:cubicBezTo>
                    <a:pt x="273" y="69"/>
                    <a:pt x="0" y="212"/>
                    <a:pt x="0" y="212"/>
                  </a:cubicBezTo>
                </a:path>
              </a:pathLst>
            </a:custGeom>
            <a:noFill/>
            <a:ln w="12700">
              <a:solidFill>
                <a:srgbClr val="0066FF"/>
              </a:solidFill>
              <a:round/>
              <a:headEnd type="none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785813" y="5194300"/>
            <a:ext cx="3143250" cy="774700"/>
            <a:chOff x="785813" y="5194300"/>
            <a:chExt cx="3143250" cy="774700"/>
          </a:xfrm>
        </p:grpSpPr>
        <p:sp>
          <p:nvSpPr>
            <p:cNvPr id="74784" name="Freeform 24"/>
            <p:cNvSpPr>
              <a:spLocks/>
            </p:cNvSpPr>
            <p:nvPr/>
          </p:nvSpPr>
          <p:spPr bwMode="auto">
            <a:xfrm>
              <a:off x="3857620" y="5214950"/>
              <a:ext cx="3175" cy="720000"/>
            </a:xfrm>
            <a:custGeom>
              <a:avLst/>
              <a:gdLst>
                <a:gd name="T0" fmla="*/ 0 w 2"/>
                <a:gd name="T1" fmla="*/ 2147483647 h 575"/>
                <a:gd name="T2" fmla="*/ 2147483647 w 2"/>
                <a:gd name="T3" fmla="*/ 0 h 575"/>
                <a:gd name="T4" fmla="*/ 0 60000 65536"/>
                <a:gd name="T5" fmla="*/ 0 60000 65536"/>
                <a:gd name="T6" fmla="*/ 0 w 2"/>
                <a:gd name="T7" fmla="*/ 0 h 575"/>
                <a:gd name="T8" fmla="*/ 2 w 2"/>
                <a:gd name="T9" fmla="*/ 575 h 5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5">
                  <a:moveTo>
                    <a:pt x="0" y="575"/>
                  </a:moveTo>
                  <a:lnTo>
                    <a:pt x="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sp>
          <p:nvSpPr>
            <p:cNvPr id="74785" name="Rectangle 57"/>
            <p:cNvSpPr>
              <a:spLocks noChangeArrowheads="1"/>
            </p:cNvSpPr>
            <p:nvPr/>
          </p:nvSpPr>
          <p:spPr bwMode="auto">
            <a:xfrm>
              <a:off x="785813" y="5194300"/>
              <a:ext cx="3143250" cy="774700"/>
            </a:xfrm>
            <a:prstGeom prst="rect">
              <a:avLst/>
            </a:prstGeom>
            <a:noFill/>
            <a:ln w="38100">
              <a:solidFill>
                <a:srgbClr val="0066FF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ko-KR" b="0">
                  <a:solidFill>
                    <a:srgbClr val="FF0000"/>
                  </a:solidFill>
                  <a:latin typeface="Times New Roman" pitchFamily="-28" charset="0"/>
                </a:rPr>
                <a:t>     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en-GB" altLang="ko-KR" b="0">
                <a:solidFill>
                  <a:srgbClr val="FF0000"/>
                </a:solidFill>
                <a:latin typeface="Times New Roman" pitchFamily="-28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en-GB" altLang="ko-KR" b="0">
                <a:solidFill>
                  <a:srgbClr val="FF0000"/>
                </a:solidFill>
                <a:latin typeface="Times New Roman" pitchFamily="-28" charset="0"/>
              </a:endParaRPr>
            </a:p>
          </p:txBody>
        </p:sp>
        <p:sp>
          <p:nvSpPr>
            <p:cNvPr id="74786" name="Freeform 9"/>
            <p:cNvSpPr>
              <a:spLocks/>
            </p:cNvSpPr>
            <p:nvPr/>
          </p:nvSpPr>
          <p:spPr bwMode="auto">
            <a:xfrm flipH="1">
              <a:off x="918000" y="5214951"/>
              <a:ext cx="20170" cy="734400"/>
            </a:xfrm>
            <a:custGeom>
              <a:avLst/>
              <a:gdLst>
                <a:gd name="T0" fmla="*/ 2147483647 w 15"/>
                <a:gd name="T1" fmla="*/ 0 h 10470"/>
                <a:gd name="T2" fmla="*/ 2147483647 w 15"/>
                <a:gd name="T3" fmla="*/ 2147483647 h 10470"/>
                <a:gd name="T4" fmla="*/ 0 60000 65536"/>
                <a:gd name="T5" fmla="*/ 0 60000 65536"/>
                <a:gd name="T6" fmla="*/ 0 w 15"/>
                <a:gd name="T7" fmla="*/ 0 h 10470"/>
                <a:gd name="T8" fmla="*/ 15 w 15"/>
                <a:gd name="T9" fmla="*/ 10470 h 104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" h="10470">
                  <a:moveTo>
                    <a:pt x="8" y="0"/>
                  </a:moveTo>
                  <a:cubicBezTo>
                    <a:pt x="15" y="831"/>
                    <a:pt x="0" y="9639"/>
                    <a:pt x="7" y="10470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none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grpSp>
        <p:nvGrpSpPr>
          <p:cNvPr id="74774" name="Group 41"/>
          <p:cNvGrpSpPr>
            <a:grpSpLocks/>
          </p:cNvGrpSpPr>
          <p:nvPr/>
        </p:nvGrpSpPr>
        <p:grpSpPr bwMode="auto">
          <a:xfrm>
            <a:off x="4000500" y="2500313"/>
            <a:ext cx="446088" cy="2000250"/>
            <a:chOff x="4000496" y="2500306"/>
            <a:chExt cx="446088" cy="2000262"/>
          </a:xfrm>
        </p:grpSpPr>
        <p:sp>
          <p:nvSpPr>
            <p:cNvPr id="74783" name="Freeform 24"/>
            <p:cNvSpPr>
              <a:spLocks/>
            </p:cNvSpPr>
            <p:nvPr/>
          </p:nvSpPr>
          <p:spPr bwMode="auto">
            <a:xfrm>
              <a:off x="4429125" y="3071813"/>
              <a:ext cx="3175" cy="912812"/>
            </a:xfrm>
            <a:custGeom>
              <a:avLst/>
              <a:gdLst>
                <a:gd name="T0" fmla="*/ 0 w 2"/>
                <a:gd name="T1" fmla="*/ 2147483647 h 575"/>
                <a:gd name="T2" fmla="*/ 2147483647 w 2"/>
                <a:gd name="T3" fmla="*/ 0 h 575"/>
                <a:gd name="T4" fmla="*/ 0 60000 65536"/>
                <a:gd name="T5" fmla="*/ 0 60000 65536"/>
                <a:gd name="T6" fmla="*/ 0 w 2"/>
                <a:gd name="T7" fmla="*/ 0 h 575"/>
                <a:gd name="T8" fmla="*/ 2 w 2"/>
                <a:gd name="T9" fmla="*/ 575 h 5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75">
                  <a:moveTo>
                    <a:pt x="0" y="575"/>
                  </a:moveTo>
                  <a:lnTo>
                    <a:pt x="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  <p:graphicFrame>
          <p:nvGraphicFramePr>
            <p:cNvPr id="74754" name="Object 3"/>
            <p:cNvGraphicFramePr>
              <a:graphicFrameLocks noChangeAspect="1"/>
            </p:cNvGraphicFramePr>
            <p:nvPr/>
          </p:nvGraphicFramePr>
          <p:xfrm>
            <a:off x="4071934" y="2500306"/>
            <a:ext cx="241300" cy="338137"/>
          </p:xfrm>
          <a:graphic>
            <a:graphicData uri="http://schemas.openxmlformats.org/presentationml/2006/ole">
              <p:oleObj spid="_x0000_s74754" name="Equation" r:id="rId6" imgW="88560" imgH="164880" progId="Equation.DSMT4">
                <p:embed/>
              </p:oleObj>
            </a:graphicData>
          </a:graphic>
        </p:graphicFrame>
        <p:graphicFrame>
          <p:nvGraphicFramePr>
            <p:cNvPr id="74755" name="Object 3"/>
            <p:cNvGraphicFramePr>
              <a:graphicFrameLocks noChangeAspect="1"/>
            </p:cNvGraphicFramePr>
            <p:nvPr/>
          </p:nvGraphicFramePr>
          <p:xfrm>
            <a:off x="4000496" y="4143380"/>
            <a:ext cx="446088" cy="357188"/>
          </p:xfrm>
          <a:graphic>
            <a:graphicData uri="http://schemas.openxmlformats.org/presentationml/2006/ole">
              <p:oleObj spid="_x0000_s74755" name="Equation" r:id="rId7" imgW="126720" imgH="164880" progId="Equation.DSMT4">
                <p:embed/>
              </p:oleObj>
            </a:graphicData>
          </a:graphic>
        </p:graphicFrame>
      </p:grpSp>
      <p:pic>
        <p:nvPicPr>
          <p:cNvPr id="36" name="Picture 2" descr="C:\Documents and Settings\Jeong\Desktop\AIXGNCALJNZ8BCAEK8JGGCAVE2E2WCAPJFNRKCAAWMHULCAARSIHDCAIW3CNNCAGEP5KMCAAA95KFCA0D0WAACAF72520CA4IEYBMCA9A63YMCAC3QNVHCAWQ5V0RCAXMVPIZCATM2EECCAK64Y22CALWSGZ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3125" y="3071813"/>
            <a:ext cx="750888" cy="75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2" descr="C:\Documents and Settings\Jeong\Desktop\AIXGNCALJNZ8BCAEK8JGGCAVE2E2WCAPJFNRKCAAWMHULCAARSIHDCAIW3CNNCAGEP5KMCAAA95KFCA0D0WAACAF72520CA4IEYBMCA9A63YMCAC3QNVHCAWQ5V0RCAXMVPIZCATM2EECCAK64Y22CALWSGZ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86125" y="2857500"/>
            <a:ext cx="750888" cy="75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" name="Picture 2" descr="C:\Documents and Settings\Jeong\Desktop\AIXGNCALJNZ8BCAEK8JGGCAVE2E2WCAPJFNRKCAAWMHULCAARSIHDCAIW3CNNCAGEP5KMCAAA95KFCA0D0WAACAF72520CA4IEYBMCA9A63YMCAC3QNVHCAWQ5V0RCAXMVPIZCATM2EECCAK64Y22CALWSGZ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72063" y="2500313"/>
            <a:ext cx="750887" cy="75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" name="Picture 2" descr="C:\Documents and Settings\Jeong\Desktop\AIXGNCALJNZ8BCAEK8JGGCAVE2E2WCAPJFNRKCAAWMHULCAARSIHDCAIW3CNNCAGEP5KMCAAA95KFCA0D0WAACAF72520CA4IEYBMCA9A63YMCAC3QNVHCAWQ5V0RCAXMVPIZCATM2EECCAK64Y22CALWSGZ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72063" y="3643313"/>
            <a:ext cx="750887" cy="75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40"/>
          <p:cNvGrpSpPr>
            <a:grpSpLocks/>
          </p:cNvGrpSpPr>
          <p:nvPr/>
        </p:nvGrpSpPr>
        <p:grpSpPr bwMode="auto">
          <a:xfrm>
            <a:off x="4962525" y="5357813"/>
            <a:ext cx="2930525" cy="1114425"/>
            <a:chOff x="4962873" y="5357337"/>
            <a:chExt cx="2930329" cy="1115039"/>
          </a:xfrm>
        </p:grpSpPr>
        <p:sp>
          <p:nvSpPr>
            <p:cNvPr id="74781" name="Rectangle 41"/>
            <p:cNvSpPr>
              <a:spLocks noChangeArrowheads="1"/>
            </p:cNvSpPr>
            <p:nvPr/>
          </p:nvSpPr>
          <p:spPr bwMode="auto">
            <a:xfrm>
              <a:off x="5143856" y="6072067"/>
              <a:ext cx="2749346" cy="400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buFontTx/>
                <a:buNone/>
              </a:pPr>
              <a:r>
                <a:rPr lang="ko-KR" altLang="en-US" sz="2000">
                  <a:solidFill>
                    <a:schemeClr val="tx1"/>
                  </a:solidFill>
                  <a:latin typeface="Times New Roman" pitchFamily="-28" charset="0"/>
                </a:rPr>
                <a:t>매우 정확한 측정 장치</a:t>
              </a:r>
              <a:endParaRPr lang="en-US" altLang="ko-KR" sz="2000">
                <a:solidFill>
                  <a:schemeClr val="tx1"/>
                </a:solidFill>
                <a:latin typeface="Times New Roman" pitchFamily="-28" charset="0"/>
              </a:endParaRPr>
            </a:p>
          </p:txBody>
        </p:sp>
        <p:sp>
          <p:nvSpPr>
            <p:cNvPr id="74782" name="Freeform 9"/>
            <p:cNvSpPr>
              <a:spLocks/>
            </p:cNvSpPr>
            <p:nvPr/>
          </p:nvSpPr>
          <p:spPr bwMode="auto">
            <a:xfrm>
              <a:off x="4962873" y="5357337"/>
              <a:ext cx="466383" cy="737383"/>
            </a:xfrm>
            <a:custGeom>
              <a:avLst/>
              <a:gdLst>
                <a:gd name="T0" fmla="*/ 2147483647 w 229"/>
                <a:gd name="T1" fmla="*/ 0 h 230"/>
                <a:gd name="T2" fmla="*/ 2147483647 w 229"/>
                <a:gd name="T3" fmla="*/ 2147483647 h 230"/>
                <a:gd name="T4" fmla="*/ 2147483647 w 229"/>
                <a:gd name="T5" fmla="*/ 2147483647 h 230"/>
                <a:gd name="T6" fmla="*/ 2147483647 w 229"/>
                <a:gd name="T7" fmla="*/ 2147483647 h 2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9"/>
                <a:gd name="T13" fmla="*/ 0 h 230"/>
                <a:gd name="T14" fmla="*/ 229 w 229"/>
                <a:gd name="T15" fmla="*/ 230 h 2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9" h="230">
                  <a:moveTo>
                    <a:pt x="229" y="0"/>
                  </a:moveTo>
                  <a:lnTo>
                    <a:pt x="49" y="73"/>
                  </a:lnTo>
                  <a:cubicBezTo>
                    <a:pt x="23" y="91"/>
                    <a:pt x="0" y="150"/>
                    <a:pt x="6" y="176"/>
                  </a:cubicBezTo>
                  <a:cubicBezTo>
                    <a:pt x="12" y="202"/>
                    <a:pt x="103" y="221"/>
                    <a:pt x="88" y="23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stealth" w="lg" len="lg"/>
              <a:tailEnd type="none" w="lg" len="lg"/>
            </a:ln>
            <a:effectLst>
              <a:prstShdw prst="shdw17" dist="17961" dir="2700000">
                <a:srgbClr val="990000">
                  <a:alpha val="74997"/>
                </a:srgb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AU">
                <a:latin typeface="Times New Roman" pitchFamily="-28" charset="0"/>
              </a:endParaRPr>
            </a:p>
          </p:txBody>
        </p:sp>
      </p:grpSp>
      <p:sp>
        <p:nvSpPr>
          <p:cNvPr id="44" name="Rectangle 3081"/>
          <p:cNvSpPr>
            <a:spLocks noChangeArrowheads="1"/>
          </p:cNvSpPr>
          <p:nvPr/>
        </p:nvSpPr>
        <p:spPr bwMode="auto">
          <a:xfrm>
            <a:off x="1714500" y="714375"/>
            <a:ext cx="2519363" cy="647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ko-KR" altLang="en-US" sz="3200">
                <a:solidFill>
                  <a:srgbClr val="00B050"/>
                </a:solidFill>
                <a:latin typeface="Times New Roman" pitchFamily="-28" charset="0"/>
              </a:rPr>
              <a:t>외부 환경</a:t>
            </a:r>
            <a:endParaRPr lang="en-US" altLang="ko-KR" sz="3200">
              <a:solidFill>
                <a:srgbClr val="00B050"/>
              </a:solidFill>
              <a:latin typeface="Times New Roman" pitchFamily="-2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7" dur="500" fill="hold"/>
                                        <p:tgtEl>
                                          <p:spTgt spid="645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645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3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7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8" grpId="0" animBg="1"/>
      <p:bldP spid="64519" grpId="0" animBg="1"/>
      <p:bldP spid="64521" grpId="0" animBg="1"/>
      <p:bldP spid="21534" grpId="0" animBg="1"/>
      <p:bldP spid="21535" grpId="0" animBg="1"/>
      <p:bldP spid="21536" grpId="0" animBg="1"/>
      <p:bldP spid="44" grpId="0" build="allAtOnce"/>
      <p:bldP spid="44" grpId="1" build="allAtOnce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/>
          </p:cNvSpPr>
          <p:nvPr>
            <p:ph type="body" idx="1"/>
          </p:nvPr>
        </p:nvSpPr>
        <p:spPr>
          <a:xfrm>
            <a:off x="539750" y="1773238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2400">
                <a:ea typeface="Gulim" pitchFamily="-28" charset="-127"/>
                <a:cs typeface="Gulim" pitchFamily="-28" charset="-127"/>
              </a:rPr>
              <a:t>Superconducting quantum interference device (SQUID)   </a:t>
            </a:r>
            <a:r>
              <a:rPr lang="en-US" altLang="ko-KR" sz="1800">
                <a:ea typeface="Gulim" pitchFamily="-28" charset="-127"/>
                <a:cs typeface="Gulim" pitchFamily="-28" charset="-127"/>
              </a:rPr>
              <a:t>[J. R. Friedman </a:t>
            </a:r>
            <a:r>
              <a:rPr lang="en-US" altLang="ko-KR" sz="1800" i="1">
                <a:ea typeface="Gulim" pitchFamily="-28" charset="-127"/>
                <a:cs typeface="Gulim" pitchFamily="-28" charset="-127"/>
              </a:rPr>
              <a:t>et al</a:t>
            </a:r>
            <a:r>
              <a:rPr lang="en-US" altLang="ko-KR" sz="1800">
                <a:ea typeface="Gulim" pitchFamily="-28" charset="-127"/>
                <a:cs typeface="Gulim" pitchFamily="-28" charset="-127"/>
              </a:rPr>
              <a:t>., Nature 406, 43 (2000)]</a:t>
            </a:r>
          </a:p>
          <a:p>
            <a:pPr>
              <a:lnSpc>
                <a:spcPct val="90000"/>
              </a:lnSpc>
            </a:pPr>
            <a:r>
              <a:rPr lang="en-US" altLang="ko-KR" sz="2400">
                <a:ea typeface="Gulim" pitchFamily="-28" charset="-127"/>
                <a:cs typeface="Gulim" pitchFamily="-28" charset="-127"/>
              </a:rPr>
              <a:t>Interference with C60 molecules</a:t>
            </a:r>
          </a:p>
          <a:p>
            <a:pPr>
              <a:lnSpc>
                <a:spcPct val="90000"/>
              </a:lnSpc>
              <a:buFont typeface="Arial" pitchFamily="-28" charset="0"/>
              <a:buNone/>
            </a:pPr>
            <a:r>
              <a:rPr lang="en-US" altLang="ko-KR" sz="2000">
                <a:ea typeface="Gulim" pitchFamily="-28" charset="-127"/>
                <a:cs typeface="Gulim" pitchFamily="-28" charset="-127"/>
              </a:rPr>
              <a:t>      </a:t>
            </a:r>
            <a:r>
              <a:rPr lang="en-US" altLang="ko-KR" sz="1800">
                <a:ea typeface="Gulim" pitchFamily="-28" charset="-127"/>
                <a:cs typeface="Gulim" pitchFamily="-28" charset="-127"/>
              </a:rPr>
              <a:t>[M. Arndt </a:t>
            </a:r>
            <a:r>
              <a:rPr lang="en-US" altLang="ko-KR" sz="1800" i="1">
                <a:ea typeface="Gulim" pitchFamily="-28" charset="-127"/>
                <a:cs typeface="Gulim" pitchFamily="-28" charset="-127"/>
              </a:rPr>
              <a:t>et al</a:t>
            </a:r>
            <a:r>
              <a:rPr lang="en-US" altLang="ko-KR" sz="1800">
                <a:ea typeface="Gulim" pitchFamily="-28" charset="-127"/>
                <a:cs typeface="Gulim" pitchFamily="-28" charset="-127"/>
              </a:rPr>
              <a:t>., Nature 401, 680 (1999)]</a:t>
            </a:r>
          </a:p>
          <a:p>
            <a:pPr>
              <a:lnSpc>
                <a:spcPct val="90000"/>
              </a:lnSpc>
            </a:pPr>
            <a:endParaRPr lang="en-US" altLang="ko-KR" sz="2800">
              <a:ea typeface="Gulim" pitchFamily="-28" charset="-127"/>
              <a:cs typeface="Gulim" pitchFamily="-28" charset="-127"/>
            </a:endParaRPr>
          </a:p>
          <a:p>
            <a:pPr>
              <a:lnSpc>
                <a:spcPct val="90000"/>
              </a:lnSpc>
            </a:pPr>
            <a:endParaRPr lang="en-US" altLang="ko-KR" sz="2800">
              <a:ea typeface="Gulim" pitchFamily="-28" charset="-127"/>
              <a:cs typeface="Gulim" pitchFamily="-28" charset="-127"/>
            </a:endParaRPr>
          </a:p>
          <a:p>
            <a:pPr>
              <a:lnSpc>
                <a:spcPct val="90000"/>
              </a:lnSpc>
            </a:pPr>
            <a:endParaRPr lang="en-US" altLang="ko-KR" sz="2800">
              <a:ea typeface="Gulim" pitchFamily="-28" charset="-127"/>
              <a:cs typeface="Gulim" pitchFamily="-28" charset="-127"/>
            </a:endParaRPr>
          </a:p>
          <a:p>
            <a:pPr>
              <a:lnSpc>
                <a:spcPct val="90000"/>
              </a:lnSpc>
            </a:pPr>
            <a:endParaRPr lang="en-US" altLang="ko-KR" sz="2400">
              <a:ea typeface="Gulim" pitchFamily="-28" charset="-127"/>
              <a:cs typeface="Gulim" pitchFamily="-28" charset="-127"/>
            </a:endParaRPr>
          </a:p>
          <a:p>
            <a:pPr>
              <a:lnSpc>
                <a:spcPct val="90000"/>
              </a:lnSpc>
            </a:pPr>
            <a:endParaRPr lang="en-US" altLang="ko-KR" sz="2400">
              <a:ea typeface="Gulim" pitchFamily="-28" charset="-127"/>
              <a:cs typeface="Gulim" pitchFamily="-28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400">
                <a:ea typeface="Gulim" pitchFamily="-28" charset="-127"/>
                <a:cs typeface="Gulim" pitchFamily="-28" charset="-127"/>
              </a:rPr>
              <a:t>“Schrödinger cat” states of light</a:t>
            </a:r>
          </a:p>
        </p:txBody>
      </p:sp>
      <p:pic>
        <p:nvPicPr>
          <p:cNvPr id="7577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1863" y="2636838"/>
            <a:ext cx="2346325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80" name="Rectangle 5"/>
          <p:cNvSpPr>
            <a:spLocks noChangeArrowheads="1"/>
          </p:cNvSpPr>
          <p:nvPr/>
        </p:nvSpPr>
        <p:spPr bwMode="auto">
          <a:xfrm>
            <a:off x="5724525" y="6021388"/>
            <a:ext cx="30495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342900" indent="-342900">
              <a:spcBef>
                <a:spcPct val="0"/>
              </a:spcBef>
              <a:buFontTx/>
              <a:buNone/>
            </a:pPr>
            <a:r>
              <a:rPr lang="en-US" altLang="ko-KR" sz="2000" b="0">
                <a:solidFill>
                  <a:schemeClr val="tx1"/>
                </a:solidFill>
                <a:latin typeface="Times New Roman" pitchFamily="-28" charset="0"/>
              </a:rPr>
              <a:t> </a:t>
            </a:r>
            <a:r>
              <a:rPr lang="en-US" altLang="ko-KR" sz="1600" b="0">
                <a:solidFill>
                  <a:schemeClr val="tx1"/>
                </a:solidFill>
                <a:latin typeface="Times New Roman" pitchFamily="-28" charset="0"/>
              </a:rPr>
              <a:t>(Interference with C60 molecules)</a:t>
            </a:r>
            <a:endParaRPr lang="ko-KR" altLang="en-US" sz="1600" b="0">
              <a:solidFill>
                <a:schemeClr val="tx1"/>
              </a:solidFill>
              <a:latin typeface="Times New Roman" pitchFamily="-28" charset="0"/>
            </a:endParaRPr>
          </a:p>
        </p:txBody>
      </p:sp>
      <p:pic>
        <p:nvPicPr>
          <p:cNvPr id="75781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2988" y="3500438"/>
            <a:ext cx="4105275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609600" y="609600"/>
            <a:ext cx="80708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3600" b="0">
                <a:solidFill>
                  <a:srgbClr val="C0504D"/>
                </a:solidFill>
                <a:latin typeface="Calibri" pitchFamily="-28" charset="0"/>
              </a:rPr>
              <a:t>거시적 양자 간섭을 보기 위한 노력들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2" name="Object 2"/>
          <p:cNvGraphicFramePr>
            <a:graphicFrameLocks noChangeAspect="1"/>
          </p:cNvGraphicFramePr>
          <p:nvPr>
            <p:ph idx="4294967295"/>
          </p:nvPr>
        </p:nvGraphicFramePr>
        <p:xfrm>
          <a:off x="4953000" y="5146675"/>
          <a:ext cx="3317875" cy="558800"/>
        </p:xfrm>
        <a:graphic>
          <a:graphicData uri="http://schemas.openxmlformats.org/presentationml/2006/ole">
            <p:oleObj spid="_x0000_s76802" name="Equation" r:id="rId4" imgW="1282700" imgH="215900" progId="Equation.3">
              <p:embed/>
            </p:oleObj>
          </a:graphicData>
        </a:graphic>
      </p:graphicFrame>
      <p:sp>
        <p:nvSpPr>
          <p:cNvPr id="76804" name="Rectangle 7"/>
          <p:cNvSpPr>
            <a:spLocks noChangeArrowheads="1"/>
          </p:cNvSpPr>
          <p:nvPr/>
        </p:nvSpPr>
        <p:spPr bwMode="auto">
          <a:xfrm>
            <a:off x="250825" y="1050925"/>
            <a:ext cx="8713788" cy="369888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sz="1800" b="0">
                <a:solidFill>
                  <a:srgbClr val="000000"/>
                </a:solidFill>
                <a:latin typeface="Times New Roman" pitchFamily="-28" charset="0"/>
              </a:rPr>
              <a:t>   A. Ourjoumtsev, H. Jeong, R. Tualle-Brouri</a:t>
            </a:r>
            <a:r>
              <a:rPr lang="ko-KR" altLang="en-US" sz="1800" b="0">
                <a:solidFill>
                  <a:srgbClr val="000000"/>
                </a:solidFill>
                <a:latin typeface="Times New Roman" pitchFamily="-28" charset="0"/>
              </a:rPr>
              <a:t> </a:t>
            </a:r>
            <a:r>
              <a:rPr lang="en-US" altLang="ko-KR" sz="1800" b="0">
                <a:solidFill>
                  <a:srgbClr val="000000"/>
                </a:solidFill>
                <a:latin typeface="Times New Roman" pitchFamily="-28" charset="0"/>
              </a:rPr>
              <a:t>and Ph. Grangier, </a:t>
            </a:r>
            <a:r>
              <a:rPr lang="en-US" altLang="ja-JP" sz="1800" i="1">
                <a:solidFill>
                  <a:srgbClr val="000000"/>
                </a:solidFill>
                <a:latin typeface="Times New Roman" pitchFamily="-28" charset="0"/>
              </a:rPr>
              <a:t>Nature</a:t>
            </a:r>
            <a:r>
              <a:rPr lang="en-US" altLang="ja-JP" sz="1800" b="0">
                <a:solidFill>
                  <a:srgbClr val="000000"/>
                </a:solidFill>
                <a:latin typeface="Times New Roman" pitchFamily="-28" charset="0"/>
              </a:rPr>
              <a:t> </a:t>
            </a:r>
            <a:r>
              <a:rPr lang="en-US" altLang="ja-JP" sz="1800">
                <a:solidFill>
                  <a:srgbClr val="000000"/>
                </a:solidFill>
                <a:latin typeface="Times New Roman" pitchFamily="-28" charset="0"/>
              </a:rPr>
              <a:t>448</a:t>
            </a:r>
            <a:r>
              <a:rPr lang="en-US" altLang="ja-JP" sz="1800" b="0">
                <a:solidFill>
                  <a:srgbClr val="000000"/>
                </a:solidFill>
                <a:latin typeface="Times New Roman" pitchFamily="-28" charset="0"/>
              </a:rPr>
              <a:t>, 784</a:t>
            </a:r>
            <a:r>
              <a:rPr lang="en-US" altLang="ko-KR" sz="1800" b="0">
                <a:solidFill>
                  <a:srgbClr val="000000"/>
                </a:solidFill>
                <a:latin typeface="Times New Roman" pitchFamily="-28" charset="0"/>
              </a:rPr>
              <a:t> </a:t>
            </a:r>
            <a:r>
              <a:rPr lang="en-US" altLang="ja-JP" sz="1800" b="0">
                <a:solidFill>
                  <a:srgbClr val="000000"/>
                </a:solidFill>
                <a:latin typeface="Times New Roman" pitchFamily="-28" charset="0"/>
              </a:rPr>
              <a:t>(2007)</a:t>
            </a:r>
          </a:p>
        </p:txBody>
      </p:sp>
      <p:pic>
        <p:nvPicPr>
          <p:cNvPr id="76805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356100" y="1773238"/>
            <a:ext cx="3743325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806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79388" y="1773238"/>
            <a:ext cx="4249737" cy="3071812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</p:pic>
      <p:sp>
        <p:nvSpPr>
          <p:cNvPr id="76807" name="Rectangle 7"/>
          <p:cNvSpPr>
            <a:spLocks noChangeArrowheads="1"/>
          </p:cNvSpPr>
          <p:nvPr/>
        </p:nvSpPr>
        <p:spPr bwMode="auto">
          <a:xfrm>
            <a:off x="6084888" y="5949950"/>
            <a:ext cx="10795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AU" altLang="ko-KR" sz="2400" b="0">
                <a:solidFill>
                  <a:schemeClr val="tx1"/>
                </a:solidFill>
                <a:latin typeface="Times New Roman" pitchFamily="-28" charset="0"/>
              </a:rPr>
              <a:t>α =1.6</a:t>
            </a:r>
            <a:endParaRPr lang="en-US" altLang="ko-KR" sz="2400" b="0">
              <a:solidFill>
                <a:schemeClr val="tx1"/>
              </a:solidFill>
              <a:latin typeface="Times New Roman" pitchFamily="-28" charset="0"/>
            </a:endParaRPr>
          </a:p>
        </p:txBody>
      </p:sp>
      <p:sp>
        <p:nvSpPr>
          <p:cNvPr id="76808" name="Rectangle 11"/>
          <p:cNvSpPr>
            <a:spLocks noChangeArrowheads="1"/>
          </p:cNvSpPr>
          <p:nvPr/>
        </p:nvSpPr>
        <p:spPr bwMode="auto">
          <a:xfrm>
            <a:off x="4284663" y="4508500"/>
            <a:ext cx="4467225" cy="461963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 sz="2400">
                <a:solidFill>
                  <a:srgbClr val="FF0000"/>
                </a:solidFill>
                <a:latin typeface="Times New Roman" pitchFamily="-28" charset="0"/>
              </a:rPr>
              <a:t>광학적 </a:t>
            </a:r>
            <a:r>
              <a:rPr lang="en-US" altLang="ko-KR" sz="2400">
                <a:solidFill>
                  <a:srgbClr val="FF0000"/>
                </a:solidFill>
                <a:latin typeface="Times New Roman" pitchFamily="-28" charset="0"/>
              </a:rPr>
              <a:t>“</a:t>
            </a:r>
            <a:r>
              <a:rPr lang="ko-KR" altLang="en-US" sz="2400">
                <a:solidFill>
                  <a:srgbClr val="FF0000"/>
                </a:solidFill>
                <a:latin typeface="Times New Roman" pitchFamily="-28" charset="0"/>
              </a:rPr>
              <a:t>슈뢰딩거 고양이</a:t>
            </a:r>
            <a:r>
              <a:rPr lang="en-US" altLang="ko-KR" sz="2400">
                <a:solidFill>
                  <a:srgbClr val="FF0000"/>
                </a:solidFill>
                <a:latin typeface="Times New Roman" pitchFamily="-28" charset="0"/>
              </a:rPr>
              <a:t>” </a:t>
            </a:r>
            <a:r>
              <a:rPr lang="ko-KR" altLang="en-US" sz="2400">
                <a:solidFill>
                  <a:srgbClr val="FF0000"/>
                </a:solidFill>
                <a:latin typeface="Times New Roman" pitchFamily="-28" charset="0"/>
              </a:rPr>
              <a:t>상태</a:t>
            </a:r>
            <a:endParaRPr lang="en-US" altLang="ko-KR" sz="2400">
              <a:solidFill>
                <a:srgbClr val="FF0000"/>
              </a:solidFill>
              <a:latin typeface="Times New Roman" pitchFamily="-28" charset="0"/>
            </a:endParaRPr>
          </a:p>
        </p:txBody>
      </p:sp>
      <p:graphicFrame>
        <p:nvGraphicFramePr>
          <p:cNvPr id="76803" name="Object 4"/>
          <p:cNvGraphicFramePr>
            <a:graphicFrameLocks noChangeAspect="1"/>
          </p:cNvGraphicFramePr>
          <p:nvPr/>
        </p:nvGraphicFramePr>
        <p:xfrm>
          <a:off x="1044575" y="5013325"/>
          <a:ext cx="2232025" cy="715963"/>
        </p:xfrm>
        <a:graphic>
          <a:graphicData uri="http://schemas.openxmlformats.org/presentationml/2006/ole">
            <p:oleObj spid="_x0000_s76803" name="Equation" r:id="rId7" imgW="1346200" imgH="431800" progId="Equation.3">
              <p:embed/>
            </p:oleObj>
          </a:graphicData>
        </a:graphic>
      </p:graphicFrame>
      <p:sp>
        <p:nvSpPr>
          <p:cNvPr id="76809" name="Rectangle 11"/>
          <p:cNvSpPr>
            <a:spLocks noChangeArrowheads="1"/>
          </p:cNvSpPr>
          <p:nvPr/>
        </p:nvSpPr>
        <p:spPr bwMode="auto">
          <a:xfrm>
            <a:off x="1260475" y="5805488"/>
            <a:ext cx="1698625" cy="3968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None/>
            </a:pPr>
            <a:r>
              <a:rPr lang="en-US" altLang="ko-KR" sz="2000">
                <a:solidFill>
                  <a:srgbClr val="FF0000"/>
                </a:solidFill>
                <a:latin typeface="Times New Roman" pitchFamily="-28" charset="0"/>
              </a:rPr>
              <a:t>coherent state</a:t>
            </a:r>
          </a:p>
        </p:txBody>
      </p:sp>
      <p:sp>
        <p:nvSpPr>
          <p:cNvPr id="76810" name="Rectangle 7"/>
          <p:cNvSpPr>
            <a:spLocks noChangeArrowheads="1"/>
          </p:cNvSpPr>
          <p:nvPr/>
        </p:nvSpPr>
        <p:spPr bwMode="auto">
          <a:xfrm>
            <a:off x="755650" y="4941888"/>
            <a:ext cx="2881313" cy="1343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endParaRPr lang="en-US" altLang="ko-KR" sz="2400" b="0">
              <a:solidFill>
                <a:schemeClr val="tx1"/>
              </a:solidFill>
              <a:latin typeface="Times New Roman" pitchFamily="-28" charset="0"/>
            </a:endParaRPr>
          </a:p>
          <a:p>
            <a:pPr>
              <a:buFontTx/>
              <a:buNone/>
            </a:pPr>
            <a:endParaRPr lang="en-US" altLang="ko-KR" sz="2400" b="0">
              <a:solidFill>
                <a:schemeClr val="tx1"/>
              </a:solidFill>
              <a:latin typeface="Times New Roman" pitchFamily="-28" charset="0"/>
            </a:endParaRPr>
          </a:p>
          <a:p>
            <a:pPr>
              <a:buFontTx/>
              <a:buNone/>
            </a:pPr>
            <a:endParaRPr lang="en-US" altLang="ko-KR" sz="2400" b="0">
              <a:solidFill>
                <a:schemeClr val="tx1"/>
              </a:solidFill>
              <a:latin typeface="Times New Roman" pitchFamily="-28" charset="0"/>
            </a:endParaRPr>
          </a:p>
        </p:txBody>
      </p:sp>
      <p:sp>
        <p:nvSpPr>
          <p:cNvPr id="76811" name="Freeform 9"/>
          <p:cNvSpPr>
            <a:spLocks/>
          </p:cNvSpPr>
          <p:nvPr/>
        </p:nvSpPr>
        <p:spPr bwMode="auto">
          <a:xfrm flipH="1" flipV="1">
            <a:off x="6516688" y="3141663"/>
            <a:ext cx="792162" cy="828675"/>
          </a:xfrm>
          <a:custGeom>
            <a:avLst/>
            <a:gdLst>
              <a:gd name="T0" fmla="*/ 2147483647 w 456"/>
              <a:gd name="T1" fmla="*/ 0 h 96"/>
              <a:gd name="T2" fmla="*/ 0 w 456"/>
              <a:gd name="T3" fmla="*/ 2147483647 h 96"/>
              <a:gd name="T4" fmla="*/ 0 60000 65536"/>
              <a:gd name="T5" fmla="*/ 0 60000 65536"/>
              <a:gd name="T6" fmla="*/ 0 w 456"/>
              <a:gd name="T7" fmla="*/ 0 h 96"/>
              <a:gd name="T8" fmla="*/ 456 w 456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6" h="96">
                <a:moveTo>
                  <a:pt x="456" y="0"/>
                </a:moveTo>
                <a:lnTo>
                  <a:pt x="0" y="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 type="stealth" w="lg" len="lg"/>
            <a:tailEnd type="none" w="lg" len="lg"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 altLang="ko-KR">
              <a:latin typeface="Times New Roman" pitchFamily="-28" charset="0"/>
            </a:endParaRPr>
          </a:p>
          <a:p>
            <a:endParaRPr lang="en-AU" altLang="ko-KR">
              <a:latin typeface="Times New Roman" pitchFamily="-28" charset="0"/>
            </a:endParaRPr>
          </a:p>
          <a:p>
            <a:endParaRPr lang="en-AU" altLang="ko-KR">
              <a:latin typeface="Times New Roman" pitchFamily="-28" charset="0"/>
            </a:endParaRPr>
          </a:p>
        </p:txBody>
      </p:sp>
      <p:sp>
        <p:nvSpPr>
          <p:cNvPr id="76812" name="Rectangle 13"/>
          <p:cNvSpPr>
            <a:spLocks noChangeArrowheads="1"/>
          </p:cNvSpPr>
          <p:nvPr/>
        </p:nvSpPr>
        <p:spPr bwMode="auto">
          <a:xfrm>
            <a:off x="7092950" y="2755900"/>
            <a:ext cx="1754188" cy="560388"/>
          </a:xfrm>
          <a:prstGeom prst="rect">
            <a:avLst/>
          </a:prstGeom>
          <a:noFill/>
          <a:ln w="22225">
            <a:noFill/>
            <a:miter lim="800000"/>
            <a:headEnd type="none" w="lg" len="lg"/>
            <a:tailEnd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i="1">
                <a:solidFill>
                  <a:srgbClr val="FF3300"/>
                </a:solidFill>
                <a:latin typeface="Times New Roman" pitchFamily="-28" charset="0"/>
              </a:rPr>
              <a:t>Evidence of quantum</a:t>
            </a:r>
          </a:p>
          <a:p>
            <a:pPr>
              <a:buFontTx/>
              <a:buNone/>
            </a:pPr>
            <a:r>
              <a:rPr lang="en-US" altLang="ko-KR" i="1">
                <a:solidFill>
                  <a:srgbClr val="FF3300"/>
                </a:solidFill>
                <a:latin typeface="Times New Roman" pitchFamily="-28" charset="0"/>
              </a:rPr>
              <a:t>       interference</a:t>
            </a:r>
          </a:p>
        </p:txBody>
      </p:sp>
      <p:sp>
        <p:nvSpPr>
          <p:cNvPr id="76813" name="Freeform 15"/>
          <p:cNvSpPr>
            <a:spLocks/>
          </p:cNvSpPr>
          <p:nvPr/>
        </p:nvSpPr>
        <p:spPr bwMode="auto">
          <a:xfrm>
            <a:off x="6011863" y="3860800"/>
            <a:ext cx="649287" cy="582613"/>
          </a:xfrm>
          <a:custGeom>
            <a:avLst/>
            <a:gdLst>
              <a:gd name="T0" fmla="*/ 2147483647 w 405"/>
              <a:gd name="T1" fmla="*/ 2147483647 h 312"/>
              <a:gd name="T2" fmla="*/ 2147483647 w 405"/>
              <a:gd name="T3" fmla="*/ 2147483647 h 312"/>
              <a:gd name="T4" fmla="*/ 2147483647 w 405"/>
              <a:gd name="T5" fmla="*/ 2147483647 h 312"/>
              <a:gd name="T6" fmla="*/ 2147483647 w 405"/>
              <a:gd name="T7" fmla="*/ 2147483647 h 312"/>
              <a:gd name="T8" fmla="*/ 2147483647 w 405"/>
              <a:gd name="T9" fmla="*/ 2147483647 h 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5"/>
              <a:gd name="T16" fmla="*/ 0 h 312"/>
              <a:gd name="T17" fmla="*/ 405 w 405"/>
              <a:gd name="T18" fmla="*/ 312 h 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5" h="312">
                <a:moveTo>
                  <a:pt x="220" y="312"/>
                </a:moveTo>
                <a:cubicBezTo>
                  <a:pt x="184" y="279"/>
                  <a:pt x="0" y="162"/>
                  <a:pt x="6" y="112"/>
                </a:cubicBezTo>
                <a:cubicBezTo>
                  <a:pt x="12" y="62"/>
                  <a:pt x="191" y="0"/>
                  <a:pt x="256" y="13"/>
                </a:cubicBezTo>
                <a:cubicBezTo>
                  <a:pt x="321" y="26"/>
                  <a:pt x="405" y="139"/>
                  <a:pt x="396" y="188"/>
                </a:cubicBezTo>
                <a:cubicBezTo>
                  <a:pt x="387" y="237"/>
                  <a:pt x="244" y="285"/>
                  <a:pt x="204" y="310"/>
                </a:cubicBezTo>
              </a:path>
            </a:pathLst>
          </a:custGeom>
          <a:noFill/>
          <a:ln w="22225">
            <a:solidFill>
              <a:srgbClr val="FF0000"/>
            </a:solidFill>
            <a:round/>
            <a:headEnd type="none" w="lg" len="lg"/>
            <a:tailEnd/>
          </a:ln>
          <a:effectLst>
            <a:prstShdw prst="shdw17" dist="17961" dir="2700000">
              <a:srgbClr val="990000">
                <a:alpha val="74997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AU" altLang="ko-KR">
              <a:latin typeface="Times New Roman" pitchFamily="-28" charset="0"/>
            </a:endParaRPr>
          </a:p>
          <a:p>
            <a:endParaRPr lang="en-AU" altLang="ko-KR">
              <a:latin typeface="Times New Roman" pitchFamily="-28" charset="0"/>
            </a:endParaRPr>
          </a:p>
        </p:txBody>
      </p:sp>
      <p:sp>
        <p:nvSpPr>
          <p:cNvPr id="76814" name="Rectangle 14"/>
          <p:cNvSpPr>
            <a:spLocks noChangeArrowheads="1"/>
          </p:cNvSpPr>
          <p:nvPr/>
        </p:nvSpPr>
        <p:spPr bwMode="auto">
          <a:xfrm>
            <a:off x="1143000" y="381000"/>
            <a:ext cx="69167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2800">
                <a:solidFill>
                  <a:srgbClr val="C0504D"/>
                </a:solidFill>
                <a:latin typeface="Calibri" pitchFamily="-28" charset="0"/>
              </a:rPr>
              <a:t>빛의 </a:t>
            </a:r>
            <a:r>
              <a:rPr lang="en-US" altLang="ko-KR" sz="2800">
                <a:solidFill>
                  <a:srgbClr val="C0504D"/>
                </a:solidFill>
                <a:latin typeface="Calibri" pitchFamily="-28" charset="0"/>
              </a:rPr>
              <a:t>“</a:t>
            </a:r>
            <a:r>
              <a:rPr lang="ko-KR" altLang="en-US" sz="2800">
                <a:solidFill>
                  <a:srgbClr val="C0504D"/>
                </a:solidFill>
                <a:latin typeface="Calibri" pitchFamily="-28" charset="0"/>
              </a:rPr>
              <a:t>슈뢰딩거 고양이</a:t>
            </a:r>
            <a:r>
              <a:rPr lang="en-US" altLang="ko-KR" sz="2800">
                <a:solidFill>
                  <a:srgbClr val="C0504D"/>
                </a:solidFill>
                <a:latin typeface="Calibri" pitchFamily="-28" charset="0"/>
              </a:rPr>
              <a:t>” </a:t>
            </a:r>
            <a:r>
              <a:rPr lang="ko-KR" altLang="en-US" sz="2800">
                <a:solidFill>
                  <a:srgbClr val="C0504D"/>
                </a:solidFill>
                <a:latin typeface="Calibri" pitchFamily="-28" charset="0"/>
              </a:rPr>
              <a:t>상태의 생성 실험</a:t>
            </a:r>
            <a:endParaRPr lang="en-US" altLang="ja-JP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/>
          <p:cNvSpPr>
            <a:spLocks noGrp="1"/>
          </p:cNvSpPr>
          <p:nvPr>
            <p:ph type="body" idx="1"/>
          </p:nvPr>
        </p:nvSpPr>
        <p:spPr>
          <a:xfrm>
            <a:off x="468313" y="1989138"/>
            <a:ext cx="8229600" cy="4276725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ko-KR" altLang="en-US" sz="2800">
                <a:ea typeface="Gulim" pitchFamily="-28" charset="-127"/>
                <a:cs typeface="Gulim" pitchFamily="-28" charset="-127"/>
              </a:rPr>
              <a:t>양자정보과학은 컴퓨터</a:t>
            </a:r>
            <a:r>
              <a:rPr lang="en-US" altLang="ko-KR" sz="2800">
                <a:ea typeface="Gulim" pitchFamily="-28" charset="-127"/>
                <a:cs typeface="Gulim" pitchFamily="-28" charset="-127"/>
              </a:rPr>
              <a:t>, </a:t>
            </a:r>
            <a:r>
              <a:rPr lang="ko-KR" altLang="en-US" sz="2800">
                <a:ea typeface="Gulim" pitchFamily="-28" charset="-127"/>
                <a:cs typeface="Gulim" pitchFamily="-28" charset="-127"/>
              </a:rPr>
              <a:t>통신</a:t>
            </a:r>
            <a:r>
              <a:rPr lang="en-US" altLang="ko-KR" sz="2800">
                <a:ea typeface="Gulim" pitchFamily="-28" charset="-127"/>
                <a:cs typeface="Gulim" pitchFamily="-28" charset="-127"/>
              </a:rPr>
              <a:t>, </a:t>
            </a:r>
            <a:r>
              <a:rPr lang="ko-KR" altLang="en-US" sz="2800">
                <a:ea typeface="Gulim" pitchFamily="-28" charset="-127"/>
                <a:cs typeface="Gulim" pitchFamily="-28" charset="-127"/>
              </a:rPr>
              <a:t>측정기술 및 기초 양자과학에 혁신을 가져올 수 있는 분야이다</a:t>
            </a:r>
            <a:r>
              <a:rPr lang="en-US" altLang="ko-KR" sz="2800">
                <a:ea typeface="Gulim" pitchFamily="-28" charset="-127"/>
                <a:cs typeface="Gulim" pitchFamily="-28" charset="-127"/>
              </a:rPr>
              <a:t>. </a:t>
            </a:r>
          </a:p>
          <a:p>
            <a:pPr>
              <a:lnSpc>
                <a:spcPct val="80000"/>
              </a:lnSpc>
            </a:pPr>
            <a:endParaRPr lang="ko-KR" altLang="en-US" sz="2800">
              <a:ea typeface="Gulim" pitchFamily="-28" charset="-127"/>
              <a:cs typeface="Gulim" pitchFamily="-28" charset="-127"/>
            </a:endParaRPr>
          </a:p>
          <a:p>
            <a:pPr>
              <a:lnSpc>
                <a:spcPct val="80000"/>
              </a:lnSpc>
            </a:pPr>
            <a:r>
              <a:rPr lang="ko-KR" altLang="en-US" sz="2800">
                <a:ea typeface="Gulim" pitchFamily="-28" charset="-127"/>
                <a:cs typeface="Gulim" pitchFamily="-28" charset="-127"/>
              </a:rPr>
              <a:t>양자정보기술의 응용 분야</a:t>
            </a:r>
            <a:endParaRPr lang="en-US" altLang="ko-KR" sz="2800">
              <a:ea typeface="Gulim" pitchFamily="-28" charset="-127"/>
              <a:cs typeface="Gulim" pitchFamily="-28" charset="-127"/>
            </a:endParaRPr>
          </a:p>
          <a:p>
            <a:pPr>
              <a:lnSpc>
                <a:spcPct val="80000"/>
              </a:lnSpc>
              <a:buFont typeface="Arial" pitchFamily="-28" charset="0"/>
              <a:buNone/>
            </a:pPr>
            <a:r>
              <a:rPr lang="en-US" altLang="ko-KR" sz="2800">
                <a:ea typeface="Gulim" pitchFamily="-28" charset="-127"/>
                <a:cs typeface="Gulim" pitchFamily="-28" charset="-127"/>
              </a:rPr>
              <a:t>     - </a:t>
            </a:r>
            <a:r>
              <a:rPr lang="ko-KR" altLang="en-US" sz="2800">
                <a:ea typeface="Gulim" pitchFamily="-28" charset="-127"/>
                <a:cs typeface="Gulim" pitchFamily="-28" charset="-127"/>
              </a:rPr>
              <a:t>양자컴퓨터</a:t>
            </a:r>
            <a:endParaRPr lang="en-US" altLang="ko-KR" sz="2800">
              <a:ea typeface="Gulim" pitchFamily="-28" charset="-127"/>
              <a:cs typeface="Gulim" pitchFamily="-28" charset="-127"/>
            </a:endParaRPr>
          </a:p>
          <a:p>
            <a:pPr>
              <a:lnSpc>
                <a:spcPct val="80000"/>
              </a:lnSpc>
              <a:buFont typeface="Arial" pitchFamily="-28" charset="0"/>
              <a:buNone/>
            </a:pPr>
            <a:r>
              <a:rPr lang="en-US" altLang="ko-KR" sz="2800">
                <a:ea typeface="Gulim" pitchFamily="-28" charset="-127"/>
                <a:cs typeface="Gulim" pitchFamily="-28" charset="-127"/>
              </a:rPr>
              <a:t>     - </a:t>
            </a:r>
            <a:r>
              <a:rPr lang="ko-KR" altLang="en-US" sz="2800">
                <a:ea typeface="Gulim" pitchFamily="-28" charset="-127"/>
                <a:cs typeface="Gulim" pitchFamily="-28" charset="-127"/>
              </a:rPr>
              <a:t>양자암호</a:t>
            </a:r>
            <a:endParaRPr lang="en-US" altLang="ko-KR" sz="2800">
              <a:ea typeface="Gulim" pitchFamily="-28" charset="-127"/>
              <a:cs typeface="Gulim" pitchFamily="-28" charset="-127"/>
            </a:endParaRPr>
          </a:p>
          <a:p>
            <a:pPr>
              <a:lnSpc>
                <a:spcPct val="80000"/>
              </a:lnSpc>
              <a:buFont typeface="Arial" pitchFamily="-28" charset="0"/>
              <a:buNone/>
            </a:pPr>
            <a:r>
              <a:rPr lang="en-US" altLang="ko-KR" sz="2800">
                <a:ea typeface="Gulim" pitchFamily="-28" charset="-127"/>
                <a:cs typeface="Gulim" pitchFamily="-28" charset="-127"/>
              </a:rPr>
              <a:t>     - </a:t>
            </a:r>
            <a:r>
              <a:rPr lang="ko-KR" altLang="en-US" sz="2800">
                <a:ea typeface="Gulim" pitchFamily="-28" charset="-127"/>
                <a:cs typeface="Gulim" pitchFamily="-28" charset="-127"/>
              </a:rPr>
              <a:t>양자 텔레포테이션</a:t>
            </a:r>
            <a:endParaRPr lang="en-US" altLang="ko-KR" sz="2800">
              <a:ea typeface="Gulim" pitchFamily="-28" charset="-127"/>
              <a:cs typeface="Gulim" pitchFamily="-28" charset="-127"/>
            </a:endParaRPr>
          </a:p>
          <a:p>
            <a:pPr>
              <a:lnSpc>
                <a:spcPct val="80000"/>
              </a:lnSpc>
              <a:buFont typeface="Arial" pitchFamily="-28" charset="0"/>
              <a:buNone/>
            </a:pPr>
            <a:r>
              <a:rPr lang="en-US" altLang="ko-KR" sz="2800">
                <a:ea typeface="Gulim" pitchFamily="-28" charset="-127"/>
                <a:cs typeface="Gulim" pitchFamily="-28" charset="-127"/>
              </a:rPr>
              <a:t>     - </a:t>
            </a:r>
            <a:r>
              <a:rPr lang="ko-KR" altLang="en-US" sz="2800">
                <a:ea typeface="Gulim" pitchFamily="-28" charset="-127"/>
                <a:cs typeface="Gulim" pitchFamily="-28" charset="-127"/>
              </a:rPr>
              <a:t>고전적 한계를 뛰어넘는 양자 측정</a:t>
            </a:r>
            <a:endParaRPr lang="en-US" altLang="ko-KR" sz="2800">
              <a:ea typeface="Gulim" pitchFamily="-28" charset="-127"/>
              <a:cs typeface="Gulim" pitchFamily="-28" charset="-127"/>
            </a:endParaRPr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1066800" y="609600"/>
            <a:ext cx="72247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000" b="0">
                <a:solidFill>
                  <a:srgbClr val="C0504D"/>
                </a:solidFill>
                <a:latin typeface="Calibri" pitchFamily="-28" charset="0"/>
              </a:rPr>
              <a:t>양자정보과학과 양자정보기술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600">
                <a:solidFill>
                  <a:schemeClr val="accent2"/>
                </a:solidFill>
                <a:latin typeface="AppleGothic" pitchFamily="-28" charset="-127"/>
                <a:ea typeface="AppleGothic" pitchFamily="-28" charset="-127"/>
                <a:cs typeface="AppleGothic" pitchFamily="-28" charset="-127"/>
              </a:rPr>
              <a:t>정보기술을 위한 물리학</a:t>
            </a:r>
          </a:p>
        </p:txBody>
      </p:sp>
      <p:sp>
        <p:nvSpPr>
          <p:cNvPr id="79875" name="Rectangle 3"/>
          <p:cNvSpPr>
            <a:spLocks noGrp="1"/>
          </p:cNvSpPr>
          <p:nvPr>
            <p:ph type="body" idx="1"/>
          </p:nvPr>
        </p:nvSpPr>
        <p:spPr>
          <a:xfrm>
            <a:off x="381000" y="2895600"/>
            <a:ext cx="5326063" cy="1231900"/>
          </a:xfrm>
        </p:spPr>
        <p:txBody>
          <a:bodyPr/>
          <a:lstStyle/>
          <a:p>
            <a:pPr>
              <a:buFont typeface="Arial" pitchFamily="-28" charset="0"/>
              <a:buNone/>
            </a:pPr>
            <a:r>
              <a:rPr lang="en-US" altLang="ko-KR" sz="3600">
                <a:ea typeface="Gulim" pitchFamily="-28" charset="-127"/>
                <a:cs typeface="Gulim" pitchFamily="-28" charset="-127"/>
              </a:rPr>
              <a:t>  “</a:t>
            </a:r>
            <a:r>
              <a:rPr lang="ko-KR" altLang="en-US" sz="3600">
                <a:ea typeface="Gulim" pitchFamily="-28" charset="-127"/>
                <a:cs typeface="Gulim" pitchFamily="-28" charset="-127"/>
              </a:rPr>
              <a:t>정보는 물리적이다</a:t>
            </a:r>
            <a:r>
              <a:rPr lang="en-US" altLang="ko-KR" sz="3600">
                <a:ea typeface="Gulim" pitchFamily="-28" charset="-127"/>
                <a:cs typeface="Gulim" pitchFamily="-28" charset="-127"/>
              </a:rPr>
              <a:t>.”</a:t>
            </a:r>
          </a:p>
          <a:p>
            <a:pPr>
              <a:buFont typeface="Arial" pitchFamily="-28" charset="0"/>
              <a:buNone/>
            </a:pPr>
            <a:endParaRPr lang="en-US" altLang="ja-JP">
              <a:ea typeface="ＭＳ Ｐゴシック" pitchFamily="-28" charset="-128"/>
              <a:cs typeface="ＭＳ Ｐゴシック" pitchFamily="-28" charset="-128"/>
            </a:endParaRPr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5435600" y="5229225"/>
            <a:ext cx="3052763" cy="3968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None/>
            </a:pPr>
            <a:r>
              <a:rPr lang="en-US" altLang="ko-KR" sz="2000" b="0">
                <a:solidFill>
                  <a:schemeClr val="tx1"/>
                </a:solidFill>
                <a:latin typeface="Times New Roman" pitchFamily="-28" charset="0"/>
              </a:rPr>
              <a:t>Rolf Landauer (1927-1999)</a:t>
            </a:r>
            <a:r>
              <a:rPr lang="en-US" altLang="ko-KR" sz="2000" b="0">
                <a:solidFill>
                  <a:srgbClr val="000000"/>
                </a:solidFill>
                <a:latin typeface="Times New Roman" pitchFamily="-28" charset="0"/>
              </a:rPr>
              <a:t> </a:t>
            </a:r>
            <a:endParaRPr lang="en-US" altLang="ja-JP" sz="2000" b="0">
              <a:solidFill>
                <a:srgbClr val="000000"/>
              </a:solidFill>
              <a:latin typeface="Times New Roman" pitchFamily="-28" charset="0"/>
            </a:endParaRPr>
          </a:p>
        </p:txBody>
      </p:sp>
      <p:pic>
        <p:nvPicPr>
          <p:cNvPr id="79877" name="Picture 5" descr="제목 없음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7400" y="1828800"/>
            <a:ext cx="2195513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/>
          </p:cNvSpPr>
          <p:nvPr>
            <p:ph type="body" idx="1"/>
          </p:nvPr>
        </p:nvSpPr>
        <p:spPr>
          <a:xfrm>
            <a:off x="684213" y="1412875"/>
            <a:ext cx="7772400" cy="719138"/>
          </a:xfrm>
        </p:spPr>
        <p:txBody>
          <a:bodyPr/>
          <a:lstStyle/>
          <a:p>
            <a:r>
              <a:rPr lang="ko-KR" altLang="en-US" sz="2800">
                <a:ea typeface="Gulim" pitchFamily="-28" charset="-127"/>
                <a:cs typeface="Gulim" pitchFamily="-28" charset="-127"/>
              </a:rPr>
              <a:t>물리학과 컴퓨터</a:t>
            </a:r>
            <a:endParaRPr lang="en-US" altLang="ko-KR" sz="2800">
              <a:ea typeface="Gulim" pitchFamily="-28" charset="-127"/>
              <a:cs typeface="Gulim" pitchFamily="-28" charset="-127"/>
            </a:endParaRPr>
          </a:p>
        </p:txBody>
      </p:sp>
      <p:sp>
        <p:nvSpPr>
          <p:cNvPr id="80899" name="Rectangle 4"/>
          <p:cNvSpPr>
            <a:spLocks noChangeArrowheads="1"/>
          </p:cNvSpPr>
          <p:nvPr/>
        </p:nvSpPr>
        <p:spPr bwMode="auto">
          <a:xfrm>
            <a:off x="1835150" y="2060575"/>
            <a:ext cx="5689600" cy="82232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None/>
            </a:pPr>
            <a:r>
              <a:rPr lang="en-US" altLang="ko-KR" sz="2400" b="0">
                <a:solidFill>
                  <a:srgbClr val="FF0000"/>
                </a:solidFill>
                <a:latin typeface="Times New Roman" pitchFamily="-28" charset="0"/>
              </a:rPr>
              <a:t>  - </a:t>
            </a:r>
            <a:r>
              <a:rPr lang="ko-KR" altLang="en-US" sz="2400" i="1">
                <a:solidFill>
                  <a:srgbClr val="FF0000"/>
                </a:solidFill>
                <a:latin typeface="Times New Roman" pitchFamily="-28" charset="0"/>
              </a:rPr>
              <a:t>컴퓨터도 하나의 물리계이고 컴퓨터의 처리 과정은 물리적 과정이다</a:t>
            </a:r>
            <a:r>
              <a:rPr lang="en-US" altLang="ko-KR" sz="2400" i="1">
                <a:solidFill>
                  <a:srgbClr val="FF0000"/>
                </a:solidFill>
                <a:latin typeface="Times New Roman" pitchFamily="-28" charset="0"/>
              </a:rPr>
              <a:t>.</a:t>
            </a:r>
          </a:p>
        </p:txBody>
      </p:sp>
      <p:pic>
        <p:nvPicPr>
          <p:cNvPr id="8090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3124200"/>
            <a:ext cx="4648200" cy="3271838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</p:pic>
      <p:sp>
        <p:nvSpPr>
          <p:cNvPr id="80901" name="Rectangle 6"/>
          <p:cNvSpPr>
            <a:spLocks noChangeArrowheads="1"/>
          </p:cNvSpPr>
          <p:nvPr/>
        </p:nvSpPr>
        <p:spPr bwMode="auto">
          <a:xfrm>
            <a:off x="5651500" y="5734050"/>
            <a:ext cx="3024188" cy="630238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None/>
            </a:pPr>
            <a:r>
              <a:rPr lang="en-US" altLang="ko-KR" sz="1600" b="0">
                <a:solidFill>
                  <a:schemeClr val="tx1"/>
                </a:solidFill>
                <a:latin typeface="Times New Roman" pitchFamily="-28" charset="0"/>
              </a:rPr>
              <a:t>(H. Jeong, PhD thesis, 2003,</a:t>
            </a:r>
          </a:p>
          <a:p>
            <a:pPr marL="342900" indent="-342900">
              <a:buFontTx/>
              <a:buNone/>
            </a:pPr>
            <a:r>
              <a:rPr lang="en-US" altLang="ko-KR" sz="1600" b="0">
                <a:solidFill>
                  <a:schemeClr val="tx1"/>
                </a:solidFill>
                <a:latin typeface="Times New Roman" pitchFamily="-28" charset="0"/>
              </a:rPr>
              <a:t>based on David Deutch’s lectures)</a:t>
            </a:r>
            <a:endParaRPr lang="en-US" altLang="ja-JP" sz="1600" b="0">
              <a:solidFill>
                <a:schemeClr val="tx1"/>
              </a:solidFill>
              <a:latin typeface="Times New Roman" pitchFamily="-2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8888" y="1773238"/>
            <a:ext cx="6242050" cy="3602037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</p:pic>
      <p:sp>
        <p:nvSpPr>
          <p:cNvPr id="81923" name="Rectangle 5"/>
          <p:cNvSpPr>
            <a:spLocks noChangeArrowheads="1"/>
          </p:cNvSpPr>
          <p:nvPr/>
        </p:nvSpPr>
        <p:spPr bwMode="auto">
          <a:xfrm>
            <a:off x="5243513" y="2101850"/>
            <a:ext cx="2528887" cy="336550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None/>
            </a:pPr>
            <a:r>
              <a:rPr lang="en-US" altLang="ko-KR" sz="1600" b="0">
                <a:solidFill>
                  <a:schemeClr val="tx1"/>
                </a:solidFill>
                <a:latin typeface="Times New Roman" pitchFamily="-28" charset="0"/>
              </a:rPr>
              <a:t>(H. Jeong, PhD thesis, 2003)</a:t>
            </a:r>
            <a:endParaRPr lang="en-US" altLang="ja-JP" sz="1600" b="0">
              <a:solidFill>
                <a:schemeClr val="tx1"/>
              </a:solidFill>
              <a:latin typeface="Times New Roman" pitchFamily="-28" charset="0"/>
            </a:endParaRP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1371600" y="457200"/>
            <a:ext cx="64817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3600" b="0">
                <a:solidFill>
                  <a:srgbClr val="C0504D"/>
                </a:solidFill>
                <a:latin typeface="Calibri" pitchFamily="-28" charset="0"/>
              </a:rPr>
              <a:t>양자정보처리와 고전정보처리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ko-KR" altLang="en-US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무어의 법칙</a:t>
            </a:r>
            <a:r>
              <a:rPr lang="en-US" altLang="ko-KR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(Moore’s law)</a:t>
            </a:r>
          </a:p>
        </p:txBody>
      </p:sp>
      <p:sp>
        <p:nvSpPr>
          <p:cNvPr id="82947" name="Rectangle 3"/>
          <p:cNvSpPr>
            <a:spLocks noGrp="1"/>
          </p:cNvSpPr>
          <p:nvPr>
            <p:ph type="body" idx="1"/>
          </p:nvPr>
        </p:nvSpPr>
        <p:spPr>
          <a:xfrm>
            <a:off x="0" y="1844675"/>
            <a:ext cx="3384550" cy="19446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ja-JP" sz="1800">
                <a:ea typeface="ＭＳ Ｐゴシック" pitchFamily="-28" charset="-128"/>
                <a:cs typeface="ＭＳ Ｐゴシック" pitchFamily="-28" charset="-128"/>
              </a:rPr>
              <a:t>Moore's Law</a:t>
            </a:r>
            <a:r>
              <a:rPr lang="en-US" altLang="ko-KR" sz="1800">
                <a:ea typeface="Gulim" pitchFamily="-28" charset="-127"/>
                <a:cs typeface="Gulim" pitchFamily="-28" charset="-127"/>
              </a:rPr>
              <a:t>: an</a:t>
            </a:r>
            <a:r>
              <a:rPr lang="en-US" altLang="ja-JP" sz="1800">
                <a:ea typeface="ＭＳ Ｐゴシック" pitchFamily="-28" charset="-128"/>
                <a:cs typeface="ＭＳ Ｐゴシック" pitchFamily="-28" charset="-128"/>
              </a:rPr>
              <a:t> empirical observation made in 1965 that the number of transistors on an integrated circuit for minimum component cost doubles every 24 months</a:t>
            </a:r>
            <a:r>
              <a:rPr lang="en-US" altLang="ko-KR" sz="1800">
                <a:ea typeface="Gulim" pitchFamily="-28" charset="-127"/>
                <a:cs typeface="Gulim" pitchFamily="-28" charset="-127"/>
              </a:rPr>
              <a:t> [</a:t>
            </a:r>
            <a:r>
              <a:rPr lang="en-US" altLang="ja-JP" sz="1800">
                <a:ea typeface="ＭＳ Ｐゴシック" pitchFamily="-28" charset="-128"/>
                <a:cs typeface="ＭＳ Ｐゴシック" pitchFamily="-28" charset="-128"/>
              </a:rPr>
              <a:t>G. E. Moore, Electronics, April 19 (1965).</a:t>
            </a:r>
            <a:r>
              <a:rPr lang="en-US" altLang="ko-KR" sz="1800">
                <a:ea typeface="Gulim" pitchFamily="-28" charset="-127"/>
                <a:cs typeface="Gulim" pitchFamily="-28" charset="-127"/>
              </a:rPr>
              <a:t>]</a:t>
            </a:r>
            <a:endParaRPr lang="en-US" altLang="ja-JP" sz="1800">
              <a:ea typeface="ＭＳ Ｐゴシック" pitchFamily="-28" charset="-128"/>
              <a:cs typeface="ＭＳ Ｐゴシック" pitchFamily="-28" charset="-128"/>
            </a:endParaRPr>
          </a:p>
        </p:txBody>
      </p:sp>
      <p:pic>
        <p:nvPicPr>
          <p:cNvPr id="82948" name="Picture 4" descr="mooreslaw_graph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1524000"/>
            <a:ext cx="5410200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1143000" y="5486400"/>
            <a:ext cx="6248400" cy="82232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GB" altLang="ko-KR" sz="2400" b="0">
                <a:solidFill>
                  <a:srgbClr val="FF0000"/>
                </a:solidFill>
                <a:latin typeface="Times New Roman" pitchFamily="-28" charset="0"/>
              </a:rPr>
              <a:t>“</a:t>
            </a:r>
            <a:r>
              <a:rPr lang="en-GB" altLang="ko-KR" sz="2400" b="0" i="1">
                <a:solidFill>
                  <a:srgbClr val="FF0000"/>
                </a:solidFill>
                <a:latin typeface="Times New Roman" pitchFamily="-28" charset="0"/>
              </a:rPr>
              <a:t>We have another 10 to 20 years before we reach a fundamental limit.</a:t>
            </a:r>
            <a:r>
              <a:rPr lang="en-GB" altLang="ko-KR" sz="2400" b="0">
                <a:solidFill>
                  <a:srgbClr val="FF0000"/>
                </a:solidFill>
                <a:latin typeface="Times New Roman" pitchFamily="-28" charset="0"/>
              </a:rPr>
              <a:t>”</a:t>
            </a:r>
            <a:r>
              <a:rPr lang="en-GB" altLang="ko-KR" sz="2000" b="0">
                <a:solidFill>
                  <a:srgbClr val="000000"/>
                </a:solidFill>
                <a:latin typeface="Times New Roman" pitchFamily="-28" charset="0"/>
              </a:rPr>
              <a:t> (G. E. Moore, 2005).</a:t>
            </a:r>
          </a:p>
        </p:txBody>
      </p:sp>
      <p:pic>
        <p:nvPicPr>
          <p:cNvPr id="82950" name="Picture 6" descr="mooresphot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1913" y="3860800"/>
            <a:ext cx="102870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5638800"/>
            <a:ext cx="6172200" cy="701675"/>
          </a:xfrm>
          <a:noFill/>
        </p:spPr>
        <p:txBody>
          <a:bodyPr/>
          <a:lstStyle/>
          <a:p>
            <a:r>
              <a:rPr lang="ko-KR" altLang="en-US">
                <a:solidFill>
                  <a:srgbClr val="FF0000"/>
                </a:solidFill>
                <a:ea typeface="Gulim" pitchFamily="-28" charset="-127"/>
                <a:cs typeface="Gulim" pitchFamily="-28" charset="-127"/>
              </a:rPr>
              <a:t>미지의 영역이 존재한다</a:t>
            </a:r>
            <a:r>
              <a:rPr lang="en-US" altLang="ko-KR">
                <a:solidFill>
                  <a:srgbClr val="FF0000"/>
                </a:solidFill>
                <a:ea typeface="Gulim" pitchFamily="-28" charset="-127"/>
                <a:cs typeface="Gulim" pitchFamily="-28" charset="-127"/>
              </a:rPr>
              <a:t>.</a:t>
            </a:r>
          </a:p>
          <a:p>
            <a:endParaRPr lang="en-US">
              <a:solidFill>
                <a:srgbClr val="FF0000"/>
              </a:solidFill>
              <a:ea typeface="ＭＳ Ｐゴシック" pitchFamily="-28" charset="-128"/>
              <a:cs typeface="ＭＳ Ｐゴシック" pitchFamily="-28" charset="-128"/>
            </a:endParaRPr>
          </a:p>
        </p:txBody>
      </p:sp>
      <p:pic>
        <p:nvPicPr>
          <p:cNvPr id="8397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600200"/>
            <a:ext cx="6242050" cy="3602038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</p:pic>
      <p:sp>
        <p:nvSpPr>
          <p:cNvPr id="608261" name="Freeform 5"/>
          <p:cNvSpPr>
            <a:spLocks/>
          </p:cNvSpPr>
          <p:nvPr/>
        </p:nvSpPr>
        <p:spPr bwMode="auto">
          <a:xfrm>
            <a:off x="5257800" y="2667000"/>
            <a:ext cx="2874963" cy="952500"/>
          </a:xfrm>
          <a:custGeom>
            <a:avLst/>
            <a:gdLst>
              <a:gd name="T0" fmla="*/ 2147483647 w 1811"/>
              <a:gd name="T1" fmla="*/ 2147483647 h 600"/>
              <a:gd name="T2" fmla="*/ 2147483647 w 1811"/>
              <a:gd name="T3" fmla="*/ 2147483647 h 600"/>
              <a:gd name="T4" fmla="*/ 2147483647 w 1811"/>
              <a:gd name="T5" fmla="*/ 2147483647 h 600"/>
              <a:gd name="T6" fmla="*/ 2147483647 w 1811"/>
              <a:gd name="T7" fmla="*/ 2147483647 h 600"/>
              <a:gd name="T8" fmla="*/ 2147483647 w 1811"/>
              <a:gd name="T9" fmla="*/ 2147483647 h 600"/>
              <a:gd name="T10" fmla="*/ 2147483647 w 1811"/>
              <a:gd name="T11" fmla="*/ 2147483647 h 600"/>
              <a:gd name="T12" fmla="*/ 2147483647 w 1811"/>
              <a:gd name="T13" fmla="*/ 2147483647 h 600"/>
              <a:gd name="T14" fmla="*/ 2147483647 w 1811"/>
              <a:gd name="T15" fmla="*/ 2147483647 h 600"/>
              <a:gd name="T16" fmla="*/ 2147483647 w 1811"/>
              <a:gd name="T17" fmla="*/ 2147483647 h 600"/>
              <a:gd name="T18" fmla="*/ 2147483647 w 1811"/>
              <a:gd name="T19" fmla="*/ 2147483647 h 6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11"/>
              <a:gd name="T31" fmla="*/ 0 h 600"/>
              <a:gd name="T32" fmla="*/ 1811 w 1811"/>
              <a:gd name="T33" fmla="*/ 600 h 60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11" h="600">
                <a:moveTo>
                  <a:pt x="843" y="2"/>
                </a:moveTo>
                <a:cubicBezTo>
                  <a:pt x="641" y="4"/>
                  <a:pt x="437" y="54"/>
                  <a:pt x="312" y="86"/>
                </a:cubicBezTo>
                <a:cubicBezTo>
                  <a:pt x="187" y="118"/>
                  <a:pt x="129" y="127"/>
                  <a:pt x="90" y="194"/>
                </a:cubicBezTo>
                <a:cubicBezTo>
                  <a:pt x="51" y="261"/>
                  <a:pt x="0" y="426"/>
                  <a:pt x="77" y="491"/>
                </a:cubicBezTo>
                <a:cubicBezTo>
                  <a:pt x="154" y="556"/>
                  <a:pt x="369" y="572"/>
                  <a:pt x="552" y="586"/>
                </a:cubicBezTo>
                <a:cubicBezTo>
                  <a:pt x="735" y="600"/>
                  <a:pt x="979" y="593"/>
                  <a:pt x="1173" y="573"/>
                </a:cubicBezTo>
                <a:cubicBezTo>
                  <a:pt x="1367" y="553"/>
                  <a:pt x="1625" y="530"/>
                  <a:pt x="1718" y="468"/>
                </a:cubicBezTo>
                <a:cubicBezTo>
                  <a:pt x="1811" y="406"/>
                  <a:pt x="1766" y="266"/>
                  <a:pt x="1734" y="201"/>
                </a:cubicBezTo>
                <a:cubicBezTo>
                  <a:pt x="1702" y="136"/>
                  <a:pt x="1674" y="109"/>
                  <a:pt x="1526" y="76"/>
                </a:cubicBezTo>
                <a:cubicBezTo>
                  <a:pt x="1378" y="43"/>
                  <a:pt x="1045" y="0"/>
                  <a:pt x="843" y="2"/>
                </a:cubicBezTo>
                <a:close/>
              </a:path>
            </a:pathLst>
          </a:custGeom>
          <a:noFill/>
          <a:ln w="12700">
            <a:solidFill>
              <a:srgbClr val="FF0000"/>
            </a:solidFill>
            <a:round/>
            <a:headEnd type="none" w="lg" len="lg"/>
            <a:tailEnd type="none" w="lg" len="lg"/>
          </a:ln>
          <a:effectLst>
            <a:prstShdw prst="shdw17" dist="17961" dir="2700000">
              <a:srgbClr val="990000"/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1096963" y="457200"/>
            <a:ext cx="6904037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3600" b="0">
                <a:solidFill>
                  <a:srgbClr val="C0504D"/>
                </a:solidFill>
                <a:latin typeface="Calibri" pitchFamily="-28" charset="0"/>
              </a:rPr>
              <a:t>양자 정보처리 </a:t>
            </a:r>
            <a:r>
              <a:rPr lang="en-US" altLang="ko-KR" sz="3600" b="0">
                <a:solidFill>
                  <a:srgbClr val="C0504D"/>
                </a:solidFill>
                <a:latin typeface="Calibri" pitchFamily="-28" charset="0"/>
              </a:rPr>
              <a:t>VS </a:t>
            </a:r>
            <a:r>
              <a:rPr lang="ko-KR" altLang="en-US" sz="3600" b="0">
                <a:solidFill>
                  <a:srgbClr val="C0504D"/>
                </a:solidFill>
                <a:latin typeface="Calibri" pitchFamily="-28" charset="0"/>
              </a:rPr>
              <a:t>고전 정보처리</a:t>
            </a:r>
            <a:endParaRPr lang="en-US" altLang="ja-JP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6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31188" cy="1908175"/>
          </a:xfrm>
        </p:spPr>
        <p:txBody>
          <a:bodyPr/>
          <a:lstStyle/>
          <a:p>
            <a:r>
              <a:rPr lang="ko-KR" altLang="en-US" sz="2800">
                <a:solidFill>
                  <a:srgbClr val="FF0000"/>
                </a:solidFill>
                <a:ea typeface="Gulim" pitchFamily="-28" charset="-127"/>
                <a:cs typeface="Gulim" pitchFamily="-28" charset="-127"/>
              </a:rPr>
              <a:t>양자적 성질을 지닌 상태를 이용하여 정보를 처리하면 어떠한 이득을 얻을 수 있는가</a:t>
            </a:r>
            <a:r>
              <a:rPr lang="en-US" altLang="ko-KR" sz="2800">
                <a:solidFill>
                  <a:srgbClr val="FF0000"/>
                </a:solidFill>
                <a:ea typeface="Gulim" pitchFamily="-28" charset="-127"/>
                <a:cs typeface="Gulim" pitchFamily="-28" charset="-127"/>
              </a:rPr>
              <a:t>?</a:t>
            </a:r>
          </a:p>
          <a:p>
            <a:endParaRPr lang="en-US" altLang="ko-KR" sz="2800">
              <a:solidFill>
                <a:srgbClr val="FF0000"/>
              </a:solidFill>
              <a:ea typeface="Gulim" pitchFamily="-28" charset="-127"/>
              <a:cs typeface="Gulim" pitchFamily="-28" charset="-127"/>
            </a:endParaRPr>
          </a:p>
        </p:txBody>
      </p:sp>
      <p:graphicFrame>
        <p:nvGraphicFramePr>
          <p:cNvPr id="84994" name="Object 2"/>
          <p:cNvGraphicFramePr>
            <a:graphicFrameLocks noChangeAspect="1"/>
          </p:cNvGraphicFramePr>
          <p:nvPr/>
        </p:nvGraphicFramePr>
        <p:xfrm>
          <a:off x="1476375" y="3860800"/>
          <a:ext cx="3024188" cy="738188"/>
        </p:xfrm>
        <a:graphic>
          <a:graphicData uri="http://schemas.openxmlformats.org/presentationml/2006/ole">
            <p:oleObj spid="_x0000_s84994" name="Equation" r:id="rId3" imgW="1041120" imgH="253800" progId="Equation.3">
              <p:embed/>
            </p:oleObj>
          </a:graphicData>
        </a:graphic>
      </p:graphicFrame>
      <p:pic>
        <p:nvPicPr>
          <p:cNvPr id="84997" name="Picture 5" descr="atom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19700" y="3573463"/>
            <a:ext cx="1081088" cy="97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998" name="Picture 6" descr="untitled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00788" y="5589588"/>
            <a:ext cx="1584325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4995" name="Object 3"/>
          <p:cNvGraphicFramePr>
            <a:graphicFrameLocks noChangeAspect="1"/>
          </p:cNvGraphicFramePr>
          <p:nvPr>
            <p:ph sz="half" idx="2"/>
          </p:nvPr>
        </p:nvGraphicFramePr>
        <p:xfrm>
          <a:off x="900113" y="4991100"/>
          <a:ext cx="4824412" cy="1079500"/>
        </p:xfrm>
        <a:graphic>
          <a:graphicData uri="http://schemas.openxmlformats.org/presentationml/2006/ole">
            <p:oleObj spid="_x0000_s84995" name="Equation" r:id="rId6" imgW="1701800" imgH="381000" progId="Equation.3">
              <p:embed/>
            </p:oleObj>
          </a:graphicData>
        </a:graphic>
      </p:graphicFrame>
      <p:pic>
        <p:nvPicPr>
          <p:cNvPr id="84999" name="Picture 8" descr="untitled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092950" y="3429000"/>
            <a:ext cx="1584325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5000" name="Freeform 9"/>
          <p:cNvSpPr>
            <a:spLocks/>
          </p:cNvSpPr>
          <p:nvPr/>
        </p:nvSpPr>
        <p:spPr bwMode="auto">
          <a:xfrm>
            <a:off x="6732588" y="4221163"/>
            <a:ext cx="1563687" cy="1393825"/>
          </a:xfrm>
          <a:custGeom>
            <a:avLst/>
            <a:gdLst>
              <a:gd name="T0" fmla="*/ 2147483647 w 985"/>
              <a:gd name="T1" fmla="*/ 2147483647 h 878"/>
              <a:gd name="T2" fmla="*/ 2147483647 w 985"/>
              <a:gd name="T3" fmla="*/ 2147483647 h 878"/>
              <a:gd name="T4" fmla="*/ 2147483647 w 985"/>
              <a:gd name="T5" fmla="*/ 2147483647 h 878"/>
              <a:gd name="T6" fmla="*/ 2147483647 w 985"/>
              <a:gd name="T7" fmla="*/ 2147483647 h 878"/>
              <a:gd name="T8" fmla="*/ 2147483647 w 985"/>
              <a:gd name="T9" fmla="*/ 2147483647 h 878"/>
              <a:gd name="T10" fmla="*/ 2147483647 w 985"/>
              <a:gd name="T11" fmla="*/ 0 h 87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85"/>
              <a:gd name="T19" fmla="*/ 0 h 878"/>
              <a:gd name="T20" fmla="*/ 985 w 985"/>
              <a:gd name="T21" fmla="*/ 878 h 87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85" h="878">
                <a:moveTo>
                  <a:pt x="208" y="878"/>
                </a:moveTo>
                <a:cubicBezTo>
                  <a:pt x="179" y="836"/>
                  <a:pt x="0" y="667"/>
                  <a:pt x="24" y="619"/>
                </a:cubicBezTo>
                <a:cubicBezTo>
                  <a:pt x="48" y="571"/>
                  <a:pt x="296" y="636"/>
                  <a:pt x="352" y="589"/>
                </a:cubicBezTo>
                <a:cubicBezTo>
                  <a:pt x="408" y="542"/>
                  <a:pt x="269" y="396"/>
                  <a:pt x="362" y="334"/>
                </a:cubicBezTo>
                <a:cubicBezTo>
                  <a:pt x="455" y="272"/>
                  <a:pt x="841" y="273"/>
                  <a:pt x="913" y="217"/>
                </a:cubicBezTo>
                <a:cubicBezTo>
                  <a:pt x="985" y="161"/>
                  <a:pt x="820" y="45"/>
                  <a:pt x="796" y="0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 type="none" w="lg" len="lg"/>
            <a:tailEnd type="none" w="lg" len="lg"/>
          </a:ln>
          <a:effectLst>
            <a:prstShdw prst="shdw17" dist="17961" dir="2700000">
              <a:srgbClr val="990000"/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5001" name="Rectangle 10"/>
          <p:cNvSpPr>
            <a:spLocks noChangeArrowheads="1"/>
          </p:cNvSpPr>
          <p:nvPr/>
        </p:nvSpPr>
        <p:spPr bwMode="auto">
          <a:xfrm>
            <a:off x="773113" y="511175"/>
            <a:ext cx="753268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000" b="0">
                <a:solidFill>
                  <a:srgbClr val="C0504D"/>
                </a:solidFill>
                <a:latin typeface="Calibri" pitchFamily="-28" charset="0"/>
              </a:rPr>
              <a:t>양자 물리학을 이용한 정보처리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ko-KR" altLang="en-US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양자 비트 </a:t>
            </a:r>
            <a:r>
              <a:rPr lang="en-US" altLang="ko-KR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(</a:t>
            </a:r>
            <a:r>
              <a:rPr lang="ko-KR" altLang="en-US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큐빗</a:t>
            </a:r>
            <a:r>
              <a:rPr lang="en-US" altLang="ko-KR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)</a:t>
            </a:r>
          </a:p>
        </p:txBody>
      </p:sp>
      <p:sp>
        <p:nvSpPr>
          <p:cNvPr id="86020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376363"/>
            <a:ext cx="6019800" cy="1016000"/>
          </a:xfrm>
        </p:spPr>
        <p:txBody>
          <a:bodyPr/>
          <a:lstStyle/>
          <a:p>
            <a:r>
              <a:rPr lang="ko-KR" altLang="en-US" sz="2400">
                <a:ea typeface="Gulim" pitchFamily="-28" charset="-127"/>
                <a:cs typeface="Gulim" pitchFamily="-28" charset="-127"/>
              </a:rPr>
              <a:t>고전 비트</a:t>
            </a:r>
          </a:p>
          <a:p>
            <a:pPr>
              <a:buFont typeface="Arial" pitchFamily="-28" charset="0"/>
              <a:buNone/>
            </a:pPr>
            <a:r>
              <a:rPr lang="en-US" altLang="ko-KR" sz="2400">
                <a:ea typeface="Gulim" pitchFamily="-28" charset="-127"/>
                <a:cs typeface="Gulim" pitchFamily="-28" charset="-127"/>
              </a:rPr>
              <a:t>               “I love physics.” </a:t>
            </a:r>
            <a:r>
              <a:rPr lang="en-GB" altLang="ko-KR" sz="1600">
                <a:ea typeface="Gulim" pitchFamily="-28" charset="-127"/>
                <a:cs typeface="Gulim" pitchFamily="-28" charset="-127"/>
                <a:sym typeface="Wingdings" pitchFamily="-28" charset="2"/>
              </a:rPr>
              <a:t> </a:t>
            </a:r>
            <a:r>
              <a:rPr lang="en-GB" altLang="ko-KR" sz="2400" b="1">
                <a:ea typeface="Gulim" pitchFamily="-28" charset="-127"/>
                <a:cs typeface="Gulim" pitchFamily="-28" charset="-127"/>
                <a:sym typeface="Wingdings" pitchFamily="-28" charset="2"/>
              </a:rPr>
              <a:t>1011000101011…</a:t>
            </a:r>
            <a:endParaRPr lang="en-US" altLang="ko-KR" sz="2400" b="1">
              <a:ea typeface="Gulim" pitchFamily="-28" charset="-127"/>
              <a:cs typeface="Gulim" pitchFamily="-28" charset="-127"/>
            </a:endParaRPr>
          </a:p>
          <a:p>
            <a:pPr>
              <a:buFont typeface="Arial" pitchFamily="-28" charset="0"/>
              <a:buNone/>
            </a:pPr>
            <a:endParaRPr lang="en-US" altLang="ja-JP" sz="2400">
              <a:ea typeface="Gulim" pitchFamily="-28" charset="-127"/>
              <a:cs typeface="Gulim" pitchFamily="-28" charset="-127"/>
            </a:endParaRPr>
          </a:p>
        </p:txBody>
      </p:sp>
      <p:pic>
        <p:nvPicPr>
          <p:cNvPr id="86021" name="Picture 4" descr="Bit-qubi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3350" y="3789363"/>
            <a:ext cx="4572000" cy="113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22" name="Rectangle 5"/>
          <p:cNvSpPr>
            <a:spLocks noChangeArrowheads="1"/>
          </p:cNvSpPr>
          <p:nvPr/>
        </p:nvSpPr>
        <p:spPr bwMode="auto">
          <a:xfrm>
            <a:off x="457200" y="2819400"/>
            <a:ext cx="2711450" cy="457200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342900" indent="-342900"/>
            <a:r>
              <a:rPr lang="ko-KR" altLang="en-US" sz="2400" b="0">
                <a:solidFill>
                  <a:schemeClr val="tx1"/>
                </a:solidFill>
                <a:latin typeface="Times New Roman" pitchFamily="-28" charset="0"/>
              </a:rPr>
              <a:t>양자 비트 </a:t>
            </a:r>
            <a:r>
              <a:rPr lang="en-US" altLang="ko-KR" sz="2400" b="0">
                <a:solidFill>
                  <a:schemeClr val="tx1"/>
                </a:solidFill>
                <a:latin typeface="Times New Roman" pitchFamily="-28" charset="0"/>
              </a:rPr>
              <a:t>(</a:t>
            </a:r>
            <a:r>
              <a:rPr lang="ko-KR" altLang="en-US" sz="2400" b="0">
                <a:solidFill>
                  <a:schemeClr val="tx1"/>
                </a:solidFill>
                <a:latin typeface="Times New Roman" pitchFamily="-28" charset="0"/>
              </a:rPr>
              <a:t>큐빗</a:t>
            </a:r>
            <a:r>
              <a:rPr lang="en-US" altLang="ko-KR" sz="2400" b="0">
                <a:solidFill>
                  <a:schemeClr val="tx1"/>
                </a:solidFill>
                <a:latin typeface="Times New Roman" pitchFamily="-28" charset="0"/>
              </a:rPr>
              <a:t>)</a:t>
            </a:r>
          </a:p>
        </p:txBody>
      </p:sp>
      <p:graphicFrame>
        <p:nvGraphicFramePr>
          <p:cNvPr id="86018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3635375" y="2852738"/>
          <a:ext cx="2668588" cy="649287"/>
        </p:xfrm>
        <a:graphic>
          <a:graphicData uri="http://schemas.openxmlformats.org/presentationml/2006/ole">
            <p:oleObj spid="_x0000_s86018" name="Equation" r:id="rId4" imgW="1193760" imgH="279360" progId="Equation.3">
              <p:embed/>
            </p:oleObj>
          </a:graphicData>
        </a:graphic>
      </p:graphicFrame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611188" y="5534025"/>
            <a:ext cx="1733550" cy="366713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None/>
            </a:pPr>
            <a:r>
              <a:rPr lang="en-US" altLang="ko-KR" sz="1800" b="0">
                <a:solidFill>
                  <a:srgbClr val="FF0000"/>
                </a:solidFill>
                <a:latin typeface="Arial" pitchFamily="-28" charset="0"/>
              </a:rPr>
              <a:t>Two-level atom</a:t>
            </a:r>
          </a:p>
        </p:txBody>
      </p:sp>
      <p:sp>
        <p:nvSpPr>
          <p:cNvPr id="86024" name="Rectangle 8"/>
          <p:cNvSpPr>
            <a:spLocks noChangeArrowheads="1"/>
          </p:cNvSpPr>
          <p:nvPr/>
        </p:nvSpPr>
        <p:spPr bwMode="auto">
          <a:xfrm>
            <a:off x="6478588" y="4619625"/>
            <a:ext cx="2139950" cy="366713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None/>
            </a:pPr>
            <a:r>
              <a:rPr lang="en-US" altLang="ko-KR" sz="1800" b="0">
                <a:solidFill>
                  <a:srgbClr val="FF0000"/>
                </a:solidFill>
                <a:latin typeface="Arial" pitchFamily="-28" charset="0"/>
              </a:rPr>
              <a:t>Photon polarization</a:t>
            </a:r>
          </a:p>
        </p:txBody>
      </p:sp>
      <p:pic>
        <p:nvPicPr>
          <p:cNvPr id="86025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458200" y="1447800"/>
            <a:ext cx="104775" cy="1252538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</p:pic>
      <p:pic>
        <p:nvPicPr>
          <p:cNvPr id="86026" name="Picture 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77000" y="1371600"/>
            <a:ext cx="2133600" cy="1109663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</p:pic>
      <p:pic>
        <p:nvPicPr>
          <p:cNvPr id="86027" name="Picture 1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362200" y="5257800"/>
            <a:ext cx="2235200" cy="985838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</p:pic>
      <p:pic>
        <p:nvPicPr>
          <p:cNvPr id="86028" name="Picture 1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791200" y="5105400"/>
            <a:ext cx="2128838" cy="129222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</p:pic>
      <p:sp>
        <p:nvSpPr>
          <p:cNvPr id="86029" name="Rectangle 13"/>
          <p:cNvSpPr>
            <a:spLocks noChangeArrowheads="1"/>
          </p:cNvSpPr>
          <p:nvPr/>
        </p:nvSpPr>
        <p:spPr bwMode="auto">
          <a:xfrm>
            <a:off x="6934200" y="1116013"/>
            <a:ext cx="1752600" cy="3968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sz="2000" b="0">
                <a:solidFill>
                  <a:srgbClr val="008000"/>
                </a:solidFill>
                <a:latin typeface="Times New Roman" pitchFamily="-28" charset="0"/>
              </a:rPr>
              <a:t>Electric current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3" descr="Qprocesso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19200"/>
            <a:ext cx="6096000" cy="286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043" name="Rectangle 4"/>
          <p:cNvSpPr>
            <a:spLocks noChangeArrowheads="1"/>
          </p:cNvSpPr>
          <p:nvPr/>
        </p:nvSpPr>
        <p:spPr bwMode="auto">
          <a:xfrm>
            <a:off x="762000" y="4343400"/>
            <a:ext cx="8001000" cy="1879600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800" b="0">
                <a:solidFill>
                  <a:schemeClr val="tx2"/>
                </a:solidFill>
                <a:latin typeface="Times New Roman" pitchFamily="-28" charset="0"/>
              </a:rPr>
              <a:t> </a:t>
            </a:r>
            <a:r>
              <a:rPr lang="ko-KR" altLang="en-US" sz="1800" b="0">
                <a:solidFill>
                  <a:schemeClr val="tx2"/>
                </a:solidFill>
                <a:latin typeface="Times New Roman" pitchFamily="-28" charset="0"/>
              </a:rPr>
              <a:t>양자컴퓨터의 힘은 양자 중첩의 원리에 기반한 양자 병렬성</a:t>
            </a:r>
            <a:r>
              <a:rPr lang="en-US" altLang="ko-KR" sz="1800" b="0">
                <a:solidFill>
                  <a:schemeClr val="tx2"/>
                </a:solidFill>
                <a:latin typeface="Times New Roman" pitchFamily="-28" charset="0"/>
              </a:rPr>
              <a:t>(quantum parallelism)</a:t>
            </a:r>
            <a:r>
              <a:rPr lang="ko-KR" altLang="en-US" sz="1800" b="0">
                <a:solidFill>
                  <a:schemeClr val="tx2"/>
                </a:solidFill>
                <a:latin typeface="Times New Roman" pitchFamily="-28" charset="0"/>
              </a:rPr>
              <a:t>에 있다</a:t>
            </a:r>
            <a:r>
              <a:rPr lang="en-US" altLang="ko-KR" sz="1800" b="0">
                <a:solidFill>
                  <a:schemeClr val="tx2"/>
                </a:solidFill>
                <a:latin typeface="Times New Roman" pitchFamily="-28" charset="0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en-US" altLang="ko-KR" sz="1800" b="0">
                <a:solidFill>
                  <a:schemeClr val="tx1"/>
                </a:solidFill>
                <a:latin typeface="Times New Roman" pitchFamily="-28" charset="0"/>
              </a:rPr>
              <a:t> </a:t>
            </a:r>
            <a:r>
              <a:rPr lang="ko-KR" altLang="en-US" sz="1800" b="0">
                <a:solidFill>
                  <a:schemeClr val="tx1"/>
                </a:solidFill>
                <a:latin typeface="Times New Roman" pitchFamily="-28" charset="0"/>
              </a:rPr>
              <a:t>특정한 문제들을 고전적 컴퓨터에 비해 훨씬 빠르게 풀어낼 수 있다</a:t>
            </a:r>
            <a:r>
              <a:rPr lang="en-US" altLang="ko-KR" sz="1800" b="0">
                <a:solidFill>
                  <a:schemeClr val="tx1"/>
                </a:solidFill>
                <a:latin typeface="Times New Roman" pitchFamily="-28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ko-KR" sz="1800" b="0">
                <a:solidFill>
                  <a:schemeClr val="tx1"/>
                </a:solidFill>
                <a:latin typeface="Times New Roman" pitchFamily="-28" charset="0"/>
              </a:rPr>
              <a:t> Factoring large integer (P. Shor, 1996)</a:t>
            </a:r>
          </a:p>
          <a:p>
            <a:pPr>
              <a:spcBef>
                <a:spcPct val="50000"/>
              </a:spcBef>
            </a:pPr>
            <a:r>
              <a:rPr lang="en-US" altLang="ko-KR" sz="1800" b="0">
                <a:solidFill>
                  <a:schemeClr val="tx1"/>
                </a:solidFill>
                <a:latin typeface="Times New Roman" pitchFamily="-28" charset="0"/>
              </a:rPr>
              <a:t> Database search (L. Grover, 1996)</a:t>
            </a:r>
          </a:p>
        </p:txBody>
      </p:sp>
      <p:pic>
        <p:nvPicPr>
          <p:cNvPr id="87044" name="Picture 5" descr="pic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91400" y="2209800"/>
            <a:ext cx="1219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045" name="Rectangle 6"/>
          <p:cNvSpPr>
            <a:spLocks noChangeArrowheads="1"/>
          </p:cNvSpPr>
          <p:nvPr/>
        </p:nvSpPr>
        <p:spPr bwMode="auto">
          <a:xfrm>
            <a:off x="7543800" y="4038600"/>
            <a:ext cx="941388" cy="3079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b="0">
                <a:solidFill>
                  <a:srgbClr val="000000"/>
                </a:solidFill>
                <a:latin typeface="Times New Roman" pitchFamily="-28" charset="0"/>
              </a:rPr>
              <a:t>Peter Shor</a:t>
            </a:r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1863725" y="144463"/>
            <a:ext cx="5070475" cy="76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400" b="0">
                <a:solidFill>
                  <a:srgbClr val="C0504D"/>
                </a:solidFill>
                <a:latin typeface="Calibri" pitchFamily="-28" charset="0"/>
              </a:rPr>
              <a:t>양자컴퓨터의 원리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Grp="1"/>
          </p:cNvSpPr>
          <p:nvPr>
            <p:ph type="body" idx="1"/>
          </p:nvPr>
        </p:nvSpPr>
        <p:spPr>
          <a:xfrm>
            <a:off x="611188" y="5157788"/>
            <a:ext cx="7848600" cy="91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2400" b="1">
                <a:ea typeface="Gulim" pitchFamily="-28" charset="-127"/>
                <a:cs typeface="Gulim" pitchFamily="-28" charset="-127"/>
              </a:rPr>
              <a:t>양자 얽힘을 이용한 전송 방법</a:t>
            </a:r>
            <a:endParaRPr lang="en-US" altLang="ko-KR" sz="2400" b="1">
              <a:ea typeface="Gulim" pitchFamily="-28" charset="-127"/>
              <a:cs typeface="Gulim" pitchFamily="-28" charset="-127"/>
            </a:endParaRPr>
          </a:p>
        </p:txBody>
      </p:sp>
      <p:pic>
        <p:nvPicPr>
          <p:cNvPr id="88067" name="Picture 4" descr="grou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0" y="1981200"/>
            <a:ext cx="2590800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8068" name="Rectangle 6"/>
          <p:cNvSpPr>
            <a:spLocks noChangeArrowheads="1"/>
          </p:cNvSpPr>
          <p:nvPr/>
        </p:nvSpPr>
        <p:spPr bwMode="auto">
          <a:xfrm>
            <a:off x="3048000" y="914400"/>
            <a:ext cx="2955925" cy="400050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ko-KR" sz="2000" b="0">
                <a:solidFill>
                  <a:schemeClr val="tx1"/>
                </a:solidFill>
                <a:latin typeface="Times New Roman" pitchFamily="-28" charset="0"/>
              </a:rPr>
              <a:t>(Bennett et al., PRL, 1993)</a:t>
            </a:r>
          </a:p>
        </p:txBody>
      </p:sp>
      <p:pic>
        <p:nvPicPr>
          <p:cNvPr id="8806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1524000"/>
            <a:ext cx="3810000" cy="2744788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</p:pic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2987675" y="344488"/>
            <a:ext cx="3108325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3600" b="0">
                <a:solidFill>
                  <a:srgbClr val="C0504D"/>
                </a:solidFill>
                <a:latin typeface="Calibri" pitchFamily="-28" charset="0"/>
              </a:rPr>
              <a:t>양자 공간이동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533400"/>
            <a:ext cx="6781800" cy="609600"/>
          </a:xfrm>
          <a:noFill/>
        </p:spPr>
        <p:txBody>
          <a:bodyPr/>
          <a:lstStyle/>
          <a:p>
            <a:r>
              <a:rPr lang="ko-KR" altLang="en-US" sz="3200">
                <a:solidFill>
                  <a:schemeClr val="accent2"/>
                </a:solidFill>
                <a:ea typeface="Gulim" pitchFamily="-28" charset="-127"/>
                <a:cs typeface="Gulim" pitchFamily="-28" charset="-127"/>
              </a:rPr>
              <a:t>양자 암호</a:t>
            </a:r>
            <a:r>
              <a:rPr lang="zh-TW" altLang="en-US" sz="3200">
                <a:solidFill>
                  <a:schemeClr val="accent2"/>
                </a:solidFill>
                <a:ea typeface="PMingLiU" pitchFamily="18" charset="-120"/>
                <a:cs typeface="PMingLiU" pitchFamily="18" charset="-120"/>
              </a:rPr>
              <a:t> </a:t>
            </a:r>
            <a:r>
              <a:rPr lang="en-US" altLang="zh-TW" sz="3200">
                <a:solidFill>
                  <a:schemeClr val="accent2"/>
                </a:solidFill>
                <a:ea typeface="PMingLiU" pitchFamily="18" charset="-120"/>
                <a:cs typeface="PMingLiU" pitchFamily="18" charset="-120"/>
              </a:rPr>
              <a:t>(QKD)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467600" cy="1371600"/>
          </a:xfrm>
          <a:noFill/>
        </p:spPr>
        <p:txBody>
          <a:bodyPr/>
          <a:lstStyle/>
          <a:p>
            <a:pPr>
              <a:buFont typeface="Arial" pitchFamily="-28" charset="0"/>
              <a:buNone/>
            </a:pPr>
            <a:r>
              <a:rPr lang="en-US" altLang="zh-TW" sz="2000">
                <a:ea typeface="PMingLiU" pitchFamily="18" charset="-120"/>
                <a:cs typeface="PMingLiU" pitchFamily="18" charset="-120"/>
              </a:rPr>
              <a:t>     </a:t>
            </a:r>
            <a:r>
              <a:rPr lang="en-US" altLang="zh-TW" sz="2000" b="1">
                <a:ea typeface="PMingLiU" pitchFamily="18" charset="-120"/>
                <a:cs typeface="PMingLiU" pitchFamily="18" charset="-120"/>
              </a:rPr>
              <a:t>Quantum No-Cloning Theorem</a:t>
            </a:r>
            <a:r>
              <a:rPr lang="en-US" altLang="zh-TW" sz="2000">
                <a:ea typeface="PMingLiU" pitchFamily="18" charset="-120"/>
                <a:cs typeface="PMingLiU" pitchFamily="18" charset="-120"/>
              </a:rPr>
              <a:t>: A quantum state (i.e. polarization of a single photon) cannot be cloned. </a:t>
            </a:r>
            <a:r>
              <a:rPr lang="en-US" altLang="zh-TW" sz="2000">
                <a:solidFill>
                  <a:srgbClr val="000000"/>
                </a:solidFill>
                <a:ea typeface="PMingLiU" pitchFamily="18" charset="-120"/>
                <a:cs typeface="PMingLiU" pitchFamily="18" charset="-120"/>
              </a:rPr>
              <a:t>Therefore, eavesdropper </a:t>
            </a:r>
            <a:r>
              <a:rPr lang="en-US" altLang="zh-TW" sz="2000" u="sng">
                <a:solidFill>
                  <a:srgbClr val="FF0000"/>
                </a:solidFill>
                <a:ea typeface="PMingLiU" pitchFamily="18" charset="-120"/>
                <a:cs typeface="PMingLiU" pitchFamily="18" charset="-120"/>
              </a:rPr>
              <a:t>CANNOT</a:t>
            </a:r>
            <a:r>
              <a:rPr lang="en-US" altLang="zh-TW" sz="2000">
                <a:solidFill>
                  <a:srgbClr val="000000"/>
                </a:solidFill>
                <a:ea typeface="PMingLiU" pitchFamily="18" charset="-120"/>
                <a:cs typeface="PMingLiU" pitchFamily="18" charset="-120"/>
              </a:rPr>
              <a:t> have the same quantum information that Bob has.</a:t>
            </a:r>
          </a:p>
        </p:txBody>
      </p:sp>
      <p:grpSp>
        <p:nvGrpSpPr>
          <p:cNvPr id="89092" name="Group 4"/>
          <p:cNvGrpSpPr>
            <a:grpSpLocks/>
          </p:cNvGrpSpPr>
          <p:nvPr/>
        </p:nvGrpSpPr>
        <p:grpSpPr bwMode="auto">
          <a:xfrm>
            <a:off x="1981200" y="2819400"/>
            <a:ext cx="4800600" cy="2060575"/>
            <a:chOff x="480" y="2400"/>
            <a:chExt cx="4512" cy="1729"/>
          </a:xfrm>
        </p:grpSpPr>
        <p:sp>
          <p:nvSpPr>
            <p:cNvPr id="89094" name="Text Box 5"/>
            <p:cNvSpPr txBox="1">
              <a:spLocks noChangeArrowheads="1"/>
            </p:cNvSpPr>
            <p:nvPr/>
          </p:nvSpPr>
          <p:spPr bwMode="auto">
            <a:xfrm>
              <a:off x="960" y="2400"/>
              <a:ext cx="370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l-GR" altLang="ja-JP" sz="2400" b="0" i="1">
                  <a:solidFill>
                    <a:schemeClr val="tx1"/>
                  </a:solidFill>
                  <a:latin typeface="Times New Roman" pitchFamily="-28" charset="0"/>
                  <a:ea typeface="Times New Roman" pitchFamily="-28" charset="0"/>
                  <a:cs typeface="Times New Roman" pitchFamily="-28" charset="0"/>
                </a:rPr>
                <a:t>θ</a:t>
              </a:r>
            </a:p>
          </p:txBody>
        </p:sp>
        <p:sp>
          <p:nvSpPr>
            <p:cNvPr id="89095" name="Rectangle 6"/>
            <p:cNvSpPr>
              <a:spLocks noChangeArrowheads="1"/>
            </p:cNvSpPr>
            <p:nvPr/>
          </p:nvSpPr>
          <p:spPr bwMode="auto">
            <a:xfrm>
              <a:off x="3457" y="2400"/>
              <a:ext cx="212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l-GR" altLang="ja-JP" sz="2400" b="0" i="1">
                  <a:solidFill>
                    <a:schemeClr val="tx1"/>
                  </a:solidFill>
                  <a:latin typeface="Times New Roman" pitchFamily="-28" charset="0"/>
                  <a:ea typeface="Times New Roman" pitchFamily="-28" charset="0"/>
                  <a:cs typeface="Times New Roman" pitchFamily="-28" charset="0"/>
                </a:rPr>
                <a:t>θ</a:t>
              </a:r>
            </a:p>
          </p:txBody>
        </p:sp>
        <p:sp>
          <p:nvSpPr>
            <p:cNvPr id="89096" name="Rectangle 7"/>
            <p:cNvSpPr>
              <a:spLocks noChangeArrowheads="1"/>
            </p:cNvSpPr>
            <p:nvPr/>
          </p:nvSpPr>
          <p:spPr bwMode="auto">
            <a:xfrm>
              <a:off x="4679" y="2400"/>
              <a:ext cx="194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l-GR" altLang="ja-JP" sz="2400" b="0" i="1">
                  <a:solidFill>
                    <a:schemeClr val="tx1"/>
                  </a:solidFill>
                  <a:latin typeface="Times New Roman" pitchFamily="-28" charset="0"/>
                  <a:ea typeface="Times New Roman" pitchFamily="-28" charset="0"/>
                  <a:cs typeface="Times New Roman" pitchFamily="-28" charset="0"/>
                </a:rPr>
                <a:t>θ</a:t>
              </a:r>
            </a:p>
          </p:txBody>
        </p:sp>
        <p:sp>
          <p:nvSpPr>
            <p:cNvPr id="89097" name="Line 8"/>
            <p:cNvSpPr>
              <a:spLocks noChangeShapeType="1"/>
            </p:cNvSpPr>
            <p:nvPr/>
          </p:nvSpPr>
          <p:spPr bwMode="auto">
            <a:xfrm flipH="1">
              <a:off x="480" y="2736"/>
              <a:ext cx="816" cy="96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9098" name="Line 9"/>
            <p:cNvSpPr>
              <a:spLocks noChangeShapeType="1"/>
            </p:cNvSpPr>
            <p:nvPr/>
          </p:nvSpPr>
          <p:spPr bwMode="auto">
            <a:xfrm>
              <a:off x="816" y="292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9099" name="Line 10"/>
            <p:cNvSpPr>
              <a:spLocks noChangeShapeType="1"/>
            </p:cNvSpPr>
            <p:nvPr/>
          </p:nvSpPr>
          <p:spPr bwMode="auto">
            <a:xfrm>
              <a:off x="864" y="264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9100" name="Arc 11"/>
            <p:cNvSpPr>
              <a:spLocks/>
            </p:cNvSpPr>
            <p:nvPr/>
          </p:nvSpPr>
          <p:spPr bwMode="auto">
            <a:xfrm>
              <a:off x="864" y="2932"/>
              <a:ext cx="185" cy="677"/>
            </a:xfrm>
            <a:custGeom>
              <a:avLst/>
              <a:gdLst>
                <a:gd name="T0" fmla="*/ 0 w 6916"/>
                <a:gd name="T1" fmla="*/ 0 h 21596"/>
                <a:gd name="T2" fmla="*/ 0 w 6916"/>
                <a:gd name="T3" fmla="*/ 0 h 21596"/>
                <a:gd name="T4" fmla="*/ 0 w 6916"/>
                <a:gd name="T5" fmla="*/ 0 h 21596"/>
                <a:gd name="T6" fmla="*/ 0 60000 65536"/>
                <a:gd name="T7" fmla="*/ 0 60000 65536"/>
                <a:gd name="T8" fmla="*/ 0 60000 65536"/>
                <a:gd name="T9" fmla="*/ 0 w 6916"/>
                <a:gd name="T10" fmla="*/ 0 h 21596"/>
                <a:gd name="T11" fmla="*/ 6916 w 6916"/>
                <a:gd name="T12" fmla="*/ 21596 h 215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16" h="21596" fill="none" extrusionOk="0">
                  <a:moveTo>
                    <a:pt x="419" y="0"/>
                  </a:moveTo>
                  <a:cubicBezTo>
                    <a:pt x="2630" y="43"/>
                    <a:pt x="4821" y="425"/>
                    <a:pt x="6915" y="1133"/>
                  </a:cubicBezTo>
                </a:path>
                <a:path w="6916" h="21596" stroke="0" extrusionOk="0">
                  <a:moveTo>
                    <a:pt x="419" y="0"/>
                  </a:moveTo>
                  <a:cubicBezTo>
                    <a:pt x="2630" y="43"/>
                    <a:pt x="4821" y="425"/>
                    <a:pt x="6915" y="1133"/>
                  </a:cubicBezTo>
                  <a:lnTo>
                    <a:pt x="0" y="2159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89101" name="Group 12"/>
            <p:cNvGrpSpPr>
              <a:grpSpLocks/>
            </p:cNvGrpSpPr>
            <p:nvPr/>
          </p:nvGrpSpPr>
          <p:grpSpPr bwMode="auto">
            <a:xfrm>
              <a:off x="2976" y="2640"/>
              <a:ext cx="816" cy="1056"/>
              <a:chOff x="624" y="1872"/>
              <a:chExt cx="816" cy="1056"/>
            </a:xfrm>
          </p:grpSpPr>
          <p:sp>
            <p:nvSpPr>
              <p:cNvPr id="89110" name="Line 13"/>
              <p:cNvSpPr>
                <a:spLocks noChangeShapeType="1"/>
              </p:cNvSpPr>
              <p:nvPr/>
            </p:nvSpPr>
            <p:spPr bwMode="auto">
              <a:xfrm flipH="1">
                <a:off x="624" y="1968"/>
                <a:ext cx="816" cy="960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round/>
                <a:headEnd type="triangle" w="med" len="med"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89111" name="Line 14"/>
              <p:cNvSpPr>
                <a:spLocks noChangeShapeType="1"/>
              </p:cNvSpPr>
              <p:nvPr/>
            </p:nvSpPr>
            <p:spPr bwMode="auto">
              <a:xfrm>
                <a:off x="960" y="2160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89112" name="Line 15"/>
              <p:cNvSpPr>
                <a:spLocks noChangeShapeType="1"/>
              </p:cNvSpPr>
              <p:nvPr/>
            </p:nvSpPr>
            <p:spPr bwMode="auto">
              <a:xfrm>
                <a:off x="1008" y="1872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89113" name="Arc 16"/>
              <p:cNvSpPr>
                <a:spLocks/>
              </p:cNvSpPr>
              <p:nvPr/>
            </p:nvSpPr>
            <p:spPr bwMode="auto">
              <a:xfrm>
                <a:off x="1008" y="2164"/>
                <a:ext cx="185" cy="677"/>
              </a:xfrm>
              <a:custGeom>
                <a:avLst/>
                <a:gdLst>
                  <a:gd name="T0" fmla="*/ 0 w 6916"/>
                  <a:gd name="T1" fmla="*/ 0 h 21596"/>
                  <a:gd name="T2" fmla="*/ 0 w 6916"/>
                  <a:gd name="T3" fmla="*/ 0 h 21596"/>
                  <a:gd name="T4" fmla="*/ 0 w 6916"/>
                  <a:gd name="T5" fmla="*/ 0 h 21596"/>
                  <a:gd name="T6" fmla="*/ 0 60000 65536"/>
                  <a:gd name="T7" fmla="*/ 0 60000 65536"/>
                  <a:gd name="T8" fmla="*/ 0 60000 65536"/>
                  <a:gd name="T9" fmla="*/ 0 w 6916"/>
                  <a:gd name="T10" fmla="*/ 0 h 21596"/>
                  <a:gd name="T11" fmla="*/ 6916 w 6916"/>
                  <a:gd name="T12" fmla="*/ 21596 h 215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16" h="21596" fill="none" extrusionOk="0">
                    <a:moveTo>
                      <a:pt x="419" y="0"/>
                    </a:moveTo>
                    <a:cubicBezTo>
                      <a:pt x="2630" y="43"/>
                      <a:pt x="4821" y="425"/>
                      <a:pt x="6915" y="1133"/>
                    </a:cubicBezTo>
                  </a:path>
                  <a:path w="6916" h="21596" stroke="0" extrusionOk="0">
                    <a:moveTo>
                      <a:pt x="419" y="0"/>
                    </a:moveTo>
                    <a:cubicBezTo>
                      <a:pt x="2630" y="43"/>
                      <a:pt x="4821" y="425"/>
                      <a:pt x="6915" y="1133"/>
                    </a:cubicBezTo>
                    <a:lnTo>
                      <a:pt x="0" y="21596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89102" name="Line 17"/>
            <p:cNvSpPr>
              <a:spLocks noChangeShapeType="1"/>
            </p:cNvSpPr>
            <p:nvPr/>
          </p:nvSpPr>
          <p:spPr bwMode="auto">
            <a:xfrm flipH="1">
              <a:off x="4176" y="2736"/>
              <a:ext cx="816" cy="96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9103" name="Line 18"/>
            <p:cNvSpPr>
              <a:spLocks noChangeShapeType="1"/>
            </p:cNvSpPr>
            <p:nvPr/>
          </p:nvSpPr>
          <p:spPr bwMode="auto">
            <a:xfrm>
              <a:off x="4512" y="292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9104" name="Line 19"/>
            <p:cNvSpPr>
              <a:spLocks noChangeShapeType="1"/>
            </p:cNvSpPr>
            <p:nvPr/>
          </p:nvSpPr>
          <p:spPr bwMode="auto">
            <a:xfrm>
              <a:off x="4560" y="264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9105" name="Arc 20"/>
            <p:cNvSpPr>
              <a:spLocks/>
            </p:cNvSpPr>
            <p:nvPr/>
          </p:nvSpPr>
          <p:spPr bwMode="auto">
            <a:xfrm>
              <a:off x="4560" y="2932"/>
              <a:ext cx="185" cy="677"/>
            </a:xfrm>
            <a:custGeom>
              <a:avLst/>
              <a:gdLst>
                <a:gd name="T0" fmla="*/ 0 w 6916"/>
                <a:gd name="T1" fmla="*/ 0 h 21596"/>
                <a:gd name="T2" fmla="*/ 0 w 6916"/>
                <a:gd name="T3" fmla="*/ 0 h 21596"/>
                <a:gd name="T4" fmla="*/ 0 w 6916"/>
                <a:gd name="T5" fmla="*/ 0 h 21596"/>
                <a:gd name="T6" fmla="*/ 0 60000 65536"/>
                <a:gd name="T7" fmla="*/ 0 60000 65536"/>
                <a:gd name="T8" fmla="*/ 0 60000 65536"/>
                <a:gd name="T9" fmla="*/ 0 w 6916"/>
                <a:gd name="T10" fmla="*/ 0 h 21596"/>
                <a:gd name="T11" fmla="*/ 6916 w 6916"/>
                <a:gd name="T12" fmla="*/ 21596 h 215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16" h="21596" fill="none" extrusionOk="0">
                  <a:moveTo>
                    <a:pt x="419" y="0"/>
                  </a:moveTo>
                  <a:cubicBezTo>
                    <a:pt x="2630" y="43"/>
                    <a:pt x="4821" y="425"/>
                    <a:pt x="6915" y="1133"/>
                  </a:cubicBezTo>
                </a:path>
                <a:path w="6916" h="21596" stroke="0" extrusionOk="0">
                  <a:moveTo>
                    <a:pt x="419" y="0"/>
                  </a:moveTo>
                  <a:cubicBezTo>
                    <a:pt x="2630" y="43"/>
                    <a:pt x="4821" y="425"/>
                    <a:pt x="6915" y="1133"/>
                  </a:cubicBezTo>
                  <a:lnTo>
                    <a:pt x="0" y="2159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106" name="Line 21"/>
            <p:cNvSpPr>
              <a:spLocks noChangeShapeType="1"/>
            </p:cNvSpPr>
            <p:nvPr/>
          </p:nvSpPr>
          <p:spPr bwMode="auto">
            <a:xfrm>
              <a:off x="1440" y="3168"/>
              <a:ext cx="1248" cy="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9107" name="Line 22"/>
            <p:cNvSpPr>
              <a:spLocks noChangeShapeType="1"/>
            </p:cNvSpPr>
            <p:nvPr/>
          </p:nvSpPr>
          <p:spPr bwMode="auto">
            <a:xfrm>
              <a:off x="1824" y="2928"/>
              <a:ext cx="480" cy="528"/>
            </a:xfrm>
            <a:prstGeom prst="line">
              <a:avLst/>
            </a:prstGeom>
            <a:noFill/>
            <a:ln w="152400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9108" name="Line 23"/>
            <p:cNvSpPr>
              <a:spLocks noChangeShapeType="1"/>
            </p:cNvSpPr>
            <p:nvPr/>
          </p:nvSpPr>
          <p:spPr bwMode="auto">
            <a:xfrm flipH="1">
              <a:off x="1776" y="2928"/>
              <a:ext cx="528" cy="528"/>
            </a:xfrm>
            <a:prstGeom prst="line">
              <a:avLst/>
            </a:prstGeom>
            <a:noFill/>
            <a:ln w="152400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9109" name="Text Box 24"/>
            <p:cNvSpPr txBox="1">
              <a:spLocks noChangeArrowheads="1"/>
            </p:cNvSpPr>
            <p:nvPr/>
          </p:nvSpPr>
          <p:spPr bwMode="auto">
            <a:xfrm>
              <a:off x="1489" y="3745"/>
              <a:ext cx="1845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TW" sz="2400" b="0">
                  <a:solidFill>
                    <a:schemeClr val="tx2"/>
                  </a:solidFill>
                  <a:latin typeface="Times New Roman" pitchFamily="-28" charset="0"/>
                  <a:ea typeface="PMingLiU" pitchFamily="18" charset="-120"/>
                  <a:cs typeface="PMingLiU" pitchFamily="18" charset="-120"/>
                </a:rPr>
                <a:t>IMPOSSIBLE</a:t>
              </a:r>
            </a:p>
          </p:txBody>
        </p:sp>
      </p:grpSp>
      <p:sp>
        <p:nvSpPr>
          <p:cNvPr id="89093" name="Rectangle 25"/>
          <p:cNvSpPr>
            <a:spLocks noChangeArrowheads="1"/>
          </p:cNvSpPr>
          <p:nvPr/>
        </p:nvSpPr>
        <p:spPr bwMode="auto">
          <a:xfrm>
            <a:off x="1143000" y="5257800"/>
            <a:ext cx="7239000" cy="10064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itchFamily="-28" charset="0"/>
                <a:ea typeface="PMingLiU" pitchFamily="18" charset="-120"/>
                <a:cs typeface="PMingLiU" pitchFamily="18" charset="-120"/>
              </a:rPr>
              <a:t>Secure communication</a:t>
            </a:r>
            <a:r>
              <a:rPr lang="en-US" altLang="zh-TW" sz="2000" b="0">
                <a:solidFill>
                  <a:schemeClr val="tx1"/>
                </a:solidFill>
                <a:latin typeface="Times New Roman" pitchFamily="-28" charset="0"/>
                <a:ea typeface="PMingLiU" pitchFamily="18" charset="-120"/>
                <a:cs typeface="PMingLiU" pitchFamily="18" charset="-120"/>
              </a:rPr>
              <a:t> can be performed based on </a:t>
            </a:r>
            <a:r>
              <a:rPr lang="en-US" altLang="zh-TW" sz="2000" b="0">
                <a:solidFill>
                  <a:schemeClr val="tx2"/>
                </a:solidFill>
                <a:latin typeface="Times New Roman" pitchFamily="-28" charset="0"/>
                <a:ea typeface="PMingLiU" pitchFamily="18" charset="-120"/>
                <a:cs typeface="PMingLiU" pitchFamily="18" charset="-120"/>
              </a:rPr>
              <a:t>fundamental laws</a:t>
            </a:r>
            <a:r>
              <a:rPr lang="en-US" altLang="zh-TW" sz="2000" b="0">
                <a:solidFill>
                  <a:schemeClr val="tx1"/>
                </a:solidFill>
                <a:latin typeface="Times New Roman" pitchFamily="-28" charset="0"/>
                <a:ea typeface="PMingLiU" pitchFamily="18" charset="-120"/>
                <a:cs typeface="PMingLiU" pitchFamily="18" charset="-120"/>
              </a:rPr>
              <a:t> of quantum mechanics. Any eavesdropping attack will essentially always be caught</a:t>
            </a:r>
            <a:r>
              <a:rPr lang="en-US" altLang="ko-KR" sz="2000" b="0">
                <a:solidFill>
                  <a:schemeClr val="tx1"/>
                </a:solidFill>
                <a:latin typeface="Times New Roman" pitchFamily="-28" charset="0"/>
                <a:ea typeface="PMingLiU" pitchFamily="18" charset="-120"/>
                <a:cs typeface="PMingLiU" pitchFamily="18" charset="-120"/>
              </a:rPr>
              <a:t> (e.g. Bennett and Brassard, PRL, 1984)</a:t>
            </a:r>
            <a:r>
              <a:rPr lang="en-US" altLang="zh-TW" sz="2000" b="0">
                <a:solidFill>
                  <a:schemeClr val="tx1"/>
                </a:solidFill>
                <a:latin typeface="Times New Roman" pitchFamily="-28" charset="0"/>
                <a:ea typeface="PMingLiU" pitchFamily="18" charset="-120"/>
                <a:cs typeface="PMingLiU" pitchFamily="18" charset="-120"/>
              </a:rPr>
              <a:t>.</a:t>
            </a:r>
            <a:endParaRPr lang="ko-KR" altLang="en-US" sz="2000" b="0">
              <a:solidFill>
                <a:schemeClr val="tx1"/>
              </a:solidFill>
              <a:latin typeface="Times New Roman" pitchFamily="-28" charset="0"/>
              <a:ea typeface="PMingLiU" pitchFamily="18" charset="-120"/>
              <a:cs typeface="PMingLiU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3"/>
          <p:cNvSpPr>
            <a:spLocks noChangeArrowheads="1"/>
          </p:cNvSpPr>
          <p:nvPr>
            <p:ph type="body" idx="1"/>
          </p:nvPr>
        </p:nvSpPr>
        <p:spPr>
          <a:xfrm>
            <a:off x="457200" y="2606675"/>
            <a:ext cx="8229600" cy="920750"/>
          </a:xfrm>
        </p:spPr>
        <p:txBody>
          <a:bodyPr/>
          <a:lstStyle/>
          <a:p>
            <a:pPr algn="ctr">
              <a:spcBef>
                <a:spcPct val="0"/>
              </a:spcBef>
              <a:buFont typeface="Arial" pitchFamily="-28" charset="0"/>
              <a:buNone/>
            </a:pPr>
            <a:endParaRPr lang="en-US" altLang="ko-KR" sz="4400">
              <a:solidFill>
                <a:srgbClr val="FF0000"/>
              </a:solidFill>
              <a:ea typeface="Gulim" pitchFamily="-28" charset="-127"/>
              <a:cs typeface="Gulim" pitchFamily="-28" charset="-127"/>
            </a:endParaRPr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1522413" y="609600"/>
            <a:ext cx="6249987" cy="76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4400" b="0">
                <a:solidFill>
                  <a:srgbClr val="C0504D"/>
                </a:solidFill>
                <a:latin typeface="Calibri" pitchFamily="-28" charset="0"/>
              </a:rPr>
              <a:t>양자정보이론의 현주소</a:t>
            </a:r>
            <a:endParaRPr lang="en-US"/>
          </a:p>
        </p:txBody>
      </p:sp>
      <p:sp>
        <p:nvSpPr>
          <p:cNvPr id="9011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ea typeface="ＭＳ Ｐゴシック" pitchFamily="-28" charset="-128"/>
              <a:cs typeface="ＭＳ Ｐゴシック" pitchFamily="-28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3" descr="main_homepage_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209800"/>
            <a:ext cx="3810000" cy="185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1139" name="Rectangle 4"/>
          <p:cNvSpPr>
            <a:spLocks noChangeArrowheads="1"/>
          </p:cNvSpPr>
          <p:nvPr/>
        </p:nvSpPr>
        <p:spPr bwMode="auto">
          <a:xfrm>
            <a:off x="4800600" y="3048000"/>
            <a:ext cx="4038600" cy="8223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457200" indent="-457200">
              <a:spcBef>
                <a:spcPct val="0"/>
              </a:spcBef>
            </a:pPr>
            <a:r>
              <a:rPr lang="en-US" altLang="zh-TW" sz="2400" b="0">
                <a:solidFill>
                  <a:schemeClr val="tx1"/>
                </a:solidFill>
                <a:latin typeface="Times New Roman" pitchFamily="-28" charset="0"/>
                <a:ea typeface="PMingLiU" pitchFamily="18" charset="-120"/>
                <a:cs typeface="PMingLiU" pitchFamily="18" charset="-120"/>
              </a:rPr>
              <a:t>Distance over 100 km of</a:t>
            </a:r>
          </a:p>
          <a:p>
            <a:pPr marL="457200" indent="-457200">
              <a:spcBef>
                <a:spcPct val="0"/>
              </a:spcBef>
              <a:buFontTx/>
              <a:buNone/>
            </a:pPr>
            <a:r>
              <a:rPr lang="en-US" altLang="zh-TW" sz="2400" b="0">
                <a:solidFill>
                  <a:schemeClr val="tx1"/>
                </a:solidFill>
                <a:latin typeface="Times New Roman" pitchFamily="-28" charset="0"/>
                <a:ea typeface="PMingLiU" pitchFamily="18" charset="-120"/>
                <a:cs typeface="PMingLiU" pitchFamily="18" charset="-120"/>
              </a:rPr>
              <a:t>	commercial Telecom fibers.</a:t>
            </a:r>
          </a:p>
        </p:txBody>
      </p:sp>
      <p:pic>
        <p:nvPicPr>
          <p:cNvPr id="9114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4495800"/>
            <a:ext cx="3886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1141" name="Text Box 6"/>
          <p:cNvSpPr txBox="1">
            <a:spLocks noChangeArrowheads="1"/>
          </p:cNvSpPr>
          <p:nvPr/>
        </p:nvSpPr>
        <p:spPr bwMode="auto">
          <a:xfrm>
            <a:off x="5257800" y="2236788"/>
            <a:ext cx="30559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TW" sz="2400" b="0">
                <a:solidFill>
                  <a:srgbClr val="000000"/>
                </a:solidFill>
                <a:latin typeface="Times New Roman" pitchFamily="-28" charset="0"/>
                <a:ea typeface="PMingLiU" pitchFamily="18" charset="-120"/>
                <a:cs typeface="PMingLiU" pitchFamily="18" charset="-120"/>
              </a:rPr>
              <a:t>MAGIQ TECH.</a:t>
            </a:r>
            <a:r>
              <a:rPr lang="en-US" altLang="ko-KR" sz="2400" b="0">
                <a:solidFill>
                  <a:srgbClr val="000000"/>
                </a:solidFill>
                <a:latin typeface="Times New Roman" pitchFamily="-28" charset="0"/>
                <a:ea typeface="PMingLiU" pitchFamily="18" charset="-120"/>
                <a:cs typeface="PMingLiU" pitchFamily="18" charset="-120"/>
              </a:rPr>
              <a:t> (2003)</a:t>
            </a:r>
            <a:endParaRPr lang="en-US" altLang="zh-TW" sz="2400" b="0">
              <a:solidFill>
                <a:srgbClr val="000000"/>
              </a:solidFill>
              <a:latin typeface="Times New Roman" pitchFamily="-28" charset="0"/>
              <a:ea typeface="PMingLiU" pitchFamily="18" charset="-120"/>
              <a:cs typeface="PMingLiU" pitchFamily="18" charset="-120"/>
            </a:endParaRPr>
          </a:p>
        </p:txBody>
      </p:sp>
      <p:sp>
        <p:nvSpPr>
          <p:cNvPr id="91142" name="Text Box 7"/>
          <p:cNvSpPr txBox="1">
            <a:spLocks noChangeArrowheads="1"/>
          </p:cNvSpPr>
          <p:nvPr/>
        </p:nvSpPr>
        <p:spPr bwMode="auto">
          <a:xfrm>
            <a:off x="5148263" y="5013325"/>
            <a:ext cx="3373437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TW" sz="2400" b="0">
                <a:solidFill>
                  <a:srgbClr val="000000"/>
                </a:solidFill>
                <a:latin typeface="Times New Roman" pitchFamily="-28" charset="0"/>
                <a:ea typeface="PMingLiU" pitchFamily="18" charset="-120"/>
                <a:cs typeface="PMingLiU" pitchFamily="18" charset="-120"/>
              </a:rPr>
              <a:t>ID QUANTIQUE</a:t>
            </a:r>
            <a:r>
              <a:rPr lang="en-US" altLang="ko-KR" sz="2400" b="0">
                <a:solidFill>
                  <a:srgbClr val="000000"/>
                </a:solidFill>
                <a:latin typeface="Times New Roman" pitchFamily="-28" charset="0"/>
                <a:ea typeface="PMingLiU" pitchFamily="18" charset="-120"/>
                <a:cs typeface="PMingLiU" pitchFamily="18" charset="-120"/>
              </a:rPr>
              <a:t> (2002)</a:t>
            </a:r>
            <a:endParaRPr lang="en-US" altLang="zh-TW" sz="2400" b="0">
              <a:solidFill>
                <a:srgbClr val="000000"/>
              </a:solidFill>
              <a:latin typeface="Times New Roman" pitchFamily="-28" charset="0"/>
              <a:ea typeface="PMingLiU" pitchFamily="18" charset="-120"/>
              <a:cs typeface="PMingLiU" pitchFamily="18" charset="-120"/>
            </a:endParaRPr>
          </a:p>
        </p:txBody>
      </p:sp>
      <p:sp>
        <p:nvSpPr>
          <p:cNvPr id="91143" name="Rectangle 7"/>
          <p:cNvSpPr>
            <a:spLocks noChangeArrowheads="1"/>
          </p:cNvSpPr>
          <p:nvPr/>
        </p:nvSpPr>
        <p:spPr bwMode="auto">
          <a:xfrm>
            <a:off x="2933700" y="685800"/>
            <a:ext cx="33909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None/>
            </a:pPr>
            <a:r>
              <a:rPr lang="ko-KR" altLang="en-US" sz="3600" b="0">
                <a:solidFill>
                  <a:srgbClr val="C0504D"/>
                </a:solidFill>
                <a:latin typeface="Gulim" pitchFamily="-28" charset="-127"/>
              </a:rPr>
              <a:t>양자 암호 기술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ea typeface="Gulim" pitchFamily="-28" charset="-127"/>
              <a:cs typeface="Gulim" pitchFamily="-28" charset="-127"/>
            </a:endParaRPr>
          </a:p>
        </p:txBody>
      </p:sp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3048000" y="6248400"/>
            <a:ext cx="337343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TW" sz="2400" b="0">
                <a:solidFill>
                  <a:srgbClr val="000000"/>
                </a:solidFill>
                <a:latin typeface="Times New Roman" pitchFamily="-28" charset="0"/>
                <a:ea typeface="PMingLiU" pitchFamily="18" charset="-120"/>
                <a:cs typeface="PMingLiU" pitchFamily="18" charset="-120"/>
              </a:rPr>
              <a:t>(Los Alamos Lab, 2006)</a:t>
            </a:r>
          </a:p>
        </p:txBody>
      </p:sp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650" y="404813"/>
            <a:ext cx="7705725" cy="581342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1_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Theme">
      <a:majorFont>
        <a:latin typeface="Gulim"/>
        <a:ea typeface="Gulim"/>
        <a:cs typeface="Gulim"/>
      </a:majorFont>
      <a:minorFont>
        <a:latin typeface="Gulim"/>
        <a:ea typeface="Gulim"/>
        <a:cs typeface="Gulim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18144</TotalTime>
  <Words>1311</Words>
  <PresentationFormat>On-screen Show (4:3)</PresentationFormat>
  <Paragraphs>248</Paragraphs>
  <Slides>57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Design Template</vt:lpstr>
      </vt:variant>
      <vt:variant>
        <vt:i4>2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57</vt:i4>
      </vt:variant>
    </vt:vector>
  </HeadingPairs>
  <TitlesOfParts>
    <vt:vector size="76" baseType="lpstr">
      <vt:lpstr>Verdana</vt:lpstr>
      <vt:lpstr>Gulim</vt:lpstr>
      <vt:lpstr>Arial</vt:lpstr>
      <vt:lpstr>Calibri</vt:lpstr>
      <vt:lpstr>ＭＳ Ｐゴシック</vt:lpstr>
      <vt:lpstr>Times New Roman</vt:lpstr>
      <vt:lpstr>Wingdings</vt:lpstr>
      <vt:lpstr>바탕</vt:lpstr>
      <vt:lpstr>Forte</vt:lpstr>
      <vt:lpstr>AppleGothic</vt:lpstr>
      <vt:lpstr>PMingLiU</vt:lpstr>
      <vt:lpstr>맑은 고딕</vt:lpstr>
      <vt:lpstr>Office Theme</vt:lpstr>
      <vt:lpstr>1_Office Theme</vt:lpstr>
      <vt:lpstr>MathType 5.0 Equation</vt:lpstr>
      <vt:lpstr>Microsoft Equation 3.0</vt:lpstr>
      <vt:lpstr>Microsoft Equation</vt:lpstr>
      <vt:lpstr>비트맵 이미지</vt:lpstr>
      <vt:lpstr>Microsoft ClipArt Gallery</vt:lpstr>
      <vt:lpstr>양자물리학이 열어주는 신비한 세계</vt:lpstr>
      <vt:lpstr>Slide 2</vt:lpstr>
      <vt:lpstr>고전물리학이 보여주는 세계</vt:lpstr>
      <vt:lpstr>현대물리학의 두 기둥</vt:lpstr>
      <vt:lpstr>Slide 5</vt:lpstr>
      <vt:lpstr>Slide 6</vt:lpstr>
      <vt:lpstr>Slide 7</vt:lpstr>
      <vt:lpstr>Slide 8</vt:lpstr>
      <vt:lpstr>Slide 9</vt:lpstr>
      <vt:lpstr>Slide 10</vt:lpstr>
      <vt:lpstr>양자역학이 왜 필요한가?</vt:lpstr>
      <vt:lpstr>Slide 12</vt:lpstr>
      <vt:lpstr>Slide 13</vt:lpstr>
      <vt:lpstr>Slide 14</vt:lpstr>
      <vt:lpstr>Slide 15</vt:lpstr>
      <vt:lpstr>미시적인 입자를 사용한다면?</vt:lpstr>
      <vt:lpstr>Slide 17</vt:lpstr>
      <vt:lpstr>Slide 18</vt:lpstr>
      <vt:lpstr>Slide 19</vt:lpstr>
      <vt:lpstr>Slide 20</vt:lpstr>
      <vt:lpstr>입자와 파동의 이중성  (wave-particle duality)</vt:lpstr>
      <vt:lpstr>Slide 22</vt:lpstr>
      <vt:lpstr>전자는 두 슬릿을 한꺼번에 통과했는가?</vt:lpstr>
      <vt:lpstr>파동 함수를 도입해서 상태들을 표현한다.</vt:lpstr>
      <vt:lpstr>Slide 25</vt:lpstr>
      <vt:lpstr>Slide 26</vt:lpstr>
      <vt:lpstr>또 다른 형태의 양자 간섭 실험</vt:lpstr>
      <vt:lpstr>또 다른 형태의 양자 간섭 실험</vt:lpstr>
      <vt:lpstr>Slide 29</vt:lpstr>
      <vt:lpstr>Slide 30</vt:lpstr>
      <vt:lpstr>양자 얽힘이란 무엇인가?</vt:lpstr>
      <vt:lpstr>양자역학은 자연스러운 고전적 가정과 충돌한다.</vt:lpstr>
      <vt:lpstr>Slide 33</vt:lpstr>
      <vt:lpstr>Slide 34</vt:lpstr>
      <vt:lpstr>불확정성의 원리</vt:lpstr>
      <vt:lpstr>Slide 36</vt:lpstr>
      <vt:lpstr>Slide 37</vt:lpstr>
      <vt:lpstr>우리가 정말로 양자 세계에 살고 있다면….</vt:lpstr>
      <vt:lpstr>Slide 39</vt:lpstr>
      <vt:lpstr>결어긋남(decohernce)</vt:lpstr>
      <vt:lpstr>Slide 41</vt:lpstr>
      <vt:lpstr>Slide 42</vt:lpstr>
      <vt:lpstr>Slide 43</vt:lpstr>
      <vt:lpstr>Slide 44</vt:lpstr>
      <vt:lpstr>정보기술을 위한 물리학</vt:lpstr>
      <vt:lpstr>Slide 46</vt:lpstr>
      <vt:lpstr>Slide 47</vt:lpstr>
      <vt:lpstr>무어의 법칙(Moore’s law)</vt:lpstr>
      <vt:lpstr>Slide 49</vt:lpstr>
      <vt:lpstr>Slide 50</vt:lpstr>
      <vt:lpstr>양자 비트 (큐빗)</vt:lpstr>
      <vt:lpstr>Slide 52</vt:lpstr>
      <vt:lpstr>Slide 53</vt:lpstr>
      <vt:lpstr>양자 암호 (QKD)</vt:lpstr>
      <vt:lpstr>Slide 55</vt:lpstr>
      <vt:lpstr>Slide 56</vt:lpstr>
      <vt:lpstr>Slide 57</vt:lpstr>
    </vt:vector>
  </TitlesOfParts>
  <Company>UQ</Company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Conditional production of optical Schrodinger cat states  with inefficient photon detection</dc:title>
  <cp:keywords/>
  <cp:lastModifiedBy>경원 안</cp:lastModifiedBy>
  <cp:revision>613</cp:revision>
  <dcterms:created xsi:type="dcterms:W3CDTF">2009-10-14T12:37:18Z</dcterms:created>
  <dcterms:modified xsi:type="dcterms:W3CDTF">2009-10-14T12:38:02Z</dcterms:modified>
</cp:coreProperties>
</file>