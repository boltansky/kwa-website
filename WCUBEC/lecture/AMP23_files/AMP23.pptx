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embeddings/Microsoft_Equation28.bin" ContentType="application/vnd.openxmlformats-officedocument.oleObject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4.bin" ContentType="application/vnd.openxmlformats-officedocument.oleObject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notesSlides/notesSlide3.xml" ContentType="application/vnd.openxmlformats-officedocument.presentationml.notesSlide+xml"/>
  <Override PartName="/ppt/embeddings/Microsoft_Equation2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5.bin" ContentType="application/vnd.openxmlformats-officedocument.oleObject"/>
  <Override PartName="/ppt/slides/slide13.xml" ContentType="application/vnd.openxmlformats-officedocument.presentationml.slide+xml"/>
  <Override PartName="/ppt/embeddings/Microsoft_Equation23.bin" ContentType="application/vnd.openxmlformats-officedocument.oleObject"/>
  <Override PartName="/ppt/embeddings/Microsoft_Equation36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Default Extension="tiff" ContentType="image/tiff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5"/>
  </p:notesMasterIdLst>
  <p:sldIdLst>
    <p:sldId id="256" r:id="rId2"/>
    <p:sldId id="277" r:id="rId3"/>
    <p:sldId id="285" r:id="rId4"/>
    <p:sldId id="273" r:id="rId5"/>
    <p:sldId id="286" r:id="rId6"/>
    <p:sldId id="275" r:id="rId7"/>
    <p:sldId id="266" r:id="rId8"/>
    <p:sldId id="287" r:id="rId9"/>
    <p:sldId id="288" r:id="rId10"/>
    <p:sldId id="290" r:id="rId11"/>
    <p:sldId id="289" r:id="rId12"/>
    <p:sldId id="291" r:id="rId13"/>
    <p:sldId id="292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ableStyles" Target="tableStyle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printerSettings" Target="printerSettings/printerSettings1.bin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19" Type="http://schemas.openxmlformats.org/officeDocument/2006/relationships/theme" Target="theme/theme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ict"/><Relationship Id="rId3" Type="http://schemas.openxmlformats.org/officeDocument/2006/relationships/image" Target="../media/image3.pict"/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pict"/><Relationship Id="rId1" Type="http://schemas.openxmlformats.org/officeDocument/2006/relationships/image" Target="../media/image4.pict"/><Relationship Id="rId2" Type="http://schemas.openxmlformats.org/officeDocument/2006/relationships/image" Target="../media/image5.pict"/><Relationship Id="rId3" Type="http://schemas.openxmlformats.org/officeDocument/2006/relationships/image" Target="../media/image6.pict"/><Relationship Id="rId5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ict"/><Relationship Id="rId1" Type="http://schemas.openxmlformats.org/officeDocument/2006/relationships/image" Target="../media/image9.pict"/><Relationship Id="rId2" Type="http://schemas.openxmlformats.org/officeDocument/2006/relationships/image" Target="../media/image10.pict"/><Relationship Id="rId3" Type="http://schemas.openxmlformats.org/officeDocument/2006/relationships/image" Target="../media/image11.pict"/><Relationship Id="rId5" Type="http://schemas.openxmlformats.org/officeDocument/2006/relationships/image" Target="../media/image13.pict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ict"/><Relationship Id="rId3" Type="http://schemas.openxmlformats.org/officeDocument/2006/relationships/image" Target="../media/image17.pict"/><Relationship Id="rId1" Type="http://schemas.openxmlformats.org/officeDocument/2006/relationships/image" Target="../media/image15.pict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ict"/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ict"/><Relationship Id="rId5" Type="http://schemas.openxmlformats.org/officeDocument/2006/relationships/image" Target="../media/image27.pict"/><Relationship Id="rId7" Type="http://schemas.openxmlformats.org/officeDocument/2006/relationships/image" Target="../media/image29.pict"/><Relationship Id="rId1" Type="http://schemas.openxmlformats.org/officeDocument/2006/relationships/image" Target="../media/image23.pict"/><Relationship Id="rId2" Type="http://schemas.openxmlformats.org/officeDocument/2006/relationships/image" Target="../media/image24.pict"/><Relationship Id="rId3" Type="http://schemas.openxmlformats.org/officeDocument/2006/relationships/image" Target="../media/image25.pict"/><Relationship Id="rId6" Type="http://schemas.openxmlformats.org/officeDocument/2006/relationships/image" Target="../media/image28.pict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.pict"/><Relationship Id="rId4" Type="http://schemas.openxmlformats.org/officeDocument/2006/relationships/image" Target="../media/image33.pict"/><Relationship Id="rId1" Type="http://schemas.openxmlformats.org/officeDocument/2006/relationships/image" Target="../media/image30.pict"/><Relationship Id="rId2" Type="http://schemas.openxmlformats.org/officeDocument/2006/relationships/image" Target="../media/image31.pict"/><Relationship Id="rId3" Type="http://schemas.openxmlformats.org/officeDocument/2006/relationships/image" Target="../media/image32.pict"/><Relationship Id="rId5" Type="http://schemas.openxmlformats.org/officeDocument/2006/relationships/image" Target="../media/image34.pict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ict"/><Relationship Id="rId1" Type="http://schemas.openxmlformats.org/officeDocument/2006/relationships/image" Target="../media/image37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/>
              <a:pPr/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3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8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09.11.22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5" Type="http://schemas.openxmlformats.org/officeDocument/2006/relationships/oleObject" Target="../embeddings/Microsoft_Equation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10.bin"/><Relationship Id="rId3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7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Relationship Id="rId6" Type="http://schemas.openxmlformats.org/officeDocument/2006/relationships/oleObject" Target="../embeddings/Microsoft_Equation1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6.bin"/><Relationship Id="rId5" Type="http://schemas.openxmlformats.org/officeDocument/2006/relationships/oleObject" Target="../embeddings/Microsoft_Equation1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0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9.bin"/><Relationship Id="rId5" Type="http://schemas.openxmlformats.org/officeDocument/2006/relationships/oleObject" Target="../embeddings/Microsoft_Equation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8.bin"/><Relationship Id="rId4" Type="http://schemas.openxmlformats.org/officeDocument/2006/relationships/oleObject" Target="../embeddings/Microsoft_Equation24.bin"/><Relationship Id="rId5" Type="http://schemas.openxmlformats.org/officeDocument/2006/relationships/oleObject" Target="../embeddings/Microsoft_Equation25.bin"/><Relationship Id="rId7" Type="http://schemas.openxmlformats.org/officeDocument/2006/relationships/oleObject" Target="../embeddings/Microsoft_Equation27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29.bin"/><Relationship Id="rId3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5.bin"/><Relationship Id="rId4" Type="http://schemas.openxmlformats.org/officeDocument/2006/relationships/oleObject" Target="../embeddings/Microsoft_Equation31.bin"/><Relationship Id="rId5" Type="http://schemas.openxmlformats.org/officeDocument/2006/relationships/oleObject" Target="../embeddings/Microsoft_Equation32.bin"/><Relationship Id="rId7" Type="http://schemas.openxmlformats.org/officeDocument/2006/relationships/oleObject" Target="../embeddings/Microsoft_Equation34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0.bin"/><Relationship Id="rId6" Type="http://schemas.openxmlformats.org/officeDocument/2006/relationships/oleObject" Target="../embeddings/Microsoft_Equation3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37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6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smtClean="0">
                <a:solidFill>
                  <a:srgbClr val="00FF00"/>
                </a:solidFill>
              </a:rPr>
              <a:t>23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143000"/>
          </a:xfrm>
        </p:spPr>
        <p:txBody>
          <a:bodyPr>
            <a:noAutofit/>
          </a:bodyPr>
          <a:lstStyle/>
          <a:p>
            <a:r>
              <a:rPr lang="en-US" sz="4400" b="1"/>
              <a:t>Chapter 4. Molecules</a:t>
            </a:r>
            <a:endParaRPr lang="ja-JP" altLang="en-US" sz="44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2209800"/>
          </a:xfrm>
        </p:spPr>
        <p:txBody>
          <a:bodyPr>
            <a:noAutofit/>
          </a:bodyPr>
          <a:lstStyle/>
          <a:p>
            <a:r>
              <a:rPr lang="en-US" sz="2400"/>
              <a:t>Atoms interact with one another in such a way to produce a stable, organized system, called a molecule, with its own distinctive characteristics. </a:t>
            </a:r>
          </a:p>
          <a:p>
            <a:r>
              <a:rPr lang="en-US" sz="2400"/>
              <a:t>Molecules are complex, but there exists various approximations to handle these complex systems.</a:t>
            </a:r>
            <a:r>
              <a:rPr lang="ko-KR" sz="2400"/>
              <a:t> </a:t>
            </a:r>
            <a:endParaRPr lang="ko-KR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924800" cy="914400"/>
          </a:xfrm>
        </p:spPr>
        <p:txBody>
          <a:bodyPr>
            <a:noAutofit/>
          </a:bodyPr>
          <a:lstStyle/>
          <a:p>
            <a:r>
              <a:rPr lang="en-US" sz="3600" b="1"/>
              <a:t>4.1 Born-Oppenheimer Approximation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/>
              <a:t>Consider a Hamiltonian describing a molecule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the first and second terms are the nuclear and electronic kinetic energies, respectively, and         are </a:t>
            </a:r>
            <a:r>
              <a:rPr lang="en-US" sz="2400" i="1"/>
              <a:t>sets</a:t>
            </a:r>
            <a:r>
              <a:rPr lang="en-US" sz="2400"/>
              <a:t> of nuclear and electronic coordinates, respectively. </a:t>
            </a:r>
          </a:p>
          <a:p>
            <a:r>
              <a:rPr lang="en-US" sz="2400"/>
              <a:t>Specifically the potential energy is given by</a:t>
            </a:r>
            <a:r>
              <a:rPr lang="ko-KR" sz="2400"/>
              <a:t> </a:t>
            </a:r>
            <a:endParaRPr lang="ko-KR" altLang="en-US" sz="2200" dirty="0"/>
          </a:p>
        </p:txBody>
      </p:sp>
      <p:graphicFrame>
        <p:nvGraphicFramePr>
          <p:cNvPr id="259074" name="Object 2"/>
          <p:cNvGraphicFramePr>
            <a:graphicFrameLocks noChangeAspect="1"/>
          </p:cNvGraphicFramePr>
          <p:nvPr/>
        </p:nvGraphicFramePr>
        <p:xfrm>
          <a:off x="3048000" y="2133600"/>
          <a:ext cx="3049588" cy="647700"/>
        </p:xfrm>
        <a:graphic>
          <a:graphicData uri="http://schemas.openxmlformats.org/presentationml/2006/ole">
            <p:oleObj spid="_x0000_s259074" name="Equation" r:id="rId4" imgW="2032000" imgH="431800" progId="Equation.3">
              <p:embed/>
            </p:oleObj>
          </a:graphicData>
        </a:graphic>
      </p:graphicFrame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7010400" y="3420119"/>
          <a:ext cx="557213" cy="268288"/>
        </p:xfrm>
        <a:graphic>
          <a:graphicData uri="http://schemas.openxmlformats.org/presentationml/2006/ole">
            <p:oleObj spid="_x0000_s259075" name="Equation" r:id="rId5" imgW="368300" imgH="177800" progId="Equation.3">
              <p:embed/>
            </p:oleObj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2743200" y="4648200"/>
          <a:ext cx="3705225" cy="706438"/>
        </p:xfrm>
        <a:graphic>
          <a:graphicData uri="http://schemas.openxmlformats.org/presentationml/2006/ole">
            <p:oleObj spid="_x0000_s259076" name="Equation" r:id="rId6" imgW="2463800" imgH="469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/>
              <a:t>The Born-Oppenheimer Approximation (BOA) can be divided into 5 steps:</a:t>
            </a:r>
            <a:endParaRPr lang="ko-KR" altLang="en-US" sz="2400"/>
          </a:p>
          <a:p>
            <a:pPr marL="493776" indent="-457200">
              <a:buNone/>
            </a:pPr>
            <a:r>
              <a:rPr lang="en-US" sz="2400"/>
              <a:t>1) We first assume that the nuclear coordinates are </a:t>
            </a:r>
            <a:r>
              <a:rPr lang="en-US" sz="2400" i="1"/>
              <a:t>fixed </a:t>
            </a:r>
            <a:r>
              <a:rPr lang="en-US" sz="2400"/>
              <a:t>at     . </a:t>
            </a:r>
            <a:endParaRPr lang="ko-KR" altLang="en-US" sz="2400"/>
          </a:p>
          <a:p>
            <a:pPr marL="493776" indent="-457200">
              <a:buNone/>
            </a:pPr>
            <a:r>
              <a:rPr lang="en-US" sz="2400"/>
              <a:t>2) We then solve the Schrödinger equation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treating     as parameters so that wave functions and eigenvalues are functions of     .</a:t>
            </a:r>
            <a:endParaRPr lang="ko-KR" altLang="en-US" sz="2400"/>
          </a:p>
          <a:p>
            <a:pPr>
              <a:buNone/>
            </a:pPr>
            <a:r>
              <a:rPr lang="en-US" sz="2400"/>
              <a:t>3) Compose a total wave function                                ,</a:t>
            </a:r>
            <a:endParaRPr lang="ko-KR" altLang="en-US" sz="2400"/>
          </a:p>
          <a:p>
            <a:pPr>
              <a:buNone/>
            </a:pPr>
            <a:r>
              <a:rPr lang="en-US" sz="2400"/>
              <a:t>	where         is a vibrational function dependent solely on the nuclear coordinates.</a:t>
            </a:r>
          </a:p>
          <a:p>
            <a:pPr>
              <a:buNone/>
            </a:pPr>
            <a:r>
              <a:rPr lang="en-US" sz="2400"/>
              <a:t>4) Substituting the wave function to the original Hamiltonian,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	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371600" y="1644605"/>
          <a:ext cx="287338" cy="268288"/>
        </p:xfrm>
        <a:graphic>
          <a:graphicData uri="http://schemas.openxmlformats.org/presentationml/2006/ole">
            <p:oleObj spid="_x0000_s245773" name="Equation" r:id="rId3" imgW="190500" imgH="1778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2514600" y="2438400"/>
          <a:ext cx="4278313" cy="687388"/>
        </p:xfrm>
        <a:graphic>
          <a:graphicData uri="http://schemas.openxmlformats.org/presentationml/2006/ole">
            <p:oleObj spid="_x0000_s245774" name="Equation" r:id="rId4" imgW="2844800" imgH="457200" progId="Equation.3">
              <p:embed/>
            </p:oleObj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2039488" y="3249957"/>
          <a:ext cx="287338" cy="268288"/>
        </p:xfrm>
        <a:graphic>
          <a:graphicData uri="http://schemas.openxmlformats.org/presentationml/2006/ole">
            <p:oleObj spid="_x0000_s245775" name="Equation" r:id="rId5" imgW="190500" imgH="177800" progId="Equation.3">
              <p:embed/>
            </p:oleObj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867619" y="3581400"/>
          <a:ext cx="287338" cy="268288"/>
        </p:xfrm>
        <a:graphic>
          <a:graphicData uri="http://schemas.openxmlformats.org/presentationml/2006/ole">
            <p:oleObj spid="_x0000_s245776" name="Equation" r:id="rId6" imgW="190500" imgH="177800" progId="Equation.3">
              <p:embed/>
            </p:oleObj>
          </a:graphicData>
        </a:graphic>
      </p:graphicFrame>
      <p:graphicFrame>
        <p:nvGraphicFramePr>
          <p:cNvPr id="245777" name="Object 17"/>
          <p:cNvGraphicFramePr>
            <a:graphicFrameLocks noChangeAspect="1"/>
          </p:cNvGraphicFramePr>
          <p:nvPr/>
        </p:nvGraphicFramePr>
        <p:xfrm>
          <a:off x="5286375" y="3971925"/>
          <a:ext cx="2417763" cy="268288"/>
        </p:xfrm>
        <a:graphic>
          <a:graphicData uri="http://schemas.openxmlformats.org/presentationml/2006/ole">
            <p:oleObj spid="_x0000_s245777" name="Equation" r:id="rId7" imgW="1600200" imgH="177800" progId="Equation.3">
              <p:embed/>
            </p:oleObj>
          </a:graphicData>
        </a:graphic>
      </p:graphicFrame>
      <p:graphicFrame>
        <p:nvGraphicFramePr>
          <p:cNvPr id="245778" name="Object 18"/>
          <p:cNvGraphicFramePr>
            <a:graphicFrameLocks noChangeAspect="1"/>
          </p:cNvGraphicFramePr>
          <p:nvPr/>
        </p:nvGraphicFramePr>
        <p:xfrm>
          <a:off x="1911694" y="4384076"/>
          <a:ext cx="576263" cy="268288"/>
        </p:xfrm>
        <a:graphic>
          <a:graphicData uri="http://schemas.openxmlformats.org/presentationml/2006/ole">
            <p:oleObj spid="_x0000_s245778" name="Equation" r:id="rId8" imgW="381000" imgH="177800" progId="Equation.3">
              <p:embed/>
            </p:oleObj>
          </a:graphicData>
        </a:graphic>
      </p:graphicFrame>
      <p:graphicFrame>
        <p:nvGraphicFramePr>
          <p:cNvPr id="245781" name="Object 21"/>
          <p:cNvGraphicFramePr>
            <a:graphicFrameLocks noChangeAspect="1"/>
          </p:cNvGraphicFramePr>
          <p:nvPr/>
        </p:nvGraphicFramePr>
        <p:xfrm>
          <a:off x="1752600" y="5791200"/>
          <a:ext cx="5746750" cy="687387"/>
        </p:xfrm>
        <a:graphic>
          <a:graphicData uri="http://schemas.openxmlformats.org/presentationml/2006/ole">
            <p:oleObj spid="_x0000_s245781" name="Equation" r:id="rId9" imgW="38227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200"/>
              <a:t>5) We assume that the electronic wave function is relatively insensitive to changes in the nuclear positions and momenta  (except for its parameteric dependence) when compared to the vibrational function         . So, we can approximate</a:t>
            </a:r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r>
              <a:rPr lang="en-US" sz="2200"/>
              <a:t>	This approximation is called the </a:t>
            </a:r>
            <a:r>
              <a:rPr lang="en-US" sz="2200" i="1"/>
              <a:t>adiabatic</a:t>
            </a:r>
            <a:r>
              <a:rPr lang="en-US" sz="2200"/>
              <a:t> approximation. Then</a:t>
            </a:r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pPr>
              <a:buNone/>
            </a:pPr>
            <a:endParaRPr lang="en-US" altLang="ko-KR" sz="2200"/>
          </a:p>
          <a:p>
            <a:r>
              <a:rPr lang="en-US" sz="2000"/>
              <a:t>Therefore</a:t>
            </a:r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which states that the wave function for the nuclear motion is calculated with an effective potential           , which comes from the energy eigenvalue of a particular electronic state as a function of nuclear position.</a:t>
            </a:r>
            <a:endParaRPr lang="ko-KR" altLang="en-US" sz="2000"/>
          </a:p>
          <a:p>
            <a:pPr>
              <a:buNone/>
            </a:pPr>
            <a:endParaRPr lang="ko-KR" altLang="en-US" sz="2200"/>
          </a:p>
          <a:p>
            <a:pPr>
              <a:buNone/>
            </a:pPr>
            <a:endParaRPr lang="ko-KR" altLang="en-US" sz="2200"/>
          </a:p>
          <a:p>
            <a:endParaRPr lang="ko-KR" altLang="en-US" sz="2200"/>
          </a:p>
        </p:txBody>
      </p:sp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694681" y="1828800"/>
          <a:ext cx="7848600" cy="586141"/>
        </p:xfrm>
        <a:graphic>
          <a:graphicData uri="http://schemas.openxmlformats.org/presentationml/2006/ole">
            <p:oleObj spid="_x0000_s261129" name="Equation" r:id="rId3" imgW="6121400" imgH="457200" progId="Equation.3">
              <p:embed/>
            </p:oleObj>
          </a:graphicData>
        </a:graphic>
      </p:graphicFrame>
      <p:graphicFrame>
        <p:nvGraphicFramePr>
          <p:cNvPr id="261132" name="Object 12"/>
          <p:cNvGraphicFramePr>
            <a:graphicFrameLocks noChangeAspect="1"/>
          </p:cNvGraphicFramePr>
          <p:nvPr/>
        </p:nvGraphicFramePr>
        <p:xfrm>
          <a:off x="1075681" y="2895600"/>
          <a:ext cx="7065963" cy="1409700"/>
        </p:xfrm>
        <a:graphic>
          <a:graphicData uri="http://schemas.openxmlformats.org/presentationml/2006/ole">
            <p:oleObj spid="_x0000_s261132" name="Equation" r:id="rId4" imgW="4711700" imgH="939800" progId="Equation.3">
              <p:embed/>
            </p:oleObj>
          </a:graphicData>
        </a:graphic>
      </p:graphicFrame>
      <p:graphicFrame>
        <p:nvGraphicFramePr>
          <p:cNvPr id="261133" name="Object 13"/>
          <p:cNvGraphicFramePr>
            <a:graphicFrameLocks noChangeAspect="1"/>
          </p:cNvGraphicFramePr>
          <p:nvPr/>
        </p:nvGraphicFramePr>
        <p:xfrm>
          <a:off x="3138233" y="1471867"/>
          <a:ext cx="573088" cy="266700"/>
        </p:xfrm>
        <a:graphic>
          <a:graphicData uri="http://schemas.openxmlformats.org/presentationml/2006/ole">
            <p:oleObj spid="_x0000_s261133" name="Equation" r:id="rId5" imgW="381000" imgH="177800" progId="Equation.3">
              <p:embed/>
            </p:oleObj>
          </a:graphicData>
        </a:graphic>
      </p:graphicFrame>
      <p:graphicFrame>
        <p:nvGraphicFramePr>
          <p:cNvPr id="261134" name="Object 14"/>
          <p:cNvGraphicFramePr>
            <a:graphicFrameLocks noChangeAspect="1"/>
          </p:cNvGraphicFramePr>
          <p:nvPr/>
        </p:nvGraphicFramePr>
        <p:xfrm>
          <a:off x="3048000" y="4648200"/>
          <a:ext cx="3228975" cy="687388"/>
        </p:xfrm>
        <a:graphic>
          <a:graphicData uri="http://schemas.openxmlformats.org/presentationml/2006/ole">
            <p:oleObj spid="_x0000_s261134" name="Equation" r:id="rId6" imgW="2146300" imgH="457200" progId="Equation.3">
              <p:embed/>
            </p:oleObj>
          </a:graphicData>
        </a:graphic>
      </p:graphicFrame>
      <p:graphicFrame>
        <p:nvGraphicFramePr>
          <p:cNvPr id="261135" name="Object 15"/>
          <p:cNvGraphicFramePr>
            <a:graphicFrameLocks noChangeAspect="1"/>
          </p:cNvGraphicFramePr>
          <p:nvPr/>
        </p:nvGraphicFramePr>
        <p:xfrm>
          <a:off x="4850157" y="5715000"/>
          <a:ext cx="692150" cy="269875"/>
        </p:xfrm>
        <a:graphic>
          <a:graphicData uri="http://schemas.openxmlformats.org/presentationml/2006/ole">
            <p:oleObj spid="_x0000_s261135" name="Equation" r:id="rId7" imgW="4572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62600"/>
            <a:ext cx="8305800" cy="762000"/>
          </a:xfrm>
        </p:spPr>
        <p:txBody>
          <a:bodyPr>
            <a:noAutofit/>
          </a:bodyPr>
          <a:lstStyle/>
          <a:p>
            <a:r>
              <a:rPr lang="en-US" sz="2400" b="1"/>
              <a:t>Fig. 1</a:t>
            </a:r>
            <a:r>
              <a:rPr lang="en-US" sz="2400"/>
              <a:t>. Effective potential for nuclear motion in a molecule.</a:t>
            </a:r>
            <a:r>
              <a:rPr lang="ko-KR" sz="2400"/>
              <a:t> </a:t>
            </a:r>
            <a:endParaRPr lang="ko-KR" altLang="en-US" sz="2400"/>
          </a:p>
        </p:txBody>
      </p:sp>
      <p:pic>
        <p:nvPicPr>
          <p:cNvPr id="9" name="Picture 8" descr="fig1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19200"/>
            <a:ext cx="6502400" cy="41588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1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>
            <a:normAutofit/>
          </a:bodyPr>
          <a:lstStyle/>
          <a:p>
            <a:r>
              <a:rPr lang="en-US" sz="2400"/>
              <a:t>Consider the electronic Schrödinger equation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with eigenvalues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Show that the forces acting on nuclei are given by</a:t>
            </a:r>
            <a:endParaRPr lang="en-US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[Hint: use Hellman-Feynman Theorem]</a:t>
            </a:r>
            <a:endParaRPr lang="ko-KR" altLang="en-US" sz="2400"/>
          </a:p>
        </p:txBody>
      </p:sp>
      <p:graphicFrame>
        <p:nvGraphicFramePr>
          <p:cNvPr id="207920" name="Object 48"/>
          <p:cNvGraphicFramePr>
            <a:graphicFrameLocks noChangeAspect="1"/>
          </p:cNvGraphicFramePr>
          <p:nvPr/>
        </p:nvGraphicFramePr>
        <p:xfrm>
          <a:off x="1828800" y="1981200"/>
          <a:ext cx="5521325" cy="687388"/>
        </p:xfrm>
        <a:graphic>
          <a:graphicData uri="http://schemas.openxmlformats.org/presentationml/2006/ole">
            <p:oleObj spid="_x0000_s207920" name="Equation" r:id="rId3" imgW="3670300" imgH="457200" progId="Equation.3">
              <p:embed/>
            </p:oleObj>
          </a:graphicData>
        </a:graphic>
      </p:graphicFrame>
      <p:graphicFrame>
        <p:nvGraphicFramePr>
          <p:cNvPr id="207921" name="Object 49"/>
          <p:cNvGraphicFramePr>
            <a:graphicFrameLocks noChangeAspect="1"/>
          </p:cNvGraphicFramePr>
          <p:nvPr/>
        </p:nvGraphicFramePr>
        <p:xfrm>
          <a:off x="2895600" y="3200400"/>
          <a:ext cx="3354388" cy="379413"/>
        </p:xfrm>
        <a:graphic>
          <a:graphicData uri="http://schemas.openxmlformats.org/presentationml/2006/ole">
            <p:oleObj spid="_x0000_s207921" name="Equation" r:id="rId4" imgW="2247900" imgH="254000" progId="Equation.3">
              <p:embed/>
            </p:oleObj>
          </a:graphicData>
        </a:graphic>
      </p:graphicFrame>
      <p:graphicFrame>
        <p:nvGraphicFramePr>
          <p:cNvPr id="207922" name="Object 50"/>
          <p:cNvGraphicFramePr>
            <a:graphicFrameLocks noChangeAspect="1"/>
          </p:cNvGraphicFramePr>
          <p:nvPr/>
        </p:nvGraphicFramePr>
        <p:xfrm>
          <a:off x="3886200" y="4268787"/>
          <a:ext cx="1465263" cy="608013"/>
        </p:xfrm>
        <a:graphic>
          <a:graphicData uri="http://schemas.openxmlformats.org/presentationml/2006/ole">
            <p:oleObj spid="_x0000_s207922" name="Equation" r:id="rId5" imgW="9779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924800" cy="914400"/>
          </a:xfrm>
        </p:spPr>
        <p:txBody>
          <a:bodyPr>
            <a:noAutofit/>
          </a:bodyPr>
          <a:lstStyle/>
          <a:p>
            <a:r>
              <a:rPr lang="en-US" sz="3600" b="1"/>
              <a:t>4.2 </a:t>
            </a:r>
            <a:r>
              <a:rPr lang="en-US" sz="3600"/>
              <a:t>Hydrogen Molecule Ion (H</a:t>
            </a:r>
            <a:r>
              <a:rPr lang="en-US" sz="3600" baseline="-25000"/>
              <a:t>2</a:t>
            </a:r>
            <a:r>
              <a:rPr lang="en-US" sz="3600" baseline="30000"/>
              <a:t>+</a:t>
            </a:r>
            <a:r>
              <a:rPr lang="en-US" sz="3600"/>
              <a:t>)</a:t>
            </a:r>
            <a:r>
              <a:rPr lang="ko-KR" sz="3600"/>
              <a:t> 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Consider a hydrogen molecule ion which consists of two protons and one electron. In the line of BOA, we assume that the two protons are fixed in position at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b</a:t>
            </a:r>
            <a:r>
              <a:rPr lang="en-US" sz="2400"/>
              <a:t>.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r>
              <a:rPr lang="en-US" sz="2400"/>
              <a:t> </a:t>
            </a:r>
            <a:endParaRPr lang="ko-KR" altLang="en-US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ko-KR" sz="2400"/>
              <a:t/>
            </a:r>
            <a:br>
              <a:rPr lang="ko-KR" sz="2400"/>
            </a:br>
            <a:r>
              <a:rPr lang="en-US" sz="2400" b="1"/>
              <a:t>Fig. 2</a:t>
            </a:r>
            <a:r>
              <a:rPr lang="en-US" sz="2400"/>
              <a:t>. Coordinates for a hydrogen molecule ion.</a:t>
            </a:r>
            <a:endParaRPr lang="ko-KR" altLang="en-US" sz="2400"/>
          </a:p>
          <a:p>
            <a:pPr>
              <a:buNone/>
            </a:pPr>
            <a:endParaRPr lang="ko-KR" altLang="en-US" sz="2400"/>
          </a:p>
        </p:txBody>
      </p:sp>
      <p:pic>
        <p:nvPicPr>
          <p:cNvPr id="7" name="Picture 6" descr="fig2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166037"/>
            <a:ext cx="3968750" cy="2625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Autofit/>
          </a:bodyPr>
          <a:lstStyle/>
          <a:p>
            <a:r>
              <a:rPr lang="en-US" sz="2200"/>
              <a:t>The electron Hamiltonian in the atomic unit is</a:t>
            </a:r>
          </a:p>
          <a:p>
            <a:endParaRPr lang="en-US" altLang="ko-KR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where </a:t>
            </a:r>
            <a:r>
              <a:rPr lang="en-US" sz="2200" i="1"/>
              <a:t>R</a:t>
            </a:r>
            <a:r>
              <a:rPr lang="en-US" sz="2200"/>
              <a:t> is the distance between two protons. </a:t>
            </a:r>
          </a:p>
          <a:p>
            <a:r>
              <a:rPr lang="en-US" sz="2200"/>
              <a:t>This Hamiltonian is unique in that it is possible to obtain exact solutions by adopting spheroidal coordinates*:</a:t>
            </a:r>
            <a:endParaRPr lang="ko-KR" altLang="en-US" sz="2200"/>
          </a:p>
          <a:p>
            <a:endParaRPr lang="ko-KR" altLang="en-US" sz="2200"/>
          </a:p>
          <a:p>
            <a:r>
              <a:rPr lang="en-US" sz="2200"/>
              <a:t>However, we use the linear combination of atomic orbital (LCAO) method, which is more general and can be used in more complex systems. We can write the wave functions as</a:t>
            </a:r>
          </a:p>
          <a:p>
            <a:endParaRPr lang="ko-KR" altLang="en-US" sz="2200"/>
          </a:p>
          <a:p>
            <a:r>
              <a:rPr lang="en-US" sz="2200"/>
              <a:t>where         are atomic orbitals of the same type centered on atoms at </a:t>
            </a:r>
            <a:r>
              <a:rPr lang="en-US" sz="2200" i="1"/>
              <a:t>a</a:t>
            </a:r>
            <a:r>
              <a:rPr lang="en-US" sz="2200"/>
              <a:t> and </a:t>
            </a:r>
            <a:r>
              <a:rPr lang="en-US" sz="2200" i="1"/>
              <a:t>b</a:t>
            </a:r>
            <a:r>
              <a:rPr lang="en-US" sz="2200"/>
              <a:t>, respectively.</a:t>
            </a:r>
            <a:r>
              <a:rPr lang="ko-KR" sz="2200"/>
              <a:t> </a:t>
            </a:r>
            <a:endParaRPr lang="en-US" altLang="ko-KR" sz="2200"/>
          </a:p>
          <a:p>
            <a:pPr>
              <a:buNone/>
            </a:pPr>
            <a:endParaRPr lang="en-US" sz="1600"/>
          </a:p>
          <a:p>
            <a:pPr>
              <a:buNone/>
            </a:pPr>
            <a:r>
              <a:rPr lang="en-US" sz="1600"/>
              <a:t>     *J. C. Slater, “Quantum theory of molecules and solids, Vol. I. Electronic structure of molecules” (McGraw-Hill, New York, 1963).</a:t>
            </a:r>
            <a:endParaRPr lang="ko-KR" altLang="en-US" sz="2200"/>
          </a:p>
        </p:txBody>
      </p:sp>
      <p:graphicFrame>
        <p:nvGraphicFramePr>
          <p:cNvPr id="267273" name="Object 9"/>
          <p:cNvGraphicFramePr>
            <a:graphicFrameLocks noChangeAspect="1"/>
          </p:cNvGraphicFramePr>
          <p:nvPr/>
        </p:nvGraphicFramePr>
        <p:xfrm>
          <a:off x="3429000" y="914400"/>
          <a:ext cx="2393950" cy="608013"/>
        </p:xfrm>
        <a:graphic>
          <a:graphicData uri="http://schemas.openxmlformats.org/presentationml/2006/ole">
            <p:oleObj spid="_x0000_s267273" name="Equation" r:id="rId3" imgW="1600200" imgH="406400" progId="Equation.3">
              <p:embed/>
            </p:oleObj>
          </a:graphicData>
        </a:graphic>
      </p:graphicFrame>
      <p:graphicFrame>
        <p:nvGraphicFramePr>
          <p:cNvPr id="267274" name="Object 10"/>
          <p:cNvGraphicFramePr>
            <a:graphicFrameLocks noChangeAspect="1"/>
          </p:cNvGraphicFramePr>
          <p:nvPr/>
        </p:nvGraphicFramePr>
        <p:xfrm>
          <a:off x="3200400" y="2819400"/>
          <a:ext cx="2933700" cy="268288"/>
        </p:xfrm>
        <a:graphic>
          <a:graphicData uri="http://schemas.openxmlformats.org/presentationml/2006/ole">
            <p:oleObj spid="_x0000_s267274" name="Equation" r:id="rId4" imgW="1943100" imgH="177800" progId="Equation.3">
              <p:embed/>
            </p:oleObj>
          </a:graphicData>
        </a:graphic>
      </p:graphicFrame>
      <p:graphicFrame>
        <p:nvGraphicFramePr>
          <p:cNvPr id="267275" name="Object 11"/>
          <p:cNvGraphicFramePr>
            <a:graphicFrameLocks noChangeAspect="1"/>
          </p:cNvGraphicFramePr>
          <p:nvPr/>
        </p:nvGraphicFramePr>
        <p:xfrm>
          <a:off x="3810000" y="4343400"/>
          <a:ext cx="1535113" cy="268288"/>
        </p:xfrm>
        <a:graphic>
          <a:graphicData uri="http://schemas.openxmlformats.org/presentationml/2006/ole">
            <p:oleObj spid="_x0000_s267275" name="Equation" r:id="rId5" imgW="1016000" imgH="177800" progId="Equation.3">
              <p:embed/>
            </p:oleObj>
          </a:graphicData>
        </a:graphic>
      </p:graphicFrame>
      <p:graphicFrame>
        <p:nvGraphicFramePr>
          <p:cNvPr id="267276" name="Object 12"/>
          <p:cNvGraphicFramePr>
            <a:graphicFrameLocks noChangeAspect="1"/>
          </p:cNvGraphicFramePr>
          <p:nvPr/>
        </p:nvGraphicFramePr>
        <p:xfrm>
          <a:off x="1802157" y="4791719"/>
          <a:ext cx="593725" cy="268288"/>
        </p:xfrm>
        <a:graphic>
          <a:graphicData uri="http://schemas.openxmlformats.org/presentationml/2006/ole">
            <p:oleObj spid="_x0000_s267276" name="Equation" r:id="rId6" imgW="39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We minimize the total energy </a:t>
            </a:r>
            <a:r>
              <a:rPr lang="en-US" sz="2400" i="1"/>
              <a:t>E</a:t>
            </a:r>
            <a:r>
              <a:rPr lang="en-US" sz="2400"/>
              <a:t>.</a:t>
            </a:r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where 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S</a:t>
            </a:r>
            <a:r>
              <a:rPr lang="en-US" sz="2400"/>
              <a:t> is called the </a:t>
            </a:r>
            <a:r>
              <a:rPr lang="en-US" sz="2400" i="1"/>
              <a:t>overlap integral</a:t>
            </a:r>
            <a:r>
              <a:rPr lang="en-US" sz="2400"/>
              <a:t>. </a:t>
            </a:r>
          </a:p>
          <a:p>
            <a:r>
              <a:rPr lang="en-US" sz="2400"/>
              <a:t>Differentiating both side of</a:t>
            </a:r>
          </a:p>
          <a:p>
            <a:endParaRPr 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with respect to             and letting                        , we get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					  or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altLang="ko-KR" sz="2400"/>
              <a:t>	</a:t>
            </a:r>
          </a:p>
        </p:txBody>
      </p:sp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2667000" y="1089025"/>
          <a:ext cx="3941763" cy="663575"/>
        </p:xfrm>
        <a:graphic>
          <a:graphicData uri="http://schemas.openxmlformats.org/presentationml/2006/ole">
            <p:oleObj spid="_x0000_s269314" name="Equation" r:id="rId3" imgW="2641600" imgH="444500" progId="Equation.3">
              <p:embed/>
            </p:oleObj>
          </a:graphicData>
        </a:graphic>
      </p:graphicFrame>
      <p:graphicFrame>
        <p:nvGraphicFramePr>
          <p:cNvPr id="268295" name="Object 7"/>
          <p:cNvGraphicFramePr>
            <a:graphicFrameLocks noChangeAspect="1"/>
          </p:cNvGraphicFramePr>
          <p:nvPr/>
        </p:nvGraphicFramePr>
        <p:xfrm>
          <a:off x="990600" y="2362200"/>
          <a:ext cx="7212012" cy="307975"/>
        </p:xfrm>
        <a:graphic>
          <a:graphicData uri="http://schemas.openxmlformats.org/presentationml/2006/ole">
            <p:oleObj spid="_x0000_s269315" name="Equation" r:id="rId4" imgW="4749800" imgH="203200" progId="Equation.3">
              <p:embed/>
            </p:oleObj>
          </a:graphicData>
        </a:graphic>
      </p:graphicFrame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2514600" y="3811587"/>
          <a:ext cx="4357688" cy="379413"/>
        </p:xfrm>
        <a:graphic>
          <a:graphicData uri="http://schemas.openxmlformats.org/presentationml/2006/ole">
            <p:oleObj spid="_x0000_s269316" name="Equation" r:id="rId5" imgW="2921000" imgH="254000" progId="Equation.3">
              <p:embed/>
            </p:oleObj>
          </a:graphicData>
        </a:graphic>
      </p:graphicFrame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3048000" y="4625286"/>
          <a:ext cx="917575" cy="268288"/>
        </p:xfrm>
        <a:graphic>
          <a:graphicData uri="http://schemas.openxmlformats.org/presentationml/2006/ole">
            <p:oleObj spid="_x0000_s269317" name="Equation" r:id="rId6" imgW="609600" imgH="177800" progId="Equation.3">
              <p:embed/>
            </p:oleObj>
          </a:graphicData>
        </a:graphic>
      </p:graphicFrame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5486400" y="4634167"/>
          <a:ext cx="1974850" cy="268288"/>
        </p:xfrm>
        <a:graphic>
          <a:graphicData uri="http://schemas.openxmlformats.org/presentationml/2006/ole">
            <p:oleObj spid="_x0000_s269318" name="Equation" r:id="rId7" imgW="1308100" imgH="177800" progId="Equation.3">
              <p:embed/>
            </p:oleObj>
          </a:graphicData>
        </a:graphic>
      </p:graphicFrame>
      <p:graphicFrame>
        <p:nvGraphicFramePr>
          <p:cNvPr id="268299" name="Object 11"/>
          <p:cNvGraphicFramePr>
            <a:graphicFrameLocks noChangeAspect="1"/>
          </p:cNvGraphicFramePr>
          <p:nvPr/>
        </p:nvGraphicFramePr>
        <p:xfrm>
          <a:off x="1371600" y="5615886"/>
          <a:ext cx="3103563" cy="685800"/>
        </p:xfrm>
        <a:graphic>
          <a:graphicData uri="http://schemas.openxmlformats.org/presentationml/2006/ole">
            <p:oleObj spid="_x0000_s269319" name="Equation" r:id="rId8" imgW="2070100" imgH="457200" progId="Equation.3">
              <p:embed/>
            </p:oleObj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5288757" y="5653986"/>
          <a:ext cx="2303462" cy="647700"/>
        </p:xfrm>
        <a:graphic>
          <a:graphicData uri="http://schemas.openxmlformats.org/presentationml/2006/ole">
            <p:oleObj spid="_x0000_s269320" name="Equation" r:id="rId9" imgW="15367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Suppose  are the same orbitals. Then             .</a:t>
            </a:r>
          </a:p>
          <a:p>
            <a:endParaRPr lang="ko-KR" altLang="en-US" sz="2400"/>
          </a:p>
          <a:p>
            <a:endParaRPr lang="en-US" sz="2400"/>
          </a:p>
          <a:p>
            <a:r>
              <a:rPr lang="en-US" sz="2400"/>
              <a:t>The eigenvalues are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and corresponding eigenfunctions are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sz="2400" b="1" i="1"/>
          </a:p>
          <a:p>
            <a:pPr>
              <a:buNone/>
            </a:pPr>
            <a:r>
              <a:rPr lang="en-US" sz="2800" i="1">
                <a:latin typeface="Times New Roman"/>
                <a:cs typeface="Times New Roman"/>
              </a:rPr>
              <a:t>Ground State of Hydrogen Molecule Ion</a:t>
            </a:r>
            <a:endParaRPr lang="ko-KR" altLang="en-US" sz="2800" i="1">
              <a:latin typeface="Times New Roman"/>
              <a:cs typeface="Times New Roman"/>
            </a:endParaRPr>
          </a:p>
          <a:p>
            <a:r>
              <a:rPr lang="en-US" sz="2400"/>
              <a:t>Consider 1s atomic orbital for         .</a:t>
            </a:r>
            <a:endParaRPr lang="ko-KR" altLang="en-US" sz="2400"/>
          </a:p>
          <a:p>
            <a:endParaRPr lang="ko-KR" altLang="en-US" sz="2400"/>
          </a:p>
        </p:txBody>
      </p:sp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1143000" y="1084262"/>
          <a:ext cx="6869113" cy="363538"/>
        </p:xfrm>
        <a:graphic>
          <a:graphicData uri="http://schemas.openxmlformats.org/presentationml/2006/ole">
            <p:oleObj spid="_x0000_s268301" name="Equation" r:id="rId3" imgW="4559300" imgH="241300" progId="Equation.3">
              <p:embed/>
            </p:oleObj>
          </a:graphicData>
        </a:graphic>
      </p:graphicFrame>
      <p:graphicFrame>
        <p:nvGraphicFramePr>
          <p:cNvPr id="268302" name="Object 14"/>
          <p:cNvGraphicFramePr>
            <a:graphicFrameLocks noChangeAspect="1"/>
          </p:cNvGraphicFramePr>
          <p:nvPr/>
        </p:nvGraphicFramePr>
        <p:xfrm>
          <a:off x="6122643" y="529236"/>
          <a:ext cx="941388" cy="268288"/>
        </p:xfrm>
        <a:graphic>
          <a:graphicData uri="http://schemas.openxmlformats.org/presentationml/2006/ole">
            <p:oleObj spid="_x0000_s268302" name="Equation" r:id="rId4" imgW="622300" imgH="177800" progId="Equation.3">
              <p:embed/>
            </p:oleObj>
          </a:graphicData>
        </a:graphic>
      </p:graphicFrame>
      <p:graphicFrame>
        <p:nvGraphicFramePr>
          <p:cNvPr id="268303" name="Object 15"/>
          <p:cNvGraphicFramePr>
            <a:graphicFrameLocks noChangeAspect="1"/>
          </p:cNvGraphicFramePr>
          <p:nvPr/>
        </p:nvGraphicFramePr>
        <p:xfrm>
          <a:off x="3048000" y="2343150"/>
          <a:ext cx="3182938" cy="552450"/>
        </p:xfrm>
        <a:graphic>
          <a:graphicData uri="http://schemas.openxmlformats.org/presentationml/2006/ole">
            <p:oleObj spid="_x0000_s268303" name="Equation" r:id="rId5" imgW="2120900" imgH="368300" progId="Equation.3">
              <p:embed/>
            </p:oleObj>
          </a:graphicData>
        </a:graphic>
      </p:graphicFrame>
      <p:graphicFrame>
        <p:nvGraphicFramePr>
          <p:cNvPr id="268304" name="Object 16"/>
          <p:cNvGraphicFramePr>
            <a:graphicFrameLocks noChangeAspect="1"/>
          </p:cNvGraphicFramePr>
          <p:nvPr/>
        </p:nvGraphicFramePr>
        <p:xfrm>
          <a:off x="3152775" y="3529806"/>
          <a:ext cx="3019425" cy="608013"/>
        </p:xfrm>
        <a:graphic>
          <a:graphicData uri="http://schemas.openxmlformats.org/presentationml/2006/ole">
            <p:oleObj spid="_x0000_s268304" name="Equation" r:id="rId6" imgW="2019300" imgH="406400" progId="Equation.3">
              <p:embed/>
            </p:oleObj>
          </a:graphicData>
        </a:graphic>
      </p:graphicFrame>
      <p:graphicFrame>
        <p:nvGraphicFramePr>
          <p:cNvPr id="268305" name="Object 17"/>
          <p:cNvGraphicFramePr>
            <a:graphicFrameLocks noChangeAspect="1"/>
          </p:cNvGraphicFramePr>
          <p:nvPr/>
        </p:nvGraphicFramePr>
        <p:xfrm>
          <a:off x="3276600" y="5797505"/>
          <a:ext cx="2725738" cy="571500"/>
        </p:xfrm>
        <a:graphic>
          <a:graphicData uri="http://schemas.openxmlformats.org/presentationml/2006/ole">
            <p:oleObj spid="_x0000_s268305" name="Equation" r:id="rId7" imgW="1816100" imgH="381000" progId="Equation.3">
              <p:embed/>
            </p:oleObj>
          </a:graphicData>
        </a:graphic>
      </p:graphicFrame>
      <p:graphicFrame>
        <p:nvGraphicFramePr>
          <p:cNvPr id="268306" name="Object 18"/>
          <p:cNvGraphicFramePr>
            <a:graphicFrameLocks noChangeAspect="1"/>
          </p:cNvGraphicFramePr>
          <p:nvPr/>
        </p:nvGraphicFramePr>
        <p:xfrm>
          <a:off x="5045075" y="5416505"/>
          <a:ext cx="593725" cy="268288"/>
        </p:xfrm>
        <a:graphic>
          <a:graphicData uri="http://schemas.openxmlformats.org/presentationml/2006/ole">
            <p:oleObj spid="_x0000_s268306" name="Equation" r:id="rId8" imgW="39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2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5059362"/>
          </a:xfrm>
        </p:spPr>
        <p:txBody>
          <a:bodyPr>
            <a:normAutofit lnSpcReduction="10000"/>
          </a:bodyPr>
          <a:lstStyle/>
          <a:p>
            <a:r>
              <a:rPr lang="en-US" sz="2400"/>
              <a:t>Evaluate the total energy explicitly. Plot the energy as a function of the internuclear distance </a:t>
            </a:r>
            <a:r>
              <a:rPr lang="en-US" sz="2400" i="1"/>
              <a:t>R</a:t>
            </a:r>
            <a:r>
              <a:rPr lang="en-US" sz="2400"/>
              <a:t>.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 b="1"/>
              <a:t>	Fig. 3</a:t>
            </a:r>
            <a:r>
              <a:rPr lang="en-US" sz="2400"/>
              <a:t>. Bonding(1</a:t>
            </a:r>
            <a:r>
              <a:rPr lang="en-US" sz="2400" i="1">
                <a:latin typeface="Symbol" charset="2"/>
                <a:cs typeface="Symbol" charset="2"/>
              </a:rPr>
              <a:t>s</a:t>
            </a:r>
            <a:r>
              <a:rPr lang="en-US" sz="2400" baseline="-25000"/>
              <a:t>g</a:t>
            </a:r>
            <a:r>
              <a:rPr lang="en-US" sz="2400" baseline="30000"/>
              <a:t>+</a:t>
            </a:r>
            <a:r>
              <a:rPr lang="en-US" sz="2400"/>
              <a:t>) and anti-bonding(1</a:t>
            </a:r>
            <a:r>
              <a:rPr lang="en-US" sz="2400" i="1">
                <a:latin typeface="Symbol" charset="2"/>
                <a:cs typeface="Symbol" charset="2"/>
              </a:rPr>
              <a:t>s</a:t>
            </a:r>
            <a:r>
              <a:rPr lang="en-US" sz="2400" baseline="-25000"/>
              <a:t>u</a:t>
            </a:r>
            <a:r>
              <a:rPr lang="en-US" sz="2400" baseline="30000"/>
              <a:t>+</a:t>
            </a:r>
            <a:r>
              <a:rPr lang="en-US" sz="2400"/>
              <a:t>) orbitals of H</a:t>
            </a:r>
            <a:r>
              <a:rPr lang="en-US" sz="2400" baseline="-25000"/>
              <a:t>2</a:t>
            </a:r>
            <a:r>
              <a:rPr lang="en-US" sz="2400" baseline="30000"/>
              <a:t>+</a:t>
            </a:r>
            <a:r>
              <a:rPr lang="en-US" sz="2400"/>
              <a:t> and their energies as a function of internuclear distance.</a:t>
            </a:r>
            <a:r>
              <a:rPr lang="ko-KR" sz="2400"/>
              <a:t> </a:t>
            </a:r>
            <a:endParaRPr lang="ko-KR" altLang="en-US" sz="2400"/>
          </a:p>
        </p:txBody>
      </p:sp>
      <p:pic>
        <p:nvPicPr>
          <p:cNvPr id="9" name="Picture 8" descr="fig3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5585"/>
            <a:ext cx="7412037" cy="2262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077200" cy="6172200"/>
          </a:xfrm>
        </p:spPr>
        <p:txBody>
          <a:bodyPr>
            <a:noAutofit/>
          </a:bodyPr>
          <a:lstStyle/>
          <a:p>
            <a:r>
              <a:rPr lang="en-US" sz="2400"/>
              <a:t>In this case </a:t>
            </a:r>
            <a:r>
              <a:rPr lang="en-US" sz="2400" i="1"/>
              <a:t>H</a:t>
            </a:r>
            <a:r>
              <a:rPr lang="en-US" sz="2400" baseline="-25000"/>
              <a:t>ab</a:t>
            </a:r>
            <a:r>
              <a:rPr lang="en-US" sz="2400"/>
              <a:t>&lt;0 and thus </a:t>
            </a:r>
            <a:r>
              <a:rPr lang="en-US" sz="2400" i="1"/>
              <a:t>E</a:t>
            </a:r>
            <a:r>
              <a:rPr lang="en-US" sz="2400" baseline="-25000"/>
              <a:t>1</a:t>
            </a:r>
            <a:r>
              <a:rPr lang="en-US" sz="2400"/>
              <a:t>&lt;</a:t>
            </a:r>
            <a:r>
              <a:rPr lang="en-US" sz="2400" i="1"/>
              <a:t>E</a:t>
            </a:r>
            <a:r>
              <a:rPr lang="en-US" sz="2400" baseline="-25000"/>
              <a:t>2</a:t>
            </a:r>
            <a:r>
              <a:rPr lang="en-US" sz="2400"/>
              <a:t>. As shown in Fig. 3, </a:t>
            </a:r>
            <a:r>
              <a:rPr lang="en-US" sz="2400" i="1"/>
              <a:t>E</a:t>
            </a:r>
            <a:r>
              <a:rPr lang="en-US" sz="2400" baseline="-25000"/>
              <a:t>1</a:t>
            </a:r>
            <a:r>
              <a:rPr lang="en-US" sz="2400"/>
              <a:t> has a mininum at a certain value of </a:t>
            </a:r>
            <a:r>
              <a:rPr lang="en-US" sz="2400" i="1"/>
              <a:t>R</a:t>
            </a:r>
            <a:r>
              <a:rPr lang="en-US" sz="2400"/>
              <a:t>=</a:t>
            </a:r>
            <a:r>
              <a:rPr lang="en-US" sz="2400" i="1"/>
              <a:t>R</a:t>
            </a:r>
            <a:r>
              <a:rPr lang="en-US" sz="2400" baseline="-25000"/>
              <a:t>eq</a:t>
            </a:r>
            <a:r>
              <a:rPr lang="en-US" sz="2400"/>
              <a:t>, an equilibrium separation between the two nuclei.     is the ground state of H</a:t>
            </a:r>
            <a:r>
              <a:rPr lang="en-US" sz="2400" baseline="-25000"/>
              <a:t>2</a:t>
            </a:r>
            <a:r>
              <a:rPr lang="en-US" sz="2400" baseline="30000"/>
              <a:t>+</a:t>
            </a:r>
            <a:r>
              <a:rPr lang="en-US" sz="2400"/>
              <a:t> and called a bonding molecular orbital (corresponding to </a:t>
            </a:r>
            <a:r>
              <a:rPr lang="en-US" sz="2400" i="1"/>
              <a:t>covalent</a:t>
            </a:r>
            <a:r>
              <a:rPr lang="en-US" sz="2400"/>
              <a:t> bonding) while     is an antibonding molecular orbital and corresponds to dissociation state.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71368" name="Object 8"/>
          <p:cNvGraphicFramePr>
            <a:graphicFrameLocks noChangeAspect="1"/>
          </p:cNvGraphicFramePr>
          <p:nvPr/>
        </p:nvGraphicFramePr>
        <p:xfrm>
          <a:off x="7316787" y="1259876"/>
          <a:ext cx="227013" cy="265113"/>
        </p:xfrm>
        <a:graphic>
          <a:graphicData uri="http://schemas.openxmlformats.org/presentationml/2006/ole">
            <p:oleObj spid="_x0000_s271368" name="Equation" r:id="rId3" imgW="152400" imgH="177800" progId="Equation.3">
              <p:embed/>
            </p:oleObj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7582694" y="1981200"/>
          <a:ext cx="265112" cy="265113"/>
        </p:xfrm>
        <a:graphic>
          <a:graphicData uri="http://schemas.openxmlformats.org/presentationml/2006/ole">
            <p:oleObj spid="_x0000_s271369" name="Equation" r:id="rId4" imgW="1778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987</TotalTime>
  <Words>703</Words>
  <Application>Microsoft Macintosh PowerPoint</Application>
  <PresentationFormat>On-screen Show (4:3)</PresentationFormat>
  <Paragraphs>109</Paragraphs>
  <Slides>13</Slides>
  <Notes>3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Technic</vt:lpstr>
      <vt:lpstr>Equation</vt:lpstr>
      <vt:lpstr>Microsoft Equation</vt:lpstr>
      <vt:lpstr>Atomic and Molecular Physics  Lecture 23</vt:lpstr>
      <vt:lpstr>Chapter 4. Molecules</vt:lpstr>
      <vt:lpstr>4.1 Born-Oppenheimer Approximation</vt:lpstr>
      <vt:lpstr>Slide 4</vt:lpstr>
      <vt:lpstr>Slide 5</vt:lpstr>
      <vt:lpstr>Slide 6</vt:lpstr>
      <vt:lpstr>Exercise 1</vt:lpstr>
      <vt:lpstr>4.2 Hydrogen Molecule Ion (H2+) </vt:lpstr>
      <vt:lpstr>Slide 9</vt:lpstr>
      <vt:lpstr>Slide 10</vt:lpstr>
      <vt:lpstr>Slide 11</vt:lpstr>
      <vt:lpstr>Exercise 2</vt:lpstr>
      <vt:lpstr>Slide 13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68</cp:revision>
  <dcterms:created xsi:type="dcterms:W3CDTF">2009-11-22T09:08:39Z</dcterms:created>
  <dcterms:modified xsi:type="dcterms:W3CDTF">2009-11-22T10:20:55Z</dcterms:modified>
</cp:coreProperties>
</file>