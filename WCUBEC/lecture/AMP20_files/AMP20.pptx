
<file path=[Content_Types].xml><?xml version="1.0" encoding="utf-8"?>
<Types xmlns="http://schemas.openxmlformats.org/package/2006/content-types">
  <Default Extension="pict" ContentType="image/pict"/>
  <Override PartName="/ppt/notesSlides/notesSlide4.xml" ContentType="application/vnd.openxmlformats-officedocument.presentationml.notesSlide+xml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Default Extension="rels" ContentType="application/vnd.openxmlformats-package.relationships+xml"/>
  <Default Extension="jpeg" ContentType="image/jpeg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notesSlides/notesSlide1.xml" ContentType="application/vnd.openxmlformats-officedocument.presentationml.notesSlide+xml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ppt/embeddings/Microsoft_Equation25.bin" ContentType="application/vnd.openxmlformats-officedocument.oleObject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26.bin" ContentType="application/vnd.openxmlformats-officedocument.oleObject"/>
  <Override PartName="/ppt/embeddings/Microsoft_Equation14.bin" ContentType="application/vnd.openxmlformats-officedocument.oleObject"/>
  <Override PartName="/ppt/notesSlides/notesSlide2.xml" ContentType="application/vnd.openxmlformats-officedocument.presentationml.notesSlide+xml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Default Extension="vml" ContentType="application/vnd.openxmlformats-officedocument.vmlDrawing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27.bin" ContentType="application/vnd.openxmlformats-officedocument.oleObject"/>
  <Override PartName="/ppt/embeddings/Microsoft_Equation15.bin" ContentType="application/vnd.openxmlformats-officedocument.oleObject"/>
  <Override PartName="/ppt/notesSlides/notesSlide3.xml" ContentType="application/vnd.openxmlformats-officedocument.presentationml.notesSlide+xml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embeddings/Microsoft_Equation28.bin" ContentType="application/vnd.openxmlformats-officedocument.oleObject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notesMasterIdLst>
    <p:notesMasterId r:id="rId11"/>
  </p:notesMasterIdLst>
  <p:sldIdLst>
    <p:sldId id="256" r:id="rId2"/>
    <p:sldId id="285" r:id="rId3"/>
    <p:sldId id="273" r:id="rId4"/>
    <p:sldId id="277" r:id="rId5"/>
    <p:sldId id="281" r:id="rId6"/>
    <p:sldId id="286" r:id="rId7"/>
    <p:sldId id="287" r:id="rId8"/>
    <p:sldId id="275" r:id="rId9"/>
    <p:sldId id="276" r:id="rId10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ict"/><Relationship Id="rId4" Type="http://schemas.openxmlformats.org/officeDocument/2006/relationships/image" Target="../media/image4.pict"/><Relationship Id="rId5" Type="http://schemas.openxmlformats.org/officeDocument/2006/relationships/image" Target="../media/image5.pict"/><Relationship Id="rId1" Type="http://schemas.openxmlformats.org/officeDocument/2006/relationships/image" Target="../media/image1.pict"/><Relationship Id="rId2" Type="http://schemas.openxmlformats.org/officeDocument/2006/relationships/image" Target="../media/image2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ict"/><Relationship Id="rId2" Type="http://schemas.openxmlformats.org/officeDocument/2006/relationships/image" Target="../media/image7.pict"/><Relationship Id="rId3" Type="http://schemas.openxmlformats.org/officeDocument/2006/relationships/image" Target="../media/image8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ict"/><Relationship Id="rId2" Type="http://schemas.openxmlformats.org/officeDocument/2006/relationships/image" Target="../media/image10.pict"/><Relationship Id="rId3" Type="http://schemas.openxmlformats.org/officeDocument/2006/relationships/image" Target="../media/image11.pict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ict"/><Relationship Id="rId4" Type="http://schemas.openxmlformats.org/officeDocument/2006/relationships/image" Target="../media/image15.pict"/><Relationship Id="rId5" Type="http://schemas.openxmlformats.org/officeDocument/2006/relationships/image" Target="../media/image16.pict"/><Relationship Id="rId6" Type="http://schemas.openxmlformats.org/officeDocument/2006/relationships/image" Target="../media/image17.pict"/><Relationship Id="rId1" Type="http://schemas.openxmlformats.org/officeDocument/2006/relationships/image" Target="../media/image12.pict"/><Relationship Id="rId2" Type="http://schemas.openxmlformats.org/officeDocument/2006/relationships/image" Target="../media/image13.pict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ict"/><Relationship Id="rId4" Type="http://schemas.openxmlformats.org/officeDocument/2006/relationships/image" Target="../media/image21.pict"/><Relationship Id="rId1" Type="http://schemas.openxmlformats.org/officeDocument/2006/relationships/image" Target="../media/image18.pict"/><Relationship Id="rId2" Type="http://schemas.openxmlformats.org/officeDocument/2006/relationships/image" Target="../media/image19.pict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ict"/><Relationship Id="rId4" Type="http://schemas.openxmlformats.org/officeDocument/2006/relationships/image" Target="../media/image25.pict"/><Relationship Id="rId5" Type="http://schemas.openxmlformats.org/officeDocument/2006/relationships/image" Target="../media/image26.pict"/><Relationship Id="rId1" Type="http://schemas.openxmlformats.org/officeDocument/2006/relationships/image" Target="../media/image22.pict"/><Relationship Id="rId2" Type="http://schemas.openxmlformats.org/officeDocument/2006/relationships/image" Target="../media/image23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ict"/><Relationship Id="rId2" Type="http://schemas.openxmlformats.org/officeDocument/2006/relationships/image" Target="../media/image28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4A24C-2BFC-4C63-AEAF-54CF7EFDB325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D213-E5B0-467F-9AA1-56239E62CB84}" type="slidenum">
              <a:rPr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4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6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7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09.11.16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Microsoft_Equation1.bin"/><Relationship Id="rId5" Type="http://schemas.openxmlformats.org/officeDocument/2006/relationships/oleObject" Target="../embeddings/Microsoft_Equation2.bin"/><Relationship Id="rId6" Type="http://schemas.openxmlformats.org/officeDocument/2006/relationships/oleObject" Target="../embeddings/Microsoft_Equation3.bin"/><Relationship Id="rId7" Type="http://schemas.openxmlformats.org/officeDocument/2006/relationships/oleObject" Target="../embeddings/Microsoft_Equation4.bin"/><Relationship Id="rId8" Type="http://schemas.openxmlformats.org/officeDocument/2006/relationships/oleObject" Target="../embeddings/Microsoft_Equation5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6.bin"/><Relationship Id="rId4" Type="http://schemas.openxmlformats.org/officeDocument/2006/relationships/oleObject" Target="../embeddings/Microsoft_Equation7.bin"/><Relationship Id="rId5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Microsoft_Equation9.bin"/><Relationship Id="rId5" Type="http://schemas.openxmlformats.org/officeDocument/2006/relationships/oleObject" Target="../embeddings/Microsoft_Equation10.bin"/><Relationship Id="rId6" Type="http://schemas.openxmlformats.org/officeDocument/2006/relationships/oleObject" Target="../embeddings/Microsoft_Equation11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2.bin"/><Relationship Id="rId4" Type="http://schemas.openxmlformats.org/officeDocument/2006/relationships/oleObject" Target="../embeddings/Microsoft_Equation13.bin"/><Relationship Id="rId5" Type="http://schemas.openxmlformats.org/officeDocument/2006/relationships/oleObject" Target="../embeddings/Microsoft_Equation14.bin"/><Relationship Id="rId6" Type="http://schemas.openxmlformats.org/officeDocument/2006/relationships/oleObject" Target="../embeddings/Microsoft_Equation15.bin"/><Relationship Id="rId7" Type="http://schemas.openxmlformats.org/officeDocument/2006/relationships/oleObject" Target="../embeddings/Microsoft_Equation16.bin"/><Relationship Id="rId8" Type="http://schemas.openxmlformats.org/officeDocument/2006/relationships/oleObject" Target="../embeddings/Microsoft_Equation17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Microsoft_Equation18.bin"/><Relationship Id="rId5" Type="http://schemas.openxmlformats.org/officeDocument/2006/relationships/oleObject" Target="../embeddings/Microsoft_Equation19.bin"/><Relationship Id="rId6" Type="http://schemas.openxmlformats.org/officeDocument/2006/relationships/oleObject" Target="../embeddings/Microsoft_Equation20.bin"/><Relationship Id="rId7" Type="http://schemas.openxmlformats.org/officeDocument/2006/relationships/oleObject" Target="../embeddings/Microsoft_Equation21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Microsoft_Equation22.bin"/><Relationship Id="rId5" Type="http://schemas.openxmlformats.org/officeDocument/2006/relationships/oleObject" Target="../embeddings/Microsoft_Equation23.bin"/><Relationship Id="rId6" Type="http://schemas.openxmlformats.org/officeDocument/2006/relationships/oleObject" Target="../embeddings/Microsoft_Equation24.bin"/><Relationship Id="rId7" Type="http://schemas.openxmlformats.org/officeDocument/2006/relationships/oleObject" Target="../embeddings/Microsoft_Equation25.bin"/><Relationship Id="rId8" Type="http://schemas.openxmlformats.org/officeDocument/2006/relationships/oleObject" Target="../embeddings/Microsoft_Equation26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7.bin"/><Relationship Id="rId4" Type="http://schemas.openxmlformats.org/officeDocument/2006/relationships/oleObject" Target="../embeddings/Microsoft_Equation28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smtClean="0">
                <a:solidFill>
                  <a:srgbClr val="00FF00"/>
                </a:solidFill>
              </a:rPr>
              <a:t>20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381000"/>
            <a:ext cx="7543800" cy="6858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Electric Quadrupole Interaction</a:t>
            </a:r>
            <a:r>
              <a:rPr lang="ko-KR" sz="3600" i="1">
                <a:latin typeface="Times New Roman"/>
                <a:cs typeface="Times New Roman"/>
              </a:rPr>
              <a:t> 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4754563"/>
          </a:xfrm>
        </p:spPr>
        <p:txBody>
          <a:bodyPr>
            <a:normAutofit/>
          </a:bodyPr>
          <a:lstStyle/>
          <a:p>
            <a:r>
              <a:rPr lang="en-US" sz="2400"/>
              <a:t>For the symmetric operator     , </a:t>
            </a:r>
            <a:endParaRPr lang="ko-KR" alt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pPr>
              <a:buNone/>
            </a:pPr>
            <a:r>
              <a:rPr lang="en-US" sz="2400"/>
              <a:t>	and</a:t>
            </a:r>
          </a:p>
          <a:p>
            <a:endParaRPr lang="ko-KR" altLang="en-US" sz="2400"/>
          </a:p>
          <a:p>
            <a:r>
              <a:rPr lang="en-US" sz="2400"/>
              <a:t>Note that </a:t>
            </a:r>
            <a:r>
              <a:rPr lang="en-US" sz="2400" b="1"/>
              <a:t>rr</a:t>
            </a:r>
            <a:r>
              <a:rPr lang="en-US" sz="2400"/>
              <a:t> is a tensor. Consider a diagonal element </a:t>
            </a:r>
            <a:endParaRPr lang="ko-KR" altLang="en-US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Therefore, we replace </a:t>
            </a:r>
            <a:r>
              <a:rPr lang="en-US" sz="2400" b="1"/>
              <a:t>rr</a:t>
            </a:r>
            <a:r>
              <a:rPr lang="en-US" sz="2400"/>
              <a:t> with an irreducible tensor of rank 2,</a:t>
            </a:r>
            <a:endParaRPr lang="ko-KR" altLang="en-US" sz="2400"/>
          </a:p>
        </p:txBody>
      </p: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1752600" y="1905000"/>
          <a:ext cx="5746750" cy="1179513"/>
        </p:xfrm>
        <a:graphic>
          <a:graphicData uri="http://schemas.openxmlformats.org/presentationml/2006/ole">
            <p:oleObj spid="_x0000_s259074" name="Equation" r:id="rId4" imgW="3835400" imgH="787400" progId="Equation.3">
              <p:embed/>
            </p:oleObj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4724400" y="1524000"/>
          <a:ext cx="287338" cy="268288"/>
        </p:xfrm>
        <a:graphic>
          <a:graphicData uri="http://schemas.openxmlformats.org/presentationml/2006/ole">
            <p:oleObj spid="_x0000_s259075" name="Equation" r:id="rId5" imgW="190500" imgH="177800" progId="Equation.3">
              <p:embed/>
            </p:oleObj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/>
        </p:nvGraphicFramePr>
        <p:xfrm>
          <a:off x="1712913" y="3521075"/>
          <a:ext cx="5830887" cy="552450"/>
        </p:xfrm>
        <a:graphic>
          <a:graphicData uri="http://schemas.openxmlformats.org/presentationml/2006/ole">
            <p:oleObj spid="_x0000_s259076" name="Equation" r:id="rId6" imgW="3886200" imgH="368300" progId="Equation.3">
              <p:embed/>
            </p:oleObj>
          </a:graphicData>
        </a:graphic>
      </p:graphicFrame>
      <p:graphicFrame>
        <p:nvGraphicFramePr>
          <p:cNvPr id="15376" name="Object 16"/>
          <p:cNvGraphicFramePr>
            <a:graphicFrameLocks noChangeAspect="1"/>
          </p:cNvGraphicFramePr>
          <p:nvPr/>
        </p:nvGraphicFramePr>
        <p:xfrm>
          <a:off x="1981200" y="4495800"/>
          <a:ext cx="5259388" cy="342900"/>
        </p:xfrm>
        <a:graphic>
          <a:graphicData uri="http://schemas.openxmlformats.org/presentationml/2006/ole">
            <p:oleObj spid="_x0000_s259077" name="Equation" r:id="rId7" imgW="3505200" imgH="228600" progId="Equation.3">
              <p:embed/>
            </p:oleObj>
          </a:graphicData>
        </a:graphic>
      </p:graphicFrame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2076450" y="5732462"/>
          <a:ext cx="5164138" cy="592138"/>
        </p:xfrm>
        <a:graphic>
          <a:graphicData uri="http://schemas.openxmlformats.org/presentationml/2006/ole">
            <p:oleObj spid="_x0000_s259078" name="Equation" r:id="rId8" imgW="3429000" imgH="3937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/>
          </a:bodyPr>
          <a:lstStyle/>
          <a:p>
            <a:r>
              <a:rPr lang="en-US" sz="2400"/>
              <a:t>The matrix elements corresponding to the quadrupole interaction are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and 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r>
              <a:rPr lang="en-US" sz="2400"/>
              <a:t>For N electrons, we use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in the place of </a:t>
            </a:r>
            <a:r>
              <a:rPr lang="en-US" sz="2400" b="1"/>
              <a:t>r</a:t>
            </a:r>
            <a:r>
              <a:rPr lang="en-US" sz="2400"/>
              <a:t>, </a:t>
            </a:r>
            <a:r>
              <a:rPr lang="en-US" sz="2400" b="1"/>
              <a:t>m</a:t>
            </a:r>
            <a:r>
              <a:rPr lang="en-US" sz="2400"/>
              <a:t> and </a:t>
            </a:r>
            <a:r>
              <a:rPr lang="en-US" sz="2400" b="1"/>
              <a:t>Q</a:t>
            </a:r>
            <a:r>
              <a:rPr lang="en-US" sz="2400"/>
              <a:t>.</a:t>
            </a:r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45773" name="Object 13"/>
          <p:cNvGraphicFramePr>
            <a:graphicFrameLocks noChangeAspect="1"/>
          </p:cNvGraphicFramePr>
          <p:nvPr/>
        </p:nvGraphicFramePr>
        <p:xfrm>
          <a:off x="1981200" y="1295400"/>
          <a:ext cx="5334000" cy="1333500"/>
        </p:xfrm>
        <a:graphic>
          <a:graphicData uri="http://schemas.openxmlformats.org/presentationml/2006/ole">
            <p:oleObj spid="_x0000_s245773" name="Equation" r:id="rId3" imgW="3556000" imgH="889000" progId="Equation.3">
              <p:embed/>
            </p:oleObj>
          </a:graphicData>
        </a:graphic>
      </p:graphicFrame>
      <p:graphicFrame>
        <p:nvGraphicFramePr>
          <p:cNvPr id="245774" name="Object 14"/>
          <p:cNvGraphicFramePr>
            <a:graphicFrameLocks noChangeAspect="1"/>
          </p:cNvGraphicFramePr>
          <p:nvPr/>
        </p:nvGraphicFramePr>
        <p:xfrm>
          <a:off x="1752600" y="3048000"/>
          <a:ext cx="5846763" cy="611188"/>
        </p:xfrm>
        <a:graphic>
          <a:graphicData uri="http://schemas.openxmlformats.org/presentationml/2006/ole">
            <p:oleObj spid="_x0000_s245774" name="Equation" r:id="rId4" imgW="3873500" imgH="406400" progId="Equation.3">
              <p:embed/>
            </p:oleObj>
          </a:graphicData>
        </a:graphic>
      </p:graphicFrame>
      <p:graphicFrame>
        <p:nvGraphicFramePr>
          <p:cNvPr id="245775" name="Object 15"/>
          <p:cNvGraphicFramePr>
            <a:graphicFrameLocks noChangeAspect="1"/>
          </p:cNvGraphicFramePr>
          <p:nvPr/>
        </p:nvGraphicFramePr>
        <p:xfrm>
          <a:off x="3352800" y="4441825"/>
          <a:ext cx="2368550" cy="663575"/>
        </p:xfrm>
        <a:graphic>
          <a:graphicData uri="http://schemas.openxmlformats.org/presentationml/2006/ole">
            <p:oleObj spid="_x0000_s245775" name="Equation" r:id="rId5" imgW="1587500" imgH="4445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81000"/>
            <a:ext cx="8039100" cy="12192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Relative transition strengths of E1, M1 and E2</a:t>
            </a:r>
            <a:r>
              <a:rPr lang="ko-KR" sz="3600" i="1">
                <a:latin typeface="Times New Roman"/>
                <a:cs typeface="Times New Roman"/>
              </a:rPr>
              <a:t> 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722437"/>
            <a:ext cx="8305800" cy="4754563"/>
          </a:xfrm>
        </p:spPr>
        <p:txBody>
          <a:bodyPr>
            <a:normAutofit/>
          </a:bodyPr>
          <a:lstStyle/>
          <a:p>
            <a:r>
              <a:rPr lang="en-US" sz="2400" dirty="0"/>
              <a:t>Relative strengths of the matrix elements are 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r>
              <a:rPr lang="en-US" sz="2400" dirty="0"/>
              <a:t>Since the transition rate is proportional to the absolute square of the matrix element, the relative strengths of the transition rates are</a:t>
            </a:r>
          </a:p>
          <a:p>
            <a:pPr>
              <a:buNone/>
            </a:pPr>
            <a:endParaRPr lang="en-US" altLang="ko-KR" sz="2400" dirty="0"/>
          </a:p>
          <a:p>
            <a:r>
              <a:rPr lang="en-US" altLang="ko-KR" sz="2400" dirty="0"/>
              <a:t>For the visible range (</a:t>
            </a:r>
            <a:r>
              <a:rPr lang="en-US" altLang="ko-KR" sz="2400" dirty="0">
                <a:latin typeface="Symbol" charset="2"/>
                <a:cs typeface="Symbol" charset="2"/>
              </a:rPr>
              <a:t>l</a:t>
            </a:r>
            <a:r>
              <a:rPr lang="en-US" altLang="ko-KR" sz="2400" dirty="0"/>
              <a:t>~600 nm)</a:t>
            </a:r>
            <a:endParaRPr lang="ko-KR" altLang="en-US" sz="2400" dirty="0"/>
          </a:p>
          <a:p>
            <a:endParaRPr lang="ko-KR" altLang="en-US" sz="2400" dirty="0"/>
          </a:p>
        </p:txBody>
      </p:sp>
      <p:graphicFrame>
        <p:nvGraphicFramePr>
          <p:cNvPr id="15380" name="Object 20"/>
          <p:cNvGraphicFramePr>
            <a:graphicFrameLocks noChangeAspect="1"/>
          </p:cNvGraphicFramePr>
          <p:nvPr/>
        </p:nvGraphicFramePr>
        <p:xfrm>
          <a:off x="2341563" y="2195513"/>
          <a:ext cx="4679950" cy="1298575"/>
        </p:xfrm>
        <a:graphic>
          <a:graphicData uri="http://schemas.openxmlformats.org/presentationml/2006/ole">
            <p:oleObj spid="_x0000_s15380" name="Equation" r:id="rId4" imgW="3111500" imgH="863600" progId="Equation.3">
              <p:embed/>
            </p:oleObj>
          </a:graphicData>
        </a:graphic>
      </p:graphicFrame>
      <p:graphicFrame>
        <p:nvGraphicFramePr>
          <p:cNvPr id="15381" name="Object 21"/>
          <p:cNvGraphicFramePr>
            <a:graphicFrameLocks noChangeAspect="1"/>
          </p:cNvGraphicFramePr>
          <p:nvPr/>
        </p:nvGraphicFramePr>
        <p:xfrm>
          <a:off x="3276600" y="4797425"/>
          <a:ext cx="2581275" cy="307975"/>
        </p:xfrm>
        <a:graphic>
          <a:graphicData uri="http://schemas.openxmlformats.org/presentationml/2006/ole">
            <p:oleObj spid="_x0000_s15381" name="Equation" r:id="rId5" imgW="1701800" imgH="203200" progId="Equation.3">
              <p:embed/>
            </p:oleObj>
          </a:graphicData>
        </a:graphic>
      </p:graphicFrame>
      <p:graphicFrame>
        <p:nvGraphicFramePr>
          <p:cNvPr id="11" name="Object 21"/>
          <p:cNvGraphicFramePr>
            <a:graphicFrameLocks noChangeAspect="1"/>
          </p:cNvGraphicFramePr>
          <p:nvPr/>
        </p:nvGraphicFramePr>
        <p:xfrm>
          <a:off x="3189288" y="5711825"/>
          <a:ext cx="2755900" cy="307975"/>
        </p:xfrm>
        <a:graphic>
          <a:graphicData uri="http://schemas.openxmlformats.org/presentationml/2006/ole">
            <p:oleObj spid="_x0000_s15382" name="Equation" r:id="rId6" imgW="18161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944562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3.3 Selection Rules</a:t>
            </a:r>
            <a:endParaRPr lang="ja-JP" altLang="en-US" sz="4400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7498"/>
            <a:ext cx="8382000" cy="4240902"/>
          </a:xfrm>
        </p:spPr>
        <p:txBody>
          <a:bodyPr>
            <a:noAutofit/>
          </a:bodyPr>
          <a:lstStyle/>
          <a:p>
            <a:r>
              <a:rPr lang="en-US" sz="2400"/>
              <a:t>For E1 and M1, the transition matrix elements are involved with irreducible tensors of rank 1 (vectors, </a:t>
            </a:r>
            <a:r>
              <a:rPr lang="en-US" sz="2400" b="1"/>
              <a:t>r</a:t>
            </a:r>
            <a:r>
              <a:rPr lang="en-US" sz="2400"/>
              <a:t> and </a:t>
            </a:r>
            <a:r>
              <a:rPr lang="en-US" sz="2400" b="1"/>
              <a:t>L</a:t>
            </a:r>
            <a:r>
              <a:rPr lang="en-US" sz="2400"/>
              <a:t>+2</a:t>
            </a:r>
            <a:r>
              <a:rPr lang="en-US" sz="2400" b="1"/>
              <a:t>S</a:t>
            </a:r>
            <a:r>
              <a:rPr lang="en-US" sz="2400"/>
              <a:t>, respectively): . Nonvanishing matrix elements are obtained if</a:t>
            </a:r>
          </a:p>
          <a:p>
            <a:endParaRPr lang="ko-KR" altLang="en-US" sz="2400"/>
          </a:p>
          <a:p>
            <a:r>
              <a:rPr lang="en-US" sz="2400"/>
              <a:t>The situation          is not allowed when              , but this situation is automatically excluded by the last condition</a:t>
            </a:r>
          </a:p>
          <a:p>
            <a:pPr>
              <a:buNone/>
            </a:pPr>
            <a:r>
              <a:rPr lang="en-US" sz="2400"/>
              <a:t>			    . </a:t>
            </a:r>
          </a:p>
          <a:p>
            <a:r>
              <a:rPr lang="en-US" sz="2400"/>
              <a:t>For E2, the operator is an irreducible tensor of rank 2,</a:t>
            </a:r>
          </a:p>
          <a:p>
            <a:pPr>
              <a:buNone/>
            </a:pPr>
            <a:r>
              <a:rPr lang="en-US" sz="2400"/>
              <a:t>				, so that</a:t>
            </a:r>
            <a:endParaRPr lang="en-US" sz="200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09600" y="1066800"/>
            <a:ext cx="7543800" cy="6858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Wigner-Eckart Theorem Consideratin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graphicFrame>
        <p:nvGraphicFramePr>
          <p:cNvPr id="239637" name="Object 21"/>
          <p:cNvGraphicFramePr>
            <a:graphicFrameLocks noChangeAspect="1"/>
          </p:cNvGraphicFramePr>
          <p:nvPr/>
        </p:nvGraphicFramePr>
        <p:xfrm>
          <a:off x="2314575" y="3657600"/>
          <a:ext cx="4851400" cy="268288"/>
        </p:xfrm>
        <a:graphic>
          <a:graphicData uri="http://schemas.openxmlformats.org/presentationml/2006/ole">
            <p:oleObj spid="_x0000_s239637" name="Equation" r:id="rId3" imgW="3213100" imgH="177800" progId="Equation.3">
              <p:embed/>
            </p:oleObj>
          </a:graphicData>
        </a:graphic>
      </p:graphicFrame>
      <p:graphicFrame>
        <p:nvGraphicFramePr>
          <p:cNvPr id="239638" name="Object 22"/>
          <p:cNvGraphicFramePr>
            <a:graphicFrameLocks noChangeAspect="1"/>
          </p:cNvGraphicFramePr>
          <p:nvPr/>
        </p:nvGraphicFramePr>
        <p:xfrm>
          <a:off x="2819400" y="4150324"/>
          <a:ext cx="690563" cy="192088"/>
        </p:xfrm>
        <a:graphic>
          <a:graphicData uri="http://schemas.openxmlformats.org/presentationml/2006/ole">
            <p:oleObj spid="_x0000_s239638" name="Equation" r:id="rId4" imgW="457200" imgH="127000" progId="Equation.3">
              <p:embed/>
            </p:oleObj>
          </a:graphicData>
        </a:graphic>
      </p:graphicFrame>
      <p:graphicFrame>
        <p:nvGraphicFramePr>
          <p:cNvPr id="239639" name="Object 23"/>
          <p:cNvGraphicFramePr>
            <a:graphicFrameLocks noChangeAspect="1"/>
          </p:cNvGraphicFramePr>
          <p:nvPr/>
        </p:nvGraphicFramePr>
        <p:xfrm>
          <a:off x="6292805" y="4141443"/>
          <a:ext cx="1076325" cy="269875"/>
        </p:xfrm>
        <a:graphic>
          <a:graphicData uri="http://schemas.openxmlformats.org/presentationml/2006/ole">
            <p:oleObj spid="_x0000_s239639" name="Equation" r:id="rId5" imgW="711200" imgH="177800" progId="Equation.3">
              <p:embed/>
            </p:oleObj>
          </a:graphicData>
        </a:graphic>
      </p:graphicFrame>
      <p:graphicFrame>
        <p:nvGraphicFramePr>
          <p:cNvPr id="239640" name="Object 24"/>
          <p:cNvGraphicFramePr>
            <a:graphicFrameLocks noChangeAspect="1"/>
          </p:cNvGraphicFramePr>
          <p:nvPr/>
        </p:nvGraphicFramePr>
        <p:xfrm>
          <a:off x="1019175" y="4916488"/>
          <a:ext cx="979488" cy="268287"/>
        </p:xfrm>
        <a:graphic>
          <a:graphicData uri="http://schemas.openxmlformats.org/presentationml/2006/ole">
            <p:oleObj spid="_x0000_s239640" name="Equation" r:id="rId6" imgW="647700" imgH="177800" progId="Equation.3">
              <p:embed/>
            </p:oleObj>
          </a:graphicData>
        </a:graphic>
      </p:graphicFrame>
      <p:graphicFrame>
        <p:nvGraphicFramePr>
          <p:cNvPr id="239641" name="Object 25"/>
          <p:cNvGraphicFramePr>
            <a:graphicFrameLocks noChangeAspect="1"/>
          </p:cNvGraphicFramePr>
          <p:nvPr/>
        </p:nvGraphicFramePr>
        <p:xfrm>
          <a:off x="992187" y="5768975"/>
          <a:ext cx="1598613" cy="327025"/>
        </p:xfrm>
        <a:graphic>
          <a:graphicData uri="http://schemas.openxmlformats.org/presentationml/2006/ole">
            <p:oleObj spid="_x0000_s239641" name="Equation" r:id="rId7" imgW="1054100" imgH="215900" progId="Equation.3">
              <p:embed/>
            </p:oleObj>
          </a:graphicData>
        </a:graphic>
      </p:graphicFrame>
      <p:graphicFrame>
        <p:nvGraphicFramePr>
          <p:cNvPr id="239642" name="Object 26"/>
          <p:cNvGraphicFramePr>
            <a:graphicFrameLocks noChangeAspect="1"/>
          </p:cNvGraphicFramePr>
          <p:nvPr/>
        </p:nvGraphicFramePr>
        <p:xfrm>
          <a:off x="2438400" y="6207125"/>
          <a:ext cx="4625975" cy="269875"/>
        </p:xfrm>
        <a:graphic>
          <a:graphicData uri="http://schemas.openxmlformats.org/presentationml/2006/ole">
            <p:oleObj spid="_x0000_s239642" name="Equation" r:id="rId8" imgW="3060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81000"/>
            <a:ext cx="8039100" cy="9906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Parity Consideration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1"/>
            <a:ext cx="8305800" cy="5105400"/>
          </a:xfrm>
        </p:spPr>
        <p:txBody>
          <a:bodyPr>
            <a:normAutofit/>
          </a:bodyPr>
          <a:lstStyle/>
          <a:p>
            <a:r>
              <a:rPr lang="en-US" sz="2400"/>
              <a:t>The parity      associated with the electric dipole is –1 whereas the parities for the magnetic dipole and the electric quadrupole are both                 . Due to the parity conservation, we should have                 . Therefore, </a:t>
            </a:r>
            <a:endParaRPr lang="ko-KR" altLang="en-US" sz="2400"/>
          </a:p>
        </p:txBody>
      </p:sp>
      <p:graphicFrame>
        <p:nvGraphicFramePr>
          <p:cNvPr id="261125" name="Object 5"/>
          <p:cNvGraphicFramePr>
            <a:graphicFrameLocks noChangeAspect="1"/>
          </p:cNvGraphicFramePr>
          <p:nvPr/>
        </p:nvGraphicFramePr>
        <p:xfrm>
          <a:off x="2397724" y="1506238"/>
          <a:ext cx="349250" cy="271463"/>
        </p:xfrm>
        <a:graphic>
          <a:graphicData uri="http://schemas.openxmlformats.org/presentationml/2006/ole">
            <p:oleObj spid="_x0000_s261125" name="Equation" r:id="rId4" imgW="228600" imgH="177800" progId="Equation.3">
              <p:embed/>
            </p:oleObj>
          </a:graphicData>
        </a:graphic>
      </p:graphicFrame>
      <p:graphicFrame>
        <p:nvGraphicFramePr>
          <p:cNvPr id="261126" name="Object 6"/>
          <p:cNvGraphicFramePr>
            <a:graphicFrameLocks noChangeAspect="1"/>
          </p:cNvGraphicFramePr>
          <p:nvPr/>
        </p:nvGraphicFramePr>
        <p:xfrm>
          <a:off x="4800600" y="2245324"/>
          <a:ext cx="1381125" cy="268288"/>
        </p:xfrm>
        <a:graphic>
          <a:graphicData uri="http://schemas.openxmlformats.org/presentationml/2006/ole">
            <p:oleObj spid="_x0000_s261126" name="Equation" r:id="rId5" imgW="914400" imgH="177800" progId="Equation.3">
              <p:embed/>
            </p:oleObj>
          </a:graphicData>
        </a:graphic>
      </p:graphicFrame>
      <p:graphicFrame>
        <p:nvGraphicFramePr>
          <p:cNvPr id="261127" name="Object 7"/>
          <p:cNvGraphicFramePr>
            <a:graphicFrameLocks noChangeAspect="1"/>
          </p:cNvGraphicFramePr>
          <p:nvPr/>
        </p:nvGraphicFramePr>
        <p:xfrm>
          <a:off x="5111750" y="2590800"/>
          <a:ext cx="1289050" cy="284163"/>
        </p:xfrm>
        <a:graphic>
          <a:graphicData uri="http://schemas.openxmlformats.org/presentationml/2006/ole">
            <p:oleObj spid="_x0000_s261127" name="Equation" r:id="rId6" imgW="863600" imgH="190500" progId="Equation.3">
              <p:embed/>
            </p:oleObj>
          </a:graphicData>
        </a:graphic>
      </p:graphicFrame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3352800" y="3048000"/>
          <a:ext cx="2300288" cy="608013"/>
        </p:xfrm>
        <a:graphic>
          <a:graphicData uri="http://schemas.openxmlformats.org/presentationml/2006/ole">
            <p:oleObj spid="_x0000_s261128" name="Equation" r:id="rId7" imgW="15367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81000"/>
            <a:ext cx="8039100" cy="9906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Spin Consideration</a:t>
            </a:r>
            <a:endParaRPr kumimoji="1" lang="ja-JP" altLang="en-US" sz="360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1"/>
            <a:ext cx="8305800" cy="51054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For </a:t>
            </a:r>
            <a:r>
              <a:rPr lang="en-US" sz="2400" i="1" dirty="0"/>
              <a:t>LS </a:t>
            </a:r>
            <a:r>
              <a:rPr lang="en-US" sz="2400" dirty="0"/>
              <a:t>coupling, the orbital and spin angular </a:t>
            </a:r>
            <a:r>
              <a:rPr lang="en-US" sz="2400" dirty="0" err="1"/>
              <a:t>momenta</a:t>
            </a:r>
            <a:r>
              <a:rPr lang="en-US" sz="2400" dirty="0"/>
              <a:t> are independent. </a:t>
            </a:r>
          </a:p>
          <a:p>
            <a:r>
              <a:rPr lang="en-US" sz="2400" dirty="0"/>
              <a:t>Since E1 and E2 are independent of spin, we must have </a:t>
            </a:r>
            <a:r>
              <a:rPr lang="en-US" sz="2400" dirty="0">
                <a:latin typeface="Symbol" charset="2"/>
                <a:cs typeface="Symbol" charset="2"/>
              </a:rPr>
              <a:t>D</a:t>
            </a:r>
            <a:r>
              <a:rPr lang="en-US" sz="2400" i="1" dirty="0"/>
              <a:t>S</a:t>
            </a:r>
            <a:r>
              <a:rPr lang="en-US" sz="2400" dirty="0"/>
              <a:t>=0 for these transitions, and thus                            for E1 and                                  for E2. </a:t>
            </a:r>
            <a:endParaRPr lang="ko-KR" altLang="en-US" sz="2400" dirty="0"/>
          </a:p>
          <a:p>
            <a:r>
              <a:rPr lang="en-US" sz="2400" dirty="0"/>
              <a:t>In the exact </a:t>
            </a:r>
            <a:r>
              <a:rPr lang="en-US" sz="2400" i="1" dirty="0"/>
              <a:t>LS</a:t>
            </a:r>
            <a:r>
              <a:rPr lang="en-US" sz="2400" dirty="0"/>
              <a:t> coupling, M1 cannot occur. Consider the matrix element for M1,</a:t>
            </a:r>
          </a:p>
          <a:p>
            <a:endParaRPr lang="ko-KR" altLang="en-US" sz="2400" dirty="0"/>
          </a:p>
          <a:p>
            <a:r>
              <a:rPr lang="en-US" sz="2400" dirty="0"/>
              <a:t>Since </a:t>
            </a:r>
            <a:r>
              <a:rPr lang="en-US" sz="2400" b="1" dirty="0"/>
              <a:t>L</a:t>
            </a:r>
            <a:r>
              <a:rPr lang="en-US" sz="2400" dirty="0"/>
              <a:t> and </a:t>
            </a:r>
            <a:r>
              <a:rPr lang="en-US" sz="2400" b="1" dirty="0"/>
              <a:t>S</a:t>
            </a:r>
            <a:r>
              <a:rPr lang="en-US" sz="2400" dirty="0"/>
              <a:t> does not change </a:t>
            </a:r>
            <a:r>
              <a:rPr lang="en-US" sz="2400" i="1" dirty="0"/>
              <a:t>L</a:t>
            </a:r>
            <a:r>
              <a:rPr lang="en-US" sz="2400" dirty="0"/>
              <a:t> and </a:t>
            </a:r>
            <a:r>
              <a:rPr lang="en-US" sz="2400" i="1" dirty="0"/>
              <a:t>S</a:t>
            </a:r>
            <a:r>
              <a:rPr lang="en-US" sz="2400" dirty="0"/>
              <a:t> values </a:t>
            </a:r>
            <a:r>
              <a:rPr lang="en-US" sz="2400" dirty="0" smtClean="0"/>
              <a:t>in              ,               </a:t>
            </a:r>
            <a:r>
              <a:rPr lang="en-US" sz="2400" dirty="0"/>
              <a:t>. However, in the </a:t>
            </a:r>
            <a:r>
              <a:rPr lang="en-US" sz="2400" i="1" dirty="0"/>
              <a:t>LS</a:t>
            </a:r>
            <a:r>
              <a:rPr lang="en-US" sz="2400" dirty="0"/>
              <a:t> coupling scheme, the states with the same </a:t>
            </a:r>
            <a:r>
              <a:rPr lang="en-US" sz="2400" i="1" dirty="0"/>
              <a:t>L </a:t>
            </a:r>
            <a:r>
              <a:rPr lang="en-US" sz="2400" dirty="0"/>
              <a:t>and </a:t>
            </a:r>
            <a:r>
              <a:rPr lang="en-US" sz="2400" i="1" dirty="0"/>
              <a:t>S</a:t>
            </a:r>
            <a:r>
              <a:rPr lang="en-US" sz="2400" dirty="0"/>
              <a:t> are degenerate. Therefore, the transition photon should have a zero energy, meaning that the matrix element should vanish. </a:t>
            </a:r>
            <a:endParaRPr lang="ko-KR" altLang="en-US" sz="2400" dirty="0"/>
          </a:p>
        </p:txBody>
      </p:sp>
      <p:graphicFrame>
        <p:nvGraphicFramePr>
          <p:cNvPr id="263174" name="Object 6"/>
          <p:cNvGraphicFramePr>
            <a:graphicFrameLocks noChangeAspect="1"/>
          </p:cNvGraphicFramePr>
          <p:nvPr/>
        </p:nvGraphicFramePr>
        <p:xfrm>
          <a:off x="5925838" y="2577755"/>
          <a:ext cx="1997075" cy="268288"/>
        </p:xfrm>
        <a:graphic>
          <a:graphicData uri="http://schemas.openxmlformats.org/presentationml/2006/ole">
            <p:oleObj spid="_x0000_s263174" name="Equation" r:id="rId4" imgW="1320800" imgH="177800" progId="Equation.3">
              <p:embed/>
            </p:oleObj>
          </a:graphicData>
        </a:graphic>
      </p:graphicFrame>
      <p:graphicFrame>
        <p:nvGraphicFramePr>
          <p:cNvPr id="263175" name="Object 7"/>
          <p:cNvGraphicFramePr>
            <a:graphicFrameLocks noChangeAspect="1"/>
          </p:cNvGraphicFramePr>
          <p:nvPr/>
        </p:nvGraphicFramePr>
        <p:xfrm>
          <a:off x="2077243" y="2876850"/>
          <a:ext cx="2398713" cy="268288"/>
        </p:xfrm>
        <a:graphic>
          <a:graphicData uri="http://schemas.openxmlformats.org/presentationml/2006/ole">
            <p:oleObj spid="_x0000_s263175" name="Equation" r:id="rId5" imgW="1587500" imgH="177800" progId="Equation.3">
              <p:embed/>
            </p:oleObj>
          </a:graphicData>
        </a:graphic>
      </p:graphicFrame>
      <p:graphicFrame>
        <p:nvGraphicFramePr>
          <p:cNvPr id="263176" name="Object 8"/>
          <p:cNvGraphicFramePr>
            <a:graphicFrameLocks noChangeAspect="1"/>
          </p:cNvGraphicFramePr>
          <p:nvPr/>
        </p:nvGraphicFramePr>
        <p:xfrm>
          <a:off x="3276600" y="3959225"/>
          <a:ext cx="2849563" cy="307975"/>
        </p:xfrm>
        <a:graphic>
          <a:graphicData uri="http://schemas.openxmlformats.org/presentationml/2006/ole">
            <p:oleObj spid="_x0000_s263176" name="Equation" r:id="rId6" imgW="1879600" imgH="203200" progId="Equation.3">
              <p:embed/>
            </p:oleObj>
          </a:graphicData>
        </a:graphic>
      </p:graphicFrame>
      <p:graphicFrame>
        <p:nvGraphicFramePr>
          <p:cNvPr id="263179" name="Object 11"/>
          <p:cNvGraphicFramePr>
            <a:graphicFrameLocks noChangeAspect="1"/>
          </p:cNvGraphicFramePr>
          <p:nvPr/>
        </p:nvGraphicFramePr>
        <p:xfrm>
          <a:off x="1295400" y="4697187"/>
          <a:ext cx="1014413" cy="312738"/>
        </p:xfrm>
        <a:graphic>
          <a:graphicData uri="http://schemas.openxmlformats.org/presentationml/2006/ole">
            <p:oleObj spid="_x0000_s263179" name="Equation" r:id="rId7" imgW="698500" imgH="215900" progId="Equation.3">
              <p:embed/>
            </p:oleObj>
          </a:graphicData>
        </a:graphic>
      </p:graphicFrame>
      <p:graphicFrame>
        <p:nvGraphicFramePr>
          <p:cNvPr id="263180" name="Object 12"/>
          <p:cNvGraphicFramePr>
            <a:graphicFrameLocks noChangeAspect="1"/>
          </p:cNvGraphicFramePr>
          <p:nvPr/>
        </p:nvGraphicFramePr>
        <p:xfrm>
          <a:off x="2508250" y="4760912"/>
          <a:ext cx="1225550" cy="192088"/>
        </p:xfrm>
        <a:graphic>
          <a:graphicData uri="http://schemas.openxmlformats.org/presentationml/2006/ole">
            <p:oleObj spid="_x0000_s263180" name="Equation" r:id="rId8" imgW="812800" imgH="127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5791200"/>
          </a:xfrm>
        </p:spPr>
        <p:txBody>
          <a:bodyPr>
            <a:noAutofit/>
          </a:bodyPr>
          <a:lstStyle/>
          <a:p>
            <a:r>
              <a:rPr lang="en-US" sz="2400"/>
              <a:t>If we include the spin-orbit interaction, the energy of a state depends on </a:t>
            </a:r>
            <a:r>
              <a:rPr lang="en-US" sz="2400" i="1"/>
              <a:t>J</a:t>
            </a:r>
            <a:r>
              <a:rPr lang="en-US" sz="2400"/>
              <a:t>, so the above matrix element does not vanish. In this case the matrix element for M1 is given by</a:t>
            </a:r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and the selection rule becomes           . </a:t>
            </a:r>
            <a:r>
              <a:rPr lang="en-US" sz="2400">
                <a:latin typeface="Symbol" charset="2"/>
                <a:cs typeface="Symbol" charset="2"/>
              </a:rPr>
              <a:t>D</a:t>
            </a:r>
            <a:r>
              <a:rPr lang="en-US" sz="2400" i="1"/>
              <a:t>J</a:t>
            </a:r>
            <a:r>
              <a:rPr lang="en-US" sz="2400"/>
              <a:t>=0 is not allowed since the same-</a:t>
            </a:r>
            <a:r>
              <a:rPr lang="en-US" sz="2400" i="1"/>
              <a:t>J</a:t>
            </a:r>
            <a:r>
              <a:rPr lang="en-US" sz="2400"/>
              <a:t> states are degenerate. </a:t>
            </a:r>
            <a:endParaRPr lang="ko-KR" altLang="en-US" sz="2400"/>
          </a:p>
          <a:p>
            <a:endParaRPr lang="ko-KR" altLang="en-US" sz="2400"/>
          </a:p>
          <a:p>
            <a:endParaRPr lang="en-US" altLang="ko-KR" sz="2400"/>
          </a:p>
        </p:txBody>
      </p:sp>
      <p:graphicFrame>
        <p:nvGraphicFramePr>
          <p:cNvPr id="225303" name="Object 23"/>
          <p:cNvGraphicFramePr>
            <a:graphicFrameLocks noChangeAspect="1"/>
          </p:cNvGraphicFramePr>
          <p:nvPr/>
        </p:nvGraphicFramePr>
        <p:xfrm>
          <a:off x="3200400" y="2133600"/>
          <a:ext cx="2370138" cy="307975"/>
        </p:xfrm>
        <a:graphic>
          <a:graphicData uri="http://schemas.openxmlformats.org/presentationml/2006/ole">
            <p:oleObj spid="_x0000_s225303" name="Equation" r:id="rId3" imgW="1562100" imgH="203200" progId="Equation.3">
              <p:embed/>
            </p:oleObj>
          </a:graphicData>
        </a:graphic>
      </p:graphicFrame>
      <p:graphicFrame>
        <p:nvGraphicFramePr>
          <p:cNvPr id="225304" name="Object 24"/>
          <p:cNvGraphicFramePr>
            <a:graphicFrameLocks noChangeAspect="1"/>
          </p:cNvGraphicFramePr>
          <p:nvPr/>
        </p:nvGraphicFramePr>
        <p:xfrm>
          <a:off x="5284443" y="2693643"/>
          <a:ext cx="792163" cy="192088"/>
        </p:xfrm>
        <a:graphic>
          <a:graphicData uri="http://schemas.openxmlformats.org/presentationml/2006/ole">
            <p:oleObj spid="_x0000_s225304" name="Equation" r:id="rId4" imgW="520700" imgH="127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57200"/>
            <a:ext cx="6654800" cy="47507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5477470"/>
            <a:ext cx="784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Table 1</a:t>
            </a:r>
            <a:r>
              <a:rPr lang="en-US"/>
              <a:t>. Selection rules for radiative transitions from an initial state </a:t>
            </a:r>
            <a:r>
              <a:rPr lang="en-US" i="1"/>
              <a:t>a</a:t>
            </a:r>
            <a:r>
              <a:rPr lang="en-US"/>
              <a:t> to a final state </a:t>
            </a:r>
            <a:r>
              <a:rPr lang="en-US" i="1"/>
              <a:t>b</a:t>
            </a:r>
            <a:r>
              <a:rPr lang="en-US"/>
              <a:t>. For exact </a:t>
            </a:r>
            <a:r>
              <a:rPr lang="en-US" i="1"/>
              <a:t>LS</a:t>
            </a:r>
            <a:r>
              <a:rPr lang="en-US"/>
              <a:t> coupling there are no M1 transitions. </a:t>
            </a:r>
            <a:r>
              <a:rPr lang="en-US">
                <a:latin typeface="Symbol" charset="2"/>
                <a:cs typeface="Symbol" charset="2"/>
              </a:rPr>
              <a:t>D</a:t>
            </a:r>
            <a:r>
              <a:rPr lang="en-US" i="1"/>
              <a:t>l</a:t>
            </a:r>
            <a:r>
              <a:rPr lang="en-US"/>
              <a:t> referes to one electron transitions.</a:t>
            </a:r>
            <a:r>
              <a:rPr lang="ko-KR"/>
              <a:t> </a:t>
            </a:r>
            <a:r>
              <a:rPr lang="en-US"/>
              <a:t>In this case parity requirement restricts </a:t>
            </a:r>
            <a:r>
              <a:rPr lang="en-US">
                <a:latin typeface="Symbol" charset="2"/>
                <a:cs typeface="Symbol" charset="2"/>
              </a:rPr>
              <a:t>D</a:t>
            </a:r>
            <a:r>
              <a:rPr lang="en-US" i="1"/>
              <a:t>l</a:t>
            </a:r>
            <a:r>
              <a:rPr lang="en-US"/>
              <a:t> values.</a:t>
            </a:r>
            <a:r>
              <a:rPr lang="ko-KR" altLang="en-US"/>
              <a:t> 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924</TotalTime>
  <Words>476</Words>
  <Application>Microsoft Macintosh PowerPoint</Application>
  <PresentationFormat>On-screen Show (4:3)</PresentationFormat>
  <Paragraphs>57</Paragraphs>
  <Slides>9</Slides>
  <Notes>4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Technic</vt:lpstr>
      <vt:lpstr>Equation</vt:lpstr>
      <vt:lpstr>Microsoft Equation</vt:lpstr>
      <vt:lpstr>Atomic and Molecular Physics  Lecture 20</vt:lpstr>
      <vt:lpstr>Slide 2</vt:lpstr>
      <vt:lpstr>Slide 3</vt:lpstr>
      <vt:lpstr>Slide 4</vt:lpstr>
      <vt:lpstr>3.3 Selection Rules</vt:lpstr>
      <vt:lpstr>Slide 6</vt:lpstr>
      <vt:lpstr>Slide 7</vt:lpstr>
      <vt:lpstr>Slide 8</vt:lpstr>
      <vt:lpstr>Slide 9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67</cp:revision>
  <dcterms:created xsi:type="dcterms:W3CDTF">2009-11-16T14:40:54Z</dcterms:created>
  <dcterms:modified xsi:type="dcterms:W3CDTF">2009-11-16T14:47:30Z</dcterms:modified>
</cp:coreProperties>
</file>