
<file path=[Content_Types].xml><?xml version="1.0" encoding="utf-8"?>
<Types xmlns="http://schemas.openxmlformats.org/package/2006/content-types">
  <Default Extension="pict" ContentType="image/pict"/>
  <Override PartName="/ppt/embeddings/Microsoft_Equation12.bin" ContentType="application/vnd.openxmlformats-officedocument.oleObject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5.xml" ContentType="application/vnd.openxmlformats-officedocument.presentationml.slide+xml"/>
  <Override PartName="/ppt/embeddings/Microsoft_Equation7.bin" ContentType="application/vnd.openxmlformats-officedocument.oleObject"/>
  <Default Extension="rels" ContentType="application/vnd.openxmlformats-package.relationships+xml"/>
  <Default Extension="jpeg" ContentType="image/jpeg"/>
  <Override PartName="/ppt/slides/slide10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embeddings/Microsoft_Equation3.bin" ContentType="application/vnd.openxmlformats-officedocument.oleObject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Default Extension="xml" ContentType="application/xml"/>
  <Override PartName="/ppt/tableStyles.xml" ContentType="application/vnd.openxmlformats-officedocument.presentationml.tableStyles+xml"/>
  <Override PartName="/ppt/embeddings/Microsoft_Equation13.bin" ContentType="application/vnd.openxmlformats-officedocument.oleObject"/>
  <Override PartName="/ppt/slides/slide15.xml" ContentType="application/vnd.openxmlformats-officedocument.presentationml.slide+xml"/>
  <Override PartName="/ppt/embeddings/Microsoft_Equation8.bin" ContentType="application/vnd.openxmlformats-officedocument.oleObject"/>
  <Override PartName="/ppt/slides/slide6.xml" ContentType="application/vnd.openxmlformats-officedocument.presentationml.slide+xml"/>
  <Override PartName="/docProps/core.xml" ContentType="application/vnd.openxmlformats-package.core-properties+xml"/>
  <Override PartName="/ppt/slides/slide11.xml" ContentType="application/vnd.openxmlformats-officedocument.presentationml.slide+xml"/>
  <Override PartName="/ppt/slideLayouts/slideLayout6.xml" ContentType="application/vnd.openxmlformats-officedocument.presentationml.slideLayout+xml"/>
  <Override PartName="/ppt/embeddings/Microsoft_Equation4.bin" ContentType="application/vnd.openxmlformats-officedocument.oleObject"/>
  <Override PartName="/ppt/slides/slide2.xml" ContentType="application/vnd.openxmlformats-officedocument.presentationml.slide+xml"/>
  <Override PartName="/ppt/slideLayouts/slideLayout2.xml" ContentType="application/vnd.openxmlformats-officedocument.presentationml.slideLayout+xml"/>
  <Override PartName="/ppt/embeddings/Microsoft_Equation14.bin" ContentType="application/vnd.openxmlformats-officedocument.oleObject"/>
  <Override PartName="/ppt/embeddings/Microsoft_Equation10.bin" ContentType="application/vnd.openxmlformats-officedocument.oleObject"/>
  <Override PartName="/ppt/slides/slide7.xml" ContentType="application/vnd.openxmlformats-officedocument.presentationml.slide+xml"/>
  <Override PartName="/ppt/embeddings/Microsoft_Equation9.bin" ContentType="application/vnd.openxmlformats-officedocument.oleObject"/>
  <Override PartName="/ppt/presentation.xml" ContentType="application/vnd.openxmlformats-officedocument.presentationml.presentation.main+xml"/>
  <Override PartName="/ppt/slides/slide12.xml" ContentType="application/vnd.openxmlformats-officedocument.presentationml.slide+xml"/>
  <Override PartName="/ppt/slideLayouts/slideLayout7.xml" ContentType="application/vnd.openxmlformats-officedocument.presentationml.slideLayout+xml"/>
  <Default Extension="vml" ContentType="application/vnd.openxmlformats-officedocument.vmlDrawing"/>
  <Override PartName="/ppt/slides/slide3.xml" ContentType="application/vnd.openxmlformats-officedocument.presentationml.slide+xml"/>
  <Override PartName="/ppt/embeddings/Microsoft_Equation5.bin" ContentType="application/vnd.openxmlformats-officedocument.oleObject"/>
  <Override PartName="/ppt/slideLayouts/slideLayout3.xml" ContentType="application/vnd.openxmlformats-officedocument.presentationml.slideLayout+xml"/>
  <Override PartName="/ppt/embeddings/Microsoft_Equation1.bin" ContentType="application/vnd.openxmlformats-officedocument.oleObject"/>
  <Override PartName="/ppt/embeddings/Microsoft_Equation15.bin" ContentType="application/vnd.openxmlformats-officedocument.oleObject"/>
  <Override PartName="/ppt/embeddings/Microsoft_Equation11.bin" ContentType="application/vnd.openxmlformats-officedocument.oleObject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embeddings/Microsoft_Equation6.bin" ContentType="application/vnd.openxmlformats-officedocument.oleObject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embeddings/Microsoft_Equation2.bin" ContentType="application/vnd.openxmlformats-officedocument.oleObject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bin" ContentType="application/vnd.openxmlformats-officedocument.presentationml.printerSettings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829" r:id="rId1"/>
  </p:sldMasterIdLst>
  <p:sldIdLst>
    <p:sldId id="256" r:id="rId2"/>
    <p:sldId id="277" r:id="rId3"/>
    <p:sldId id="273" r:id="rId4"/>
    <p:sldId id="275" r:id="rId5"/>
    <p:sldId id="276" r:id="rId6"/>
    <p:sldId id="265" r:id="rId7"/>
    <p:sldId id="266" r:id="rId8"/>
    <p:sldId id="278" r:id="rId9"/>
    <p:sldId id="279" r:id="rId10"/>
    <p:sldId id="268" r:id="rId11"/>
    <p:sldId id="267" r:id="rId12"/>
    <p:sldId id="280" r:id="rId13"/>
    <p:sldId id="281" r:id="rId14"/>
    <p:sldId id="282" r:id="rId15"/>
    <p:sldId id="283" r:id="rId16"/>
  </p:sldIdLst>
  <p:sldSz cx="9144000" cy="6858000" type="screen4x3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showPr showNarration="1" useTimings="0">
    <p:present/>
    <p:sldAll/>
    <p:penClr>
      <a:schemeClr val="tx1"/>
    </p:penClr>
  </p:showPr>
  <p:clrMru>
    <a:srgbClr val="00FF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>
    <p:restoredLeft sz="15620"/>
    <p:restoredTop sz="94660"/>
  </p:normalViewPr>
  <p:slideViewPr>
    <p:cSldViewPr snapToObjects="1">
      <p:cViewPr varScale="1">
        <p:scale>
          <a:sx n="140" d="100"/>
          <a:sy n="140" d="100"/>
        </p:scale>
        <p:origin x="-53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printerSettings" Target="printerSettings/printerSettings1.bin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ict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ict"/><Relationship Id="rId2" Type="http://schemas.openxmlformats.org/officeDocument/2006/relationships/image" Target="../media/image3.pict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ict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pict"/><Relationship Id="rId4" Type="http://schemas.openxmlformats.org/officeDocument/2006/relationships/image" Target="../media/image9.pict"/><Relationship Id="rId5" Type="http://schemas.openxmlformats.org/officeDocument/2006/relationships/image" Target="../media/image10.pict"/><Relationship Id="rId1" Type="http://schemas.openxmlformats.org/officeDocument/2006/relationships/image" Target="../media/image6.pict"/><Relationship Id="rId2" Type="http://schemas.openxmlformats.org/officeDocument/2006/relationships/image" Target="../media/image7.pict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ict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pict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ict"/><Relationship Id="rId4" Type="http://schemas.openxmlformats.org/officeDocument/2006/relationships/image" Target="../media/image18.pict"/><Relationship Id="rId1" Type="http://schemas.openxmlformats.org/officeDocument/2006/relationships/image" Target="../media/image15.pict"/><Relationship Id="rId2" Type="http://schemas.openxmlformats.org/officeDocument/2006/relationships/image" Target="../media/image16.pict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pict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altLang="ja-JP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09.10.27</a:t>
            </a:fld>
            <a:endParaRPr lang="ja-JP" alt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41667-7291-42E8-B00B-345BA5840895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09.10.27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B4A3-4212-4E39-93DE-E053E8F69C28}" type="datetimeFigureOut">
              <a:rPr lang="en-US" altLang="ja-JP" smtClean="0"/>
              <a:pPr/>
              <a:t>09.10.27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CDF73-85D2-4237-9B32-053DBDB0C312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09.10.27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09.10.27</a:t>
            </a:fld>
            <a:endParaRPr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09.10.27</a:t>
            </a:fld>
            <a:endParaRPr lang="ja-JP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09.10.27</a:t>
            </a:fld>
            <a:endParaRPr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09.10.27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altLang="ja-JP" dirty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66E5988B-D4EB-4E73-AE89-924C64C03B8C}" type="datetimeFigureOut">
              <a:rPr lang="ko-KR" altLang="ja-JP"/>
              <a:pPr/>
              <a:t>09.10.27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09.10.27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09.10.27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en-US" altLang="ja-JP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altLang="ja-JP" smtClean="0"/>
              <a:t>Click to edit Master text styles</a:t>
            </a:r>
          </a:p>
          <a:p>
            <a:pPr lvl="1" eaLnBrk="1" latinLnBrk="0" hangingPunct="1"/>
            <a:r>
              <a:rPr kumimoji="0" lang="en-US" altLang="ja-JP" smtClean="0"/>
              <a:t>Second level</a:t>
            </a:r>
          </a:p>
          <a:p>
            <a:pPr lvl="2" eaLnBrk="1" latinLnBrk="0" hangingPunct="1"/>
            <a:r>
              <a:rPr kumimoji="0" lang="en-US" altLang="ja-JP" smtClean="0"/>
              <a:t>Third level</a:t>
            </a:r>
          </a:p>
          <a:p>
            <a:pPr lvl="3" eaLnBrk="1" latinLnBrk="0" hangingPunct="1"/>
            <a:r>
              <a:rPr kumimoji="0" lang="en-US" altLang="ja-JP" smtClean="0"/>
              <a:t>Fourth level</a:t>
            </a:r>
          </a:p>
          <a:p>
            <a:pPr lvl="4" eaLnBrk="1" latinLnBrk="0" hangingPunct="1"/>
            <a:r>
              <a:rPr kumimoji="0" lang="en-US" altLang="ja-JP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66E5988B-D4EB-4E73-AE89-924C64C03B8C}" type="datetimeFigureOut">
              <a:rPr lang="ko-KR" altLang="ja-JP"/>
              <a:pPr/>
              <a:t>09.10.27</a:t>
            </a:fld>
            <a:endParaRPr lang="ja-JP" alt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ja-JP" alt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</p:sldLayoutIdLst>
  <p:txStyles>
    <p:titleStyle>
      <a:lvl1pPr algn="l" rtl="0" eaLnBrk="1" latinLnBrk="0" hangingPunct="1">
        <a:spcBef>
          <a:spcPct val="0"/>
        </a:spcBef>
        <a:buNone/>
        <a:defRPr kumimoji="1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1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1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1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2.bin"/><Relationship Id="rId4" Type="http://schemas.openxmlformats.org/officeDocument/2006/relationships/oleObject" Target="../embeddings/Microsoft_Equation3.bin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4.bin"/><Relationship Id="rId4" Type="http://schemas.openxmlformats.org/officeDocument/2006/relationships/image" Target="../media/image5.jpeg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5.bin"/><Relationship Id="rId4" Type="http://schemas.openxmlformats.org/officeDocument/2006/relationships/oleObject" Target="../embeddings/Microsoft_Equation6.bin"/><Relationship Id="rId5" Type="http://schemas.openxmlformats.org/officeDocument/2006/relationships/image" Target="../media/image11.jpeg"/><Relationship Id="rId6" Type="http://schemas.openxmlformats.org/officeDocument/2006/relationships/oleObject" Target="../embeddings/Microsoft_Equation7.bin"/><Relationship Id="rId7" Type="http://schemas.openxmlformats.org/officeDocument/2006/relationships/oleObject" Target="../embeddings/Microsoft_Equation8.bin"/><Relationship Id="rId8" Type="http://schemas.openxmlformats.org/officeDocument/2006/relationships/oleObject" Target="../embeddings/Microsoft_Equation9.bin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10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11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12.bin"/><Relationship Id="rId4" Type="http://schemas.openxmlformats.org/officeDocument/2006/relationships/oleObject" Target="../embeddings/Microsoft_Equation13.bin"/><Relationship Id="rId5" Type="http://schemas.openxmlformats.org/officeDocument/2006/relationships/oleObject" Target="../embeddings/Microsoft_Equation14.bin"/><Relationship Id="rId6" Type="http://schemas.openxmlformats.org/officeDocument/2006/relationships/oleObject" Target="../embeddings/Microsoft_Equation15.bin"/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vmlDrawing" Target="../drawings/vmlDrawing8.vml"/><Relationship Id="rId2" Type="http://schemas.openxmlformats.org/officeDocument/2006/relationships/slideLayout" Target="../slideLayouts/slideLayout2.xml"/><Relationship Id="rId3" Type="http://schemas.openxmlformats.org/officeDocument/2006/relationships/oleObject" Target="Users:Users:kwan:Documents:Classes/Lectures:atomic%20physics%20class:lecture%20note:Chapter%202%20N-Electron%20Atoms!OLE_LINK6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606040"/>
          </a:xfrm>
        </p:spPr>
        <p:txBody>
          <a:bodyPr>
            <a:noAutofit/>
          </a:bodyPr>
          <a:lstStyle/>
          <a:p>
            <a:r>
              <a:rPr lang="en-US" altLang="ja-JP" sz="4400" dirty="0"/>
              <a:t>Atomic and Molecular Physics</a:t>
            </a:r>
            <a:r>
              <a:rPr altLang="ja-JP" sz="4400" dirty="0"/>
              <a:t/>
            </a:r>
            <a:br>
              <a:rPr altLang="ja-JP" sz="4400" dirty="0"/>
            </a:br>
            <a:r>
              <a:rPr altLang="ja-JP" sz="4400" dirty="0"/>
              <a:t/>
            </a:r>
            <a:br>
              <a:rPr altLang="ja-JP" sz="4400" dirty="0"/>
            </a:br>
            <a:r>
              <a:rPr altLang="ja-JP" sz="3200" dirty="0">
                <a:solidFill>
                  <a:srgbClr val="00FF00"/>
                </a:solidFill>
              </a:rPr>
              <a:t>Lecture </a:t>
            </a:r>
            <a:r>
              <a:rPr altLang="ja-JP" sz="3200" dirty="0" smtClean="0">
                <a:solidFill>
                  <a:srgbClr val="00FF00"/>
                </a:solidFill>
              </a:rPr>
              <a:t>1</a:t>
            </a:r>
            <a:r>
              <a:rPr lang="en-US" altLang="ko-KR" sz="3200" dirty="0" smtClean="0">
                <a:solidFill>
                  <a:srgbClr val="00FF00"/>
                </a:solidFill>
              </a:rPr>
              <a:t>6</a:t>
            </a:r>
            <a:endParaRPr lang="ja-JP" altLang="en-US" sz="3200" dirty="0">
              <a:solidFill>
                <a:srgbClr val="00FF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Prof. Kyungwon An</a:t>
            </a:r>
          </a:p>
          <a:p>
            <a:r>
              <a:rPr lang="en-US" altLang="ja-JP" dirty="0"/>
              <a:t>Department of Physics and Astronomy</a:t>
            </a:r>
          </a:p>
          <a:p>
            <a:r>
              <a:rPr lang="en-US" altLang="ja-JP" dirty="0"/>
              <a:t>Seoul National University</a:t>
            </a:r>
            <a:endParaRPr lang="ja-JP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3238"/>
            <a:ext cx="7467600" cy="944562"/>
          </a:xfrm>
        </p:spPr>
        <p:txBody>
          <a:bodyPr>
            <a:noAutofit/>
          </a:bodyPr>
          <a:lstStyle/>
          <a:p>
            <a:r>
              <a:rPr lang="en-US" sz="4000" i="1" dirty="0" smtClean="0">
                <a:latin typeface="Times New Roman"/>
                <a:cs typeface="Times New Roman"/>
              </a:rPr>
              <a:t>Terms from a Configuration of </a:t>
            </a:r>
            <a:r>
              <a:rPr lang="en-US" sz="4000" i="1" dirty="0" err="1" smtClean="0">
                <a:latin typeface="Times New Roman"/>
                <a:cs typeface="Times New Roman"/>
              </a:rPr>
              <a:t>n</a:t>
            </a:r>
            <a:r>
              <a:rPr lang="en-US" sz="4000" i="1" dirty="0" smtClean="0">
                <a:latin typeface="Times New Roman"/>
                <a:cs typeface="Times New Roman"/>
              </a:rPr>
              <a:t> Electrons</a:t>
            </a:r>
            <a:r>
              <a:rPr lang="ko-KR" altLang="en-US" sz="4000" i="1" dirty="0" smtClean="0">
                <a:latin typeface="Times New Roman"/>
                <a:cs typeface="Times New Roman"/>
              </a:rPr>
              <a:t> </a:t>
            </a:r>
            <a:endParaRPr lang="ja-JP" altLang="en-US" sz="4000" i="1" dirty="0">
              <a:latin typeface="Times New Roman"/>
              <a:cs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305800" cy="3733800"/>
          </a:xfrm>
        </p:spPr>
        <p:txBody>
          <a:bodyPr>
            <a:noAutofit/>
          </a:bodyPr>
          <a:lstStyle/>
          <a:p>
            <a:pPr lvl="0"/>
            <a:r>
              <a:rPr lang="en-US" sz="2400" dirty="0" smtClean="0"/>
              <a:t>For nonequivalent electrons, angular </a:t>
            </a:r>
            <a:r>
              <a:rPr lang="en-US" sz="2400" dirty="0" err="1" smtClean="0"/>
              <a:t>momenta</a:t>
            </a:r>
            <a:r>
              <a:rPr lang="en-US" sz="2400" dirty="0" smtClean="0"/>
              <a:t> can be coupled sequentially. </a:t>
            </a:r>
            <a:endParaRPr lang="ko-KR" altLang="en-US" sz="2400" dirty="0" smtClean="0"/>
          </a:p>
          <a:p>
            <a:pPr lvl="0"/>
            <a:r>
              <a:rPr lang="en-US" sz="2400" dirty="0" smtClean="0"/>
              <a:t>The result should be the same regardless of the order in which the electrons are coupled.</a:t>
            </a:r>
            <a:endParaRPr lang="ko-KR" altLang="en-US" sz="2400" dirty="0" smtClean="0"/>
          </a:p>
          <a:p>
            <a:pPr lvl="0"/>
            <a:r>
              <a:rPr lang="en-US" sz="2400" dirty="0" smtClean="0"/>
              <a:t>For equivalent electrons, the Pauli principle forbids certain terms from appearing.</a:t>
            </a:r>
            <a:endParaRPr lang="ko-KR" altLang="en-US" sz="2400" dirty="0" smtClean="0"/>
          </a:p>
          <a:p>
            <a:pPr lvl="0"/>
            <a:r>
              <a:rPr lang="en-US" sz="2400" dirty="0" smtClean="0"/>
              <a:t>A simple bookkeeping scheme can be used to tell which terms are forbidden.</a:t>
            </a:r>
            <a:endParaRPr lang="ko-KR" altLang="en-US" sz="2400" dirty="0" smtClean="0"/>
          </a:p>
          <a:p>
            <a:endParaRPr lang="ko-KR" alt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Example 4</a:t>
            </a:r>
            <a:endParaRPr lang="ja-JP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077200" cy="5059361"/>
          </a:xfrm>
        </p:spPr>
        <p:txBody>
          <a:bodyPr>
            <a:normAutofit fontScale="77500" lnSpcReduction="20000"/>
          </a:bodyPr>
          <a:lstStyle/>
          <a:p>
            <a:pPr marL="53975" indent="-17463">
              <a:buNone/>
            </a:pPr>
            <a:r>
              <a:rPr lang="en-US" dirty="0" smtClean="0"/>
              <a:t>Consider </a:t>
            </a:r>
            <a:r>
              <a:rPr lang="en-US" dirty="0" smtClean="0"/>
              <a:t>a nonequivalent configuration, </a:t>
            </a:r>
            <a:r>
              <a:rPr lang="en-US" i="1" dirty="0" err="1" smtClean="0"/>
              <a:t>spd</a:t>
            </a:r>
            <a:r>
              <a:rPr lang="en-US" dirty="0" smtClean="0"/>
              <a:t>.</a:t>
            </a:r>
            <a:r>
              <a:rPr lang="en-US" dirty="0" smtClean="0"/>
              <a:t> </a:t>
            </a:r>
          </a:p>
          <a:p>
            <a:pPr marL="398463" indent="-361950"/>
            <a:r>
              <a:rPr lang="en-US" dirty="0" smtClean="0"/>
              <a:t>We </a:t>
            </a:r>
            <a:r>
              <a:rPr lang="en-US" dirty="0" smtClean="0"/>
              <a:t>first couple </a:t>
            </a:r>
            <a:r>
              <a:rPr lang="en-US" i="1" dirty="0" err="1" smtClean="0"/>
              <a:t>s</a:t>
            </a:r>
            <a:r>
              <a:rPr lang="en-US" dirty="0" smtClean="0"/>
              <a:t> &amp; </a:t>
            </a:r>
            <a:r>
              <a:rPr lang="en-US" i="1" dirty="0" err="1" smtClean="0"/>
              <a:t>p</a:t>
            </a:r>
            <a:r>
              <a:rPr lang="en-US" dirty="0" smtClean="0"/>
              <a:t>, and then couple the result and </a:t>
            </a:r>
            <a:r>
              <a:rPr lang="en-US" i="1" dirty="0" err="1" smtClean="0"/>
              <a:t>d</a:t>
            </a:r>
            <a:r>
              <a:rPr lang="en-US" dirty="0" smtClean="0"/>
              <a:t>.</a:t>
            </a:r>
            <a:endParaRPr lang="ko-KR" altLang="en-US" dirty="0" smtClean="0"/>
          </a:p>
          <a:p>
            <a:pPr>
              <a:buNone/>
            </a:pPr>
            <a:r>
              <a:rPr lang="en-US" dirty="0" smtClean="0"/>
              <a:t>	sp</a:t>
            </a:r>
            <a:r>
              <a:rPr lang="en-US" dirty="0" smtClean="0"/>
              <a:t>(</a:t>
            </a:r>
            <a:r>
              <a:rPr lang="en-US" baseline="30000" dirty="0" smtClean="0"/>
              <a:t>1</a:t>
            </a:r>
            <a:r>
              <a:rPr lang="en-US" dirty="0" smtClean="0"/>
              <a:t>P)d=</a:t>
            </a:r>
            <a:r>
              <a:rPr lang="en-US" baseline="30000" dirty="0" smtClean="0"/>
              <a:t>2</a:t>
            </a:r>
            <a:r>
              <a:rPr lang="en-US" dirty="0" smtClean="0"/>
              <a:t>P, </a:t>
            </a:r>
            <a:r>
              <a:rPr lang="en-US" baseline="30000" dirty="0" smtClean="0"/>
              <a:t>2</a:t>
            </a:r>
            <a:r>
              <a:rPr lang="en-US" dirty="0" smtClean="0"/>
              <a:t>D, </a:t>
            </a:r>
            <a:r>
              <a:rPr lang="en-US" baseline="30000" dirty="0" smtClean="0"/>
              <a:t>2</a:t>
            </a:r>
            <a:r>
              <a:rPr lang="en-US" dirty="0" smtClean="0"/>
              <a:t>F,</a:t>
            </a:r>
            <a:endParaRPr lang="ko-KR" altLang="en-US" dirty="0" smtClean="0"/>
          </a:p>
          <a:p>
            <a:pPr>
              <a:buNone/>
            </a:pPr>
            <a:r>
              <a:rPr lang="en-US" dirty="0" smtClean="0"/>
              <a:t>	sp</a:t>
            </a:r>
            <a:r>
              <a:rPr lang="en-US" dirty="0" smtClean="0"/>
              <a:t>(</a:t>
            </a:r>
            <a:r>
              <a:rPr lang="en-US" baseline="30000" dirty="0" smtClean="0"/>
              <a:t>3</a:t>
            </a:r>
            <a:r>
              <a:rPr lang="en-US" dirty="0" smtClean="0"/>
              <a:t>P)d=</a:t>
            </a:r>
            <a:r>
              <a:rPr lang="en-US" baseline="30000" dirty="0" smtClean="0"/>
              <a:t>2</a:t>
            </a:r>
            <a:r>
              <a:rPr lang="en-US" dirty="0" smtClean="0"/>
              <a:t>P, </a:t>
            </a:r>
            <a:r>
              <a:rPr lang="en-US" baseline="30000" dirty="0" smtClean="0"/>
              <a:t>2</a:t>
            </a:r>
            <a:r>
              <a:rPr lang="en-US" dirty="0" smtClean="0"/>
              <a:t>D, </a:t>
            </a:r>
            <a:r>
              <a:rPr lang="en-US" baseline="30000" dirty="0" smtClean="0"/>
              <a:t>2</a:t>
            </a:r>
            <a:r>
              <a:rPr lang="en-US" dirty="0" smtClean="0"/>
              <a:t>F</a:t>
            </a:r>
            <a:r>
              <a:rPr lang="en-US" baseline="30000" dirty="0" smtClean="0"/>
              <a:t> </a:t>
            </a:r>
            <a:r>
              <a:rPr lang="en-US" dirty="0" smtClean="0"/>
              <a:t>, </a:t>
            </a:r>
            <a:r>
              <a:rPr lang="en-US" baseline="30000" dirty="0" smtClean="0"/>
              <a:t>4</a:t>
            </a:r>
            <a:r>
              <a:rPr lang="en-US" dirty="0" smtClean="0"/>
              <a:t>P, </a:t>
            </a:r>
            <a:r>
              <a:rPr lang="en-US" baseline="30000" dirty="0" smtClean="0"/>
              <a:t>4</a:t>
            </a:r>
            <a:r>
              <a:rPr lang="en-US" dirty="0" smtClean="0"/>
              <a:t>D, </a:t>
            </a:r>
            <a:r>
              <a:rPr lang="en-US" baseline="30000" dirty="0" smtClean="0"/>
              <a:t>4</a:t>
            </a:r>
            <a:r>
              <a:rPr lang="en-US" dirty="0" smtClean="0"/>
              <a:t>F.</a:t>
            </a:r>
            <a:endParaRPr lang="ko-KR" altLang="en-US" dirty="0" smtClean="0"/>
          </a:p>
          <a:p>
            <a:r>
              <a:rPr lang="en-US" dirty="0" smtClean="0"/>
              <a:t>We can couple </a:t>
            </a:r>
            <a:r>
              <a:rPr lang="en-US" i="1" dirty="0" err="1" smtClean="0"/>
              <a:t>s</a:t>
            </a:r>
            <a:r>
              <a:rPr lang="en-US" dirty="0" smtClean="0"/>
              <a:t> &amp; </a:t>
            </a:r>
            <a:r>
              <a:rPr lang="en-US" i="1" dirty="0" err="1" smtClean="0"/>
              <a:t>d</a:t>
            </a:r>
            <a:r>
              <a:rPr lang="en-US" dirty="0" smtClean="0"/>
              <a:t>, and then couple the result and </a:t>
            </a:r>
            <a:r>
              <a:rPr lang="en-US" i="1" dirty="0" err="1" smtClean="0"/>
              <a:t>p</a:t>
            </a:r>
            <a:r>
              <a:rPr lang="en-US" dirty="0" smtClean="0"/>
              <a:t>.</a:t>
            </a:r>
            <a:endParaRPr lang="ko-KR" altLang="en-US" dirty="0" smtClean="0"/>
          </a:p>
          <a:p>
            <a:pPr>
              <a:buNone/>
            </a:pPr>
            <a:r>
              <a:rPr lang="en-US" dirty="0" smtClean="0"/>
              <a:t>	sd</a:t>
            </a:r>
            <a:r>
              <a:rPr lang="en-US" dirty="0" smtClean="0"/>
              <a:t>(</a:t>
            </a:r>
            <a:r>
              <a:rPr lang="en-US" baseline="30000" dirty="0" smtClean="0"/>
              <a:t>1</a:t>
            </a:r>
            <a:r>
              <a:rPr lang="en-US" dirty="0" smtClean="0"/>
              <a:t>D)p=</a:t>
            </a:r>
            <a:r>
              <a:rPr lang="en-US" baseline="30000" dirty="0" smtClean="0"/>
              <a:t>2</a:t>
            </a:r>
            <a:r>
              <a:rPr lang="en-US" dirty="0" smtClean="0"/>
              <a:t>P, </a:t>
            </a:r>
            <a:r>
              <a:rPr lang="en-US" baseline="30000" dirty="0" smtClean="0"/>
              <a:t>2</a:t>
            </a:r>
            <a:r>
              <a:rPr lang="en-US" dirty="0" smtClean="0"/>
              <a:t>D, </a:t>
            </a:r>
            <a:r>
              <a:rPr lang="en-US" baseline="30000" dirty="0" smtClean="0"/>
              <a:t>2</a:t>
            </a:r>
            <a:r>
              <a:rPr lang="en-US" dirty="0" smtClean="0"/>
              <a:t>F,</a:t>
            </a:r>
            <a:endParaRPr lang="ko-KR" altLang="en-US" dirty="0" smtClean="0"/>
          </a:p>
          <a:p>
            <a:pPr>
              <a:buNone/>
            </a:pPr>
            <a:r>
              <a:rPr lang="en-US" dirty="0" smtClean="0"/>
              <a:t>	sd</a:t>
            </a:r>
            <a:r>
              <a:rPr lang="en-US" dirty="0" smtClean="0"/>
              <a:t>(</a:t>
            </a:r>
            <a:r>
              <a:rPr lang="en-US" baseline="30000" dirty="0" smtClean="0"/>
              <a:t>3</a:t>
            </a:r>
            <a:r>
              <a:rPr lang="en-US" dirty="0" smtClean="0"/>
              <a:t>D)p=</a:t>
            </a:r>
            <a:r>
              <a:rPr lang="en-US" baseline="30000" dirty="0" smtClean="0"/>
              <a:t>2</a:t>
            </a:r>
            <a:r>
              <a:rPr lang="en-US" dirty="0" smtClean="0"/>
              <a:t>P, </a:t>
            </a:r>
            <a:r>
              <a:rPr lang="en-US" baseline="30000" dirty="0" smtClean="0"/>
              <a:t>2</a:t>
            </a:r>
            <a:r>
              <a:rPr lang="en-US" dirty="0" smtClean="0"/>
              <a:t>D, </a:t>
            </a:r>
            <a:r>
              <a:rPr lang="en-US" baseline="30000" dirty="0" smtClean="0"/>
              <a:t>2</a:t>
            </a:r>
            <a:r>
              <a:rPr lang="en-US" dirty="0" smtClean="0"/>
              <a:t>F</a:t>
            </a:r>
            <a:r>
              <a:rPr lang="en-US" baseline="30000" dirty="0" smtClean="0"/>
              <a:t> </a:t>
            </a:r>
            <a:r>
              <a:rPr lang="en-US" dirty="0" smtClean="0"/>
              <a:t>, </a:t>
            </a:r>
            <a:r>
              <a:rPr lang="en-US" baseline="30000" dirty="0" smtClean="0"/>
              <a:t>4</a:t>
            </a:r>
            <a:r>
              <a:rPr lang="en-US" dirty="0" smtClean="0"/>
              <a:t>P, </a:t>
            </a:r>
            <a:r>
              <a:rPr lang="en-US" baseline="30000" dirty="0" smtClean="0"/>
              <a:t>4</a:t>
            </a:r>
            <a:r>
              <a:rPr lang="en-US" dirty="0" smtClean="0"/>
              <a:t>D, </a:t>
            </a:r>
            <a:r>
              <a:rPr lang="en-US" baseline="30000" dirty="0" smtClean="0"/>
              <a:t>4</a:t>
            </a:r>
            <a:r>
              <a:rPr lang="en-US" dirty="0" smtClean="0"/>
              <a:t>F,</a:t>
            </a:r>
            <a:endParaRPr lang="ko-KR" altLang="en-US" dirty="0" smtClean="0"/>
          </a:p>
          <a:p>
            <a:r>
              <a:rPr lang="en-US" dirty="0" smtClean="0"/>
              <a:t>or couple </a:t>
            </a:r>
            <a:r>
              <a:rPr lang="en-US" i="1" dirty="0" err="1" smtClean="0"/>
              <a:t>p</a:t>
            </a:r>
            <a:r>
              <a:rPr lang="en-US" dirty="0" smtClean="0"/>
              <a:t> and </a:t>
            </a:r>
            <a:r>
              <a:rPr lang="en-US" i="1" dirty="0" err="1" smtClean="0"/>
              <a:t>d</a:t>
            </a:r>
            <a:r>
              <a:rPr lang="en-US" i="1" dirty="0" smtClean="0"/>
              <a:t> </a:t>
            </a:r>
            <a:r>
              <a:rPr lang="en-US" dirty="0" smtClean="0"/>
              <a:t>first and then </a:t>
            </a:r>
            <a:r>
              <a:rPr lang="en-US" i="1" dirty="0" err="1" smtClean="0"/>
              <a:t>s</a:t>
            </a:r>
            <a:r>
              <a:rPr lang="en-US" dirty="0" smtClean="0"/>
              <a:t>.</a:t>
            </a:r>
            <a:endParaRPr lang="ko-KR" altLang="en-US" dirty="0" smtClean="0"/>
          </a:p>
          <a:p>
            <a:pPr>
              <a:buNone/>
            </a:pPr>
            <a:r>
              <a:rPr lang="en-US" dirty="0" smtClean="0"/>
              <a:t>	pd</a:t>
            </a:r>
            <a:r>
              <a:rPr lang="en-US" dirty="0" smtClean="0"/>
              <a:t>(</a:t>
            </a:r>
            <a:r>
              <a:rPr lang="en-US" baseline="30000" dirty="0" smtClean="0"/>
              <a:t>1</a:t>
            </a:r>
            <a:r>
              <a:rPr lang="en-US" dirty="0" smtClean="0"/>
              <a:t>P)s=</a:t>
            </a:r>
            <a:r>
              <a:rPr lang="en-US" baseline="30000" dirty="0" smtClean="0"/>
              <a:t>2</a:t>
            </a:r>
            <a:r>
              <a:rPr lang="en-US" dirty="0" smtClean="0"/>
              <a:t>P, </a:t>
            </a:r>
            <a:endParaRPr lang="ko-KR" altLang="en-US" dirty="0" smtClean="0"/>
          </a:p>
          <a:p>
            <a:pPr>
              <a:buNone/>
            </a:pPr>
            <a:r>
              <a:rPr lang="en-US" dirty="0" smtClean="0"/>
              <a:t>	pd</a:t>
            </a:r>
            <a:r>
              <a:rPr lang="en-US" dirty="0" smtClean="0"/>
              <a:t>(</a:t>
            </a:r>
            <a:r>
              <a:rPr lang="en-US" baseline="30000" dirty="0" smtClean="0"/>
              <a:t>3</a:t>
            </a:r>
            <a:r>
              <a:rPr lang="en-US" dirty="0" smtClean="0"/>
              <a:t>P)s=</a:t>
            </a:r>
            <a:r>
              <a:rPr lang="en-US" baseline="30000" dirty="0" smtClean="0"/>
              <a:t>2</a:t>
            </a:r>
            <a:r>
              <a:rPr lang="en-US" dirty="0" smtClean="0"/>
              <a:t>P, </a:t>
            </a:r>
            <a:r>
              <a:rPr lang="en-US" baseline="30000" dirty="0" smtClean="0"/>
              <a:t>4</a:t>
            </a:r>
            <a:r>
              <a:rPr lang="en-US" dirty="0" smtClean="0"/>
              <a:t>P, </a:t>
            </a:r>
            <a:endParaRPr lang="ko-KR" altLang="en-US" dirty="0" smtClean="0"/>
          </a:p>
          <a:p>
            <a:pPr>
              <a:buNone/>
            </a:pPr>
            <a:r>
              <a:rPr lang="en-US" dirty="0" smtClean="0"/>
              <a:t>	pd</a:t>
            </a:r>
            <a:r>
              <a:rPr lang="en-US" dirty="0" smtClean="0"/>
              <a:t>(</a:t>
            </a:r>
            <a:r>
              <a:rPr lang="en-US" baseline="30000" dirty="0" smtClean="0"/>
              <a:t>1</a:t>
            </a:r>
            <a:r>
              <a:rPr lang="en-US" dirty="0" smtClean="0"/>
              <a:t>D)s=</a:t>
            </a:r>
            <a:r>
              <a:rPr lang="en-US" baseline="30000" dirty="0" smtClean="0"/>
              <a:t>2</a:t>
            </a:r>
            <a:r>
              <a:rPr lang="en-US" dirty="0" smtClean="0"/>
              <a:t>D,</a:t>
            </a:r>
            <a:endParaRPr lang="ko-KR" altLang="en-US" dirty="0" smtClean="0"/>
          </a:p>
          <a:p>
            <a:pPr>
              <a:buNone/>
            </a:pPr>
            <a:r>
              <a:rPr lang="en-US" dirty="0" smtClean="0"/>
              <a:t>	pd</a:t>
            </a:r>
            <a:r>
              <a:rPr lang="en-US" dirty="0" smtClean="0"/>
              <a:t>(</a:t>
            </a:r>
            <a:r>
              <a:rPr lang="en-US" baseline="30000" dirty="0" smtClean="0"/>
              <a:t>3</a:t>
            </a:r>
            <a:r>
              <a:rPr lang="en-US" dirty="0" smtClean="0"/>
              <a:t>D)s=</a:t>
            </a:r>
            <a:r>
              <a:rPr lang="en-US" baseline="30000" dirty="0" smtClean="0"/>
              <a:t>2</a:t>
            </a:r>
            <a:r>
              <a:rPr lang="en-US" dirty="0" smtClean="0"/>
              <a:t>D, </a:t>
            </a:r>
            <a:r>
              <a:rPr lang="en-US" baseline="30000" dirty="0" smtClean="0"/>
              <a:t>4</a:t>
            </a:r>
            <a:r>
              <a:rPr lang="en-US" dirty="0" smtClean="0"/>
              <a:t>D,</a:t>
            </a:r>
            <a:endParaRPr lang="ko-KR" altLang="en-US" dirty="0" smtClean="0"/>
          </a:p>
          <a:p>
            <a:pPr>
              <a:buNone/>
            </a:pPr>
            <a:r>
              <a:rPr lang="en-US" dirty="0" smtClean="0"/>
              <a:t>	pd</a:t>
            </a:r>
            <a:r>
              <a:rPr lang="en-US" dirty="0" smtClean="0"/>
              <a:t>(</a:t>
            </a:r>
            <a:r>
              <a:rPr lang="en-US" baseline="30000" dirty="0" smtClean="0"/>
              <a:t>1</a:t>
            </a:r>
            <a:r>
              <a:rPr lang="en-US" dirty="0" smtClean="0"/>
              <a:t>F)s=</a:t>
            </a:r>
            <a:r>
              <a:rPr lang="en-US" baseline="30000" dirty="0" smtClean="0"/>
              <a:t>2</a:t>
            </a:r>
            <a:r>
              <a:rPr lang="en-US" dirty="0" smtClean="0"/>
              <a:t>F.</a:t>
            </a:r>
            <a:endParaRPr lang="ko-KR" altLang="en-US" dirty="0" smtClean="0"/>
          </a:p>
          <a:p>
            <a:pPr>
              <a:buNone/>
            </a:pPr>
            <a:r>
              <a:rPr lang="en-US" dirty="0" smtClean="0"/>
              <a:t>	pd</a:t>
            </a:r>
            <a:r>
              <a:rPr lang="en-US" dirty="0" smtClean="0"/>
              <a:t>(</a:t>
            </a:r>
            <a:r>
              <a:rPr lang="en-US" baseline="30000" dirty="0" smtClean="0"/>
              <a:t>3</a:t>
            </a:r>
            <a:r>
              <a:rPr lang="en-US" dirty="0" smtClean="0"/>
              <a:t>F)s=</a:t>
            </a:r>
            <a:r>
              <a:rPr lang="en-US" baseline="30000" dirty="0" smtClean="0"/>
              <a:t>2</a:t>
            </a:r>
            <a:r>
              <a:rPr lang="en-US" dirty="0" smtClean="0"/>
              <a:t>F</a:t>
            </a:r>
            <a:r>
              <a:rPr lang="en-US" baseline="30000" dirty="0" smtClean="0"/>
              <a:t> </a:t>
            </a:r>
            <a:r>
              <a:rPr lang="en-US" dirty="0" smtClean="0"/>
              <a:t>, </a:t>
            </a:r>
            <a:r>
              <a:rPr lang="en-US" baseline="30000" dirty="0" smtClean="0"/>
              <a:t>4</a:t>
            </a:r>
            <a:r>
              <a:rPr lang="en-US" dirty="0" smtClean="0"/>
              <a:t>F.</a:t>
            </a:r>
            <a:r>
              <a:rPr lang="ko-KR" altLang="en-US" dirty="0" smtClean="0"/>
              <a:t> </a:t>
            </a:r>
            <a:endParaRPr lang="ko-KR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944562"/>
          </a:xfrm>
        </p:spPr>
        <p:txBody>
          <a:bodyPr/>
          <a:lstStyle/>
          <a:p>
            <a:r>
              <a:rPr lang="en-US" altLang="ja-JP" dirty="0" smtClean="0"/>
              <a:t>Exercise 8</a:t>
            </a:r>
            <a:endParaRPr lang="ja-JP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305800" cy="1295400"/>
          </a:xfrm>
        </p:spPr>
        <p:txBody>
          <a:bodyPr>
            <a:noAutofit/>
          </a:bodyPr>
          <a:lstStyle/>
          <a:p>
            <a:r>
              <a:rPr lang="en-US" sz="2400" dirty="0" smtClean="0"/>
              <a:t>Find all possible terms </a:t>
            </a:r>
            <a:r>
              <a:rPr lang="en-US" sz="2400" dirty="0" smtClean="0"/>
              <a:t>for         </a:t>
            </a:r>
            <a:r>
              <a:rPr lang="en-US" sz="2400" dirty="0" smtClean="0"/>
              <a:t>.</a:t>
            </a:r>
            <a:endParaRPr lang="ko-KR" altLang="en-US" sz="2400" dirty="0" smtClean="0"/>
          </a:p>
          <a:p>
            <a:pPr>
              <a:buNone/>
            </a:pPr>
            <a:r>
              <a:rPr lang="en-US" sz="2400" dirty="0" smtClean="0"/>
              <a:t>	Answer</a:t>
            </a:r>
            <a:r>
              <a:rPr lang="en-US" sz="2400" dirty="0" smtClean="0"/>
              <a:t>) </a:t>
            </a:r>
            <a:r>
              <a:rPr lang="en-US" sz="2400" baseline="30000" dirty="0" smtClean="0"/>
              <a:t>2</a:t>
            </a:r>
            <a:r>
              <a:rPr lang="en-US" sz="2400" dirty="0" smtClean="0"/>
              <a:t>S, </a:t>
            </a:r>
            <a:r>
              <a:rPr lang="en-US" sz="2400" baseline="30000" dirty="0" smtClean="0"/>
              <a:t>2</a:t>
            </a:r>
            <a:r>
              <a:rPr lang="en-US" sz="2400" dirty="0" smtClean="0"/>
              <a:t>P, </a:t>
            </a:r>
            <a:r>
              <a:rPr lang="en-US" sz="2400" baseline="30000" dirty="0" smtClean="0"/>
              <a:t>2</a:t>
            </a:r>
            <a:r>
              <a:rPr lang="en-US" sz="2400" dirty="0" smtClean="0"/>
              <a:t>D, </a:t>
            </a:r>
            <a:r>
              <a:rPr lang="en-US" sz="2400" baseline="30000" dirty="0" smtClean="0"/>
              <a:t>2</a:t>
            </a:r>
            <a:r>
              <a:rPr lang="en-US" sz="2400" dirty="0" smtClean="0"/>
              <a:t>F, </a:t>
            </a:r>
            <a:r>
              <a:rPr lang="en-US" sz="2400" baseline="30000" dirty="0" smtClean="0"/>
              <a:t>4</a:t>
            </a:r>
            <a:r>
              <a:rPr lang="en-US" sz="2400" dirty="0" smtClean="0"/>
              <a:t>S, </a:t>
            </a:r>
            <a:r>
              <a:rPr lang="en-US" sz="2400" baseline="30000" dirty="0" smtClean="0"/>
              <a:t>4</a:t>
            </a:r>
            <a:r>
              <a:rPr lang="en-US" sz="2400" dirty="0" smtClean="0"/>
              <a:t>P, </a:t>
            </a:r>
            <a:r>
              <a:rPr lang="en-US" sz="2400" baseline="30000" dirty="0" smtClean="0"/>
              <a:t>4</a:t>
            </a:r>
            <a:r>
              <a:rPr lang="en-US" sz="2400" dirty="0" smtClean="0"/>
              <a:t>D, </a:t>
            </a:r>
            <a:r>
              <a:rPr lang="en-US" sz="2400" baseline="30000" dirty="0" smtClean="0"/>
              <a:t>4</a:t>
            </a:r>
            <a:r>
              <a:rPr lang="en-US" sz="2400" dirty="0" smtClean="0"/>
              <a:t>F. </a:t>
            </a:r>
            <a:endParaRPr lang="ko-KR" altLang="en-US" sz="2400" dirty="0"/>
          </a:p>
        </p:txBody>
      </p:sp>
      <p:graphicFrame>
        <p:nvGraphicFramePr>
          <p:cNvPr id="225288" name="Object 8"/>
          <p:cNvGraphicFramePr>
            <a:graphicFrameLocks noChangeAspect="1"/>
          </p:cNvGraphicFramePr>
          <p:nvPr/>
        </p:nvGraphicFramePr>
        <p:xfrm>
          <a:off x="4532084" y="1514929"/>
          <a:ext cx="630238" cy="249238"/>
        </p:xfrm>
        <a:graphic>
          <a:graphicData uri="http://schemas.openxmlformats.org/presentationml/2006/ole">
            <p:oleObj spid="_x0000_s225288" name="Equation" r:id="rId3" imgW="419100" imgH="1651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944562"/>
          </a:xfrm>
        </p:spPr>
        <p:txBody>
          <a:bodyPr/>
          <a:lstStyle/>
          <a:p>
            <a:r>
              <a:rPr lang="en-US" altLang="ja-JP" dirty="0" smtClean="0"/>
              <a:t>Example</a:t>
            </a:r>
            <a:r>
              <a:rPr lang="en-US" altLang="ja-JP" dirty="0" smtClean="0"/>
              <a:t> 5</a:t>
            </a:r>
            <a:endParaRPr lang="ja-JP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05800" cy="2971800"/>
          </a:xfrm>
        </p:spPr>
        <p:txBody>
          <a:bodyPr>
            <a:noAutofit/>
          </a:bodyPr>
          <a:lstStyle/>
          <a:p>
            <a:r>
              <a:rPr lang="en-US" sz="2400" dirty="0" smtClean="0"/>
              <a:t>Consider three </a:t>
            </a:r>
            <a:r>
              <a:rPr lang="en-US" sz="2400" i="1" dirty="0" smtClean="0"/>
              <a:t>equivalent</a:t>
            </a:r>
            <a:r>
              <a:rPr lang="en-US" sz="2400" dirty="0" smtClean="0"/>
              <a:t> electrons, </a:t>
            </a:r>
            <a:r>
              <a:rPr lang="en-US" sz="2400" i="1" dirty="0" smtClean="0"/>
              <a:t>n</a:t>
            </a:r>
            <a:r>
              <a:rPr lang="en-US" sz="2400" dirty="0" smtClean="0"/>
              <a:t>p</a:t>
            </a:r>
            <a:r>
              <a:rPr lang="en-US" sz="2400" baseline="30000" dirty="0" smtClean="0"/>
              <a:t>3</a:t>
            </a:r>
            <a:r>
              <a:rPr lang="en-US" sz="2400" dirty="0" smtClean="0"/>
              <a:t>. Each electron can </a:t>
            </a:r>
            <a:r>
              <a:rPr lang="en-US" sz="2400" dirty="0" smtClean="0"/>
              <a:t>have                                    </a:t>
            </a:r>
            <a:r>
              <a:rPr lang="en-US" sz="2400" dirty="0" smtClean="0"/>
              <a:t>There are six possible combinations. Let us use a shorthand notation, </a:t>
            </a:r>
            <a:r>
              <a:rPr lang="en-US" sz="2400" dirty="0" smtClean="0"/>
              <a:t> </a:t>
            </a:r>
          </a:p>
          <a:p>
            <a:pPr>
              <a:buNone/>
            </a:pPr>
            <a:r>
              <a:rPr lang="en-US" sz="2400" dirty="0" smtClean="0"/>
              <a:t>				  etc</a:t>
            </a:r>
            <a:r>
              <a:rPr lang="en-US" sz="2400" dirty="0" smtClean="0"/>
              <a:t>. Note that the highest </a:t>
            </a:r>
            <a:r>
              <a:rPr lang="en-US" sz="2400" i="1" dirty="0" smtClean="0"/>
              <a:t>M</a:t>
            </a:r>
            <a:r>
              <a:rPr lang="en-US" sz="2400" i="1" baseline="-25000" dirty="0" smtClean="0"/>
              <a:t>L</a:t>
            </a:r>
            <a:r>
              <a:rPr lang="en-US" sz="2400" dirty="0" smtClean="0"/>
              <a:t> state is 2 since the </a:t>
            </a:r>
            <a:r>
              <a:rPr lang="en-US" sz="2400" u="sng" dirty="0" smtClean="0"/>
              <a:t>Pauli principle</a:t>
            </a:r>
            <a:r>
              <a:rPr lang="en-US" sz="2400" dirty="0" smtClean="0"/>
              <a:t> forces us to have two electrons with </a:t>
            </a:r>
            <a:r>
              <a:rPr lang="en-US" sz="2400" i="1" dirty="0" smtClean="0"/>
              <a:t>m</a:t>
            </a:r>
            <a:r>
              <a:rPr lang="en-US" sz="2400" i="1" baseline="-25000" dirty="0" smtClean="0"/>
              <a:t>l</a:t>
            </a:r>
            <a:r>
              <a:rPr lang="en-US" sz="2400" dirty="0" smtClean="0"/>
              <a:t>=1 with opposite spins and the other then with </a:t>
            </a:r>
            <a:r>
              <a:rPr lang="en-US" sz="2400" i="1" dirty="0" smtClean="0"/>
              <a:t>m</a:t>
            </a:r>
            <a:r>
              <a:rPr lang="en-US" sz="2400" i="1" baseline="-25000" dirty="0" smtClean="0"/>
              <a:t>l</a:t>
            </a:r>
            <a:r>
              <a:rPr lang="en-US" sz="2400" dirty="0" smtClean="0"/>
              <a:t> =0. We can associate the states of three electrons with (</a:t>
            </a:r>
            <a:r>
              <a:rPr lang="en-US" sz="2400" i="1" dirty="0" smtClean="0"/>
              <a:t>M</a:t>
            </a:r>
            <a:r>
              <a:rPr lang="en-US" sz="2400" i="1" baseline="-25000" dirty="0" smtClean="0"/>
              <a:t>L</a:t>
            </a:r>
            <a:r>
              <a:rPr lang="en-US" sz="2400" dirty="0" smtClean="0"/>
              <a:t>, </a:t>
            </a:r>
            <a:r>
              <a:rPr lang="en-US" sz="2400" i="1" dirty="0" smtClean="0"/>
              <a:t>M</a:t>
            </a:r>
            <a:r>
              <a:rPr lang="en-US" sz="2400" i="1" baseline="-25000" dirty="0" smtClean="0"/>
              <a:t>S</a:t>
            </a:r>
            <a:r>
              <a:rPr lang="en-US" sz="2400" dirty="0" smtClean="0"/>
              <a:t>) values in the following way.</a:t>
            </a:r>
            <a:endParaRPr lang="ko-KR" altLang="en-US" sz="2400" dirty="0"/>
          </a:p>
        </p:txBody>
      </p:sp>
      <p:graphicFrame>
        <p:nvGraphicFramePr>
          <p:cNvPr id="226316" name="Object 12"/>
          <p:cNvGraphicFramePr>
            <a:graphicFrameLocks noChangeAspect="1"/>
          </p:cNvGraphicFramePr>
          <p:nvPr/>
        </p:nvGraphicFramePr>
        <p:xfrm>
          <a:off x="2347913" y="1716088"/>
          <a:ext cx="2655887" cy="271462"/>
        </p:xfrm>
        <a:graphic>
          <a:graphicData uri="http://schemas.openxmlformats.org/presentationml/2006/ole">
            <p:oleObj spid="_x0000_s226316" name="Equation" r:id="rId3" imgW="1739900" imgH="177800" progId="Equation.3">
              <p:embed/>
            </p:oleObj>
          </a:graphicData>
        </a:graphic>
      </p:graphicFrame>
      <p:graphicFrame>
        <p:nvGraphicFramePr>
          <p:cNvPr id="226317" name="Object 13"/>
          <p:cNvGraphicFramePr>
            <a:graphicFrameLocks noChangeAspect="1"/>
          </p:cNvGraphicFramePr>
          <p:nvPr/>
        </p:nvGraphicFramePr>
        <p:xfrm>
          <a:off x="990600" y="2492826"/>
          <a:ext cx="2330450" cy="304800"/>
        </p:xfrm>
        <a:graphic>
          <a:graphicData uri="http://schemas.openxmlformats.org/presentationml/2006/ole">
            <p:oleObj spid="_x0000_s226317" name="Equation" r:id="rId4" imgW="1549400" imgH="2032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04638" y="5105400"/>
            <a:ext cx="8434562" cy="1371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 smtClean="0"/>
              <a:t>For example, </a:t>
            </a:r>
            <a:r>
              <a:rPr lang="en-US" sz="2400" dirty="0" smtClean="0"/>
              <a:t>consider                      </a:t>
            </a:r>
            <a:r>
              <a:rPr lang="en-US" sz="2400" dirty="0" smtClean="0"/>
              <a:t>. There are two possible distributions, resulting in 2 different linear combinations (so 2 different terms) of those two distributions. </a:t>
            </a:r>
            <a:endParaRPr lang="ko-KR" altLang="en-US" sz="2400" dirty="0"/>
          </a:p>
        </p:txBody>
      </p:sp>
      <p:graphicFrame>
        <p:nvGraphicFramePr>
          <p:cNvPr id="206870" name="Object 22"/>
          <p:cNvGraphicFramePr>
            <a:graphicFrameLocks noChangeAspect="1"/>
          </p:cNvGraphicFramePr>
          <p:nvPr/>
        </p:nvGraphicFramePr>
        <p:xfrm>
          <a:off x="3590925" y="5240338"/>
          <a:ext cx="1736725" cy="269875"/>
        </p:xfrm>
        <a:graphic>
          <a:graphicData uri="http://schemas.openxmlformats.org/presentationml/2006/ole">
            <p:oleObj spid="_x0000_s206870" name="Equation" r:id="rId3" imgW="1143000" imgH="177800" progId="Equation.3">
              <p:embed/>
            </p:oleObj>
          </a:graphicData>
        </a:graphic>
      </p:graphicFrame>
      <p:pic>
        <p:nvPicPr>
          <p:cNvPr id="10" name="Picture 9" descr="t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527282"/>
            <a:ext cx="7843838" cy="43495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9724"/>
            <a:ext cx="8229600" cy="2022476"/>
          </a:xfrm>
        </p:spPr>
        <p:txBody>
          <a:bodyPr>
            <a:noAutofit/>
          </a:bodyPr>
          <a:lstStyle/>
          <a:p>
            <a:r>
              <a:rPr lang="en-US" sz="2400" dirty="0" smtClean="0"/>
              <a:t>The </a:t>
            </a:r>
            <a:r>
              <a:rPr lang="en-US" sz="2400" dirty="0" smtClean="0"/>
              <a:t>states                           </a:t>
            </a:r>
            <a:r>
              <a:rPr lang="en-US" sz="2400" dirty="0" smtClean="0"/>
              <a:t>must belong to a </a:t>
            </a:r>
            <a:r>
              <a:rPr lang="en-US" sz="2400" baseline="30000" dirty="0" smtClean="0"/>
              <a:t>2</a:t>
            </a:r>
            <a:r>
              <a:rPr lang="en-US" sz="2400" dirty="0" smtClean="0"/>
              <a:t>D term, which also </a:t>
            </a:r>
            <a:r>
              <a:rPr lang="en-US" sz="2400" dirty="0" smtClean="0"/>
              <a:t>includes                                       </a:t>
            </a:r>
            <a:r>
              <a:rPr lang="en-US" sz="2400" dirty="0" smtClean="0"/>
              <a:t>One then removes the entries belonging to </a:t>
            </a:r>
            <a:r>
              <a:rPr lang="en-US" sz="2400" baseline="30000" dirty="0" smtClean="0"/>
              <a:t>2</a:t>
            </a:r>
            <a:r>
              <a:rPr lang="en-US" sz="2400" dirty="0" smtClean="0"/>
              <a:t>D as in the tabulation shown below, where we concentrate on the part in a rectangle in the above table.</a:t>
            </a:r>
            <a:r>
              <a:rPr lang="en-US" sz="2400" dirty="0" smtClean="0"/>
              <a:t> </a:t>
            </a:r>
          </a:p>
          <a:p>
            <a:endParaRPr lang="ko-KR" altLang="en-US" sz="2400" dirty="0"/>
          </a:p>
        </p:txBody>
      </p:sp>
      <p:graphicFrame>
        <p:nvGraphicFramePr>
          <p:cNvPr id="207904" name="Object 32"/>
          <p:cNvGraphicFramePr>
            <a:graphicFrameLocks noChangeAspect="1"/>
          </p:cNvGraphicFramePr>
          <p:nvPr/>
        </p:nvGraphicFramePr>
        <p:xfrm>
          <a:off x="2487613" y="474663"/>
          <a:ext cx="2073275" cy="271462"/>
        </p:xfrm>
        <a:graphic>
          <a:graphicData uri="http://schemas.openxmlformats.org/presentationml/2006/ole">
            <p:oleObj spid="_x0000_s207904" name="Equation" r:id="rId3" imgW="1358900" imgH="177800" progId="Equation.3">
              <p:embed/>
            </p:oleObj>
          </a:graphicData>
        </a:graphic>
      </p:graphicFrame>
      <p:graphicFrame>
        <p:nvGraphicFramePr>
          <p:cNvPr id="207905" name="Object 33"/>
          <p:cNvGraphicFramePr>
            <a:graphicFrameLocks noChangeAspect="1"/>
          </p:cNvGraphicFramePr>
          <p:nvPr/>
        </p:nvGraphicFramePr>
        <p:xfrm>
          <a:off x="3727450" y="847725"/>
          <a:ext cx="2973388" cy="271463"/>
        </p:xfrm>
        <a:graphic>
          <a:graphicData uri="http://schemas.openxmlformats.org/presentationml/2006/ole">
            <p:oleObj spid="_x0000_s207905" name="Equation" r:id="rId4" imgW="1943100" imgH="177800" progId="Equation.3">
              <p:embed/>
            </p:oleObj>
          </a:graphicData>
        </a:graphic>
      </p:graphicFrame>
      <p:pic>
        <p:nvPicPr>
          <p:cNvPr id="8" name="Picture 7" descr="t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6646" y="1981200"/>
            <a:ext cx="3485437" cy="4598988"/>
          </a:xfrm>
          <a:prstGeom prst="rect">
            <a:avLst/>
          </a:prstGeom>
        </p:spPr>
      </p:pic>
      <p:sp>
        <p:nvSpPr>
          <p:cNvPr id="9" name="Content Placeholder 2"/>
          <p:cNvSpPr txBox="1">
            <a:spLocks/>
          </p:cNvSpPr>
          <p:nvPr/>
        </p:nvSpPr>
        <p:spPr>
          <a:xfrm>
            <a:off x="439286" y="2536374"/>
            <a:ext cx="4437513" cy="2022476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420624" lvl="0" indent="-384048" defTabSz="914400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"/>
            </a:pPr>
            <a:r>
              <a:rPr lang="en-US" sz="2400" dirty="0" smtClean="0"/>
              <a:t>Now we consider the </a:t>
            </a:r>
            <a:r>
              <a:rPr lang="en-US" sz="2400" i="1" dirty="0" smtClean="0"/>
              <a:t>L</a:t>
            </a:r>
            <a:r>
              <a:rPr lang="en-US" sz="2400" dirty="0" smtClean="0"/>
              <a:t>=1 case. We have  corresponding to </a:t>
            </a:r>
            <a:r>
              <a:rPr lang="en-US" sz="2400" baseline="30000" dirty="0" smtClean="0"/>
              <a:t>2</a:t>
            </a:r>
            <a:r>
              <a:rPr lang="en-US" sz="2400" dirty="0" smtClean="0"/>
              <a:t>P, which also has</a:t>
            </a:r>
            <a:r>
              <a:rPr lang="en-US" sz="2400" dirty="0" smtClean="0"/>
              <a:t>                       . </a:t>
            </a:r>
            <a:r>
              <a:rPr lang="en-US" sz="2400" dirty="0" smtClean="0"/>
              <a:t>The remaining entries </a:t>
            </a:r>
            <a:r>
              <a:rPr lang="en-US" sz="2400" dirty="0" smtClean="0"/>
              <a:t>are</a:t>
            </a:r>
          </a:p>
          <a:p>
            <a:pPr marL="420624" lvl="0" indent="-384048" defTabSz="914400">
              <a:spcBef>
                <a:spcPct val="20000"/>
              </a:spcBef>
              <a:buClr>
                <a:schemeClr val="accent1"/>
              </a:buClr>
              <a:buSzPct val="80000"/>
            </a:pPr>
            <a:r>
              <a:rPr lang="en-US" sz="2400" dirty="0" smtClean="0"/>
              <a:t>	                               </a:t>
            </a:r>
            <a:r>
              <a:rPr lang="en-US" sz="2400" dirty="0" smtClean="0"/>
              <a:t>, which should belong to </a:t>
            </a:r>
            <a:r>
              <a:rPr lang="en-US" sz="2400" baseline="30000" dirty="0" smtClean="0"/>
              <a:t>4</a:t>
            </a:r>
            <a:r>
              <a:rPr lang="en-US" sz="2400" dirty="0" smtClean="0"/>
              <a:t>S. Therefore, the possible terms for np</a:t>
            </a:r>
            <a:r>
              <a:rPr lang="en-US" sz="2400" baseline="30000" dirty="0" smtClean="0"/>
              <a:t>3</a:t>
            </a:r>
            <a:r>
              <a:rPr lang="en-US" sz="2400" dirty="0" smtClean="0"/>
              <a:t> are </a:t>
            </a:r>
            <a:r>
              <a:rPr lang="en-US" sz="2400" u="sng" baseline="30000" dirty="0" smtClean="0"/>
              <a:t>2</a:t>
            </a:r>
            <a:r>
              <a:rPr lang="en-US" sz="2400" u="sng" dirty="0" smtClean="0"/>
              <a:t>D, </a:t>
            </a:r>
            <a:r>
              <a:rPr lang="en-US" sz="2400" u="sng" baseline="30000" dirty="0" smtClean="0"/>
              <a:t>2</a:t>
            </a:r>
            <a:r>
              <a:rPr lang="en-US" sz="2400" u="sng" dirty="0" smtClean="0"/>
              <a:t>P and </a:t>
            </a:r>
            <a:r>
              <a:rPr lang="en-US" sz="2400" u="sng" baseline="30000" dirty="0" smtClean="0"/>
              <a:t>4</a:t>
            </a:r>
            <a:r>
              <a:rPr lang="en-US" sz="2400" u="sng" dirty="0" smtClean="0"/>
              <a:t>S only</a:t>
            </a:r>
            <a:r>
              <a:rPr lang="en-US" sz="2400" dirty="0" smtClean="0"/>
              <a:t>.</a:t>
            </a:r>
            <a:r>
              <a:rPr lang="ko-KR" altLang="en-US" sz="2400" dirty="0" smtClean="0"/>
              <a:t> </a:t>
            </a:r>
            <a:endParaRPr kumimoji="1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207907" name="Object 35"/>
          <p:cNvGraphicFramePr>
            <a:graphicFrameLocks noChangeAspect="1"/>
          </p:cNvGraphicFramePr>
          <p:nvPr/>
        </p:nvGraphicFramePr>
        <p:xfrm>
          <a:off x="3079750" y="3043238"/>
          <a:ext cx="1736725" cy="269875"/>
        </p:xfrm>
        <a:graphic>
          <a:graphicData uri="http://schemas.openxmlformats.org/presentationml/2006/ole">
            <p:oleObj spid="_x0000_s207907" name="Equation" r:id="rId6" imgW="1143000" imgH="177800" progId="Equation.3">
              <p:embed/>
            </p:oleObj>
          </a:graphicData>
        </a:graphic>
      </p:graphicFrame>
      <p:graphicFrame>
        <p:nvGraphicFramePr>
          <p:cNvPr id="207908" name="Object 36"/>
          <p:cNvGraphicFramePr>
            <a:graphicFrameLocks noChangeAspect="1"/>
          </p:cNvGraphicFramePr>
          <p:nvPr/>
        </p:nvGraphicFramePr>
        <p:xfrm>
          <a:off x="2190750" y="3770313"/>
          <a:ext cx="1781175" cy="271462"/>
        </p:xfrm>
        <a:graphic>
          <a:graphicData uri="http://schemas.openxmlformats.org/presentationml/2006/ole">
            <p:oleObj spid="_x0000_s207908" name="Equation" r:id="rId7" imgW="1168400" imgH="177800" progId="Equation.3">
              <p:embed/>
            </p:oleObj>
          </a:graphicData>
        </a:graphic>
      </p:graphicFrame>
      <p:graphicFrame>
        <p:nvGraphicFramePr>
          <p:cNvPr id="207909" name="Object 37"/>
          <p:cNvGraphicFramePr>
            <a:graphicFrameLocks noChangeAspect="1"/>
          </p:cNvGraphicFramePr>
          <p:nvPr/>
        </p:nvGraphicFramePr>
        <p:xfrm>
          <a:off x="946150" y="4576763"/>
          <a:ext cx="2540000" cy="271462"/>
        </p:xfrm>
        <a:graphic>
          <a:graphicData uri="http://schemas.openxmlformats.org/presentationml/2006/ole">
            <p:oleObj spid="_x0000_s207909" name="Equation" r:id="rId8" imgW="1663700" imgH="1778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944562"/>
          </a:xfrm>
        </p:spPr>
        <p:txBody>
          <a:bodyPr/>
          <a:lstStyle/>
          <a:p>
            <a:r>
              <a:rPr lang="en-US" altLang="ja-JP" dirty="0" smtClean="0"/>
              <a:t>Exercise 9</a:t>
            </a:r>
            <a:endParaRPr lang="ja-JP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05800" cy="2971800"/>
          </a:xfrm>
        </p:spPr>
        <p:txBody>
          <a:bodyPr>
            <a:noAutofit/>
          </a:bodyPr>
          <a:lstStyle/>
          <a:p>
            <a:r>
              <a:rPr lang="en-US" sz="2400" dirty="0" smtClean="0"/>
              <a:t>Find all possible terms for </a:t>
            </a:r>
            <a:r>
              <a:rPr lang="en-US" sz="2400" i="1" dirty="0" smtClean="0"/>
              <a:t>n</a:t>
            </a:r>
            <a:r>
              <a:rPr lang="en-US" sz="2400" dirty="0" smtClean="0"/>
              <a:t>d</a:t>
            </a:r>
            <a:r>
              <a:rPr lang="en-US" sz="2400" baseline="30000" dirty="0" smtClean="0"/>
              <a:t>2</a:t>
            </a:r>
            <a:r>
              <a:rPr lang="en-US" sz="2400" dirty="0" smtClean="0"/>
              <a:t>, for which the </a:t>
            </a:r>
            <a:r>
              <a:rPr lang="en-US" sz="2400" dirty="0" smtClean="0"/>
              <a:t>orbital </a:t>
            </a:r>
            <a:r>
              <a:rPr lang="en-US" sz="2400" dirty="0" smtClean="0"/>
              <a:t>distributions are shown below</a:t>
            </a:r>
            <a:r>
              <a:rPr lang="en-US" sz="2400" dirty="0" smtClean="0"/>
              <a:t>.</a:t>
            </a:r>
          </a:p>
          <a:p>
            <a:endParaRPr lang="en-US" altLang="ko-KR" sz="2400" dirty="0" smtClean="0"/>
          </a:p>
          <a:p>
            <a:endParaRPr lang="en-US" altLang="ko-KR" sz="2400" dirty="0" smtClean="0"/>
          </a:p>
          <a:p>
            <a:endParaRPr lang="en-US" altLang="ko-KR" sz="2400" dirty="0" smtClean="0"/>
          </a:p>
          <a:p>
            <a:endParaRPr lang="en-US" altLang="ko-KR" sz="2400" dirty="0" smtClean="0"/>
          </a:p>
          <a:p>
            <a:endParaRPr lang="en-US" altLang="ko-KR" sz="2400" dirty="0" smtClean="0"/>
          </a:p>
          <a:p>
            <a:endParaRPr lang="en-US" altLang="ko-KR" sz="2400" dirty="0" smtClean="0"/>
          </a:p>
          <a:p>
            <a:endParaRPr lang="en-US" altLang="ko-KR" sz="2400" dirty="0" smtClean="0"/>
          </a:p>
          <a:p>
            <a:endParaRPr lang="en-US" altLang="ko-KR" sz="2400" dirty="0" smtClean="0"/>
          </a:p>
          <a:p>
            <a:endParaRPr lang="en-US" altLang="ko-KR" sz="2400" dirty="0" smtClean="0"/>
          </a:p>
          <a:p>
            <a:r>
              <a:rPr lang="en-US" altLang="ko-KR" sz="2400" dirty="0" err="1" smtClean="0"/>
              <a:t>Ans</a:t>
            </a:r>
            <a:r>
              <a:rPr lang="en-US" altLang="ko-KR" sz="2400" dirty="0" smtClean="0"/>
              <a:t>) </a:t>
            </a:r>
            <a:r>
              <a:rPr lang="en-US" altLang="ko-KR" sz="2400" baseline="30000" dirty="0" smtClean="0"/>
              <a:t>1</a:t>
            </a:r>
            <a:r>
              <a:rPr lang="en-US" altLang="ko-KR" sz="2400" dirty="0" smtClean="0"/>
              <a:t>G </a:t>
            </a:r>
            <a:r>
              <a:rPr lang="ja-JP" altLang="en-US" sz="2400" dirty="0" smtClean="0">
                <a:sym typeface="Wingdings"/>
              </a:rPr>
              <a:t></a:t>
            </a:r>
            <a:r>
              <a:rPr lang="en-US" altLang="ja-JP" sz="2400" dirty="0" smtClean="0">
                <a:sym typeface="Wingdings"/>
              </a:rPr>
              <a:t> </a:t>
            </a:r>
            <a:r>
              <a:rPr lang="en-US" altLang="ja-JP" sz="2400" baseline="30000" dirty="0" smtClean="0">
                <a:sym typeface="Wingdings"/>
              </a:rPr>
              <a:t>3</a:t>
            </a:r>
            <a:r>
              <a:rPr lang="en-US" altLang="ja-JP" sz="2400" dirty="0" smtClean="0">
                <a:sym typeface="Wingdings"/>
              </a:rPr>
              <a:t>F</a:t>
            </a:r>
            <a:r>
              <a:rPr lang="ko-KR" altLang="en-US" sz="2400" dirty="0" smtClean="0"/>
              <a:t> </a:t>
            </a:r>
            <a:r>
              <a:rPr lang="ja-JP" altLang="en-US" sz="2400" dirty="0" smtClean="0">
                <a:sym typeface="Wingdings"/>
              </a:rPr>
              <a:t></a:t>
            </a:r>
            <a:r>
              <a:rPr lang="en-US" altLang="ja-JP" sz="2400" dirty="0" smtClean="0">
                <a:sym typeface="Wingdings"/>
              </a:rPr>
              <a:t> </a:t>
            </a:r>
            <a:r>
              <a:rPr lang="en-US" altLang="ja-JP" sz="2400" baseline="30000" dirty="0" smtClean="0">
                <a:sym typeface="Wingdings"/>
              </a:rPr>
              <a:t>1</a:t>
            </a:r>
            <a:r>
              <a:rPr lang="en-US" altLang="ja-JP" sz="2400" dirty="0" smtClean="0">
                <a:sym typeface="Wingdings"/>
              </a:rPr>
              <a:t>D </a:t>
            </a:r>
            <a:r>
              <a:rPr lang="ja-JP" altLang="en-US" sz="2400" dirty="0" smtClean="0">
                <a:sym typeface="Wingdings"/>
              </a:rPr>
              <a:t></a:t>
            </a:r>
            <a:r>
              <a:rPr lang="en-US" altLang="ja-JP" sz="2400" dirty="0" smtClean="0">
                <a:sym typeface="Wingdings"/>
              </a:rPr>
              <a:t> </a:t>
            </a:r>
            <a:r>
              <a:rPr lang="en-US" altLang="ja-JP" sz="2400" baseline="30000" dirty="0" smtClean="0">
                <a:sym typeface="Wingdings"/>
              </a:rPr>
              <a:t>3</a:t>
            </a:r>
            <a:r>
              <a:rPr lang="en-US" altLang="ja-JP" sz="2400" dirty="0" smtClean="0">
                <a:sym typeface="Wingdings"/>
              </a:rPr>
              <a:t>P </a:t>
            </a:r>
            <a:r>
              <a:rPr lang="ja-JP" altLang="en-US" sz="2400" dirty="0" smtClean="0">
                <a:sym typeface="Wingdings"/>
              </a:rPr>
              <a:t></a:t>
            </a:r>
            <a:r>
              <a:rPr lang="en-US" altLang="ja-JP" sz="2400" dirty="0" smtClean="0">
                <a:sym typeface="Wingdings"/>
              </a:rPr>
              <a:t> </a:t>
            </a:r>
            <a:r>
              <a:rPr lang="en-US" altLang="ja-JP" sz="2400" baseline="30000" dirty="0" smtClean="0">
                <a:sym typeface="Wingdings"/>
              </a:rPr>
              <a:t>1</a:t>
            </a:r>
            <a:r>
              <a:rPr lang="en-US" altLang="ja-JP" sz="2400" dirty="0" smtClean="0">
                <a:sym typeface="Wingdings"/>
              </a:rPr>
              <a:t>S</a:t>
            </a:r>
            <a:endParaRPr lang="ko-KR" altLang="en-US" sz="2400" dirty="0"/>
          </a:p>
        </p:txBody>
      </p:sp>
      <p:pic>
        <p:nvPicPr>
          <p:cNvPr id="6" name="Picture 5" descr="t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2286000"/>
            <a:ext cx="6074092" cy="35067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944562"/>
          </a:xfrm>
        </p:spPr>
        <p:txBody>
          <a:bodyPr/>
          <a:lstStyle/>
          <a:p>
            <a:r>
              <a:rPr lang="en-US" altLang="ja-JP" dirty="0" smtClean="0"/>
              <a:t>Exercise 10</a:t>
            </a:r>
            <a:endParaRPr lang="ja-JP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05800" cy="2971800"/>
          </a:xfrm>
        </p:spPr>
        <p:txBody>
          <a:bodyPr>
            <a:noAutofit/>
          </a:bodyPr>
          <a:lstStyle/>
          <a:p>
            <a:r>
              <a:rPr lang="en-US" sz="2400" dirty="0" smtClean="0"/>
              <a:t>Find all possible terms for </a:t>
            </a:r>
            <a:r>
              <a:rPr lang="en-US" sz="2400" i="1" dirty="0" smtClean="0"/>
              <a:t>n</a:t>
            </a:r>
            <a:r>
              <a:rPr lang="en-US" sz="2400" dirty="0" smtClean="0"/>
              <a:t>d</a:t>
            </a:r>
            <a:r>
              <a:rPr lang="en-US" sz="2400" baseline="30000" dirty="0" smtClean="0"/>
              <a:t>3</a:t>
            </a:r>
            <a:r>
              <a:rPr lang="en-US" sz="2400" dirty="0" smtClean="0"/>
              <a:t>. First, find the orbital distributions.</a:t>
            </a:r>
            <a:r>
              <a:rPr lang="ko-KR" altLang="en-US" sz="2400" dirty="0" smtClean="0"/>
              <a:t> </a:t>
            </a:r>
            <a:endParaRPr lang="en-US" altLang="ko-KR" sz="2400" dirty="0" smtClean="0"/>
          </a:p>
          <a:p>
            <a:endParaRPr lang="en-US" altLang="ko-KR" sz="2400" dirty="0" smtClean="0"/>
          </a:p>
          <a:p>
            <a:r>
              <a:rPr lang="en-US" altLang="ko-KR" sz="2400" dirty="0" err="1" smtClean="0"/>
              <a:t>Ans</a:t>
            </a:r>
            <a:r>
              <a:rPr lang="en-US" altLang="ko-KR" sz="2400" dirty="0" smtClean="0"/>
              <a:t>) </a:t>
            </a:r>
            <a:r>
              <a:rPr lang="en-US" altLang="ko-KR" sz="2400" baseline="30000" dirty="0" smtClean="0"/>
              <a:t>2</a:t>
            </a:r>
            <a:r>
              <a:rPr lang="en-US" altLang="ko-KR" sz="2400" dirty="0" smtClean="0"/>
              <a:t>P, </a:t>
            </a:r>
            <a:r>
              <a:rPr lang="en-US" altLang="ja-JP" sz="2400" baseline="30000" dirty="0" smtClean="0">
                <a:sym typeface="Wingdings"/>
              </a:rPr>
              <a:t>2</a:t>
            </a:r>
            <a:r>
              <a:rPr lang="en-US" altLang="ja-JP" sz="2400" dirty="0" smtClean="0">
                <a:sym typeface="Wingdings"/>
              </a:rPr>
              <a:t>D,</a:t>
            </a:r>
            <a:r>
              <a:rPr lang="ko-KR" altLang="en-US" sz="2400" dirty="0" smtClean="0"/>
              <a:t> </a:t>
            </a:r>
            <a:r>
              <a:rPr lang="en-US" altLang="ja-JP" sz="2400" baseline="30000" dirty="0" smtClean="0">
                <a:sym typeface="Wingdings"/>
              </a:rPr>
              <a:t>2</a:t>
            </a:r>
            <a:r>
              <a:rPr lang="en-US" altLang="ja-JP" sz="2400" dirty="0" smtClean="0">
                <a:sym typeface="Wingdings"/>
              </a:rPr>
              <a:t>D, </a:t>
            </a:r>
            <a:r>
              <a:rPr lang="en-US" altLang="ja-JP" sz="2400" baseline="30000" dirty="0" smtClean="0">
                <a:sym typeface="Wingdings"/>
              </a:rPr>
              <a:t>2</a:t>
            </a:r>
            <a:r>
              <a:rPr lang="en-US" altLang="ja-JP" sz="2400" dirty="0" smtClean="0">
                <a:sym typeface="Wingdings"/>
              </a:rPr>
              <a:t>F, </a:t>
            </a:r>
            <a:r>
              <a:rPr lang="en-US" altLang="ja-JP" sz="2400" baseline="30000" dirty="0" smtClean="0">
                <a:sym typeface="Wingdings"/>
              </a:rPr>
              <a:t>2</a:t>
            </a:r>
            <a:r>
              <a:rPr lang="en-US" altLang="ja-JP" sz="2400" dirty="0" smtClean="0">
                <a:sym typeface="Wingdings"/>
              </a:rPr>
              <a:t>G,</a:t>
            </a:r>
            <a:r>
              <a:rPr lang="en-US" altLang="ja-JP" sz="2400" baseline="30000" dirty="0" smtClean="0">
                <a:sym typeface="Wingdings"/>
              </a:rPr>
              <a:t> </a:t>
            </a:r>
            <a:r>
              <a:rPr lang="en-US" altLang="ja-JP" sz="2400" baseline="30000" dirty="0" smtClean="0">
                <a:sym typeface="Wingdings"/>
              </a:rPr>
              <a:t>2</a:t>
            </a:r>
            <a:r>
              <a:rPr lang="en-US" altLang="ja-JP" sz="2400" dirty="0" smtClean="0">
                <a:sym typeface="Wingdings"/>
              </a:rPr>
              <a:t>H, </a:t>
            </a:r>
            <a:r>
              <a:rPr lang="en-US" altLang="ja-JP" sz="2400" baseline="30000" dirty="0" smtClean="0">
                <a:sym typeface="Wingdings"/>
              </a:rPr>
              <a:t>4</a:t>
            </a:r>
            <a:r>
              <a:rPr lang="en-US" altLang="ja-JP" sz="2400" dirty="0" smtClean="0">
                <a:sym typeface="Wingdings"/>
              </a:rPr>
              <a:t>P, </a:t>
            </a:r>
            <a:r>
              <a:rPr lang="en-US" altLang="ja-JP" sz="2400" baseline="30000" dirty="0" smtClean="0">
                <a:sym typeface="Wingdings"/>
              </a:rPr>
              <a:t>4</a:t>
            </a:r>
            <a:r>
              <a:rPr lang="en-US" altLang="ja-JP" sz="2400" dirty="0" smtClean="0">
                <a:sym typeface="Wingdings"/>
              </a:rPr>
              <a:t>F </a:t>
            </a:r>
            <a:r>
              <a:rPr lang="en-US" sz="2400" dirty="0" smtClean="0"/>
              <a:t>(</a:t>
            </a:r>
            <a:r>
              <a:rPr lang="en-US" sz="2400" dirty="0" smtClean="0"/>
              <a:t>Note </a:t>
            </a:r>
            <a:r>
              <a:rPr lang="en-US" sz="2400" baseline="30000" dirty="0" smtClean="0"/>
              <a:t>2</a:t>
            </a:r>
            <a:r>
              <a:rPr lang="en-US" sz="2400" dirty="0" smtClean="0"/>
              <a:t>D appearing twice. They have different seniority numbers. See below).</a:t>
            </a:r>
            <a:endParaRPr lang="ko-KR" altLang="en-US" sz="2400" dirty="0" smtClean="0"/>
          </a:p>
          <a:p>
            <a:endParaRPr lang="ko-KR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305800" cy="5715000"/>
          </a:xfrm>
        </p:spPr>
        <p:txBody>
          <a:bodyPr>
            <a:normAutofit/>
          </a:bodyPr>
          <a:lstStyle/>
          <a:p>
            <a:pPr lvl="0"/>
            <a:r>
              <a:rPr lang="en-US" sz="2400" dirty="0" smtClean="0"/>
              <a:t>For a completely filled shell, there is only one distribution of </a:t>
            </a:r>
            <a:r>
              <a:rPr lang="en-US" sz="2400" dirty="0" smtClean="0"/>
              <a:t>electrons: </a:t>
            </a:r>
            <a:r>
              <a:rPr lang="en-US" sz="2400" i="1" dirty="0" smtClean="0"/>
              <a:t>M</a:t>
            </a:r>
            <a:r>
              <a:rPr lang="en-US" sz="2400" i="1" baseline="-25000" dirty="0" smtClean="0"/>
              <a:t>L</a:t>
            </a:r>
            <a:r>
              <a:rPr lang="en-US" sz="2400" dirty="0" smtClean="0"/>
              <a:t>=</a:t>
            </a:r>
            <a:r>
              <a:rPr lang="en-US" sz="2400" i="1" dirty="0" smtClean="0"/>
              <a:t>M</a:t>
            </a:r>
            <a:r>
              <a:rPr lang="en-US" sz="2400" i="1" baseline="-25000" dirty="0" smtClean="0"/>
              <a:t>S</a:t>
            </a:r>
            <a:r>
              <a:rPr lang="en-US" sz="2400" dirty="0" smtClean="0"/>
              <a:t>=0, </a:t>
            </a:r>
            <a:r>
              <a:rPr lang="en-US" sz="2400" dirty="0" smtClean="0"/>
              <a:t>and thus </a:t>
            </a:r>
            <a:r>
              <a:rPr lang="en-US" sz="2400" baseline="30000" dirty="0" smtClean="0"/>
              <a:t>1</a:t>
            </a:r>
            <a:r>
              <a:rPr lang="en-US" sz="2400" dirty="0" smtClean="0"/>
              <a:t>S.</a:t>
            </a:r>
            <a:endParaRPr lang="ko-KR" altLang="en-US" sz="2400" dirty="0" smtClean="0"/>
          </a:p>
          <a:p>
            <a:pPr lvl="0"/>
            <a:r>
              <a:rPr lang="en-US" sz="2400" dirty="0" smtClean="0"/>
              <a:t>The parity of a term is given </a:t>
            </a:r>
            <a:r>
              <a:rPr lang="en-US" sz="2400" dirty="0" smtClean="0"/>
              <a:t>by                       </a:t>
            </a:r>
            <a:r>
              <a:rPr lang="en-US" sz="2400" dirty="0" smtClean="0"/>
              <a:t>.</a:t>
            </a:r>
            <a:endParaRPr lang="ko-KR" altLang="en-US" sz="2400" dirty="0" smtClean="0"/>
          </a:p>
          <a:p>
            <a:pPr lvl="0"/>
            <a:r>
              <a:rPr lang="en-US" sz="2400" dirty="0" smtClean="0"/>
              <a:t>The highest </a:t>
            </a:r>
            <a:r>
              <a:rPr lang="en-US" sz="2400" i="1" dirty="0" smtClean="0"/>
              <a:t>M</a:t>
            </a:r>
            <a:r>
              <a:rPr lang="en-US" sz="2400" i="1" baseline="-25000" dirty="0" smtClean="0"/>
              <a:t>S</a:t>
            </a:r>
            <a:r>
              <a:rPr lang="en-US" sz="2400" dirty="0" smtClean="0"/>
              <a:t> state is possible when the shell is half-full (or half-empty): each spatial orbital is singly occupied, so </a:t>
            </a:r>
            <a:r>
              <a:rPr lang="en-US" sz="2400" i="1" dirty="0" smtClean="0"/>
              <a:t>M</a:t>
            </a:r>
            <a:r>
              <a:rPr lang="en-US" sz="2400" i="1" baseline="-25000" dirty="0" smtClean="0"/>
              <a:t>L</a:t>
            </a:r>
            <a:r>
              <a:rPr lang="en-US" sz="2400" dirty="0" smtClean="0"/>
              <a:t>=0 and thus </a:t>
            </a:r>
            <a:r>
              <a:rPr lang="en-US" sz="2400" i="1" dirty="0" smtClean="0"/>
              <a:t>L</a:t>
            </a:r>
            <a:r>
              <a:rPr lang="en-US" sz="2400" dirty="0" smtClean="0"/>
              <a:t>=0. In this case,</a:t>
            </a:r>
            <a:r>
              <a:rPr lang="en-US" sz="2400" dirty="0" smtClean="0"/>
              <a:t> </a:t>
            </a:r>
            <a:r>
              <a:rPr lang="en-US" sz="2400" i="1" dirty="0" smtClean="0"/>
              <a:t>M</a:t>
            </a:r>
            <a:r>
              <a:rPr lang="en-US" sz="2400" i="1" baseline="-25000" dirty="0" smtClean="0"/>
              <a:t>S</a:t>
            </a:r>
            <a:r>
              <a:rPr lang="en-US" sz="2400" dirty="0" smtClean="0"/>
              <a:t>=(2</a:t>
            </a:r>
            <a:r>
              <a:rPr lang="en-US" sz="2400" i="1" dirty="0" smtClean="0"/>
              <a:t>l</a:t>
            </a:r>
            <a:r>
              <a:rPr lang="en-US" sz="2400" dirty="0" smtClean="0"/>
              <a:t>+1)x1/2=</a:t>
            </a:r>
            <a:r>
              <a:rPr lang="en-US" sz="2400" i="1" dirty="0" smtClean="0"/>
              <a:t>l</a:t>
            </a:r>
            <a:r>
              <a:rPr lang="en-US" sz="2400" dirty="0" smtClean="0"/>
              <a:t>+1/2=</a:t>
            </a:r>
            <a:r>
              <a:rPr lang="en-US" sz="2400" i="1" dirty="0" smtClean="0"/>
              <a:t>S</a:t>
            </a:r>
            <a:r>
              <a:rPr lang="en-US" sz="2400" dirty="0" smtClean="0"/>
              <a:t>, </a:t>
            </a:r>
            <a:r>
              <a:rPr lang="en-US" sz="2400" dirty="0" smtClean="0"/>
              <a:t>and thus the corresponding term </a:t>
            </a:r>
            <a:r>
              <a:rPr lang="en-US" sz="2400" dirty="0" smtClean="0"/>
              <a:t>is </a:t>
            </a:r>
            <a:r>
              <a:rPr lang="en-US" sz="2400" baseline="30000" dirty="0" smtClean="0"/>
              <a:t>2</a:t>
            </a:r>
            <a:r>
              <a:rPr lang="en-US" sz="2400" i="1" baseline="30000" dirty="0" smtClean="0"/>
              <a:t>l</a:t>
            </a:r>
            <a:r>
              <a:rPr lang="en-US" sz="2400" baseline="30000" dirty="0" smtClean="0"/>
              <a:t>+2</a:t>
            </a:r>
            <a:r>
              <a:rPr lang="en-US" sz="2400" dirty="0" smtClean="0"/>
              <a:t>S. </a:t>
            </a:r>
            <a:r>
              <a:rPr lang="en-US" sz="2400" dirty="0" smtClean="0"/>
              <a:t>This term is spherically symmetric and is said to have the highest </a:t>
            </a:r>
            <a:r>
              <a:rPr lang="en-US" sz="2400" i="1" dirty="0" smtClean="0"/>
              <a:t>multiplicity</a:t>
            </a:r>
            <a:r>
              <a:rPr lang="en-US" sz="2400" dirty="0" smtClean="0"/>
              <a:t> (i.e., the largest 2</a:t>
            </a:r>
            <a:r>
              <a:rPr lang="en-US" sz="2400" i="1" dirty="0" smtClean="0"/>
              <a:t>S</a:t>
            </a:r>
            <a:r>
              <a:rPr lang="en-US" sz="2400" dirty="0" smtClean="0"/>
              <a:t>+1). </a:t>
            </a:r>
            <a:endParaRPr lang="ko-KR" altLang="en-US" sz="2400" dirty="0" smtClean="0"/>
          </a:p>
          <a:p>
            <a:pPr lvl="0"/>
            <a:r>
              <a:rPr lang="en-US" sz="2400" b="1" dirty="0" err="1" smtClean="0"/>
              <a:t>Hund’s</a:t>
            </a:r>
            <a:r>
              <a:rPr lang="en-US" sz="2400" b="1" dirty="0" smtClean="0"/>
              <a:t> Rule</a:t>
            </a:r>
            <a:r>
              <a:rPr lang="en-US" sz="2400" dirty="0" smtClean="0"/>
              <a:t>: In </a:t>
            </a:r>
            <a:r>
              <a:rPr lang="en-US" sz="2400" i="1" dirty="0" smtClean="0"/>
              <a:t>LS</a:t>
            </a:r>
            <a:r>
              <a:rPr lang="en-US" sz="2400" dirty="0" smtClean="0"/>
              <a:t> coupling the term of highest multiplicity is usually the ground term</a:t>
            </a:r>
            <a:r>
              <a:rPr lang="en-US" sz="2400" dirty="0" smtClean="0"/>
              <a:t>.</a:t>
            </a:r>
            <a:endParaRPr lang="ko-KR" altLang="en-US" sz="2400" dirty="0" smtClean="0"/>
          </a:p>
        </p:txBody>
      </p:sp>
      <p:graphicFrame>
        <p:nvGraphicFramePr>
          <p:cNvPr id="1040" name="Object 16"/>
          <p:cNvGraphicFramePr>
            <a:graphicFrameLocks noChangeAspect="1"/>
          </p:cNvGraphicFramePr>
          <p:nvPr/>
        </p:nvGraphicFramePr>
        <p:xfrm>
          <a:off x="5261432" y="1682070"/>
          <a:ext cx="1782763" cy="280988"/>
        </p:xfrm>
        <a:graphic>
          <a:graphicData uri="http://schemas.openxmlformats.org/presentationml/2006/ole">
            <p:oleObj spid="_x0000_s1040" name="Equation" r:id="rId3" imgW="1206500" imgH="1905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305800" cy="2057400"/>
          </a:xfrm>
        </p:spPr>
        <p:txBody>
          <a:bodyPr>
            <a:noAutofit/>
          </a:bodyPr>
          <a:lstStyle/>
          <a:p>
            <a:pPr lvl="0">
              <a:lnSpc>
                <a:spcPts val="2800"/>
              </a:lnSpc>
              <a:spcBef>
                <a:spcPts val="600"/>
              </a:spcBef>
            </a:pPr>
            <a:r>
              <a:rPr lang="en-US" sz="2400" b="1" dirty="0" err="1" smtClean="0"/>
              <a:t>Senioriy</a:t>
            </a:r>
            <a:r>
              <a:rPr lang="en-US" sz="2400" b="1" dirty="0" smtClean="0"/>
              <a:t> Number</a:t>
            </a:r>
            <a:r>
              <a:rPr lang="en-US" sz="2400" dirty="0" smtClean="0"/>
              <a:t>: It is defined for </a:t>
            </a:r>
            <a:r>
              <a:rPr lang="en-US" sz="2400" dirty="0" err="1" smtClean="0"/>
              <a:t>d</a:t>
            </a:r>
            <a:r>
              <a:rPr lang="en-US" sz="2400" i="1" baseline="30000" dirty="0" err="1" smtClean="0"/>
              <a:t>n</a:t>
            </a:r>
            <a:r>
              <a:rPr lang="en-US" sz="2400" dirty="0" smtClean="0"/>
              <a:t> and f</a:t>
            </a:r>
            <a:r>
              <a:rPr lang="en-US" sz="2400" baseline="30000" dirty="0" smtClean="0"/>
              <a:t>n</a:t>
            </a:r>
            <a:r>
              <a:rPr lang="en-US" sz="2400" dirty="0" smtClean="0"/>
              <a:t> configurations. For </a:t>
            </a:r>
            <a:r>
              <a:rPr lang="en-US" sz="2400" dirty="0" err="1" smtClean="0"/>
              <a:t>d</a:t>
            </a:r>
            <a:r>
              <a:rPr lang="en-US" sz="2400" i="1" baseline="30000" dirty="0" err="1" smtClean="0"/>
              <a:t>n</a:t>
            </a:r>
            <a:r>
              <a:rPr lang="en-US" sz="2400" dirty="0" smtClean="0"/>
              <a:t>, each </a:t>
            </a:r>
            <a:r>
              <a:rPr lang="en-US" sz="2400" dirty="0" err="1" smtClean="0"/>
              <a:t>multiplet</a:t>
            </a:r>
            <a:r>
              <a:rPr lang="en-US" sz="2400" dirty="0" smtClean="0"/>
              <a:t> which occurs first for d</a:t>
            </a:r>
            <a:r>
              <a:rPr lang="en-US" sz="2400" i="1" baseline="30000" dirty="0" smtClean="0"/>
              <a:t>n</a:t>
            </a:r>
            <a:r>
              <a:rPr lang="en-US" sz="2400" baseline="30000" dirty="0" smtClean="0"/>
              <a:t>-2</a:t>
            </a:r>
            <a:r>
              <a:rPr lang="en-US" sz="2400" dirty="0" smtClean="0"/>
              <a:t> is assigned a seniority number </a:t>
            </a:r>
            <a:r>
              <a:rPr lang="en-US" sz="2400" i="1" dirty="0" err="1" smtClean="0"/>
              <a:t>v</a:t>
            </a:r>
            <a:r>
              <a:rPr lang="en-US" sz="2400" dirty="0" smtClean="0"/>
              <a:t>=</a:t>
            </a:r>
            <a:r>
              <a:rPr lang="en-US" sz="2400" i="1" dirty="0" smtClean="0"/>
              <a:t>n</a:t>
            </a:r>
            <a:r>
              <a:rPr lang="en-US" sz="2400" dirty="0" smtClean="0"/>
              <a:t>-2; each </a:t>
            </a:r>
            <a:r>
              <a:rPr lang="en-US" sz="2400" dirty="0" err="1" smtClean="0"/>
              <a:t>multiplet</a:t>
            </a:r>
            <a:r>
              <a:rPr lang="en-US" sz="2400" dirty="0" smtClean="0"/>
              <a:t> which occurs first for d</a:t>
            </a:r>
            <a:r>
              <a:rPr lang="en-US" sz="2400" i="1" baseline="30000" dirty="0" smtClean="0"/>
              <a:t>n</a:t>
            </a:r>
            <a:r>
              <a:rPr lang="en-US" sz="2400" baseline="30000" dirty="0" smtClean="0"/>
              <a:t>-4 </a:t>
            </a:r>
            <a:r>
              <a:rPr lang="en-US" sz="2400" dirty="0" smtClean="0"/>
              <a:t>is assigned a seniority number </a:t>
            </a:r>
            <a:r>
              <a:rPr lang="en-US" sz="2400" i="1" dirty="0" err="1" smtClean="0"/>
              <a:t>v</a:t>
            </a:r>
            <a:r>
              <a:rPr lang="en-US" sz="2400" dirty="0" smtClean="0"/>
              <a:t>=</a:t>
            </a:r>
            <a:r>
              <a:rPr lang="en-US" sz="2400" i="1" dirty="0" smtClean="0"/>
              <a:t>n</a:t>
            </a:r>
            <a:r>
              <a:rPr lang="en-US" sz="2400" dirty="0" smtClean="0"/>
              <a:t>-4. All other </a:t>
            </a:r>
            <a:r>
              <a:rPr lang="en-US" sz="2400" dirty="0" err="1" smtClean="0"/>
              <a:t>muliplets</a:t>
            </a:r>
            <a:r>
              <a:rPr lang="en-US" sz="2400" dirty="0" smtClean="0"/>
              <a:t> have seniority numbers equal to </a:t>
            </a:r>
            <a:r>
              <a:rPr lang="en-US" sz="2400" i="1" dirty="0" err="1" smtClean="0"/>
              <a:t>n</a:t>
            </a:r>
            <a:r>
              <a:rPr lang="en-US" sz="2400" dirty="0" smtClean="0"/>
              <a:t>.</a:t>
            </a:r>
            <a:endParaRPr lang="ko-KR" altLang="en-US" sz="24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3170238"/>
            <a:ext cx="7467600" cy="944562"/>
          </a:xfrm>
        </p:spPr>
        <p:txBody>
          <a:bodyPr/>
          <a:lstStyle/>
          <a:p>
            <a:r>
              <a:rPr lang="en-US" altLang="ja-JP" dirty="0" smtClean="0"/>
              <a:t>Example 6</a:t>
            </a:r>
            <a:endParaRPr lang="ja-JP" alt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4114800"/>
            <a:ext cx="8305800" cy="2392362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344488"/>
            <a:r>
              <a:rPr lang="en-US" sz="2400" dirty="0" smtClean="0"/>
              <a:t>d</a:t>
            </a:r>
            <a:r>
              <a:rPr lang="en-US" sz="2400" baseline="30000" dirty="0" smtClean="0"/>
              <a:t>2</a:t>
            </a:r>
            <a:r>
              <a:rPr lang="en-US" sz="2400" dirty="0" smtClean="0"/>
              <a:t> has the </a:t>
            </a:r>
            <a:r>
              <a:rPr lang="en-US" sz="2400" dirty="0" err="1" smtClean="0"/>
              <a:t>multiplets</a:t>
            </a:r>
            <a:r>
              <a:rPr lang="en-US" sz="2400" dirty="0" smtClean="0"/>
              <a:t> </a:t>
            </a:r>
            <a:r>
              <a:rPr lang="en-US" sz="2400" baseline="30000" dirty="0" smtClean="0"/>
              <a:t>1</a:t>
            </a:r>
            <a:r>
              <a:rPr lang="en-US" sz="2400" dirty="0" smtClean="0"/>
              <a:t>S, </a:t>
            </a:r>
            <a:r>
              <a:rPr lang="en-US" sz="2400" baseline="30000" dirty="0" smtClean="0"/>
              <a:t>3</a:t>
            </a:r>
            <a:r>
              <a:rPr lang="en-US" sz="2400" dirty="0" smtClean="0"/>
              <a:t>P, </a:t>
            </a:r>
            <a:r>
              <a:rPr lang="en-US" sz="2400" baseline="30000" dirty="0" smtClean="0"/>
              <a:t>1</a:t>
            </a:r>
            <a:r>
              <a:rPr lang="en-US" sz="2400" dirty="0" smtClean="0"/>
              <a:t>D, </a:t>
            </a:r>
            <a:r>
              <a:rPr lang="en-US" sz="2400" baseline="30000" dirty="0" smtClean="0"/>
              <a:t>3</a:t>
            </a:r>
            <a:r>
              <a:rPr lang="en-US" sz="2400" dirty="0" smtClean="0"/>
              <a:t>F, </a:t>
            </a:r>
            <a:r>
              <a:rPr lang="en-US" sz="2400" baseline="30000" dirty="0" smtClean="0"/>
              <a:t>1</a:t>
            </a:r>
            <a:r>
              <a:rPr lang="en-US" sz="2400" dirty="0" smtClean="0"/>
              <a:t>G (see Exercise 9); the </a:t>
            </a:r>
            <a:r>
              <a:rPr lang="en-US" sz="2400" dirty="0" err="1" smtClean="0"/>
              <a:t>multiplet</a:t>
            </a:r>
            <a:r>
              <a:rPr lang="en-US" sz="2400" dirty="0" smtClean="0"/>
              <a:t> </a:t>
            </a:r>
            <a:r>
              <a:rPr lang="en-US" sz="2400" baseline="30000" dirty="0" smtClean="0"/>
              <a:t>1</a:t>
            </a:r>
            <a:r>
              <a:rPr lang="en-US" sz="2400" dirty="0" smtClean="0"/>
              <a:t>S can be regarded as having occurred in d</a:t>
            </a:r>
            <a:r>
              <a:rPr lang="en-US" sz="2400" baseline="30000" dirty="0" smtClean="0"/>
              <a:t>0</a:t>
            </a:r>
            <a:r>
              <a:rPr lang="en-US" sz="2400" dirty="0" smtClean="0"/>
              <a:t> (nothing in </a:t>
            </a:r>
            <a:r>
              <a:rPr lang="en-US" sz="2400" dirty="0" err="1" smtClean="0"/>
              <a:t>d</a:t>
            </a:r>
            <a:r>
              <a:rPr lang="en-US" sz="2400" dirty="0" smtClean="0"/>
              <a:t> </a:t>
            </a:r>
            <a:r>
              <a:rPr lang="en-US" sz="2400" dirty="0" err="1" smtClean="0"/>
              <a:t>orbitals</a:t>
            </a:r>
            <a:r>
              <a:rPr lang="en-US" sz="2400" dirty="0" smtClean="0"/>
              <a:t>). Therefore, </a:t>
            </a:r>
            <a:r>
              <a:rPr lang="en-US" sz="2400" baseline="30000" dirty="0" smtClean="0"/>
              <a:t>1</a:t>
            </a:r>
            <a:r>
              <a:rPr lang="en-US" sz="2400" dirty="0" smtClean="0"/>
              <a:t>S has a seniority number of 0 with the notation . The others have </a:t>
            </a:r>
            <a:r>
              <a:rPr lang="en-US" sz="2400" i="1" dirty="0" err="1" smtClean="0"/>
              <a:t>v</a:t>
            </a:r>
            <a:r>
              <a:rPr lang="en-US" sz="2400" dirty="0" smtClean="0"/>
              <a:t>=2.</a:t>
            </a:r>
            <a:endParaRPr lang="ko-KR" altLang="en-US" sz="2400" dirty="0" smtClean="0"/>
          </a:p>
          <a:p>
            <a:pPr marL="420624" marR="0" lvl="0" indent="-38404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"/>
              <a:tabLst/>
              <a:defRPr/>
            </a:pPr>
            <a:endParaRPr kumimoji="1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305800" cy="2057400"/>
          </a:xfrm>
        </p:spPr>
        <p:txBody>
          <a:bodyPr>
            <a:noAutofit/>
          </a:bodyPr>
          <a:lstStyle/>
          <a:p>
            <a:r>
              <a:rPr lang="en-US" sz="2400" dirty="0" smtClean="0"/>
              <a:t>Consider d</a:t>
            </a:r>
            <a:r>
              <a:rPr lang="en-US" sz="2400" baseline="30000" dirty="0" smtClean="0"/>
              <a:t>3</a:t>
            </a:r>
            <a:r>
              <a:rPr lang="en-US" sz="2400" dirty="0" smtClean="0"/>
              <a:t>. Assign seniority numbers to the all possible </a:t>
            </a:r>
            <a:r>
              <a:rPr lang="en-US" sz="2400" dirty="0" err="1" smtClean="0"/>
              <a:t>multiplets</a:t>
            </a:r>
            <a:r>
              <a:rPr lang="en-US" sz="2400" dirty="0" smtClean="0"/>
              <a:t>.</a:t>
            </a:r>
          </a:p>
          <a:p>
            <a:pPr>
              <a:buNone/>
            </a:pPr>
            <a:r>
              <a:rPr lang="en-US" sz="2400" dirty="0" smtClean="0"/>
              <a:t>	Answer</a:t>
            </a:r>
            <a:r>
              <a:rPr lang="en-US" sz="2400" dirty="0" smtClean="0"/>
              <a:t>)</a:t>
            </a:r>
            <a:r>
              <a:rPr lang="en-US" sz="2400" dirty="0" smtClean="0"/>
              <a:t> </a:t>
            </a:r>
            <a:endParaRPr lang="ko-KR" altLang="en-US" sz="2400" dirty="0" smtClean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7467600" cy="944562"/>
          </a:xfrm>
        </p:spPr>
        <p:txBody>
          <a:bodyPr/>
          <a:lstStyle/>
          <a:p>
            <a:r>
              <a:rPr lang="en-US" altLang="ja-JP" dirty="0" smtClean="0"/>
              <a:t>Exercise 11</a:t>
            </a:r>
            <a:endParaRPr lang="ja-JP" altLang="en-US" dirty="0"/>
          </a:p>
        </p:txBody>
      </p:sp>
      <p:graphicFrame>
        <p:nvGraphicFramePr>
          <p:cNvPr id="238594" name="Object 2"/>
          <p:cNvGraphicFramePr>
            <a:graphicFrameLocks noChangeAspect="1"/>
          </p:cNvGraphicFramePr>
          <p:nvPr/>
        </p:nvGraphicFramePr>
        <p:xfrm>
          <a:off x="2214563" y="2603500"/>
          <a:ext cx="2951162" cy="304800"/>
        </p:xfrm>
        <a:graphic>
          <a:graphicData uri="http://schemas.openxmlformats.org/presentationml/2006/ole">
            <p:oleObj spid="_x0000_s238594" name="Equation" r:id="rId3" imgW="1968500" imgH="2032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944562"/>
          </a:xfrm>
        </p:spPr>
        <p:txBody>
          <a:bodyPr>
            <a:noAutofit/>
          </a:bodyPr>
          <a:lstStyle/>
          <a:p>
            <a:r>
              <a:rPr lang="en-US" sz="4000" i="1" dirty="0" err="1" smtClean="0">
                <a:latin typeface="Times New Roman"/>
                <a:cs typeface="Times New Roman"/>
              </a:rPr>
              <a:t>jj</a:t>
            </a:r>
            <a:r>
              <a:rPr lang="en-US" sz="4000" i="1" dirty="0" smtClean="0">
                <a:latin typeface="Times New Roman"/>
                <a:cs typeface="Times New Roman"/>
              </a:rPr>
              <a:t> Coupling</a:t>
            </a:r>
            <a:endParaRPr lang="ja-JP" altLang="en-US" sz="4000" i="1" dirty="0">
              <a:latin typeface="Times New Roman"/>
              <a:cs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305800" cy="3733800"/>
          </a:xfrm>
        </p:spPr>
        <p:txBody>
          <a:bodyPr>
            <a:noAutofit/>
          </a:bodyPr>
          <a:lstStyle/>
          <a:p>
            <a:pPr lvl="0"/>
            <a:r>
              <a:rPr lang="en-US" sz="2400" dirty="0" smtClean="0"/>
              <a:t>One electron states are designated by </a:t>
            </a:r>
            <a:r>
              <a:rPr lang="en-US" sz="2400" i="1" dirty="0" err="1" smtClean="0"/>
              <a:t>l</a:t>
            </a:r>
            <a:r>
              <a:rPr lang="en-US" sz="2400" i="1" baseline="-25000" dirty="0" err="1" smtClean="0"/>
              <a:t>j</a:t>
            </a:r>
            <a:r>
              <a:rPr lang="en-US" sz="2400" dirty="0" smtClean="0"/>
              <a:t>. Examples are </a:t>
            </a:r>
            <a:r>
              <a:rPr lang="en-US" sz="2400" i="1" dirty="0" smtClean="0"/>
              <a:t>s</a:t>
            </a:r>
            <a:r>
              <a:rPr lang="en-US" sz="2400" baseline="-25000" dirty="0" smtClean="0"/>
              <a:t>1/2</a:t>
            </a:r>
            <a:r>
              <a:rPr lang="en-US" sz="2400" dirty="0" smtClean="0"/>
              <a:t>, </a:t>
            </a:r>
            <a:r>
              <a:rPr lang="en-US" sz="2400" i="1" dirty="0" smtClean="0"/>
              <a:t>p</a:t>
            </a:r>
            <a:r>
              <a:rPr lang="en-US" sz="2400" baseline="-25000" dirty="0" smtClean="0"/>
              <a:t>1/2</a:t>
            </a:r>
            <a:r>
              <a:rPr lang="en-US" sz="2400" dirty="0" smtClean="0"/>
              <a:t>, </a:t>
            </a:r>
            <a:r>
              <a:rPr lang="en-US" sz="2400" i="1" dirty="0" smtClean="0"/>
              <a:t>p</a:t>
            </a:r>
            <a:r>
              <a:rPr lang="en-US" sz="2400" baseline="-25000" dirty="0" smtClean="0"/>
              <a:t>3/2</a:t>
            </a:r>
            <a:r>
              <a:rPr lang="en-US" sz="2400" dirty="0" smtClean="0"/>
              <a:t>, etc.</a:t>
            </a:r>
            <a:endParaRPr lang="ko-KR" altLang="en-US" sz="2400" dirty="0" smtClean="0"/>
          </a:p>
          <a:p>
            <a:pPr lvl="0"/>
            <a:r>
              <a:rPr lang="en-US" sz="2400" dirty="0" smtClean="0"/>
              <a:t>Two-electron states are designated </a:t>
            </a:r>
            <a:r>
              <a:rPr lang="en-US" sz="2400" dirty="0" smtClean="0"/>
              <a:t>by          .</a:t>
            </a:r>
            <a:endParaRPr lang="ko-KR" altLang="en-US" sz="2400" dirty="0" smtClean="0"/>
          </a:p>
        </p:txBody>
      </p:sp>
      <p:graphicFrame>
        <p:nvGraphicFramePr>
          <p:cNvPr id="239618" name="Object 2"/>
          <p:cNvGraphicFramePr>
            <a:graphicFrameLocks noChangeAspect="1"/>
          </p:cNvGraphicFramePr>
          <p:nvPr/>
        </p:nvGraphicFramePr>
        <p:xfrm>
          <a:off x="6180138" y="2487613"/>
          <a:ext cx="725487" cy="274637"/>
        </p:xfrm>
        <a:graphic>
          <a:graphicData uri="http://schemas.openxmlformats.org/presentationml/2006/ole">
            <p:oleObj spid="_x0000_s239618" name="Equation" r:id="rId3" imgW="469900" imgH="177800" progId="Equation.3">
              <p:embed/>
            </p:oleObj>
          </a:graphicData>
        </a:graphic>
      </p:graphicFrame>
      <p:sp>
        <p:nvSpPr>
          <p:cNvPr id="5" name="Title 1"/>
          <p:cNvSpPr txBox="1">
            <a:spLocks/>
          </p:cNvSpPr>
          <p:nvPr/>
        </p:nvSpPr>
        <p:spPr>
          <a:xfrm>
            <a:off x="457200" y="3200400"/>
            <a:ext cx="7467600" cy="944562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4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Example 7</a:t>
            </a:r>
            <a:endParaRPr kumimoji="1" lang="ja-JP" altLang="en-US" sz="4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57200" y="4114800"/>
            <a:ext cx="8305800" cy="2057400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420624" lvl="0" indent="-384048" defTabSz="914400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"/>
            </a:pPr>
            <a:r>
              <a:rPr lang="en-US" sz="2400" dirty="0" smtClean="0"/>
              <a:t>For the pd </a:t>
            </a:r>
            <a:r>
              <a:rPr lang="en-US" sz="2400" dirty="0" err="1" smtClean="0"/>
              <a:t>configuation</a:t>
            </a:r>
            <a:r>
              <a:rPr lang="en-US" sz="2400" dirty="0" smtClean="0"/>
              <a:t>, the possible </a:t>
            </a:r>
            <a:r>
              <a:rPr lang="en-US" sz="2400" i="1" dirty="0" err="1" smtClean="0"/>
              <a:t>jj</a:t>
            </a:r>
            <a:r>
              <a:rPr lang="en-US" sz="2400" dirty="0" smtClean="0"/>
              <a:t> coupling states are</a:t>
            </a:r>
          </a:p>
          <a:p>
            <a:pPr marL="420624" lvl="0" indent="-384048" defTabSz="914400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"/>
            </a:pPr>
            <a:r>
              <a:rPr lang="en-US" sz="2400" dirty="0" smtClean="0"/>
              <a:t>For </a:t>
            </a:r>
            <a:r>
              <a:rPr lang="en-US" sz="2400" dirty="0" smtClean="0"/>
              <a:t>p</a:t>
            </a:r>
            <a:r>
              <a:rPr lang="en-US" sz="2400" baseline="30000" dirty="0" smtClean="0"/>
              <a:t>2</a:t>
            </a:r>
            <a:r>
              <a:rPr lang="en-US" sz="2400" dirty="0" smtClean="0"/>
              <a:t>, one can think </a:t>
            </a:r>
            <a:r>
              <a:rPr lang="en-US" sz="2400" dirty="0" smtClean="0"/>
              <a:t>of</a:t>
            </a:r>
          </a:p>
          <a:p>
            <a:pPr marL="420624" lvl="0" indent="-384048" defTabSz="914400">
              <a:spcBef>
                <a:spcPct val="20000"/>
              </a:spcBef>
              <a:buClr>
                <a:schemeClr val="accent1"/>
              </a:buClr>
              <a:buSzPct val="80000"/>
            </a:pPr>
            <a:r>
              <a:rPr lang="en-US" sz="2400" dirty="0" smtClean="0"/>
              <a:t>	However</a:t>
            </a:r>
            <a:r>
              <a:rPr lang="en-US" sz="2400" dirty="0" smtClean="0"/>
              <a:t>, due to the Pauli principle, only the following states are possible</a:t>
            </a:r>
            <a:r>
              <a:rPr lang="en-US" sz="2400" dirty="0" smtClean="0"/>
              <a:t>.</a:t>
            </a:r>
            <a:endParaRPr lang="ko-KR" altLang="en-US" sz="2400" dirty="0" smtClean="0"/>
          </a:p>
        </p:txBody>
      </p:sp>
      <p:graphicFrame>
        <p:nvGraphicFramePr>
          <p:cNvPr id="239619" name="Object 3"/>
          <p:cNvGraphicFramePr>
            <a:graphicFrameLocks noChangeAspect="1"/>
          </p:cNvGraphicFramePr>
          <p:nvPr/>
        </p:nvGraphicFramePr>
        <p:xfrm>
          <a:off x="1525137" y="4642761"/>
          <a:ext cx="4713287" cy="280988"/>
        </p:xfrm>
        <a:graphic>
          <a:graphicData uri="http://schemas.openxmlformats.org/presentationml/2006/ole">
            <p:oleObj spid="_x0000_s239619" name="Equation" r:id="rId4" imgW="3200400" imgH="190500" progId="Equation.3">
              <p:embed/>
            </p:oleObj>
          </a:graphicData>
        </a:graphic>
      </p:graphicFrame>
      <p:graphicFrame>
        <p:nvGraphicFramePr>
          <p:cNvPr id="239620" name="Object 4"/>
          <p:cNvGraphicFramePr>
            <a:graphicFrameLocks noChangeAspect="1"/>
          </p:cNvGraphicFramePr>
          <p:nvPr/>
        </p:nvGraphicFramePr>
        <p:xfrm>
          <a:off x="4239987" y="5071951"/>
          <a:ext cx="3352800" cy="280988"/>
        </p:xfrm>
        <a:graphic>
          <a:graphicData uri="http://schemas.openxmlformats.org/presentationml/2006/ole">
            <p:oleObj spid="_x0000_s239620" name="Equation" r:id="rId5" imgW="2273300" imgH="190500" progId="Equation.3">
              <p:embed/>
            </p:oleObj>
          </a:graphicData>
        </a:graphic>
      </p:graphicFrame>
      <p:graphicFrame>
        <p:nvGraphicFramePr>
          <p:cNvPr id="239621" name="Object 5"/>
          <p:cNvGraphicFramePr>
            <a:graphicFrameLocks noChangeAspect="1"/>
          </p:cNvGraphicFramePr>
          <p:nvPr/>
        </p:nvGraphicFramePr>
        <p:xfrm>
          <a:off x="3714979" y="5863999"/>
          <a:ext cx="3106737" cy="280988"/>
        </p:xfrm>
        <a:graphic>
          <a:graphicData uri="http://schemas.openxmlformats.org/presentationml/2006/ole">
            <p:oleObj spid="_x0000_s239621" name="Equation" r:id="rId6" imgW="2108200" imgH="1905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20487"/>
            <a:ext cx="8305800" cy="3733800"/>
          </a:xfrm>
        </p:spPr>
        <p:txBody>
          <a:bodyPr>
            <a:noAutofit/>
          </a:bodyPr>
          <a:lstStyle/>
          <a:p>
            <a:pPr lvl="0"/>
            <a:r>
              <a:rPr lang="en-US" sz="2400" dirty="0" smtClean="0"/>
              <a:t>In general, when </a:t>
            </a:r>
            <a:r>
              <a:rPr lang="en-US" sz="2400" i="1" dirty="0" smtClean="0"/>
              <a:t>j</a:t>
            </a:r>
            <a:r>
              <a:rPr lang="en-US" sz="2400" baseline="-25000" dirty="0" smtClean="0"/>
              <a:t>1</a:t>
            </a:r>
            <a:r>
              <a:rPr lang="en-US" sz="2400" dirty="0" smtClean="0"/>
              <a:t>=</a:t>
            </a:r>
            <a:r>
              <a:rPr lang="en-US" sz="2400" i="1" dirty="0" smtClean="0"/>
              <a:t>j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, the allowed values of </a:t>
            </a:r>
            <a:r>
              <a:rPr lang="en-US" sz="2400" i="1" dirty="0" smtClean="0"/>
              <a:t>J</a:t>
            </a:r>
            <a:r>
              <a:rPr lang="en-US" sz="2400" dirty="0" smtClean="0"/>
              <a:t> in </a:t>
            </a:r>
            <a:r>
              <a:rPr lang="en-US" sz="2400" i="1" dirty="0" err="1" smtClean="0"/>
              <a:t>jj</a:t>
            </a:r>
            <a:r>
              <a:rPr lang="en-US" sz="2400" dirty="0" smtClean="0"/>
              <a:t> coupling are given by </a:t>
            </a:r>
            <a:r>
              <a:rPr lang="en-US" sz="2400" i="1" dirty="0" smtClean="0"/>
              <a:t>J</a:t>
            </a:r>
            <a:r>
              <a:rPr lang="en-US" sz="2400" dirty="0" smtClean="0"/>
              <a:t>=2</a:t>
            </a:r>
            <a:r>
              <a:rPr lang="en-US" sz="2400" i="1" dirty="0" smtClean="0"/>
              <a:t>j</a:t>
            </a:r>
            <a:r>
              <a:rPr lang="en-US" sz="2400" dirty="0" smtClean="0"/>
              <a:t>-1, 2</a:t>
            </a:r>
            <a:r>
              <a:rPr lang="en-US" sz="2400" i="1" dirty="0" smtClean="0"/>
              <a:t>j</a:t>
            </a:r>
            <a:r>
              <a:rPr lang="en-US" sz="2400" dirty="0" smtClean="0"/>
              <a:t>-3,…</a:t>
            </a:r>
            <a:endParaRPr lang="ko-KR" altLang="en-US" sz="2400" dirty="0" smtClean="0"/>
          </a:p>
          <a:p>
            <a:pPr lvl="0"/>
            <a:r>
              <a:rPr lang="en-US" sz="2400" dirty="0" smtClean="0"/>
              <a:t>There are many situations for which neither </a:t>
            </a:r>
            <a:r>
              <a:rPr lang="en-US" sz="2400" i="1" dirty="0" smtClean="0"/>
              <a:t>LS</a:t>
            </a:r>
            <a:r>
              <a:rPr lang="en-US" sz="2400" dirty="0" smtClean="0"/>
              <a:t> nor </a:t>
            </a:r>
            <a:r>
              <a:rPr lang="en-US" sz="2400" i="1" dirty="0" err="1" smtClean="0"/>
              <a:t>jj</a:t>
            </a:r>
            <a:r>
              <a:rPr lang="en-US" sz="2400" dirty="0" smtClean="0"/>
              <a:t> coupling are valid approximations: in such cases it is necessary to </a:t>
            </a:r>
            <a:r>
              <a:rPr lang="en-US" sz="2400" dirty="0" err="1" smtClean="0"/>
              <a:t>diagonalize</a:t>
            </a:r>
            <a:r>
              <a:rPr lang="en-US" sz="2400" dirty="0" smtClean="0"/>
              <a:t> the Coulomb repulsion and the spin-orbit interaction for each value of </a:t>
            </a:r>
            <a:r>
              <a:rPr lang="en-US" sz="2400" i="1" dirty="0" smtClean="0"/>
              <a:t>J</a:t>
            </a:r>
            <a:r>
              <a:rPr lang="en-US" sz="2400" dirty="0" smtClean="0"/>
              <a:t>. The coupling is then said to be </a:t>
            </a:r>
            <a:r>
              <a:rPr lang="en-US" sz="2400" i="1" dirty="0" smtClean="0"/>
              <a:t>intermediate</a:t>
            </a:r>
            <a:r>
              <a:rPr lang="en-US" sz="2400" dirty="0" smtClean="0"/>
              <a:t>.</a:t>
            </a:r>
            <a:endParaRPr lang="ko-KR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4572000" cy="533400"/>
          </a:xfrm>
        </p:spPr>
        <p:txBody>
          <a:bodyPr>
            <a:noAutofit/>
          </a:bodyPr>
          <a:lstStyle/>
          <a:p>
            <a:pPr lvl="0"/>
            <a:r>
              <a:rPr lang="en-US" sz="2400" dirty="0" smtClean="0"/>
              <a:t>Terms arising from </a:t>
            </a:r>
            <a:r>
              <a:rPr lang="en-US" sz="2400" i="1" dirty="0" err="1" smtClean="0"/>
              <a:t>l</a:t>
            </a:r>
            <a:r>
              <a:rPr lang="en-US" sz="2400" i="1" baseline="30000" dirty="0" err="1" smtClean="0"/>
              <a:t>n</a:t>
            </a:r>
            <a:r>
              <a:rPr lang="en-US" sz="2400" dirty="0" smtClean="0"/>
              <a:t> configurations.</a:t>
            </a:r>
            <a:r>
              <a:rPr lang="ko-KR" altLang="en-US" sz="2400" dirty="0" smtClean="0"/>
              <a:t> </a:t>
            </a:r>
            <a:endParaRPr lang="ko-KR" altLang="en-US" sz="2400" dirty="0" smtClean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506187" y="304800"/>
            <a:ext cx="7467600" cy="944562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4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Table 1</a:t>
            </a:r>
            <a:endParaRPr kumimoji="1" lang="ja-JP" altLang="en-US" sz="4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242694" name="Object 6"/>
          <p:cNvGraphicFramePr>
            <a:graphicFrameLocks noChangeAspect="1"/>
          </p:cNvGraphicFramePr>
          <p:nvPr/>
        </p:nvGraphicFramePr>
        <p:xfrm>
          <a:off x="4800600" y="304800"/>
          <a:ext cx="3498850" cy="6283275"/>
        </p:xfrm>
        <a:graphic>
          <a:graphicData uri="http://schemas.openxmlformats.org/presentationml/2006/ole">
            <p:oleObj spid="_x0000_s242694" name="Document" r:id="rId3" imgW="2425700" imgH="4356100" progId="Word.Document.12">
              <p:link updateAutomatic="1"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chnic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Technic.thmx</Template>
  <TotalTime>630</TotalTime>
  <Words>1003</Words>
  <Application>Microsoft Macintosh PowerPoint</Application>
  <PresentationFormat>On-screen Show (4:3)</PresentationFormat>
  <Paragraphs>71</Paragraphs>
  <Slides>15</Slides>
  <Notes>0</Notes>
  <HiddenSlides>0</HiddenSlides>
  <MMClips>0</MMClips>
  <ScaleCrop>false</ScaleCrop>
  <HeadingPairs>
    <vt:vector size="8" baseType="variant">
      <vt:variant>
        <vt:lpstr>Design Template</vt:lpstr>
      </vt:variant>
      <vt:variant>
        <vt:i4>1</vt:i4>
      </vt:variant>
      <vt:variant>
        <vt:lpstr>Links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Technic</vt:lpstr>
      <vt:lpstr>Users:Users:kwan:Documents:Classes/Lectures:atomic physics class:lecture note:Chapter 2 N-Electron Atoms!OLE_LINK6</vt:lpstr>
      <vt:lpstr>Microsoft Equation</vt:lpstr>
      <vt:lpstr>Atomic and Molecular Physics  Lecture 16</vt:lpstr>
      <vt:lpstr>Terms from a Configuration of n Electrons </vt:lpstr>
      <vt:lpstr>Example 4</vt:lpstr>
      <vt:lpstr>Exercise 8</vt:lpstr>
      <vt:lpstr>Example 5</vt:lpstr>
      <vt:lpstr>Slide 6</vt:lpstr>
      <vt:lpstr>Slide 7</vt:lpstr>
      <vt:lpstr>Exercise 9</vt:lpstr>
      <vt:lpstr>Exercise 10</vt:lpstr>
      <vt:lpstr>Slide 10</vt:lpstr>
      <vt:lpstr>Example 6</vt:lpstr>
      <vt:lpstr>Exercise 11</vt:lpstr>
      <vt:lpstr>jj Coupling</vt:lpstr>
      <vt:lpstr>Slide 14</vt:lpstr>
      <vt:lpstr>Slide 15</vt:lpstr>
    </vt:vector>
  </TitlesOfParts>
  <Company>3463-6078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  -  AMP12</dc:title>
  <dc:creator>경원 안</dc:creator>
  <cp:keywords/>
  <cp:lastModifiedBy>Kyungwon An</cp:lastModifiedBy>
  <cp:revision>52</cp:revision>
  <dcterms:created xsi:type="dcterms:W3CDTF">2009-10-27T14:25:53Z</dcterms:created>
  <dcterms:modified xsi:type="dcterms:W3CDTF">2009-10-27T16:02:15Z</dcterms:modified>
</cp:coreProperties>
</file>