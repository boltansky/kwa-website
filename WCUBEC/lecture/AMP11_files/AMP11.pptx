
<file path=[Content_Types].xml><?xml version="1.0" encoding="utf-8"?>
<Types xmlns="http://schemas.openxmlformats.org/package/2006/content-types">
  <Default Extension="pict" ContentType="image/pict"/>
  <Override PartName="/ppt/embeddings/Microsoft_Equation12.bin" ContentType="application/vnd.openxmlformats-officedocument.oleObject"/>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embeddings/Microsoft_Equation7.bin" ContentType="application/vnd.openxmlformats-officedocument.oleObject"/>
  <Override PartName="/ppt/embeddings/Microsoft_Equation24.bin" ContentType="application/vnd.openxmlformats-officedocument.oleObject"/>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Default Extension="jpeg" ContentType="image/jpeg"/>
  <Override PartName="/ppt/slides/slide1.xml" ContentType="application/vnd.openxmlformats-officedocument.presentationml.slide+xml"/>
  <Override PartName="/ppt/embeddings/Microsoft_Equation3.bin" ContentType="application/vnd.openxmlformats-officedocument.oleObject"/>
  <Override PartName="/ppt/embeddings/Microsoft_Equation20.bin" ContentType="application/vnd.openxmlformats-officedocument.oleObject"/>
  <Override PartName="/ppt/embeddings/Microsoft_Equation29.bin" ContentType="application/vnd.openxmlformats-officedocument.oleObject"/>
  <Override PartName="/docProps/app.xml" ContentType="application/vnd.openxmlformats-officedocument.extended-properties+xml"/>
  <Override PartName="/ppt/slideLayouts/slideLayout1.xml" ContentType="application/vnd.openxmlformats-officedocument.presentationml.slideLayout+xml"/>
  <Override PartName="/ppt/embeddings/Microsoft_Equation17.bin" ContentType="application/vnd.openxmlformats-officedocument.oleObject"/>
  <Default Extension="xml" ContentType="application/xml"/>
  <Override PartName="/ppt/tableStyles.xml" ContentType="application/vnd.openxmlformats-officedocument.presentationml.tableStyles+xml"/>
  <Override PartName="/ppt/embeddings/Microsoft_Equation13.bin" ContentType="application/vnd.openxmlformats-officedocument.oleObject"/>
  <Override PartName="/ppt/slides/slide15.xml" ContentType="application/vnd.openxmlformats-officedocument.presentationml.slide+xml"/>
  <Override PartName="/ppt/embeddings/Microsoft_Equation8.bin" ContentType="application/vnd.openxmlformats-officedocument.oleObject"/>
  <Override PartName="/ppt/slides/slide6.xml" ContentType="application/vnd.openxmlformats-officedocument.presentationml.slide+xml"/>
  <Override PartName="/ppt/embeddings/Microsoft_Equation25.bin" ContentType="application/vnd.openxmlformats-officedocument.oleObject"/>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embeddings/Microsoft_Equation4.bin" ContentType="application/vnd.openxmlformats-officedocument.oleObject"/>
  <Override PartName="/ppt/slides/slide2.xml" ContentType="application/vnd.openxmlformats-officedocument.presentationml.slide+xml"/>
  <Override PartName="/ppt/embeddings/Microsoft_Equation21.bin" ContentType="application/vnd.openxmlformats-officedocument.oleObject"/>
  <Override PartName="/ppt/slideLayouts/slideLayout2.xml" ContentType="application/vnd.openxmlformats-officedocument.presentationml.slideLayout+xml"/>
  <Override PartName="/ppt/embeddings/Microsoft_Equation18.bin" ContentType="application/vnd.openxmlformats-officedocument.oleObject"/>
  <Override PartName="/ppt/embeddings/Microsoft_Equation26.bin" ContentType="application/vnd.openxmlformats-officedocument.oleObject"/>
  <Override PartName="/ppt/embeddings/Microsoft_Equation14.bin" ContentType="application/vnd.openxmlformats-officedocument.oleObject"/>
  <Override PartName="/ppt/embeddings/Microsoft_Equation10.bin" ContentType="application/vnd.openxmlformats-officedocument.oleObject"/>
  <Override PartName="/ppt/slides/slide7.xml" ContentType="application/vnd.openxmlformats-officedocument.presentationml.slide+xml"/>
  <Override PartName="/ppt/embeddings/Microsoft_Equation9.bin" ContentType="application/vnd.openxmlformats-officedocument.oleObject"/>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Default Extension="vml" ContentType="application/vnd.openxmlformats-officedocument.vmlDrawing"/>
  <Override PartName="/ppt/slides/slide3.xml" ContentType="application/vnd.openxmlformats-officedocument.presentationml.slide+xml"/>
  <Override PartName="/ppt/embeddings/Microsoft_Equation5.bin" ContentType="application/vnd.openxmlformats-officedocument.oleObject"/>
  <Override PartName="/ppt/embeddings/Microsoft_Equation22.bin" ContentType="application/vnd.openxmlformats-officedocument.oleObject"/>
  <Override PartName="/ppt/embeddings/Microsoft_Equation30.bin" ContentType="application/vnd.openxmlformats-officedocument.oleObject"/>
  <Override PartName="/ppt/slideLayouts/slideLayout3.xml" ContentType="application/vnd.openxmlformats-officedocument.presentationml.slideLayout+xml"/>
  <Override PartName="/ppt/embeddings/Microsoft_Equation1.bin" ContentType="application/vnd.openxmlformats-officedocument.oleObject"/>
  <Override PartName="/ppt/embeddings/Microsoft_Equation19.bin" ContentType="application/vnd.openxmlformats-officedocument.oleObject"/>
  <Override PartName="/ppt/embeddings/Microsoft_Equation27.bin" ContentType="application/vnd.openxmlformats-officedocument.oleObject"/>
  <Override PartName="/ppt/embeddings/Microsoft_Equation15.bin" ContentType="application/vnd.openxmlformats-officedocument.oleObject"/>
  <Override PartName="/ppt/embeddings/Microsoft_Equation11.bin" ContentType="application/vnd.openxmlformats-officedocument.oleObject"/>
  <Override PartName="/ppt/slides/slide8.xml" ContentType="application/vnd.openxmlformats-officedocument.presentationml.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embeddings/Microsoft_Equation6.bin" ContentType="application/vnd.openxmlformats-officedocument.oleObject"/>
  <Override PartName="/ppt/slides/slide4.xml" ContentType="application/vnd.openxmlformats-officedocument.presentationml.slide+xml"/>
  <Override PartName="/ppt/embeddings/Microsoft_Equation23.bin" ContentType="application/vnd.openxmlformats-officedocument.oleObject"/>
  <Override PartName="/ppt/embeddings/Microsoft_Equation31.bin" ContentType="application/vnd.openxmlformats-officedocument.oleObject"/>
  <Override PartName="/ppt/slideLayouts/slideLayout4.xml" ContentType="application/vnd.openxmlformats-officedocument.presentationml.slideLayout+xml"/>
  <Override PartName="/ppt/embeddings/Microsoft_Equation2.bin" ContentType="application/vnd.openxmlformats-officedocument.oleObject"/>
  <Override PartName="/ppt/slideMasters/slideMaster1.xml" ContentType="application/vnd.openxmlformats-officedocument.presentationml.slideMaster+xml"/>
  <Override PartName="/ppt/embeddings/Microsoft_Equation28.bin" ContentType="application/vnd.openxmlformats-officedocument.oleObject"/>
  <Override PartName="/ppt/theme/theme1.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Override PartName="/ppt/embeddings/Microsoft_Equation16.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829"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showPr showNarration="1" useTimings="0">
    <p:present/>
    <p:sldAll/>
    <p:penClr>
      <a:schemeClr val="tx1"/>
    </p:penClr>
  </p:showPr>
  <p:clrMru>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Objects="1">
      <p:cViewPr varScale="1">
        <p:scale>
          <a:sx n="140" d="100"/>
          <a:sy n="140" d="100"/>
        </p:scale>
        <p:origin x="-536" y="-8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heme" Target="theme/theme1.xml"/><Relationship Id="rId2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interSettings" Target="printerSettings/printerSettings1.bin"/><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ict"/></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pict"/><Relationship Id="rId4" Type="http://schemas.openxmlformats.org/officeDocument/2006/relationships/image" Target="../media/image5.pict"/><Relationship Id="rId5" Type="http://schemas.openxmlformats.org/officeDocument/2006/relationships/image" Target="../media/image6.pict"/><Relationship Id="rId1" Type="http://schemas.openxmlformats.org/officeDocument/2006/relationships/image" Target="../media/image2.pict"/><Relationship Id="rId2" Type="http://schemas.openxmlformats.org/officeDocument/2006/relationships/image" Target="../media/image3.pict"/></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ict"/></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0.pict"/><Relationship Id="rId4" Type="http://schemas.openxmlformats.org/officeDocument/2006/relationships/image" Target="../media/image11.pict"/><Relationship Id="rId1" Type="http://schemas.openxmlformats.org/officeDocument/2006/relationships/image" Target="../media/image8.pict"/><Relationship Id="rId2" Type="http://schemas.openxmlformats.org/officeDocument/2006/relationships/image" Target="../media/image9.pict"/></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ict"/></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pict"/><Relationship Id="rId2" Type="http://schemas.openxmlformats.org/officeDocument/2006/relationships/image" Target="../media/image14.pict"/></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7.pict"/><Relationship Id="rId4" Type="http://schemas.openxmlformats.org/officeDocument/2006/relationships/image" Target="../media/image18.pict"/><Relationship Id="rId5" Type="http://schemas.openxmlformats.org/officeDocument/2006/relationships/image" Target="../media/image19.pict"/><Relationship Id="rId1" Type="http://schemas.openxmlformats.org/officeDocument/2006/relationships/image" Target="../media/image15.pict"/><Relationship Id="rId2" Type="http://schemas.openxmlformats.org/officeDocument/2006/relationships/image" Target="../media/image16.pict"/></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pict"/><Relationship Id="rId2" Type="http://schemas.openxmlformats.org/officeDocument/2006/relationships/image" Target="../media/image21.pict"/></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4.pict"/><Relationship Id="rId4" Type="http://schemas.openxmlformats.org/officeDocument/2006/relationships/image" Target="../media/image25.pict"/><Relationship Id="rId1" Type="http://schemas.openxmlformats.org/officeDocument/2006/relationships/image" Target="../media/image22.pict"/><Relationship Id="rId2" Type="http://schemas.openxmlformats.org/officeDocument/2006/relationships/image" Target="../media/image23.pict"/></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pict"/><Relationship Id="rId2" Type="http://schemas.openxmlformats.org/officeDocument/2006/relationships/image" Target="../media/image27.pict"/></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8.pict"/><Relationship Id="rId2" Type="http://schemas.openxmlformats.org/officeDocument/2006/relationships/image" Target="../media/image29.pict"/><Relationship Id="rId3" Type="http://schemas.openxmlformats.org/officeDocument/2006/relationships/image" Target="../media/image30.pict"/></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pict"/></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ja-JP"/>
              <a:t>Click to edit Master subtitle style</a:t>
            </a:r>
            <a:endParaRPr kumimoji="0" lang="en-US"/>
          </a:p>
        </p:txBody>
      </p:sp>
      <p:sp>
        <p:nvSpPr>
          <p:cNvPr id="30" name="Date Placeholder 29"/>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19" name="Footer Placeholder 18"/>
          <p:cNvSpPr>
            <a:spLocks noGrp="1"/>
          </p:cNvSpPr>
          <p:nvPr>
            <p:ph type="ftr" sz="quarter" idx="11"/>
          </p:nvPr>
        </p:nvSpPr>
        <p:spPr/>
        <p:txBody>
          <a:bodyPr/>
          <a:lstStyle/>
          <a:p>
            <a:endParaRPr lang="ja-JP" altLang="en-US"/>
          </a:p>
        </p:txBody>
      </p:sp>
      <p:sp>
        <p:nvSpPr>
          <p:cNvPr id="27" name="Slide Number Placeholder 26"/>
          <p:cNvSpPr>
            <a:spLocks noGrp="1"/>
          </p:cNvSpPr>
          <p:nvPr>
            <p:ph type="sldNum" sz="quarter" idx="12"/>
          </p:nvPr>
        </p:nvSpPr>
        <p:spPr/>
        <p:txBody>
          <a:bodyPr/>
          <a:lstStyle/>
          <a:p>
            <a:fld id="{7BC41667-7291-42E8-B00B-345BA5840895}" type="slidenum">
              <a:rPr lang="en-US" altLang="ja-JP"/>
              <a:pPr/>
              <a:t>‹#›</a:t>
            </a:fld>
            <a:endParaRPr lang="en-US" altLang="ja-JP"/>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altLang="ja-JP"/>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ja-JP"/>
              <a:t>Click to edit Master text styles</a:t>
            </a:r>
          </a:p>
        </p:txBody>
      </p:sp>
      <p:sp>
        <p:nvSpPr>
          <p:cNvPr id="4" name="Date Placeholder 3"/>
          <p:cNvSpPr>
            <a:spLocks noGrp="1"/>
          </p:cNvSpPr>
          <p:nvPr>
            <p:ph type="dt" sz="half" idx="10"/>
          </p:nvPr>
        </p:nvSpPr>
        <p:spPr/>
        <p:txBody>
          <a:bodyPr/>
          <a:lstStyle/>
          <a:p>
            <a:fld id="{0106B4A3-4212-4E39-93DE-E053E8F69C28}" type="datetimeFigureOut">
              <a:rPr lang="en-US" altLang="ja-JP" smtClean="0"/>
              <a:pPr/>
              <a:t>09.10.14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A3DCDF73-85D2-4237-9B32-053DBDB0C312}"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altLang="ja-JP"/>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ja-JP"/>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ja-JP"/>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altLang="ja-JP"/>
              <a:t>Click to edit Master title style</a:t>
            </a:r>
            <a:endParaRPr kumimoji="0" lang="en-US"/>
          </a:p>
        </p:txBody>
      </p:sp>
      <p:sp>
        <p:nvSpPr>
          <p:cNvPr id="7" name="Date Placeholder 6"/>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8" name="Slide Number Placeholder 7"/>
          <p:cNvSpPr>
            <a:spLocks noGrp="1"/>
          </p:cNvSpPr>
          <p:nvPr>
            <p:ph type="sldNum" sz="quarter" idx="11"/>
          </p:nvPr>
        </p:nvSpPr>
        <p:spPr/>
        <p:txBody>
          <a:bodyPr/>
          <a:lstStyle/>
          <a:p>
            <a:fld id="{45D75009-343C-488C-BB37-2311D1D6123B}" type="slidenum">
              <a:rPr/>
              <a:pPr/>
              <a:t>‹#›</a:t>
            </a:fld>
            <a:endParaRPr lang="ja-JP" altLang="en-US"/>
          </a:p>
        </p:txBody>
      </p:sp>
      <p:sp>
        <p:nvSpPr>
          <p:cNvPr id="9" name="Footer Placeholder 8"/>
          <p:cNvSpPr>
            <a:spLocks noGrp="1"/>
          </p:cNvSpPr>
          <p:nvPr>
            <p:ph type="ftr" sz="quarter" idx="12"/>
          </p:nvPr>
        </p:nvSpPr>
        <p:spPr/>
        <p:txBody>
          <a:bodyPr/>
          <a:lstStyle/>
          <a:p>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altLang="ja-JP"/>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ltLang="ja-JP"/>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5" name="Date Placeholder 4"/>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a:xfrm>
            <a:off x="8156448" y="6422064"/>
            <a:ext cx="762000" cy="365125"/>
          </a:xfrm>
        </p:spPr>
        <p:txBody>
          <a:bodyPr/>
          <a:lstStyle/>
          <a:p>
            <a:fld id="{45D75009-343C-488C-BB37-2311D1D6123B}" type="slidenum">
              <a: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altLang="ja-JP"/>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altLang="ja-JP" dirty="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ltLang="ja-JP"/>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66E5988B-D4EB-4E73-AE89-924C64C03B8C}" type="datetimeFigureOut">
              <a:rPr lang="en-US" altLang="ja-JP"/>
              <a:pPr/>
              <a:t>09.10.14</a:t>
            </a:fld>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ltLang="ja-JP"/>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ltLang="ja-JP"/>
              <a:t>Click to edit Master text styles</a:t>
            </a:r>
          </a:p>
          <a:p>
            <a:pPr lvl="1" eaLnBrk="1" latinLnBrk="0" hangingPunct="1"/>
            <a:r>
              <a:rPr lang="en-US" altLang="ja-JP"/>
              <a:t>Second level</a:t>
            </a:r>
          </a:p>
          <a:p>
            <a:pPr lvl="2" eaLnBrk="1" latinLnBrk="0" hangingPunct="1"/>
            <a:r>
              <a:rPr lang="en-US" altLang="ja-JP"/>
              <a:t>Third level</a:t>
            </a:r>
          </a:p>
          <a:p>
            <a:pPr lvl="3" eaLnBrk="1" latinLnBrk="0" hangingPunct="1"/>
            <a:r>
              <a:rPr lang="en-US" altLang="ja-JP"/>
              <a:t>Fourth level</a:t>
            </a:r>
          </a:p>
          <a:p>
            <a:pPr lvl="4" eaLnBrk="1" latinLnBrk="0" hangingPunct="1"/>
            <a:r>
              <a:rPr lang="en-US" altLang="ja-JP"/>
              <a:t>Fifth level</a:t>
            </a:r>
            <a:endParaRPr kumimoji="0" lang="en-US"/>
          </a:p>
        </p:txBody>
      </p:sp>
      <p:sp>
        <p:nvSpPr>
          <p:cNvPr id="4" name="Date Placeholder 3"/>
          <p:cNvSpPr>
            <a:spLocks noGrp="1"/>
          </p:cNvSpPr>
          <p:nvPr>
            <p:ph type="dt" sz="half" idx="10"/>
          </p:nvPr>
        </p:nvSpPr>
        <p:spPr/>
        <p:txBody>
          <a:bodyPr/>
          <a:lstStyle/>
          <a:p>
            <a:fld id="{66E5988B-D4EB-4E73-AE89-924C64C03B8C}" type="datetimeFigureOut">
              <a:rPr lang="en-US" altLang="ja-JP"/>
              <a:pPr/>
              <a:t>09.10.14</a:t>
            </a:fld>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45D75009-343C-488C-BB37-2311D1D6123B}" type="slidenum">
              <a: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altLang="ja-JP"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altLang="ja-JP" smtClean="0"/>
              <a:t>Click to edit Master text styles</a:t>
            </a:r>
          </a:p>
          <a:p>
            <a:pPr lvl="1" eaLnBrk="1" latinLnBrk="0" hangingPunct="1"/>
            <a:r>
              <a:rPr kumimoji="0" lang="en-US" altLang="ja-JP" smtClean="0"/>
              <a:t>Second level</a:t>
            </a:r>
          </a:p>
          <a:p>
            <a:pPr lvl="2" eaLnBrk="1" latinLnBrk="0" hangingPunct="1"/>
            <a:r>
              <a:rPr kumimoji="0" lang="en-US" altLang="ja-JP" smtClean="0"/>
              <a:t>Third level</a:t>
            </a:r>
          </a:p>
          <a:p>
            <a:pPr lvl="3" eaLnBrk="1" latinLnBrk="0" hangingPunct="1"/>
            <a:r>
              <a:rPr kumimoji="0" lang="en-US" altLang="ja-JP" smtClean="0"/>
              <a:t>Fourth level</a:t>
            </a:r>
          </a:p>
          <a:p>
            <a:pPr lvl="4" eaLnBrk="1" latinLnBrk="0" hangingPunct="1"/>
            <a:r>
              <a:rPr kumimoji="0" lang="en-US" altLang="ja-JP"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6E5988B-D4EB-4E73-AE89-924C64C03B8C}" type="datetimeFigureOut">
              <a:rPr lang="en-US" altLang="ja-JP"/>
              <a:pPr/>
              <a:t>09.10.14</a:t>
            </a:fld>
            <a:endParaRPr lang="ja-JP" alt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ja-JP" alt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45D75009-343C-488C-BB37-2311D1D6123B}" type="slidenum">
              <a:rPr/>
              <a:pPr/>
              <a:t>‹#›</a:t>
            </a:fld>
            <a:endParaRPr lang="ja-JP" altLang="en-US"/>
          </a:p>
        </p:txBody>
      </p:sp>
    </p:spTree>
  </p:cSld>
  <p:clrMap bg1="dk1" tx1="lt1" bg2="dk2" tx2="lt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txStyles>
    <p:titleStyle>
      <a:lvl1pPr algn="l" rtl="0" eaLnBrk="1" latinLnBrk="0" hangingPunct="1">
        <a:spcBef>
          <a:spcPct val="0"/>
        </a:spcBef>
        <a:buNone/>
        <a:defRPr kumimoji="1"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1"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1"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1"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1"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1"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1"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1"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1" sz="1600" kern="1200">
          <a:solidFill>
            <a:schemeClr val="tx1"/>
          </a:solidFill>
          <a:latin typeface="+mn-lt"/>
          <a:ea typeface="+mn-ea"/>
          <a:cs typeface="+mn-cs"/>
        </a:defRPr>
      </a:lvl9pPr>
    </p:bodyStyle>
    <p:otherStyle>
      <a:lvl1pPr marL="0" algn="l" rtl="0" eaLnBrk="1" latinLnBrk="0" hangingPunct="1">
        <a:defRPr kumimoji="1" kern="1200">
          <a:solidFill>
            <a:schemeClr val="tx1"/>
          </a:solidFill>
          <a:latin typeface="+mn-lt"/>
          <a:ea typeface="+mn-ea"/>
          <a:cs typeface="+mn-cs"/>
        </a:defRPr>
      </a:lvl1pPr>
      <a:lvl2pPr marL="457200" algn="l" rtl="0" eaLnBrk="1" latinLnBrk="0" hangingPunct="1">
        <a:defRPr kumimoji="1" kern="1200">
          <a:solidFill>
            <a:schemeClr val="tx1"/>
          </a:solidFill>
          <a:latin typeface="+mn-lt"/>
          <a:ea typeface="+mn-ea"/>
          <a:cs typeface="+mn-cs"/>
        </a:defRPr>
      </a:lvl2pPr>
      <a:lvl3pPr marL="914400" algn="l" rtl="0" eaLnBrk="1" latinLnBrk="0" hangingPunct="1">
        <a:defRPr kumimoji="1" kern="1200">
          <a:solidFill>
            <a:schemeClr val="tx1"/>
          </a:solidFill>
          <a:latin typeface="+mn-lt"/>
          <a:ea typeface="+mn-ea"/>
          <a:cs typeface="+mn-cs"/>
        </a:defRPr>
      </a:lvl3pPr>
      <a:lvl4pPr marL="1371600" algn="l" rtl="0" eaLnBrk="1" latinLnBrk="0" hangingPunct="1">
        <a:defRPr kumimoji="1" kern="1200">
          <a:solidFill>
            <a:schemeClr val="tx1"/>
          </a:solidFill>
          <a:latin typeface="+mn-lt"/>
          <a:ea typeface="+mn-ea"/>
          <a:cs typeface="+mn-cs"/>
        </a:defRPr>
      </a:lvl4pPr>
      <a:lvl5pPr marL="1828800" algn="l" rtl="0" eaLnBrk="1" latinLnBrk="0" hangingPunct="1">
        <a:defRPr kumimoji="1" kern="1200">
          <a:solidFill>
            <a:schemeClr val="tx1"/>
          </a:solidFill>
          <a:latin typeface="+mn-lt"/>
          <a:ea typeface="+mn-ea"/>
          <a:cs typeface="+mn-cs"/>
        </a:defRPr>
      </a:lvl5pPr>
      <a:lvl6pPr marL="2286000" algn="l" rtl="0" eaLnBrk="1" latinLnBrk="0" hangingPunct="1">
        <a:defRPr kumimoji="1" kern="1200">
          <a:solidFill>
            <a:schemeClr val="tx1"/>
          </a:solidFill>
          <a:latin typeface="+mn-lt"/>
          <a:ea typeface="+mn-ea"/>
          <a:cs typeface="+mn-cs"/>
        </a:defRPr>
      </a:lvl6pPr>
      <a:lvl7pPr marL="2743200" algn="l" rtl="0" eaLnBrk="1" latinLnBrk="0" hangingPunct="1">
        <a:defRPr kumimoji="1" kern="1200">
          <a:solidFill>
            <a:schemeClr val="tx1"/>
          </a:solidFill>
          <a:latin typeface="+mn-lt"/>
          <a:ea typeface="+mn-ea"/>
          <a:cs typeface="+mn-cs"/>
        </a:defRPr>
      </a:lvl7pPr>
      <a:lvl8pPr marL="3200400" algn="l" rtl="0" eaLnBrk="1" latinLnBrk="0" hangingPunct="1">
        <a:defRPr kumimoji="1" kern="1200">
          <a:solidFill>
            <a:schemeClr val="tx1"/>
          </a:solidFill>
          <a:latin typeface="+mn-lt"/>
          <a:ea typeface="+mn-ea"/>
          <a:cs typeface="+mn-cs"/>
        </a:defRPr>
      </a:lvl8pPr>
      <a:lvl9pPr marL="3657600" algn="l" rtl="0" eaLnBrk="1" latinLnBrk="0" hangingPunct="1">
        <a:defRPr kumimoji="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oleObject" Target="../embeddings/Microsoft_Equation1.bin"/></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Equation2.bin"/><Relationship Id="rId4" Type="http://schemas.openxmlformats.org/officeDocument/2006/relationships/oleObject" Target="../embeddings/Microsoft_Equation3.bin"/><Relationship Id="rId5" Type="http://schemas.openxmlformats.org/officeDocument/2006/relationships/oleObject" Target="../embeddings/Microsoft_Equation4.bin"/><Relationship Id="rId6" Type="http://schemas.openxmlformats.org/officeDocument/2006/relationships/oleObject" Target="../embeddings/Microsoft_Equation5.bin"/><Relationship Id="rId7" Type="http://schemas.openxmlformats.org/officeDocument/2006/relationships/oleObject" Target="../embeddings/Microsoft_Equation6.bin"/><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oleObject" Target="../embeddings/Microsoft_Equation7.bin"/></Relationships>
</file>

<file path=ppt/slides/_rels/slide5.xml.rels><?xml version="1.0" encoding="UTF-8" standalone="yes"?>
<Relationships xmlns="http://schemas.openxmlformats.org/package/2006/relationships"><Relationship Id="rId3" Type="http://schemas.openxmlformats.org/officeDocument/2006/relationships/oleObject" Target="../embeddings/Microsoft_Equation8.bin"/><Relationship Id="rId4" Type="http://schemas.openxmlformats.org/officeDocument/2006/relationships/oleObject" Target="../embeddings/Microsoft_Equation9.bin"/><Relationship Id="rId5" Type="http://schemas.openxmlformats.org/officeDocument/2006/relationships/oleObject" Target="../embeddings/Microsoft_Equation10.bin"/><Relationship Id="rId6" Type="http://schemas.openxmlformats.org/officeDocument/2006/relationships/oleObject" Target="../embeddings/Microsoft_Equation11.bin"/><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oleObject" Target="../embeddings/Microsoft_Equation12.bin"/></Relationships>
</file>

<file path=ppt/slides/_rels/slide7.xml.rels><?xml version="1.0" encoding="UTF-8" standalone="yes"?>
<Relationships xmlns="http://schemas.openxmlformats.org/package/2006/relationships"><Relationship Id="rId3" Type="http://schemas.openxmlformats.org/officeDocument/2006/relationships/oleObject" Target="../embeddings/Microsoft_Equation13.bin"/><Relationship Id="rId4" Type="http://schemas.openxmlformats.org/officeDocument/2006/relationships/oleObject" Target="../embeddings/Microsoft_Equation14.bin"/><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Microsoft_Equation15.bin"/><Relationship Id="rId4" Type="http://schemas.openxmlformats.org/officeDocument/2006/relationships/oleObject" Target="../embeddings/Microsoft_Equation16.bin"/><Relationship Id="rId5" Type="http://schemas.openxmlformats.org/officeDocument/2006/relationships/oleObject" Target="../embeddings/Microsoft_Equation17.bin"/><Relationship Id="rId6" Type="http://schemas.openxmlformats.org/officeDocument/2006/relationships/oleObject" Target="../embeddings/Microsoft_Equation18.bin"/><Relationship Id="rId7" Type="http://schemas.openxmlformats.org/officeDocument/2006/relationships/oleObject" Target="../embeddings/Microsoft_Equation19.bin"/><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Microsoft_Equation20.bin"/><Relationship Id="rId4" Type="http://schemas.openxmlformats.org/officeDocument/2006/relationships/oleObject" Target="../embeddings/Microsoft_Equation21.bin"/><Relationship Id="rId1" Type="http://schemas.openxmlformats.org/officeDocument/2006/relationships/vmlDrawing" Target="../drawings/vmlDrawing8.vml"/><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Microsoft_Equation22.bin"/><Relationship Id="rId4" Type="http://schemas.openxmlformats.org/officeDocument/2006/relationships/oleObject" Target="../embeddings/Microsoft_Equation23.bin"/><Relationship Id="rId5" Type="http://schemas.openxmlformats.org/officeDocument/2006/relationships/oleObject" Target="../embeddings/Microsoft_Equation24.bin"/><Relationship Id="rId6" Type="http://schemas.openxmlformats.org/officeDocument/2006/relationships/oleObject" Target="../embeddings/Microsoft_Equation25.bin"/><Relationship Id="rId1" Type="http://schemas.openxmlformats.org/officeDocument/2006/relationships/vmlDrawing" Target="../drawings/vmlDrawing9.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Microsoft_Equation26.bin"/><Relationship Id="rId4" Type="http://schemas.openxmlformats.org/officeDocument/2006/relationships/oleObject" Target="../embeddings/Microsoft_Equation27.bin"/><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Microsoft_Equation28.bin"/><Relationship Id="rId4" Type="http://schemas.openxmlformats.org/officeDocument/2006/relationships/oleObject" Target="../embeddings/Microsoft_Equation29.bin"/><Relationship Id="rId5" Type="http://schemas.openxmlformats.org/officeDocument/2006/relationships/oleObject" Target="../embeddings/Microsoft_Equation30.bin"/><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vmlDrawing" Target="../drawings/vmlDrawing12.vml"/><Relationship Id="rId2" Type="http://schemas.openxmlformats.org/officeDocument/2006/relationships/slideLayout" Target="../slideLayouts/slideLayout2.xml"/><Relationship Id="rId3" Type="http://schemas.openxmlformats.org/officeDocument/2006/relationships/oleObject" Target="../embeddings/Microsoft_Equation3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064" y="3337560"/>
            <a:ext cx="6480048" cy="2606040"/>
          </a:xfrm>
        </p:spPr>
        <p:txBody>
          <a:bodyPr>
            <a:noAutofit/>
          </a:bodyPr>
          <a:lstStyle/>
          <a:p>
            <a:r>
              <a:rPr lang="en-US" altLang="ja-JP" sz="4400"/>
              <a:t>Atomic and Molecular Physics</a:t>
            </a:r>
            <a:r>
              <a:rPr altLang="ja-JP" sz="4400"/>
              <a:t/>
            </a:r>
            <a:br>
              <a:rPr altLang="ja-JP" sz="4400"/>
            </a:br>
            <a:r>
              <a:rPr altLang="ja-JP" sz="4400"/>
              <a:t/>
            </a:r>
            <a:br>
              <a:rPr altLang="ja-JP" sz="4400"/>
            </a:br>
            <a:r>
              <a:rPr altLang="ja-JP" sz="3200">
                <a:solidFill>
                  <a:srgbClr val="00FF00"/>
                </a:solidFill>
              </a:rPr>
              <a:t>Lecture 11</a:t>
            </a:r>
            <a:endParaRPr lang="ja-JP" altLang="en-US" sz="3200">
              <a:solidFill>
                <a:srgbClr val="00FF00"/>
              </a:solidFill>
            </a:endParaRPr>
          </a:p>
        </p:txBody>
      </p:sp>
      <p:sp>
        <p:nvSpPr>
          <p:cNvPr id="3" name="Subtitle 2"/>
          <p:cNvSpPr>
            <a:spLocks noGrp="1"/>
          </p:cNvSpPr>
          <p:nvPr>
            <p:ph type="subTitle" idx="1"/>
          </p:nvPr>
        </p:nvSpPr>
        <p:spPr/>
        <p:txBody>
          <a:bodyPr>
            <a:normAutofit/>
          </a:bodyPr>
          <a:lstStyle/>
          <a:p>
            <a:r>
              <a:rPr lang="en-US" altLang="ja-JP"/>
              <a:t>Prof. Kyungwon An</a:t>
            </a:r>
          </a:p>
          <a:p>
            <a:r>
              <a:rPr lang="en-US" altLang="ja-JP"/>
              <a:t>Department of Physics and Astronomy</a:t>
            </a:r>
          </a:p>
          <a:p>
            <a:r>
              <a:rPr lang="en-US" altLang="ja-JP"/>
              <a:t>Seoul National University</a:t>
            </a:r>
            <a:endParaRPr lang="ja-JP"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Chapter 2 N-Electron Atoms</a:t>
            </a:r>
            <a:r>
              <a:rPr lang="ko-KR"/>
              <a:t> </a:t>
            </a:r>
            <a:endParaRPr lang="ja-JP" altLang="en-US"/>
          </a:p>
        </p:txBody>
      </p:sp>
      <p:sp>
        <p:nvSpPr>
          <p:cNvPr id="3" name="Content Placeholder 2"/>
          <p:cNvSpPr>
            <a:spLocks noGrp="1"/>
          </p:cNvSpPr>
          <p:nvPr>
            <p:ph idx="1"/>
          </p:nvPr>
        </p:nvSpPr>
        <p:spPr>
          <a:xfrm>
            <a:off x="457200" y="1600200"/>
            <a:ext cx="7467600" cy="4724400"/>
          </a:xfrm>
        </p:spPr>
        <p:txBody>
          <a:bodyPr>
            <a:normAutofit fontScale="92500"/>
          </a:bodyPr>
          <a:lstStyle/>
          <a:p>
            <a:r>
              <a:rPr lang="en-US" b="1" i="1"/>
              <a:t>Hamiltonian</a:t>
            </a:r>
          </a:p>
          <a:p>
            <a:pPr marL="449263" lvl="1" indent="0">
              <a:buNone/>
            </a:pPr>
            <a:endParaRPr lang="en-US"/>
          </a:p>
          <a:p>
            <a:pPr marL="449263" lvl="1" indent="0">
              <a:buNone/>
            </a:pPr>
            <a:endParaRPr lang="en-US"/>
          </a:p>
          <a:p>
            <a:pPr marL="449263" lvl="1" indent="0">
              <a:buNone/>
            </a:pPr>
            <a:endParaRPr lang="en-US"/>
          </a:p>
          <a:p>
            <a:pPr marL="449263" lvl="1" indent="0">
              <a:buNone/>
            </a:pPr>
            <a:endParaRPr lang="en-US"/>
          </a:p>
          <a:p>
            <a:pPr marL="449263" lvl="1" indent="0">
              <a:buNone/>
            </a:pPr>
            <a:endParaRPr lang="en-US"/>
          </a:p>
          <a:p>
            <a:pPr marL="449263" lvl="1" indent="0">
              <a:buNone/>
            </a:pPr>
            <a:r>
              <a:rPr lang="en-US"/>
              <a:t>where </a:t>
            </a:r>
            <a:r>
              <a:rPr lang="en-US" i="1"/>
              <a:t>H</a:t>
            </a:r>
            <a:r>
              <a:rPr lang="en-US" baseline="-25000"/>
              <a:t>1</a:t>
            </a:r>
            <a:r>
              <a:rPr lang="en-US"/>
              <a:t> represent the electron-electron Coulomb repulsion and </a:t>
            </a:r>
            <a:r>
              <a:rPr lang="en-US" i="1"/>
              <a:t>H</a:t>
            </a:r>
            <a:r>
              <a:rPr lang="en-US" baseline="-25000"/>
              <a:t>2</a:t>
            </a:r>
            <a:r>
              <a:rPr lang="en-US"/>
              <a:t> represents the sum of each electron’s spin-orbit interaction. Other effects such as hyperfine interactions, relativistic corrections, etc., are to be treated as perturbations.</a:t>
            </a:r>
            <a:r>
              <a:rPr lang="ko-KR"/>
              <a:t> </a:t>
            </a:r>
            <a:endParaRPr lang="ko-KR" altLang="en-US" b="1" i="1"/>
          </a:p>
        </p:txBody>
      </p:sp>
      <p:graphicFrame>
        <p:nvGraphicFramePr>
          <p:cNvPr id="26626" name="Object 2"/>
          <p:cNvGraphicFramePr>
            <a:graphicFrameLocks noChangeAspect="1"/>
          </p:cNvGraphicFramePr>
          <p:nvPr/>
        </p:nvGraphicFramePr>
        <p:xfrm>
          <a:off x="4896644" y="1752600"/>
          <a:ext cx="1957388" cy="2470150"/>
        </p:xfrm>
        <a:graphic>
          <a:graphicData uri="http://schemas.openxmlformats.org/presentationml/2006/ole">
            <p:oleObj spid="_x0000_s26626" name="Equation" r:id="rId3" imgW="1308100" imgH="1651000" progId="Equation.3">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Hamiltonian</a:t>
            </a:r>
            <a:endParaRPr lang="ja-JP" altLang="en-US"/>
          </a:p>
        </p:txBody>
      </p:sp>
      <p:sp>
        <p:nvSpPr>
          <p:cNvPr id="3" name="Content Placeholder 2"/>
          <p:cNvSpPr>
            <a:spLocks noGrp="1"/>
          </p:cNvSpPr>
          <p:nvPr>
            <p:ph idx="1"/>
          </p:nvPr>
        </p:nvSpPr>
        <p:spPr>
          <a:xfrm>
            <a:off x="457200" y="1426464"/>
            <a:ext cx="8229600" cy="4136136"/>
          </a:xfrm>
        </p:spPr>
        <p:txBody>
          <a:bodyPr>
            <a:normAutofit lnSpcReduction="10000"/>
          </a:bodyPr>
          <a:lstStyle/>
          <a:p>
            <a:r>
              <a:rPr lang="en-US"/>
              <a:t>First, note </a:t>
            </a:r>
            <a:r>
              <a:rPr lang="en-US" b="1"/>
              <a:t>l</a:t>
            </a:r>
            <a:r>
              <a:rPr lang="en-US" i="1" baseline="-25000"/>
              <a:t>k</a:t>
            </a:r>
            <a:r>
              <a:rPr lang="en-US"/>
              <a:t> and </a:t>
            </a:r>
            <a:r>
              <a:rPr lang="en-US" b="1"/>
              <a:t>s</a:t>
            </a:r>
            <a:r>
              <a:rPr lang="en-US" i="1" baseline="-25000"/>
              <a:t>k</a:t>
            </a:r>
            <a:r>
              <a:rPr lang="en-US"/>
              <a:t> commute with </a:t>
            </a:r>
            <a:r>
              <a:rPr lang="en-US" i="1"/>
              <a:t>H</a:t>
            </a:r>
            <a:r>
              <a:rPr lang="en-US" baseline="-25000"/>
              <a:t>0</a:t>
            </a:r>
            <a:r>
              <a:rPr lang="en-US"/>
              <a:t>. Since</a:t>
            </a:r>
          </a:p>
          <a:p>
            <a:pPr>
              <a:buNone/>
            </a:pPr>
            <a:r>
              <a:rPr lang="en-US"/>
              <a:t>                      and the angular part of     is proportional to</a:t>
            </a:r>
          </a:p>
          <a:p>
            <a:endParaRPr lang="en-US"/>
          </a:p>
          <a:p>
            <a:pPr>
              <a:buNone/>
            </a:pPr>
            <a:endParaRPr lang="en-US"/>
          </a:p>
          <a:p>
            <a:r>
              <a:rPr lang="en-US"/>
              <a:t>Also, </a:t>
            </a:r>
            <a:r>
              <a:rPr lang="en-US" b="1"/>
              <a:t>l</a:t>
            </a:r>
            <a:r>
              <a:rPr lang="en-US" i="1" baseline="-25000"/>
              <a:t>k</a:t>
            </a:r>
            <a:r>
              <a:rPr lang="en-US"/>
              <a:t> commutes with 1/</a:t>
            </a:r>
            <a:r>
              <a:rPr lang="en-US" i="1"/>
              <a:t>r</a:t>
            </a:r>
            <a:r>
              <a:rPr lang="en-US" i="1" baseline="-25000"/>
              <a:t>k</a:t>
            </a:r>
            <a:r>
              <a:rPr lang="en-US"/>
              <a:t> since </a:t>
            </a:r>
            <a:r>
              <a:rPr lang="en-US" b="1"/>
              <a:t>l</a:t>
            </a:r>
            <a:r>
              <a:rPr lang="en-US" i="1" baseline="-25000"/>
              <a:t>k</a:t>
            </a:r>
            <a:r>
              <a:rPr lang="en-US"/>
              <a:t> act only on angular variables. Explicitly,</a:t>
            </a:r>
            <a:endParaRPr lang="ko-KR" altLang="en-US"/>
          </a:p>
          <a:p>
            <a:pPr>
              <a:buNone/>
            </a:pPr>
            <a:r>
              <a:rPr lang="en-US"/>
              <a:t> </a:t>
            </a:r>
            <a:endParaRPr lang="ja-JP" altLang="en-US"/>
          </a:p>
        </p:txBody>
      </p:sp>
      <p:graphicFrame>
        <p:nvGraphicFramePr>
          <p:cNvPr id="27650" name="Object 2"/>
          <p:cNvGraphicFramePr>
            <a:graphicFrameLocks noChangeAspect="1"/>
          </p:cNvGraphicFramePr>
          <p:nvPr/>
        </p:nvGraphicFramePr>
        <p:xfrm>
          <a:off x="3502025" y="2952750"/>
          <a:ext cx="1755775" cy="495300"/>
        </p:xfrm>
        <a:graphic>
          <a:graphicData uri="http://schemas.openxmlformats.org/presentationml/2006/ole">
            <p:oleObj spid="_x0000_s27650" name="Equation" r:id="rId3" imgW="1168400" imgH="330200" progId="Equation.3">
              <p:embed/>
            </p:oleObj>
          </a:graphicData>
        </a:graphic>
      </p:graphicFrame>
      <p:graphicFrame>
        <p:nvGraphicFramePr>
          <p:cNvPr id="27651" name="Object 3"/>
          <p:cNvGraphicFramePr>
            <a:graphicFrameLocks noChangeAspect="1"/>
          </p:cNvGraphicFramePr>
          <p:nvPr/>
        </p:nvGraphicFramePr>
        <p:xfrm>
          <a:off x="1981200" y="4838700"/>
          <a:ext cx="4800600" cy="723900"/>
        </p:xfrm>
        <a:graphic>
          <a:graphicData uri="http://schemas.openxmlformats.org/presentationml/2006/ole">
            <p:oleObj spid="_x0000_s27651" name="Equation" r:id="rId4" imgW="3200400" imgH="482600" progId="Equation.3">
              <p:embed/>
            </p:oleObj>
          </a:graphicData>
        </a:graphic>
      </p:graphicFrame>
      <p:graphicFrame>
        <p:nvGraphicFramePr>
          <p:cNvPr id="27654" name="Object 6"/>
          <p:cNvGraphicFramePr>
            <a:graphicFrameLocks noChangeAspect="1"/>
          </p:cNvGraphicFramePr>
          <p:nvPr/>
        </p:nvGraphicFramePr>
        <p:xfrm>
          <a:off x="990600" y="2057400"/>
          <a:ext cx="1658938" cy="323850"/>
        </p:xfrm>
        <a:graphic>
          <a:graphicData uri="http://schemas.openxmlformats.org/presentationml/2006/ole">
            <p:oleObj spid="_x0000_s27654" name="Equation" r:id="rId5" imgW="1104900" imgH="215900" progId="Equation.3">
              <p:embed/>
            </p:oleObj>
          </a:graphicData>
        </a:graphic>
      </p:graphicFrame>
      <p:graphicFrame>
        <p:nvGraphicFramePr>
          <p:cNvPr id="27655" name="Object 7"/>
          <p:cNvGraphicFramePr>
            <a:graphicFrameLocks noChangeAspect="1"/>
          </p:cNvGraphicFramePr>
          <p:nvPr/>
        </p:nvGraphicFramePr>
        <p:xfrm>
          <a:off x="6875462" y="2057400"/>
          <a:ext cx="287338" cy="306388"/>
        </p:xfrm>
        <a:graphic>
          <a:graphicData uri="http://schemas.openxmlformats.org/presentationml/2006/ole">
            <p:oleObj spid="_x0000_s27655" name="Equation" r:id="rId6" imgW="190500" imgH="203200" progId="Equation.3">
              <p:embed/>
            </p:oleObj>
          </a:graphicData>
        </a:graphic>
      </p:graphicFrame>
      <p:graphicFrame>
        <p:nvGraphicFramePr>
          <p:cNvPr id="27656" name="Object 8"/>
          <p:cNvGraphicFramePr>
            <a:graphicFrameLocks noChangeAspect="1"/>
          </p:cNvGraphicFramePr>
          <p:nvPr/>
        </p:nvGraphicFramePr>
        <p:xfrm>
          <a:off x="7697787" y="2022775"/>
          <a:ext cx="227013" cy="358775"/>
        </p:xfrm>
        <a:graphic>
          <a:graphicData uri="http://schemas.openxmlformats.org/presentationml/2006/ole">
            <p:oleObj spid="_x0000_s27656" name="Equation" r:id="rId7" imgW="152400" imgH="241300" progId="Equation.3">
              <p:embed/>
            </p:oleObj>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7467600" cy="1143000"/>
          </a:xfrm>
        </p:spPr>
        <p:txBody>
          <a:bodyPr/>
          <a:lstStyle/>
          <a:p>
            <a:r>
              <a:rPr lang="en-US"/>
              <a:t>Low </a:t>
            </a:r>
            <a:r>
              <a:rPr lang="en-US" i="1"/>
              <a:t>Z</a:t>
            </a:r>
            <a:r>
              <a:rPr lang="en-US"/>
              <a:t> atoms, </a:t>
            </a:r>
            <a:r>
              <a:rPr lang="en-US" i="1"/>
              <a:t>H</a:t>
            </a:r>
            <a:r>
              <a:rPr lang="en-US" baseline="-25000"/>
              <a:t>1</a:t>
            </a:r>
            <a:r>
              <a:rPr lang="en-US" i="1" baseline="-25000"/>
              <a:t> </a:t>
            </a:r>
            <a:r>
              <a:rPr lang="en-US"/>
              <a:t>&gt;&gt;</a:t>
            </a:r>
            <a:r>
              <a:rPr lang="en-US" i="1"/>
              <a:t> H</a:t>
            </a:r>
            <a:r>
              <a:rPr lang="en-US" baseline="-25000"/>
              <a:t>2</a:t>
            </a:r>
            <a:r>
              <a:rPr lang="ko-KR"/>
              <a:t> </a:t>
            </a:r>
            <a:endParaRPr lang="ja-JP" altLang="en-US"/>
          </a:p>
        </p:txBody>
      </p:sp>
      <p:sp>
        <p:nvSpPr>
          <p:cNvPr id="3" name="Content Placeholder 2"/>
          <p:cNvSpPr>
            <a:spLocks noGrp="1"/>
          </p:cNvSpPr>
          <p:nvPr>
            <p:ph idx="1"/>
          </p:nvPr>
        </p:nvSpPr>
        <p:spPr>
          <a:xfrm>
            <a:off x="457200" y="1630363"/>
            <a:ext cx="7467600" cy="1341437"/>
          </a:xfrm>
        </p:spPr>
        <p:txBody>
          <a:bodyPr>
            <a:normAutofit fontScale="92500"/>
          </a:bodyPr>
          <a:lstStyle/>
          <a:p>
            <a:r>
              <a:rPr lang="en-US"/>
              <a:t>LS coupling or Russell-Saunders coupling.</a:t>
            </a:r>
            <a:endParaRPr lang="ko-KR" altLang="en-US"/>
          </a:p>
          <a:p>
            <a:r>
              <a:rPr lang="en-US" i="1"/>
              <a:t>H</a:t>
            </a:r>
            <a:r>
              <a:rPr lang="en-US" baseline="-25000"/>
              <a:t>1</a:t>
            </a:r>
            <a:r>
              <a:rPr lang="en-US"/>
              <a:t> does not commute with </a:t>
            </a:r>
            <a:r>
              <a:rPr lang="en-US" b="1"/>
              <a:t>l</a:t>
            </a:r>
            <a:r>
              <a:rPr lang="en-US" baseline="-25000"/>
              <a:t>k</a:t>
            </a:r>
            <a:r>
              <a:rPr lang="en-US"/>
              <a:t>.</a:t>
            </a:r>
            <a:endParaRPr lang="ko-KR" altLang="en-US"/>
          </a:p>
        </p:txBody>
      </p:sp>
      <p:graphicFrame>
        <p:nvGraphicFramePr>
          <p:cNvPr id="28674" name="Object 2"/>
          <p:cNvGraphicFramePr>
            <a:graphicFrameLocks noChangeAspect="1"/>
          </p:cNvGraphicFramePr>
          <p:nvPr/>
        </p:nvGraphicFramePr>
        <p:xfrm>
          <a:off x="1524000" y="2971800"/>
          <a:ext cx="5964238" cy="3162300"/>
        </p:xfrm>
        <a:graphic>
          <a:graphicData uri="http://schemas.openxmlformats.org/presentationml/2006/ole">
            <p:oleObj spid="_x0000_s28674" name="Equation" r:id="rId3" imgW="3975100" imgH="2108200" progId="Equation.3">
              <p:embed/>
            </p:oleObj>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685800"/>
            <a:ext cx="7772400" cy="5638800"/>
          </a:xfrm>
        </p:spPr>
        <p:txBody>
          <a:bodyPr>
            <a:normAutofit/>
          </a:bodyPr>
          <a:lstStyle/>
          <a:p>
            <a:r>
              <a:rPr lang="en-US"/>
              <a:t>However, </a:t>
            </a:r>
            <a:r>
              <a:rPr lang="en-US" i="1"/>
              <a:t>H</a:t>
            </a:r>
            <a:r>
              <a:rPr lang="en-US" baseline="-25000"/>
              <a:t>1</a:t>
            </a:r>
            <a:r>
              <a:rPr lang="en-US"/>
              <a:t> commutes with </a:t>
            </a:r>
            <a:r>
              <a:rPr lang="en-US" b="1"/>
              <a:t>L</a:t>
            </a:r>
            <a:r>
              <a:rPr lang="en-US"/>
              <a:t> where </a:t>
            </a:r>
          </a:p>
          <a:p>
            <a:pPr>
              <a:buNone/>
            </a:pPr>
            <a:r>
              <a:rPr lang="en-US"/>
              <a:t>    since</a:t>
            </a:r>
          </a:p>
          <a:p>
            <a:endParaRPr lang="en-US" altLang="ko-KR"/>
          </a:p>
          <a:p>
            <a:endParaRPr lang="ko-KR" altLang="en-US"/>
          </a:p>
          <a:p>
            <a:r>
              <a:rPr lang="en-US"/>
              <a:t>Absence of spin operators in </a:t>
            </a:r>
            <a:r>
              <a:rPr lang="en-US" i="1"/>
              <a:t>H</a:t>
            </a:r>
            <a:r>
              <a:rPr lang="en-US" baseline="-25000"/>
              <a:t>1</a:t>
            </a:r>
            <a:r>
              <a:rPr lang="en-US"/>
              <a:t> leads to</a:t>
            </a:r>
          </a:p>
          <a:p>
            <a:endParaRPr lang="en-US" altLang="ko-KR"/>
          </a:p>
          <a:p>
            <a:endParaRPr lang="ko-KR" altLang="en-US"/>
          </a:p>
          <a:p>
            <a:pPr>
              <a:buNone/>
            </a:pPr>
            <a:r>
              <a:rPr lang="en-US"/>
              <a:t>   where           . </a:t>
            </a:r>
          </a:p>
          <a:p>
            <a:endParaRPr lang="ko-KR" altLang="en-US"/>
          </a:p>
        </p:txBody>
      </p:sp>
      <p:graphicFrame>
        <p:nvGraphicFramePr>
          <p:cNvPr id="1026" name="Object 2"/>
          <p:cNvGraphicFramePr>
            <a:graphicFrameLocks noChangeAspect="1"/>
          </p:cNvGraphicFramePr>
          <p:nvPr/>
        </p:nvGraphicFramePr>
        <p:xfrm>
          <a:off x="7602538" y="857250"/>
          <a:ext cx="760412" cy="512763"/>
        </p:xfrm>
        <a:graphic>
          <a:graphicData uri="http://schemas.openxmlformats.org/presentationml/2006/ole">
            <p:oleObj spid="_x0000_s1026" name="Equation" r:id="rId3" imgW="508000" imgH="342900" progId="Equation.3">
              <p:embed/>
            </p:oleObj>
          </a:graphicData>
        </a:graphic>
      </p:graphicFrame>
      <p:graphicFrame>
        <p:nvGraphicFramePr>
          <p:cNvPr id="1027" name="Object 3"/>
          <p:cNvGraphicFramePr>
            <a:graphicFrameLocks noChangeAspect="1"/>
          </p:cNvGraphicFramePr>
          <p:nvPr/>
        </p:nvGraphicFramePr>
        <p:xfrm>
          <a:off x="1878013" y="2133600"/>
          <a:ext cx="5638800" cy="685800"/>
        </p:xfrm>
        <a:graphic>
          <a:graphicData uri="http://schemas.openxmlformats.org/presentationml/2006/ole">
            <p:oleObj spid="_x0000_s1027" name="Equation" r:id="rId4" imgW="3759200" imgH="457200" progId="Equation.3">
              <p:embed/>
            </p:oleObj>
          </a:graphicData>
        </a:graphic>
      </p:graphicFrame>
      <p:graphicFrame>
        <p:nvGraphicFramePr>
          <p:cNvPr id="1028" name="Object 4"/>
          <p:cNvGraphicFramePr>
            <a:graphicFrameLocks noChangeAspect="1"/>
          </p:cNvGraphicFramePr>
          <p:nvPr/>
        </p:nvGraphicFramePr>
        <p:xfrm>
          <a:off x="4049713" y="3771900"/>
          <a:ext cx="1014412" cy="420688"/>
        </p:xfrm>
        <a:graphic>
          <a:graphicData uri="http://schemas.openxmlformats.org/presentationml/2006/ole">
            <p:oleObj spid="_x0000_s1028" name="Equation" r:id="rId5" imgW="673100" imgH="279400" progId="Equation.3">
              <p:embed/>
            </p:oleObj>
          </a:graphicData>
        </a:graphic>
      </p:graphicFrame>
      <p:graphicFrame>
        <p:nvGraphicFramePr>
          <p:cNvPr id="1029" name="Object 5"/>
          <p:cNvGraphicFramePr>
            <a:graphicFrameLocks noChangeAspect="1"/>
          </p:cNvGraphicFramePr>
          <p:nvPr/>
        </p:nvGraphicFramePr>
        <p:xfrm>
          <a:off x="2286000" y="4667250"/>
          <a:ext cx="874713" cy="514350"/>
        </p:xfrm>
        <a:graphic>
          <a:graphicData uri="http://schemas.openxmlformats.org/presentationml/2006/ole">
            <p:oleObj spid="_x0000_s1029" name="Equation" r:id="rId6" imgW="584200" imgH="34290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54162"/>
            <a:ext cx="7848600" cy="4724400"/>
          </a:xfrm>
        </p:spPr>
        <p:txBody>
          <a:bodyPr>
            <a:normAutofit fontScale="85000" lnSpcReduction="20000"/>
          </a:bodyPr>
          <a:lstStyle/>
          <a:p>
            <a:r>
              <a:rPr lang="en-US" sz="3200"/>
              <a:t>Note that the spin and orbital angular momenta are not completely independent because of the antisymmetry requirement on the wave function. Nevertheless, </a:t>
            </a:r>
            <a:r>
              <a:rPr lang="en-US" sz="3200" b="1"/>
              <a:t>S</a:t>
            </a:r>
            <a:r>
              <a:rPr lang="en-US" sz="3200"/>
              <a:t> still commutes with </a:t>
            </a:r>
            <a:r>
              <a:rPr lang="en-US" sz="3200" i="1"/>
              <a:t>H</a:t>
            </a:r>
            <a:r>
              <a:rPr lang="en-US" sz="3200" baseline="-25000"/>
              <a:t>1</a:t>
            </a:r>
            <a:r>
              <a:rPr lang="en-US" sz="3200"/>
              <a:t> (see Bethe and Jackiw, </a:t>
            </a:r>
            <a:r>
              <a:rPr lang="en-US" sz="3200" i="1"/>
              <a:t>Intermediate Quantum Mechanics</a:t>
            </a:r>
            <a:r>
              <a:rPr lang="en-US" sz="3200"/>
              <a:t>, 3</a:t>
            </a:r>
            <a:r>
              <a:rPr lang="en-US" sz="3200" baseline="30000"/>
              <a:t>rd</a:t>
            </a:r>
            <a:r>
              <a:rPr lang="en-US" sz="3200"/>
              <a:t> edition, 1986). Since </a:t>
            </a:r>
            <a:r>
              <a:rPr lang="en-US" sz="3200" i="1"/>
              <a:t>H</a:t>
            </a:r>
            <a:r>
              <a:rPr lang="en-US" sz="3200" baseline="-25000"/>
              <a:t>1</a:t>
            </a:r>
            <a:r>
              <a:rPr lang="en-US" sz="3200"/>
              <a:t> commute with </a:t>
            </a:r>
            <a:r>
              <a:rPr lang="en-US" sz="3200" b="1"/>
              <a:t>L</a:t>
            </a:r>
            <a:r>
              <a:rPr lang="en-US" sz="3200"/>
              <a:t> and </a:t>
            </a:r>
            <a:r>
              <a:rPr lang="en-US" sz="3200" b="1"/>
              <a:t>S</a:t>
            </a:r>
            <a:r>
              <a:rPr lang="en-US" sz="3200"/>
              <a:t>, it also commute with </a:t>
            </a:r>
            <a:r>
              <a:rPr lang="en-US" sz="3200" b="1"/>
              <a:t>J</a:t>
            </a:r>
            <a:r>
              <a:rPr lang="en-US" sz="3200"/>
              <a:t>=</a:t>
            </a:r>
            <a:r>
              <a:rPr lang="en-US" sz="3200" b="1"/>
              <a:t>L</a:t>
            </a:r>
            <a:r>
              <a:rPr lang="en-US" sz="3200"/>
              <a:t>+</a:t>
            </a:r>
            <a:r>
              <a:rPr lang="en-US" sz="3200" b="1"/>
              <a:t>S</a:t>
            </a:r>
            <a:r>
              <a:rPr lang="en-US" sz="3200"/>
              <a:t>. The coupling scheme (i.e., a way to get the total </a:t>
            </a:r>
            <a:r>
              <a:rPr lang="en-US" sz="3200" b="1"/>
              <a:t>J</a:t>
            </a:r>
            <a:r>
              <a:rPr lang="en-US" sz="3200"/>
              <a:t>) where </a:t>
            </a:r>
          </a:p>
          <a:p>
            <a:endParaRPr lang="en-US" sz="3200"/>
          </a:p>
          <a:p>
            <a:endParaRPr lang="en-US" sz="3200"/>
          </a:p>
          <a:p>
            <a:pPr>
              <a:buNone/>
            </a:pPr>
            <a:r>
              <a:rPr lang="en-US" sz="3200"/>
              <a:t>    is called the </a:t>
            </a:r>
            <a:r>
              <a:rPr lang="en-US" sz="3200" i="1"/>
              <a:t>LS coupling</a:t>
            </a:r>
            <a:r>
              <a:rPr lang="en-US" sz="3200"/>
              <a:t> or </a:t>
            </a:r>
            <a:r>
              <a:rPr lang="en-US" sz="3200" i="1"/>
              <a:t>Russell-Saunders coupling</a:t>
            </a:r>
            <a:r>
              <a:rPr lang="en-US" sz="3200"/>
              <a:t>.</a:t>
            </a:r>
            <a:r>
              <a:rPr lang="ko-KR" sz="3200"/>
              <a:t> </a:t>
            </a:r>
            <a:endParaRPr lang="ko-KR" altLang="en-US" sz="3200"/>
          </a:p>
        </p:txBody>
      </p:sp>
      <p:graphicFrame>
        <p:nvGraphicFramePr>
          <p:cNvPr id="29701" name="Object 5"/>
          <p:cNvGraphicFramePr>
            <a:graphicFrameLocks noChangeAspect="1"/>
          </p:cNvGraphicFramePr>
          <p:nvPr/>
        </p:nvGraphicFramePr>
        <p:xfrm>
          <a:off x="2847975" y="4754563"/>
          <a:ext cx="3408363" cy="514350"/>
        </p:xfrm>
        <a:graphic>
          <a:graphicData uri="http://schemas.openxmlformats.org/presentationml/2006/ole">
            <p:oleObj spid="_x0000_s29701" name="Equation" r:id="rId3" imgW="2273300" imgH="342900" progId="Equation.3">
              <p:embed/>
            </p:oleObj>
          </a:graphicData>
        </a:graphic>
      </p:graphicFrame>
      <p:sp>
        <p:nvSpPr>
          <p:cNvPr id="4" name="Title 1"/>
          <p:cNvSpPr>
            <a:spLocks noGrp="1"/>
          </p:cNvSpPr>
          <p:nvPr>
            <p:ph type="title"/>
          </p:nvPr>
        </p:nvSpPr>
        <p:spPr>
          <a:xfrm>
            <a:off x="457200" y="304800"/>
            <a:ext cx="7467600" cy="1143000"/>
          </a:xfrm>
        </p:spPr>
        <p:txBody>
          <a:bodyPr/>
          <a:lstStyle/>
          <a:p>
            <a:r>
              <a:rPr lang="en-US" b="1"/>
              <a:t>LS Coupling</a:t>
            </a:r>
            <a:endParaRPr lang="ja-JP" altLang="en-US"/>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305800" cy="5562600"/>
          </a:xfrm>
        </p:spPr>
        <p:txBody>
          <a:bodyPr>
            <a:noAutofit/>
          </a:bodyPr>
          <a:lstStyle/>
          <a:p>
            <a:pPr>
              <a:lnSpc>
                <a:spcPct val="120000"/>
              </a:lnSpc>
              <a:spcBef>
                <a:spcPts val="600"/>
              </a:spcBef>
            </a:pPr>
            <a:r>
              <a:rPr lang="en-US" sz="2400"/>
              <a:t>The </a:t>
            </a:r>
            <a:r>
              <a:rPr lang="en-US" sz="2400" i="1"/>
              <a:t>LS</a:t>
            </a:r>
            <a:r>
              <a:rPr lang="en-US" sz="2400"/>
              <a:t> coupling scheme is used when the inter-electron Coulomb repulsion energy is far greater than the spin-orbit interaction. In this scheme, the Hamiltonian commutes with </a:t>
            </a:r>
            <a:r>
              <a:rPr lang="en-US" sz="2400" b="1"/>
              <a:t>L</a:t>
            </a:r>
            <a:r>
              <a:rPr lang="en-US" sz="2400"/>
              <a:t> and </a:t>
            </a:r>
            <a:r>
              <a:rPr lang="en-US" sz="2400" b="1"/>
              <a:t>S</a:t>
            </a:r>
            <a:r>
              <a:rPr lang="en-US" sz="2400"/>
              <a:t> and </a:t>
            </a:r>
            <a:r>
              <a:rPr lang="en-US" sz="2400" b="1"/>
              <a:t>J</a:t>
            </a:r>
            <a:r>
              <a:rPr lang="en-US" sz="2400"/>
              <a:t>, so </a:t>
            </a:r>
            <a:r>
              <a:rPr lang="en-US" sz="2400" i="1"/>
              <a:t>L</a:t>
            </a:r>
            <a:r>
              <a:rPr lang="en-US" sz="2400"/>
              <a:t>, </a:t>
            </a:r>
            <a:r>
              <a:rPr lang="en-US" sz="2400" i="1"/>
              <a:t>M</a:t>
            </a:r>
            <a:r>
              <a:rPr lang="en-US" sz="2400" i="1" baseline="-25000"/>
              <a:t>L</a:t>
            </a:r>
            <a:r>
              <a:rPr lang="en-US" sz="2400"/>
              <a:t>, </a:t>
            </a:r>
            <a:r>
              <a:rPr lang="en-US" sz="2400" i="1"/>
              <a:t>S</a:t>
            </a:r>
            <a:r>
              <a:rPr lang="en-US" sz="2400"/>
              <a:t>, </a:t>
            </a:r>
            <a:r>
              <a:rPr lang="en-US" sz="2400" i="1"/>
              <a:t>M</a:t>
            </a:r>
            <a:r>
              <a:rPr lang="en-US" sz="2400" i="1" baseline="-25000"/>
              <a:t>S</a:t>
            </a:r>
            <a:r>
              <a:rPr lang="en-US" sz="2400"/>
              <a:t> (eigenvalues of </a:t>
            </a:r>
            <a:r>
              <a:rPr lang="en-US" sz="2400" b="1"/>
              <a:t>L</a:t>
            </a:r>
            <a:r>
              <a:rPr lang="en-US" sz="2400" baseline="30000"/>
              <a:t>2</a:t>
            </a:r>
            <a:r>
              <a:rPr lang="en-US" sz="2400"/>
              <a:t>, </a:t>
            </a:r>
            <a:r>
              <a:rPr lang="en-US" sz="2400" i="1"/>
              <a:t>L</a:t>
            </a:r>
            <a:r>
              <a:rPr lang="en-US" sz="2400" i="1" baseline="-25000"/>
              <a:t>z</a:t>
            </a:r>
            <a:r>
              <a:rPr lang="en-US" sz="2400"/>
              <a:t>, </a:t>
            </a:r>
            <a:r>
              <a:rPr lang="en-US" sz="2400" b="1"/>
              <a:t>S</a:t>
            </a:r>
            <a:r>
              <a:rPr lang="en-US" sz="2400" baseline="30000"/>
              <a:t>2</a:t>
            </a:r>
            <a:r>
              <a:rPr lang="en-US" sz="2400"/>
              <a:t>, </a:t>
            </a:r>
            <a:r>
              <a:rPr lang="en-US" sz="2400" i="1"/>
              <a:t>S</a:t>
            </a:r>
            <a:r>
              <a:rPr lang="en-US" sz="2400" i="1" baseline="-25000"/>
              <a:t>z</a:t>
            </a:r>
            <a:r>
              <a:rPr lang="en-US" sz="2400"/>
              <a:t>, respectively) are good quantum numbers. The eigenfunctions are denoted by                , where </a:t>
            </a:r>
            <a:r>
              <a:rPr lang="en-US" sz="2400" i="1">
                <a:latin typeface="Symbol" charset="2"/>
                <a:cs typeface="Symbol" charset="2"/>
              </a:rPr>
              <a:t>a</a:t>
            </a:r>
            <a:r>
              <a:rPr lang="en-US" sz="2400"/>
              <a:t> is an index to represent additional information such as the radial part of the wave function, the parity, the electronic configurations, etc. Since the Hamiltonian also commutes with </a:t>
            </a:r>
            <a:r>
              <a:rPr lang="en-US" sz="2400" b="1"/>
              <a:t>J</a:t>
            </a:r>
            <a:r>
              <a:rPr lang="en-US" sz="2400"/>
              <a:t>, one can alternatively use the eigenfunctions of </a:t>
            </a:r>
            <a:r>
              <a:rPr lang="en-US" sz="2400" b="1"/>
              <a:t>L</a:t>
            </a:r>
            <a:r>
              <a:rPr lang="en-US" sz="2400" baseline="30000"/>
              <a:t>2</a:t>
            </a:r>
            <a:r>
              <a:rPr lang="en-US" sz="2400"/>
              <a:t>, </a:t>
            </a:r>
            <a:r>
              <a:rPr lang="en-US" sz="2400" b="1"/>
              <a:t>S</a:t>
            </a:r>
            <a:r>
              <a:rPr lang="en-US" sz="2400" baseline="30000"/>
              <a:t>2</a:t>
            </a:r>
            <a:r>
              <a:rPr lang="en-US" sz="2400"/>
              <a:t>, </a:t>
            </a:r>
            <a:r>
              <a:rPr lang="en-US" sz="2400" b="1"/>
              <a:t>J</a:t>
            </a:r>
            <a:r>
              <a:rPr lang="en-US" sz="2400" baseline="30000"/>
              <a:t>2</a:t>
            </a:r>
            <a:r>
              <a:rPr lang="en-US" sz="2400"/>
              <a:t>, and </a:t>
            </a:r>
            <a:r>
              <a:rPr lang="en-US" sz="2400" i="1"/>
              <a:t>J</a:t>
            </a:r>
            <a:r>
              <a:rPr lang="en-US" sz="2400" i="1" baseline="-25000"/>
              <a:t>z</a:t>
            </a:r>
            <a:r>
              <a:rPr lang="en-US" sz="2400"/>
              <a:t>,            . The atomic states are designated as </a:t>
            </a:r>
            <a:r>
              <a:rPr lang="en-US" sz="2400" baseline="30000"/>
              <a:t>2</a:t>
            </a:r>
            <a:r>
              <a:rPr lang="en-US" sz="2400" i="1" baseline="30000"/>
              <a:t>S</a:t>
            </a:r>
            <a:r>
              <a:rPr lang="en-US" sz="2400" baseline="30000"/>
              <a:t>+1</a:t>
            </a:r>
            <a:r>
              <a:rPr lang="en-US" sz="2400" i="1"/>
              <a:t>L</a:t>
            </a:r>
            <a:r>
              <a:rPr lang="en-US" sz="2400" i="1" baseline="-25000"/>
              <a:t>J</a:t>
            </a:r>
            <a:r>
              <a:rPr lang="en-US" sz="2400"/>
              <a:t>.</a:t>
            </a:r>
            <a:endParaRPr lang="ko-KR" altLang="en-US" sz="2400"/>
          </a:p>
        </p:txBody>
      </p:sp>
      <p:graphicFrame>
        <p:nvGraphicFramePr>
          <p:cNvPr id="31746" name="Object 2"/>
          <p:cNvGraphicFramePr>
            <a:graphicFrameLocks noChangeAspect="1"/>
          </p:cNvGraphicFramePr>
          <p:nvPr/>
        </p:nvGraphicFramePr>
        <p:xfrm>
          <a:off x="1395412" y="3508030"/>
          <a:ext cx="1195388" cy="307975"/>
        </p:xfrm>
        <a:graphic>
          <a:graphicData uri="http://schemas.openxmlformats.org/presentationml/2006/ole">
            <p:oleObj spid="_x0000_s31746" name="Equation" r:id="rId3" imgW="787400" imgH="203200" progId="Equation.3">
              <p:embed/>
            </p:oleObj>
          </a:graphicData>
        </a:graphic>
      </p:graphicFrame>
      <p:graphicFrame>
        <p:nvGraphicFramePr>
          <p:cNvPr id="31747" name="Object 3"/>
          <p:cNvGraphicFramePr>
            <a:graphicFrameLocks noChangeAspect="1"/>
          </p:cNvGraphicFramePr>
          <p:nvPr/>
        </p:nvGraphicFramePr>
        <p:xfrm>
          <a:off x="6858000" y="5257800"/>
          <a:ext cx="866775" cy="307975"/>
        </p:xfrm>
        <a:graphic>
          <a:graphicData uri="http://schemas.openxmlformats.org/presentationml/2006/ole">
            <p:oleObj spid="_x0000_s31747" name="Equation" r:id="rId4" imgW="571500" imgH="203200" progId="Equation.3">
              <p:embed/>
            </p:oleObj>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normAutofit fontScale="90000"/>
          </a:bodyPr>
          <a:lstStyle/>
          <a:p>
            <a:r>
              <a:rPr lang="en-US"/>
              <a:t>High </a:t>
            </a:r>
            <a:r>
              <a:rPr lang="en-US" i="1"/>
              <a:t>Z</a:t>
            </a:r>
            <a:r>
              <a:rPr lang="en-US"/>
              <a:t> atoms, </a:t>
            </a:r>
            <a:r>
              <a:rPr lang="en-US" i="1"/>
              <a:t>H</a:t>
            </a:r>
            <a:r>
              <a:rPr lang="en-US" baseline="-25000"/>
              <a:t>1</a:t>
            </a:r>
            <a:r>
              <a:rPr lang="en-US" i="1" baseline="-25000"/>
              <a:t> </a:t>
            </a:r>
            <a:r>
              <a:rPr lang="en-US"/>
              <a:t>&lt;&lt;</a:t>
            </a:r>
            <a:r>
              <a:rPr lang="en-US" i="1"/>
              <a:t> H</a:t>
            </a:r>
            <a:r>
              <a:rPr lang="en-US" baseline="-25000"/>
              <a:t>2</a:t>
            </a:r>
            <a:r>
              <a:rPr lang="en-US" i="1" baseline="-25000"/>
              <a:t> </a:t>
            </a:r>
            <a:r>
              <a:rPr lang="en-US"/>
              <a:t>: </a:t>
            </a:r>
            <a:r>
              <a:rPr lang="en-US" i="1"/>
              <a:t>jj</a:t>
            </a:r>
            <a:r>
              <a:rPr lang="en-US"/>
              <a:t> coupling.</a:t>
            </a:r>
            <a:r>
              <a:rPr lang="ko-KR"/>
              <a:t> </a:t>
            </a:r>
            <a:endParaRPr lang="ja-JP" altLang="en-US"/>
          </a:p>
        </p:txBody>
      </p:sp>
      <p:sp>
        <p:nvSpPr>
          <p:cNvPr id="3" name="Content Placeholder 2"/>
          <p:cNvSpPr>
            <a:spLocks noGrp="1"/>
          </p:cNvSpPr>
          <p:nvPr>
            <p:ph idx="1"/>
          </p:nvPr>
        </p:nvSpPr>
        <p:spPr>
          <a:xfrm>
            <a:off x="457200" y="1524000"/>
            <a:ext cx="8305800" cy="4953000"/>
          </a:xfrm>
        </p:spPr>
        <p:txBody>
          <a:bodyPr>
            <a:normAutofit fontScale="85000" lnSpcReduction="20000"/>
          </a:bodyPr>
          <a:lstStyle/>
          <a:p>
            <a:pPr>
              <a:lnSpc>
                <a:spcPct val="110000"/>
              </a:lnSpc>
              <a:spcBef>
                <a:spcPts val="624"/>
              </a:spcBef>
            </a:pPr>
            <a:r>
              <a:rPr lang="en-US" b="1"/>
              <a:t>l</a:t>
            </a:r>
            <a:r>
              <a:rPr lang="en-US"/>
              <a:t> and </a:t>
            </a:r>
            <a:r>
              <a:rPr lang="en-US" b="1"/>
              <a:t>s</a:t>
            </a:r>
            <a:r>
              <a:rPr lang="en-US"/>
              <a:t> commute with </a:t>
            </a:r>
            <a:r>
              <a:rPr lang="en-US" b="1"/>
              <a:t>j</a:t>
            </a:r>
            <a:r>
              <a:rPr lang="en-US"/>
              <a:t>=</a:t>
            </a:r>
            <a:r>
              <a:rPr lang="en-US" b="1"/>
              <a:t>l</a:t>
            </a:r>
            <a:r>
              <a:rPr lang="en-US"/>
              <a:t>+</a:t>
            </a:r>
            <a:r>
              <a:rPr lang="en-US" b="1"/>
              <a:t>s</a:t>
            </a:r>
            <a:r>
              <a:rPr lang="en-US"/>
              <a:t>. Therefore,             ,  where           . </a:t>
            </a:r>
          </a:p>
          <a:p>
            <a:pPr>
              <a:lnSpc>
                <a:spcPct val="110000"/>
              </a:lnSpc>
              <a:spcBef>
                <a:spcPts val="624"/>
              </a:spcBef>
            </a:pPr>
            <a:endParaRPr lang="ko-KR" altLang="en-US"/>
          </a:p>
          <a:p>
            <a:pPr>
              <a:lnSpc>
                <a:spcPct val="110000"/>
              </a:lnSpc>
              <a:spcBef>
                <a:spcPts val="624"/>
              </a:spcBef>
            </a:pPr>
            <a:r>
              <a:rPr lang="en-US"/>
              <a:t>The coupling scheme where</a:t>
            </a:r>
          </a:p>
          <a:p>
            <a:pPr>
              <a:lnSpc>
                <a:spcPct val="110000"/>
              </a:lnSpc>
              <a:spcBef>
                <a:spcPts val="624"/>
              </a:spcBef>
            </a:pPr>
            <a:endParaRPr lang="en-US" altLang="ko-KR"/>
          </a:p>
          <a:p>
            <a:pPr>
              <a:lnSpc>
                <a:spcPct val="110000"/>
              </a:lnSpc>
              <a:spcBef>
                <a:spcPts val="624"/>
              </a:spcBef>
            </a:pPr>
            <a:endParaRPr lang="ko-KR" altLang="en-US"/>
          </a:p>
          <a:p>
            <a:pPr>
              <a:lnSpc>
                <a:spcPct val="110000"/>
              </a:lnSpc>
              <a:spcBef>
                <a:spcPts val="624"/>
              </a:spcBef>
              <a:buNone/>
            </a:pPr>
            <a:r>
              <a:rPr lang="en-US"/>
              <a:t>    is called the </a:t>
            </a:r>
            <a:r>
              <a:rPr lang="en-US" i="1"/>
              <a:t>jj</a:t>
            </a:r>
            <a:r>
              <a:rPr lang="en-US"/>
              <a:t> coupling. This scheme is used when the spin-orbit interaction exceeds the electron repulsion energy, which is the case in high </a:t>
            </a:r>
            <a:r>
              <a:rPr lang="en-US" i="1"/>
              <a:t>Z</a:t>
            </a:r>
            <a:r>
              <a:rPr lang="en-US"/>
              <a:t> atoms. The Hamiltonian commutes with                  , so the eigenfunctions are denoted by                        . The atomic states are designated as (</a:t>
            </a:r>
            <a:r>
              <a:rPr lang="en-US" i="1"/>
              <a:t>j</a:t>
            </a:r>
            <a:r>
              <a:rPr lang="en-US" baseline="-25000"/>
              <a:t>1</a:t>
            </a:r>
            <a:r>
              <a:rPr lang="en-US"/>
              <a:t>,</a:t>
            </a:r>
            <a:r>
              <a:rPr lang="en-US" i="1"/>
              <a:t>j</a:t>
            </a:r>
            <a:r>
              <a:rPr lang="en-US" baseline="-25000"/>
              <a:t>2</a:t>
            </a:r>
            <a:r>
              <a:rPr lang="en-US"/>
              <a:t>,…,</a:t>
            </a:r>
            <a:r>
              <a:rPr lang="en-US" i="1"/>
              <a:t>j</a:t>
            </a:r>
            <a:r>
              <a:rPr lang="en-US" i="1" baseline="-25000"/>
              <a:t>N</a:t>
            </a:r>
            <a:r>
              <a:rPr lang="en-US"/>
              <a:t>)</a:t>
            </a:r>
            <a:r>
              <a:rPr lang="en-US" i="1" baseline="-25000"/>
              <a:t>J</a:t>
            </a:r>
            <a:r>
              <a:rPr lang="en-US"/>
              <a:t>. </a:t>
            </a:r>
            <a:endParaRPr lang="ja-JP" altLang="en-US"/>
          </a:p>
        </p:txBody>
      </p:sp>
      <p:graphicFrame>
        <p:nvGraphicFramePr>
          <p:cNvPr id="204803" name="Object 3"/>
          <p:cNvGraphicFramePr>
            <a:graphicFrameLocks noChangeAspect="1"/>
          </p:cNvGraphicFramePr>
          <p:nvPr/>
        </p:nvGraphicFramePr>
        <p:xfrm>
          <a:off x="6819900" y="1600200"/>
          <a:ext cx="971550" cy="419100"/>
        </p:xfrm>
        <a:graphic>
          <a:graphicData uri="http://schemas.openxmlformats.org/presentationml/2006/ole">
            <p:oleObj spid="_x0000_s204803" name="Equation" r:id="rId3" imgW="647700" imgH="279400" progId="Equation.3">
              <p:embed/>
            </p:oleObj>
          </a:graphicData>
        </a:graphic>
      </p:graphicFrame>
      <p:graphicFrame>
        <p:nvGraphicFramePr>
          <p:cNvPr id="204804" name="Object 4"/>
          <p:cNvGraphicFramePr>
            <a:graphicFrameLocks noChangeAspect="1"/>
          </p:cNvGraphicFramePr>
          <p:nvPr/>
        </p:nvGraphicFramePr>
        <p:xfrm>
          <a:off x="2044700" y="1963738"/>
          <a:ext cx="765175" cy="514350"/>
        </p:xfrm>
        <a:graphic>
          <a:graphicData uri="http://schemas.openxmlformats.org/presentationml/2006/ole">
            <p:oleObj spid="_x0000_s204804" name="Equation" r:id="rId4" imgW="508000" imgH="342900" progId="Equation.3">
              <p:embed/>
            </p:oleObj>
          </a:graphicData>
        </a:graphic>
      </p:graphicFrame>
      <p:graphicFrame>
        <p:nvGraphicFramePr>
          <p:cNvPr id="204805" name="Object 5"/>
          <p:cNvGraphicFramePr>
            <a:graphicFrameLocks noChangeAspect="1"/>
          </p:cNvGraphicFramePr>
          <p:nvPr/>
        </p:nvGraphicFramePr>
        <p:xfrm>
          <a:off x="3275013" y="3263900"/>
          <a:ext cx="2439987" cy="514350"/>
        </p:xfrm>
        <a:graphic>
          <a:graphicData uri="http://schemas.openxmlformats.org/presentationml/2006/ole">
            <p:oleObj spid="_x0000_s204805" name="Equation" r:id="rId5" imgW="1625600" imgH="342900" progId="Equation.3">
              <p:embed/>
            </p:oleObj>
          </a:graphicData>
        </a:graphic>
      </p:graphicFrame>
      <p:graphicFrame>
        <p:nvGraphicFramePr>
          <p:cNvPr id="204808" name="Object 8"/>
          <p:cNvGraphicFramePr>
            <a:graphicFrameLocks noChangeAspect="1"/>
          </p:cNvGraphicFramePr>
          <p:nvPr/>
        </p:nvGraphicFramePr>
        <p:xfrm>
          <a:off x="5754688" y="5186363"/>
          <a:ext cx="1570037" cy="339725"/>
        </p:xfrm>
        <a:graphic>
          <a:graphicData uri="http://schemas.openxmlformats.org/presentationml/2006/ole">
            <p:oleObj spid="_x0000_s204808" name="Equation" r:id="rId6" imgW="1054100" imgH="228600" progId="Equation.3">
              <p:embed/>
            </p:oleObj>
          </a:graphicData>
        </a:graphic>
      </p:graphicFrame>
      <p:graphicFrame>
        <p:nvGraphicFramePr>
          <p:cNvPr id="204809" name="Object 9"/>
          <p:cNvGraphicFramePr>
            <a:graphicFrameLocks noChangeAspect="1"/>
          </p:cNvGraphicFramePr>
          <p:nvPr/>
        </p:nvGraphicFramePr>
        <p:xfrm>
          <a:off x="5438775" y="5594350"/>
          <a:ext cx="2122488" cy="307975"/>
        </p:xfrm>
        <a:graphic>
          <a:graphicData uri="http://schemas.openxmlformats.org/presentationml/2006/ole">
            <p:oleObj spid="_x0000_s204809" name="Equation" r:id="rId7" imgW="1397000" imgH="203200" progId="Equation.3">
              <p:embed/>
            </p:oleObj>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7038"/>
            <a:ext cx="8229600" cy="1325562"/>
          </a:xfrm>
        </p:spPr>
        <p:txBody>
          <a:bodyPr>
            <a:noAutofit/>
          </a:bodyPr>
          <a:lstStyle/>
          <a:p>
            <a:r>
              <a:rPr lang="en-US" sz="4400"/>
              <a:t>Central-Field Approximation (Low Z Atoms)</a:t>
            </a:r>
            <a:r>
              <a:rPr lang="ko-KR" sz="4400"/>
              <a:t> </a:t>
            </a:r>
            <a:endParaRPr lang="ja-JP" altLang="en-US" sz="4400"/>
          </a:p>
        </p:txBody>
      </p:sp>
      <p:sp>
        <p:nvSpPr>
          <p:cNvPr id="3" name="Content Placeholder 2"/>
          <p:cNvSpPr>
            <a:spLocks noGrp="1"/>
          </p:cNvSpPr>
          <p:nvPr>
            <p:ph idx="1"/>
          </p:nvPr>
        </p:nvSpPr>
        <p:spPr>
          <a:xfrm>
            <a:off x="457200" y="2179637"/>
            <a:ext cx="7924800" cy="3840163"/>
          </a:xfrm>
        </p:spPr>
        <p:txBody>
          <a:bodyPr>
            <a:normAutofit lnSpcReduction="10000"/>
          </a:bodyPr>
          <a:lstStyle/>
          <a:p>
            <a:pPr lvl="0"/>
            <a:r>
              <a:rPr lang="en-US"/>
              <a:t>Neglect </a:t>
            </a:r>
            <a:r>
              <a:rPr lang="en-US" i="1"/>
              <a:t>H</a:t>
            </a:r>
            <a:r>
              <a:rPr lang="en-US" baseline="-25000"/>
              <a:t>2</a:t>
            </a:r>
            <a:r>
              <a:rPr lang="en-US"/>
              <a:t> in the Hamiltonian.</a:t>
            </a:r>
            <a:endParaRPr lang="ko-KR" altLang="en-US"/>
          </a:p>
          <a:p>
            <a:pPr lvl="0"/>
            <a:r>
              <a:rPr lang="en-US"/>
              <a:t>The inter-electron repulsion contains a large spherically symmetric component.</a:t>
            </a:r>
            <a:endParaRPr lang="ko-KR" altLang="en-US"/>
          </a:p>
          <a:p>
            <a:pPr lvl="0"/>
            <a:r>
              <a:rPr lang="en-US"/>
              <a:t>Consider </a:t>
            </a:r>
            <a:r>
              <a:rPr lang="en-US" i="1"/>
              <a:t>U</a:t>
            </a:r>
            <a:r>
              <a:rPr lang="en-US"/>
              <a:t>(</a:t>
            </a:r>
            <a:r>
              <a:rPr lang="en-US" i="1"/>
              <a:t>r</a:t>
            </a:r>
            <a:r>
              <a:rPr lang="en-US" i="1" baseline="-25000"/>
              <a:t>i</a:t>
            </a:r>
            <a:r>
              <a:rPr lang="en-US"/>
              <a:t>) which is spherically symmetric, one-electron operator and is a good approximation to the actual potential of the </a:t>
            </a:r>
            <a:r>
              <a:rPr lang="en-US" i="1"/>
              <a:t>i</a:t>
            </a:r>
            <a:r>
              <a:rPr lang="en-US"/>
              <a:t>th electron in the field of the nucleus and the other </a:t>
            </a:r>
            <a:r>
              <a:rPr lang="en-US" i="1"/>
              <a:t>N</a:t>
            </a:r>
            <a:r>
              <a:rPr lang="en-US"/>
              <a:t>-1 electrons.</a:t>
            </a:r>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graphicFrame>
        <p:nvGraphicFramePr>
          <p:cNvPr id="206851" name="Object 3"/>
          <p:cNvGraphicFramePr>
            <a:graphicFrameLocks noChangeAspect="1"/>
          </p:cNvGraphicFramePr>
          <p:nvPr/>
        </p:nvGraphicFramePr>
        <p:xfrm>
          <a:off x="2333625" y="628650"/>
          <a:ext cx="4497388" cy="2171700"/>
        </p:xfrm>
        <a:graphic>
          <a:graphicData uri="http://schemas.openxmlformats.org/presentationml/2006/ole">
            <p:oleObj spid="_x0000_s206851" name="Equation" r:id="rId3" imgW="2997200" imgH="1447800" progId="Equation.3">
              <p:embed/>
            </p:oleObj>
          </a:graphicData>
        </a:graphic>
      </p:graphicFrame>
      <p:sp>
        <p:nvSpPr>
          <p:cNvPr id="7" name="Content Placeholder 2"/>
          <p:cNvSpPr>
            <a:spLocks noGrp="1"/>
          </p:cNvSpPr>
          <p:nvPr>
            <p:ph idx="1"/>
          </p:nvPr>
        </p:nvSpPr>
        <p:spPr>
          <a:xfrm>
            <a:off x="457200" y="2941637"/>
            <a:ext cx="8001000" cy="3535363"/>
          </a:xfrm>
        </p:spPr>
        <p:txBody>
          <a:bodyPr>
            <a:normAutofit fontScale="92500" lnSpcReduction="10000"/>
          </a:bodyPr>
          <a:lstStyle/>
          <a:p>
            <a:r>
              <a:rPr lang="en-US"/>
              <a:t>We construct </a:t>
            </a:r>
            <a:r>
              <a:rPr lang="en-US" i="1"/>
              <a:t>U</a:t>
            </a:r>
            <a:r>
              <a:rPr lang="en-US"/>
              <a:t>(</a:t>
            </a:r>
            <a:r>
              <a:rPr lang="en-US" i="1"/>
              <a:t>r</a:t>
            </a:r>
            <a:r>
              <a:rPr lang="en-US" i="1" baseline="-25000"/>
              <a:t>i</a:t>
            </a:r>
            <a:r>
              <a:rPr lang="en-US"/>
              <a:t>) as</a:t>
            </a:r>
            <a:endParaRPr lang="ko-KR" altLang="en-US"/>
          </a:p>
          <a:p>
            <a:pPr>
              <a:buNone/>
            </a:pPr>
            <a:endParaRPr lang="en-US"/>
          </a:p>
          <a:p>
            <a:pPr>
              <a:buNone/>
            </a:pPr>
            <a:endParaRPr lang="en-US"/>
          </a:p>
          <a:p>
            <a:pPr>
              <a:buNone/>
            </a:pPr>
            <a:r>
              <a:rPr lang="en-US"/>
              <a:t>    where &lt; &gt; stands for an average of a sphere (A specific way to construct the average and thus </a:t>
            </a:r>
            <a:r>
              <a:rPr lang="en-US" i="1"/>
              <a:t>U</a:t>
            </a:r>
            <a:r>
              <a:rPr lang="en-US"/>
              <a:t>(</a:t>
            </a:r>
            <a:r>
              <a:rPr lang="en-US" i="1"/>
              <a:t>r</a:t>
            </a:r>
            <a:r>
              <a:rPr lang="en-US" i="1" baseline="-25000"/>
              <a:t>i</a:t>
            </a:r>
            <a:r>
              <a:rPr lang="en-US"/>
              <a:t>) will be discussed in the next section). It is therefore independent of the angular coordinates.</a:t>
            </a:r>
            <a:r>
              <a:rPr lang="ko-KR"/>
              <a:t> </a:t>
            </a:r>
            <a:endParaRPr lang="ko-KR" altLang="en-US"/>
          </a:p>
        </p:txBody>
      </p:sp>
      <p:graphicFrame>
        <p:nvGraphicFramePr>
          <p:cNvPr id="206852" name="Object 4"/>
          <p:cNvGraphicFramePr>
            <a:graphicFrameLocks noChangeAspect="1"/>
          </p:cNvGraphicFramePr>
          <p:nvPr/>
        </p:nvGraphicFramePr>
        <p:xfrm>
          <a:off x="3286125" y="3524250"/>
          <a:ext cx="2668588" cy="762000"/>
        </p:xfrm>
        <a:graphic>
          <a:graphicData uri="http://schemas.openxmlformats.org/presentationml/2006/ole">
            <p:oleObj spid="_x0000_s206852" name="Equation" r:id="rId4" imgW="1778000" imgH="508000" progId="Equation.3">
              <p:embed/>
            </p:oleObj>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70718"/>
            <a:ext cx="7467600" cy="5233988"/>
          </a:xfrm>
        </p:spPr>
        <p:txBody>
          <a:bodyPr>
            <a:normAutofit fontScale="92500" lnSpcReduction="10000"/>
          </a:bodyPr>
          <a:lstStyle/>
          <a:p>
            <a:r>
              <a:rPr lang="en-US"/>
              <a:t>With this construction</a:t>
            </a:r>
            <a:endParaRPr lang="ko-KR" altLang="en-US"/>
          </a:p>
          <a:p>
            <a:pPr>
              <a:buNone/>
            </a:pPr>
            <a:r>
              <a:rPr lang="en-US"/>
              <a:t>   </a:t>
            </a:r>
          </a:p>
          <a:p>
            <a:pPr>
              <a:buNone/>
            </a:pPr>
            <a:r>
              <a:rPr lang="en-US"/>
              <a:t> </a:t>
            </a:r>
          </a:p>
          <a:p>
            <a:pPr>
              <a:buNone/>
            </a:pPr>
            <a:r>
              <a:rPr lang="en-US"/>
              <a:t>   </a:t>
            </a:r>
          </a:p>
          <a:p>
            <a:pPr>
              <a:buNone/>
            </a:pPr>
            <a:endParaRPr lang="en-US"/>
          </a:p>
          <a:p>
            <a:pPr>
              <a:buNone/>
            </a:pPr>
            <a:r>
              <a:rPr lang="en-US"/>
              <a:t>   where     is treated as a perturbation. This is called the central-field approximation.</a:t>
            </a:r>
            <a:endParaRPr lang="ko-KR" altLang="en-US"/>
          </a:p>
          <a:p>
            <a:r>
              <a:rPr lang="en-US"/>
              <a:t>Since </a:t>
            </a:r>
            <a:r>
              <a:rPr lang="en-US" i="1"/>
              <a:t>U</a:t>
            </a:r>
            <a:r>
              <a:rPr lang="en-US"/>
              <a:t>(</a:t>
            </a:r>
            <a:r>
              <a:rPr lang="en-US" i="1"/>
              <a:t>r</a:t>
            </a:r>
            <a:r>
              <a:rPr lang="en-US" i="1" baseline="-25000"/>
              <a:t>i</a:t>
            </a:r>
            <a:r>
              <a:rPr lang="en-US"/>
              <a:t>) is an one-electron operator, the Schroedinger equation for </a:t>
            </a:r>
            <a:r>
              <a:rPr lang="en-US" i="1"/>
              <a:t>N</a:t>
            </a:r>
            <a:r>
              <a:rPr lang="en-US"/>
              <a:t> electrons with  can be decomposed </a:t>
            </a:r>
            <a:r>
              <a:rPr lang="en-US" i="1"/>
              <a:t>N</a:t>
            </a:r>
            <a:r>
              <a:rPr lang="en-US"/>
              <a:t> of single-electron Schrodinger equations.</a:t>
            </a:r>
            <a:endParaRPr lang="ko-KR" altLang="en-US"/>
          </a:p>
          <a:p>
            <a:endParaRPr lang="ja-JP" altLang="en-US"/>
          </a:p>
        </p:txBody>
      </p:sp>
      <p:graphicFrame>
        <p:nvGraphicFramePr>
          <p:cNvPr id="207874" name="Object 2"/>
          <p:cNvGraphicFramePr>
            <a:graphicFrameLocks noChangeAspect="1"/>
          </p:cNvGraphicFramePr>
          <p:nvPr/>
        </p:nvGraphicFramePr>
        <p:xfrm>
          <a:off x="3209925" y="1333500"/>
          <a:ext cx="2860675" cy="1563688"/>
        </p:xfrm>
        <a:graphic>
          <a:graphicData uri="http://schemas.openxmlformats.org/presentationml/2006/ole">
            <p:oleObj spid="_x0000_s207874" name="Equation" r:id="rId3" imgW="1905000" imgH="1041400" progId="Equation.3">
              <p:embed/>
            </p:oleObj>
          </a:graphicData>
        </a:graphic>
      </p:graphicFrame>
      <p:graphicFrame>
        <p:nvGraphicFramePr>
          <p:cNvPr id="207875" name="Object 3"/>
          <p:cNvGraphicFramePr>
            <a:graphicFrameLocks noChangeAspect="1"/>
          </p:cNvGraphicFramePr>
          <p:nvPr/>
        </p:nvGraphicFramePr>
        <p:xfrm>
          <a:off x="1935163" y="3170238"/>
          <a:ext cx="287337" cy="268287"/>
        </p:xfrm>
        <a:graphic>
          <a:graphicData uri="http://schemas.openxmlformats.org/presentationml/2006/ole">
            <p:oleObj spid="_x0000_s207875" name="Equation" r:id="rId4" imgW="190500" imgH="177800" progId="Equation.3">
              <p:embed/>
            </p:oleObj>
          </a:graphicData>
        </a:graphic>
      </p:graphicFrame>
      <p:graphicFrame>
        <p:nvGraphicFramePr>
          <p:cNvPr id="207876" name="Object 4"/>
          <p:cNvGraphicFramePr>
            <a:graphicFrameLocks noChangeAspect="1"/>
          </p:cNvGraphicFramePr>
          <p:nvPr/>
        </p:nvGraphicFramePr>
        <p:xfrm>
          <a:off x="3448050" y="5715000"/>
          <a:ext cx="2271713" cy="687388"/>
        </p:xfrm>
        <a:graphic>
          <a:graphicData uri="http://schemas.openxmlformats.org/presentationml/2006/ole">
            <p:oleObj spid="_x0000_s207876" name="Equation" r:id="rId5" imgW="1511300" imgH="457200" progId="Equation.3">
              <p:embed/>
            </p:oleObj>
          </a:graphicData>
        </a:graphic>
      </p:graphicFrame>
      <p:graphicFrame>
        <p:nvGraphicFramePr>
          <p:cNvPr id="207879" name="Object 7"/>
          <p:cNvGraphicFramePr>
            <a:graphicFrameLocks noChangeAspect="1"/>
          </p:cNvGraphicFramePr>
          <p:nvPr/>
        </p:nvGraphicFramePr>
        <p:xfrm>
          <a:off x="7753844" y="4406555"/>
          <a:ext cx="306388" cy="268288"/>
        </p:xfrm>
        <a:graphic>
          <a:graphicData uri="http://schemas.openxmlformats.org/presentationml/2006/ole">
            <p:oleObj spid="_x0000_s207879" name="Equation" r:id="rId6" imgW="203200" imgH="1778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7638"/>
            <a:ext cx="7924800" cy="4449762"/>
          </a:xfrm>
        </p:spPr>
        <p:txBody>
          <a:bodyPr>
            <a:normAutofit lnSpcReduction="10000"/>
          </a:bodyPr>
          <a:lstStyle/>
          <a:p>
            <a:r>
              <a:rPr lang="en-US"/>
              <a:t>When we apply the separation of variables, we find that the angular part of this equation is the same as that of hydrogen, the spherical harmonics. The eigenfunction can be written in a form called </a:t>
            </a:r>
            <a:r>
              <a:rPr lang="en-US" i="1"/>
              <a:t>central-field spin orbitals</a:t>
            </a:r>
          </a:p>
          <a:p>
            <a:endParaRPr lang="ko-KR" altLang="en-US"/>
          </a:p>
          <a:p>
            <a:endParaRPr lang="ko-KR" altLang="en-US"/>
          </a:p>
          <a:p>
            <a:pPr>
              <a:buNone/>
            </a:pPr>
            <a:r>
              <a:rPr lang="en-US"/>
              <a:t>     where       is a spin function. </a:t>
            </a:r>
          </a:p>
          <a:p>
            <a:endParaRPr lang="en-US"/>
          </a:p>
        </p:txBody>
      </p:sp>
      <p:graphicFrame>
        <p:nvGraphicFramePr>
          <p:cNvPr id="208899" name="Object 3"/>
          <p:cNvGraphicFramePr>
            <a:graphicFrameLocks noChangeAspect="1"/>
          </p:cNvGraphicFramePr>
          <p:nvPr/>
        </p:nvGraphicFramePr>
        <p:xfrm>
          <a:off x="2209800" y="5141912"/>
          <a:ext cx="576263" cy="268288"/>
        </p:xfrm>
        <a:graphic>
          <a:graphicData uri="http://schemas.openxmlformats.org/presentationml/2006/ole">
            <p:oleObj spid="_x0000_s208899" name="Equation" r:id="rId3" imgW="381000" imgH="177800" progId="Equation.3">
              <p:embed/>
            </p:oleObj>
          </a:graphicData>
        </a:graphic>
      </p:graphicFrame>
      <p:graphicFrame>
        <p:nvGraphicFramePr>
          <p:cNvPr id="208900" name="Object 4"/>
          <p:cNvGraphicFramePr>
            <a:graphicFrameLocks noChangeAspect="1"/>
          </p:cNvGraphicFramePr>
          <p:nvPr/>
        </p:nvGraphicFramePr>
        <p:xfrm>
          <a:off x="2209800" y="4191000"/>
          <a:ext cx="4732338" cy="325438"/>
        </p:xfrm>
        <a:graphic>
          <a:graphicData uri="http://schemas.openxmlformats.org/presentationml/2006/ole">
            <p:oleObj spid="_x0000_s208900" name="Equation" r:id="rId4" imgW="3136900" imgH="215900" progId="Equation.3">
              <p:embed/>
            </p:oleObj>
          </a:graphicData>
        </a:graphic>
      </p:graphicFrame>
      <p:sp>
        <p:nvSpPr>
          <p:cNvPr id="6" name="Title 1"/>
          <p:cNvSpPr>
            <a:spLocks noGrp="1"/>
          </p:cNvSpPr>
          <p:nvPr>
            <p:ph type="title"/>
          </p:nvPr>
        </p:nvSpPr>
        <p:spPr>
          <a:xfrm>
            <a:off x="457200" y="274638"/>
            <a:ext cx="7467600" cy="1143000"/>
          </a:xfrm>
        </p:spPr>
        <p:txBody>
          <a:bodyPr/>
          <a:lstStyle/>
          <a:p>
            <a:r>
              <a:rPr lang="en-US"/>
              <a:t>Spin Orbital</a:t>
            </a:r>
            <a:endParaRPr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17638"/>
            <a:ext cx="8077200" cy="4983162"/>
          </a:xfrm>
        </p:spPr>
        <p:txBody>
          <a:bodyPr>
            <a:normAutofit fontScale="77500" lnSpcReduction="20000"/>
          </a:bodyPr>
          <a:lstStyle/>
          <a:p>
            <a:endParaRPr lang="en-US"/>
          </a:p>
          <a:p>
            <a:r>
              <a:rPr lang="en-US"/>
              <a:t>The </a:t>
            </a:r>
            <a:r>
              <a:rPr lang="en-US" i="1"/>
              <a:t>N</a:t>
            </a:r>
            <a:r>
              <a:rPr lang="en-US"/>
              <a:t>-electron wave function is then constructed in the form of the Slater determinant</a:t>
            </a:r>
          </a:p>
          <a:p>
            <a:endParaRPr lang="en-US" altLang="ko-KR"/>
          </a:p>
          <a:p>
            <a:endParaRPr lang="en-US" altLang="ko-KR"/>
          </a:p>
          <a:p>
            <a:endParaRPr lang="en-US" altLang="ko-KR"/>
          </a:p>
          <a:p>
            <a:endParaRPr lang="en-US" altLang="ko-KR"/>
          </a:p>
          <a:p>
            <a:endParaRPr lang="ko-KR" altLang="en-US"/>
          </a:p>
          <a:p>
            <a:r>
              <a:rPr lang="en-US"/>
              <a:t>The subscript </a:t>
            </a:r>
            <a:r>
              <a:rPr lang="en-US" i="1"/>
              <a:t>i</a:t>
            </a:r>
            <a:r>
              <a:rPr lang="en-US"/>
              <a:t> represents a particular choice of the four quantum numbers            ,while    represents the space and spin coordinates of the </a:t>
            </a:r>
            <a:r>
              <a:rPr lang="en-US" i="1"/>
              <a:t>j</a:t>
            </a:r>
            <a:r>
              <a:rPr lang="en-US"/>
              <a:t>th electron. This form of wave function (antisymmetric) automatically satisfies the Pauli’s exclusion principle.</a:t>
            </a:r>
            <a:endParaRPr lang="ko-KR" altLang="en-US"/>
          </a:p>
          <a:p>
            <a:endParaRPr lang="ja-JP" altLang="en-US"/>
          </a:p>
        </p:txBody>
      </p:sp>
      <p:graphicFrame>
        <p:nvGraphicFramePr>
          <p:cNvPr id="208898" name="Object 2"/>
          <p:cNvGraphicFramePr>
            <a:graphicFrameLocks noChangeAspect="1"/>
          </p:cNvGraphicFramePr>
          <p:nvPr/>
        </p:nvGraphicFramePr>
        <p:xfrm>
          <a:off x="2247900" y="2581275"/>
          <a:ext cx="4905375" cy="1349375"/>
        </p:xfrm>
        <a:graphic>
          <a:graphicData uri="http://schemas.openxmlformats.org/presentationml/2006/ole">
            <p:oleObj spid="_x0000_s212994" name="Equation" r:id="rId3" imgW="3276600" imgH="901700" progId="Equation.3">
              <p:embed/>
            </p:oleObj>
          </a:graphicData>
        </a:graphic>
      </p:graphicFrame>
      <p:sp>
        <p:nvSpPr>
          <p:cNvPr id="6" name="Title 1"/>
          <p:cNvSpPr>
            <a:spLocks noGrp="1"/>
          </p:cNvSpPr>
          <p:nvPr>
            <p:ph type="title"/>
          </p:nvPr>
        </p:nvSpPr>
        <p:spPr>
          <a:xfrm>
            <a:off x="457200" y="274638"/>
            <a:ext cx="7467600" cy="1143000"/>
          </a:xfrm>
        </p:spPr>
        <p:txBody>
          <a:bodyPr/>
          <a:lstStyle/>
          <a:p>
            <a:r>
              <a:rPr lang="en-US"/>
              <a:t>Slater Determinant</a:t>
            </a:r>
            <a:endParaRPr lang="ja-JP" altLang="en-US"/>
          </a:p>
        </p:txBody>
      </p:sp>
      <p:graphicFrame>
        <p:nvGraphicFramePr>
          <p:cNvPr id="212997" name="Object 5"/>
          <p:cNvGraphicFramePr>
            <a:graphicFrameLocks noChangeAspect="1"/>
          </p:cNvGraphicFramePr>
          <p:nvPr/>
        </p:nvGraphicFramePr>
        <p:xfrm>
          <a:off x="3398837" y="4495800"/>
          <a:ext cx="881063" cy="268288"/>
        </p:xfrm>
        <a:graphic>
          <a:graphicData uri="http://schemas.openxmlformats.org/presentationml/2006/ole">
            <p:oleObj spid="_x0000_s212997" name="Equation" r:id="rId4" imgW="584200" imgH="177800" progId="Equation.3">
              <p:embed/>
            </p:oleObj>
          </a:graphicData>
        </a:graphic>
      </p:graphicFrame>
      <p:graphicFrame>
        <p:nvGraphicFramePr>
          <p:cNvPr id="212998" name="Object 6"/>
          <p:cNvGraphicFramePr>
            <a:graphicFrameLocks noChangeAspect="1"/>
          </p:cNvGraphicFramePr>
          <p:nvPr/>
        </p:nvGraphicFramePr>
        <p:xfrm>
          <a:off x="5105400" y="4479925"/>
          <a:ext cx="207963" cy="284163"/>
        </p:xfrm>
        <a:graphic>
          <a:graphicData uri="http://schemas.openxmlformats.org/presentationml/2006/ole">
            <p:oleObj spid="_x0000_s212998" name="Equation" r:id="rId5" imgW="139700" imgH="190500" progId="Equation.3">
              <p:embed/>
            </p:oleObj>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Terminology</a:t>
            </a:r>
            <a:r>
              <a:rPr lang="ko-KR"/>
              <a:t> </a:t>
            </a:r>
            <a:endParaRPr lang="ja-JP" altLang="en-US"/>
          </a:p>
        </p:txBody>
      </p:sp>
      <p:sp>
        <p:nvSpPr>
          <p:cNvPr id="3" name="Content Placeholder 2"/>
          <p:cNvSpPr>
            <a:spLocks noGrp="1"/>
          </p:cNvSpPr>
          <p:nvPr>
            <p:ph idx="1"/>
          </p:nvPr>
        </p:nvSpPr>
        <p:spPr>
          <a:xfrm>
            <a:off x="457200" y="1417638"/>
            <a:ext cx="7848600" cy="5059362"/>
          </a:xfrm>
        </p:spPr>
        <p:txBody>
          <a:bodyPr>
            <a:normAutofit fontScale="77500" lnSpcReduction="20000"/>
          </a:bodyPr>
          <a:lstStyle/>
          <a:p>
            <a:r>
              <a:rPr lang="en-US" u="sng"/>
              <a:t>Configuration</a:t>
            </a:r>
            <a:r>
              <a:rPr lang="en-US"/>
              <a:t>: the distribution of electrons with respect to </a:t>
            </a:r>
            <a:r>
              <a:rPr lang="en-US" i="1"/>
              <a:t>n</a:t>
            </a:r>
            <a:r>
              <a:rPr lang="en-US"/>
              <a:t> and </a:t>
            </a:r>
            <a:r>
              <a:rPr lang="en-US" i="1"/>
              <a:t>l</a:t>
            </a:r>
            <a:r>
              <a:rPr lang="en-US"/>
              <a:t>.</a:t>
            </a:r>
            <a:endParaRPr lang="ko-KR" altLang="en-US"/>
          </a:p>
          <a:p>
            <a:pPr>
              <a:buNone/>
            </a:pPr>
            <a:r>
              <a:rPr lang="en-US"/>
              <a:t>		H: 1s</a:t>
            </a:r>
            <a:endParaRPr lang="ko-KR" altLang="en-US"/>
          </a:p>
          <a:p>
            <a:pPr>
              <a:buNone/>
            </a:pPr>
            <a:r>
              <a:rPr lang="en-US"/>
              <a:t>		He: 1s</a:t>
            </a:r>
            <a:r>
              <a:rPr lang="en-US" baseline="30000"/>
              <a:t>2</a:t>
            </a:r>
            <a:endParaRPr lang="ko-KR" altLang="en-US"/>
          </a:p>
          <a:p>
            <a:pPr>
              <a:buNone/>
            </a:pPr>
            <a:r>
              <a:rPr lang="en-US"/>
              <a:t>		Li: 1s</a:t>
            </a:r>
            <a:r>
              <a:rPr lang="en-US" baseline="30000"/>
              <a:t>2 </a:t>
            </a:r>
            <a:r>
              <a:rPr lang="en-US"/>
              <a:t>2s</a:t>
            </a:r>
            <a:endParaRPr lang="ko-KR" altLang="en-US"/>
          </a:p>
          <a:p>
            <a:pPr>
              <a:buNone/>
            </a:pPr>
            <a:r>
              <a:rPr lang="en-US"/>
              <a:t>		…</a:t>
            </a:r>
            <a:endParaRPr lang="ko-KR" altLang="en-US"/>
          </a:p>
          <a:p>
            <a:pPr>
              <a:buNone/>
            </a:pPr>
            <a:r>
              <a:rPr lang="en-US"/>
              <a:t>		Ne: 1s</a:t>
            </a:r>
            <a:r>
              <a:rPr lang="en-US" baseline="30000"/>
              <a:t>2 </a:t>
            </a:r>
            <a:r>
              <a:rPr lang="en-US"/>
              <a:t>2s</a:t>
            </a:r>
            <a:r>
              <a:rPr lang="en-US" baseline="30000"/>
              <a:t>2 </a:t>
            </a:r>
            <a:r>
              <a:rPr lang="en-US"/>
              <a:t>2p</a:t>
            </a:r>
            <a:r>
              <a:rPr lang="en-US" baseline="30000"/>
              <a:t>6</a:t>
            </a:r>
            <a:endParaRPr lang="ko-KR" altLang="en-US"/>
          </a:p>
          <a:p>
            <a:pPr>
              <a:buNone/>
            </a:pPr>
            <a:r>
              <a:rPr lang="en-US"/>
              <a:t> </a:t>
            </a:r>
            <a:endParaRPr lang="ko-KR" altLang="en-US"/>
          </a:p>
          <a:p>
            <a:r>
              <a:rPr lang="en-US" u="sng"/>
              <a:t>Terms</a:t>
            </a:r>
            <a:r>
              <a:rPr lang="en-US"/>
              <a:t>: What the energy of a </a:t>
            </a:r>
            <a:r>
              <a:rPr lang="en-US" i="1"/>
              <a:t>configuation</a:t>
            </a:r>
            <a:r>
              <a:rPr lang="en-US"/>
              <a:t> split into when      is included. Terms are specified as </a:t>
            </a:r>
            <a:r>
              <a:rPr lang="en-US" baseline="30000"/>
              <a:t>2</a:t>
            </a:r>
            <a:r>
              <a:rPr lang="en-US" i="1" baseline="30000"/>
              <a:t>S</a:t>
            </a:r>
            <a:r>
              <a:rPr lang="en-US" baseline="30000"/>
              <a:t>+1</a:t>
            </a:r>
            <a:r>
              <a:rPr lang="en-US" i="1"/>
              <a:t>L</a:t>
            </a:r>
            <a:r>
              <a:rPr lang="en-US"/>
              <a:t>.</a:t>
            </a:r>
            <a:endParaRPr lang="ko-KR" altLang="en-US"/>
          </a:p>
          <a:p>
            <a:pPr>
              <a:buNone/>
            </a:pPr>
            <a:endParaRPr lang="ko-KR" altLang="en-US"/>
          </a:p>
          <a:p>
            <a:r>
              <a:rPr lang="en-US" u="sng"/>
              <a:t>levels</a:t>
            </a:r>
            <a:r>
              <a:rPr lang="en-US"/>
              <a:t>: What the energy of a term split into when the spin-orbit interaction is applied. The level splitting is also known as the </a:t>
            </a:r>
            <a:r>
              <a:rPr lang="en-US" i="1"/>
              <a:t>fine structure</a:t>
            </a:r>
            <a:r>
              <a:rPr lang="en-US"/>
              <a:t>.</a:t>
            </a:r>
            <a:endParaRPr lang="ko-KR" altLang="en-US"/>
          </a:p>
        </p:txBody>
      </p:sp>
      <p:graphicFrame>
        <p:nvGraphicFramePr>
          <p:cNvPr id="209922" name="Object 2"/>
          <p:cNvGraphicFramePr>
            <a:graphicFrameLocks noChangeAspect="1"/>
          </p:cNvGraphicFramePr>
          <p:nvPr/>
        </p:nvGraphicFramePr>
        <p:xfrm>
          <a:off x="1751012" y="4495800"/>
          <a:ext cx="306388" cy="268288"/>
        </p:xfrm>
        <a:graphic>
          <a:graphicData uri="http://schemas.openxmlformats.org/presentationml/2006/ole">
            <p:oleObj spid="_x0000_s209922" name="Equation" r:id="rId3" imgW="203200" imgH="177800" progId="Equation.3">
              <p:embed/>
            </p:oleObj>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Example 1</a:t>
            </a:r>
            <a:r>
              <a:rPr lang="ko-KR"/>
              <a:t> </a:t>
            </a:r>
            <a:endParaRPr lang="ja-JP" altLang="en-US"/>
          </a:p>
        </p:txBody>
      </p:sp>
      <p:sp>
        <p:nvSpPr>
          <p:cNvPr id="3" name="Content Placeholder 2"/>
          <p:cNvSpPr>
            <a:spLocks noGrp="1"/>
          </p:cNvSpPr>
          <p:nvPr>
            <p:ph idx="1"/>
          </p:nvPr>
        </p:nvSpPr>
        <p:spPr>
          <a:xfrm>
            <a:off x="457200" y="1295401"/>
            <a:ext cx="7848600" cy="5029200"/>
          </a:xfrm>
        </p:spPr>
        <p:txBody>
          <a:bodyPr>
            <a:normAutofit fontScale="92500" lnSpcReduction="10000"/>
          </a:bodyPr>
          <a:lstStyle/>
          <a:p>
            <a:r>
              <a:rPr lang="en-US" sz="2400"/>
              <a:t>Consider 1</a:t>
            </a:r>
            <a:r>
              <a:rPr lang="en-US" sz="2400" i="1"/>
              <a:t>s</a:t>
            </a:r>
            <a:r>
              <a:rPr lang="en-US" sz="2400" baseline="30000"/>
              <a:t>2</a:t>
            </a:r>
            <a:r>
              <a:rPr lang="en-US" sz="2400"/>
              <a:t> configuration (</a:t>
            </a:r>
            <a:r>
              <a:rPr lang="en-US" sz="2400" i="1"/>
              <a:t>l</a:t>
            </a:r>
            <a:r>
              <a:rPr lang="en-US" sz="2400" baseline="-25000"/>
              <a:t>1</a:t>
            </a:r>
            <a:r>
              <a:rPr lang="en-US" sz="2400"/>
              <a:t>=0, </a:t>
            </a:r>
            <a:r>
              <a:rPr lang="en-US" sz="2400" i="1"/>
              <a:t>l</a:t>
            </a:r>
            <a:r>
              <a:rPr lang="en-US" sz="2400" baseline="-25000"/>
              <a:t>2</a:t>
            </a:r>
            <a:r>
              <a:rPr lang="en-US" sz="2400"/>
              <a:t>=0). </a:t>
            </a:r>
            <a:endParaRPr lang="ko-KR" altLang="en-US" sz="2400"/>
          </a:p>
          <a:p>
            <a:r>
              <a:rPr lang="en-US" sz="2400"/>
              <a:t>In the </a:t>
            </a:r>
            <a:r>
              <a:rPr lang="en-US" sz="2400" i="1"/>
              <a:t>LS</a:t>
            </a:r>
            <a:r>
              <a:rPr lang="en-US" sz="2400"/>
              <a:t> coupling, </a:t>
            </a:r>
            <a:r>
              <a:rPr lang="en-US" sz="2400" i="1"/>
              <a:t>L</a:t>
            </a:r>
            <a:r>
              <a:rPr lang="en-US" sz="2400"/>
              <a:t>=0, </a:t>
            </a:r>
            <a:r>
              <a:rPr lang="en-US" sz="2400" i="1"/>
              <a:t>S</a:t>
            </a:r>
            <a:r>
              <a:rPr lang="en-US" sz="2400"/>
              <a:t>=0 or 1. Since the entire wave function should be antisymmetric, only the </a:t>
            </a:r>
            <a:r>
              <a:rPr lang="en-US" sz="2400" baseline="30000"/>
              <a:t>1</a:t>
            </a:r>
            <a:r>
              <a:rPr lang="en-US" sz="2400"/>
              <a:t>S</a:t>
            </a:r>
            <a:r>
              <a:rPr lang="en-US" sz="2400" baseline="-25000"/>
              <a:t>0</a:t>
            </a:r>
            <a:r>
              <a:rPr lang="en-US" sz="2400"/>
              <a:t> </a:t>
            </a:r>
            <a:r>
              <a:rPr lang="en-US" sz="2400" i="1"/>
              <a:t>term</a:t>
            </a:r>
            <a:r>
              <a:rPr lang="en-US" sz="2400"/>
              <a:t> is possible.</a:t>
            </a:r>
            <a:endParaRPr lang="ko-KR" altLang="en-US" sz="2400"/>
          </a:p>
          <a:p>
            <a:r>
              <a:rPr lang="en-US" sz="2400"/>
              <a:t>In the </a:t>
            </a:r>
            <a:r>
              <a:rPr lang="en-US" sz="2400" i="1"/>
              <a:t>jj</a:t>
            </a:r>
            <a:r>
              <a:rPr lang="en-US" sz="2400"/>
              <a:t> coupling, </a:t>
            </a:r>
            <a:r>
              <a:rPr lang="en-US" sz="2400" i="1"/>
              <a:t>j</a:t>
            </a:r>
            <a:r>
              <a:rPr lang="en-US" sz="2400" baseline="-25000"/>
              <a:t>1</a:t>
            </a:r>
            <a:r>
              <a:rPr lang="en-US" sz="2400"/>
              <a:t>=1/2=</a:t>
            </a:r>
            <a:r>
              <a:rPr lang="en-US" sz="2400" i="1"/>
              <a:t>j</a:t>
            </a:r>
            <a:r>
              <a:rPr lang="en-US" sz="2400" baseline="-25000"/>
              <a:t>2</a:t>
            </a:r>
            <a:r>
              <a:rPr lang="en-US" sz="2400"/>
              <a:t>, and thus </a:t>
            </a:r>
            <a:r>
              <a:rPr lang="en-US" sz="2400" i="1"/>
              <a:t>J</a:t>
            </a:r>
            <a:r>
              <a:rPr lang="en-US" sz="2400"/>
              <a:t>=0 or 1. Only the (1/2, 1/2)</a:t>
            </a:r>
            <a:r>
              <a:rPr lang="en-US" sz="2400" baseline="-25000"/>
              <a:t>0</a:t>
            </a:r>
            <a:r>
              <a:rPr lang="en-US" sz="2400"/>
              <a:t> </a:t>
            </a:r>
            <a:r>
              <a:rPr lang="en-US" sz="2400" i="1"/>
              <a:t>level</a:t>
            </a:r>
            <a:r>
              <a:rPr lang="en-US" sz="2400"/>
              <a:t> is possible due to the Pauli exclusion principle.</a:t>
            </a:r>
          </a:p>
          <a:p>
            <a:endParaRPr lang="en-US" sz="2400"/>
          </a:p>
          <a:p>
            <a:endParaRPr lang="en-US" sz="2400"/>
          </a:p>
          <a:p>
            <a:endParaRPr lang="en-US" sz="2400"/>
          </a:p>
          <a:p>
            <a:r>
              <a:rPr lang="en-US" sz="2400"/>
              <a:t>Find the possible </a:t>
            </a:r>
            <a:r>
              <a:rPr lang="en-US" sz="2400" i="1"/>
              <a:t>terms</a:t>
            </a:r>
            <a:r>
              <a:rPr lang="en-US" sz="2400"/>
              <a:t> and corresponding wave functions in terms of spin and space orbitals (see notations below) for the low-lying excited states of atomic barium. The configuation of the excited states is [Xe]6s6p. </a:t>
            </a:r>
            <a:endParaRPr lang="ko-KR" altLang="en-US" sz="2400"/>
          </a:p>
          <a:p>
            <a:endParaRPr lang="ja-JP" altLang="en-US" sz="2400"/>
          </a:p>
        </p:txBody>
      </p:sp>
      <p:sp>
        <p:nvSpPr>
          <p:cNvPr id="4" name="Title 1"/>
          <p:cNvSpPr txBox="1">
            <a:spLocks/>
          </p:cNvSpPr>
          <p:nvPr/>
        </p:nvSpPr>
        <p:spPr>
          <a:xfrm>
            <a:off x="533400" y="3733800"/>
            <a:ext cx="7467600" cy="1143000"/>
          </a:xfrm>
          <a:prstGeom prst="rect">
            <a:avLst/>
          </a:prstGeom>
        </p:spPr>
        <p:txBody>
          <a:bodyPr vert="horz" lIns="45720" rIns="4572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1" lang="en-US" sz="4600" b="1" i="0" u="none" strike="noStrike" kern="1200" cap="none" spc="0" normalizeH="0" baseline="0" noProof="0">
                <a:ln>
                  <a:noFill/>
                </a:ln>
                <a:solidFill>
                  <a:schemeClr val="tx1"/>
                </a:solidFill>
                <a:effectLst/>
                <a:uLnTx/>
                <a:uFillTx/>
                <a:latin typeface="+mj-lt"/>
                <a:ea typeface="+mj-ea"/>
                <a:cs typeface="+mj-cs"/>
              </a:rPr>
              <a:t>Exercise 1</a:t>
            </a:r>
            <a:r>
              <a:rPr kumimoji="1" lang="ko-KR" sz="4600" b="0" i="0" u="none" strike="noStrike" kern="1200" cap="none" spc="0" normalizeH="0" baseline="0" noProof="0">
                <a:ln>
                  <a:noFill/>
                </a:ln>
                <a:solidFill>
                  <a:schemeClr val="tx1"/>
                </a:solidFill>
                <a:effectLst/>
                <a:uLnTx/>
                <a:uFillTx/>
                <a:latin typeface="+mj-lt"/>
                <a:ea typeface="+mj-ea"/>
                <a:cs typeface="+mj-cs"/>
              </a:rPr>
              <a:t> </a:t>
            </a:r>
            <a:endParaRPr kumimoji="1" lang="ja-JP" altLang="en-US" sz="4600" b="0" i="0" u="none" strike="noStrike" kern="1200" cap="none" spc="0" normalizeH="0" baseline="0" noProof="0">
              <a:ln>
                <a:noFill/>
              </a:ln>
              <a:solidFill>
                <a:schemeClr val="tx1"/>
              </a:solidFill>
              <a:effectLst/>
              <a:uLnTx/>
              <a:uFillTx/>
              <a:latin typeface="+mj-lt"/>
              <a:ea typeface="+mj-ea"/>
              <a:cs typeface="+mj-cs"/>
            </a:endParaRPr>
          </a:p>
        </p:txBody>
      </p:sp>
    </p:spTree>
  </p:cSld>
  <p:clrMapOvr>
    <a:masterClrMapping/>
  </p:clrMapOvr>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Technic.thmx</Template>
  <TotalTime>139</TotalTime>
  <Words>979</Words>
  <Application>Microsoft Macintosh PowerPoint</Application>
  <PresentationFormat>On-screen Show (4:3)</PresentationFormat>
  <Paragraphs>92</Paragraphs>
  <Slides>15</Slides>
  <Notes>0</Notes>
  <HiddenSlides>0</HiddenSlides>
  <MMClips>0</MMClips>
  <ScaleCrop>false</ScaleCrop>
  <HeadingPairs>
    <vt:vector size="6" baseType="variant">
      <vt:variant>
        <vt:lpstr>Design Template</vt:lpstr>
      </vt:variant>
      <vt:variant>
        <vt:i4>1</vt:i4>
      </vt:variant>
      <vt:variant>
        <vt:lpstr>Embedded OLE Servers</vt:lpstr>
      </vt:variant>
      <vt:variant>
        <vt:i4>2</vt:i4>
      </vt:variant>
      <vt:variant>
        <vt:lpstr>Slide Titles</vt:lpstr>
      </vt:variant>
      <vt:variant>
        <vt:i4>15</vt:i4>
      </vt:variant>
    </vt:vector>
  </HeadingPairs>
  <TitlesOfParts>
    <vt:vector size="18" baseType="lpstr">
      <vt:lpstr>Technic</vt:lpstr>
      <vt:lpstr>Equation</vt:lpstr>
      <vt:lpstr>Microsoft Equation</vt:lpstr>
      <vt:lpstr>Atomic and Molecular Physics  Lecture 11</vt:lpstr>
      <vt:lpstr>Chapter 2 N-Electron Atoms </vt:lpstr>
      <vt:lpstr>Hamiltonian</vt:lpstr>
      <vt:lpstr>Low Z atoms, H1 &gt;&gt; H2 </vt:lpstr>
      <vt:lpstr>Slide 5</vt:lpstr>
      <vt:lpstr>LS Coupling</vt:lpstr>
      <vt:lpstr>Slide 7</vt:lpstr>
      <vt:lpstr>High Z atoms, H1 &lt;&lt; H2 : jj coupling. </vt:lpstr>
      <vt:lpstr>Central-Field Approximation (Low Z Atoms) </vt:lpstr>
      <vt:lpstr>Slide 10</vt:lpstr>
      <vt:lpstr>Slide 11</vt:lpstr>
      <vt:lpstr>Spin Orbital</vt:lpstr>
      <vt:lpstr>Slater Determinant</vt:lpstr>
      <vt:lpstr>Terminology </vt:lpstr>
      <vt:lpstr>Example 1 </vt:lpstr>
    </vt:vector>
  </TitlesOfParts>
  <Company>3463-6078</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Atomic and Molecular Physics - Lecture11</dc:title>
  <dc:creator>경원 안</dc:creator>
  <cp:keywords/>
  <cp:lastModifiedBy>Kyungwon An</cp:lastModifiedBy>
  <cp:revision>12</cp:revision>
  <dcterms:created xsi:type="dcterms:W3CDTF">2009-10-13T15:18:34Z</dcterms:created>
  <dcterms:modified xsi:type="dcterms:W3CDTF">2009-10-13T15:19:27Z</dcterms:modified>
</cp:coreProperties>
</file>