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ppt/embeddings/Microsoft_Equation38.bin" ContentType="application/vnd.openxmlformats-officedocument.oleObject"/>
  <Override PartName="/ppt/embeddings/Microsoft_Equation28.bin" ContentType="application/vnd.openxmlformats-officedocument.oleObject"/>
  <Override PartName="/docProps/app.xml" ContentType="application/vnd.openxmlformats-officedocument.extended-properties+xml"/>
  <Override PartName="/ppt/embeddings/Microsoft_Equation29.bin" ContentType="application/vnd.openxmlformats-officedocument.oleObject"/>
  <Override PartName="/ppt/embeddings/Microsoft_Equation39.bin" ContentType="application/vnd.openxmlformats-officedocument.oleObject"/>
  <Override PartName="/ppt/embeddings/Microsoft_Equation34.bin" ContentType="application/vnd.openxmlformats-officedocument.oleObject"/>
  <Override PartName="/ppt/embeddings/Microsoft_Equation44.bin" ContentType="application/vnd.openxmlformats-officedocument.oleObject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embeddings/Microsoft_Equation3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0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3.bin" ContentType="application/vnd.openxmlformats-officedocument.oleObject"/>
  <Override PartName="/ppt/embeddings/Microsoft_Equation36.bin" ContentType="application/vnd.openxmlformats-officedocument.oleObject"/>
  <Override PartName="/ppt/embeddings/Microsoft_Equation40.bin" ContentType="application/vnd.openxmlformats-officedocument.oleObject"/>
  <Override PartName="/ppt/embeddings/Microsoft_Equation23.bin" ContentType="application/vnd.openxmlformats-officedocument.oleObject"/>
  <Override PartName="/ppt/embeddings/Microsoft_Equation42.bin" ContentType="application/vnd.openxmlformats-officedocument.oleObject"/>
  <Override PartName="/ppt/embeddings/Microsoft_Equation10.bin" ContentType="application/vnd.openxmlformats-officedocument.oleObject"/>
  <Override PartName="/ppt/embeddings/Microsoft_Equation43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41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2"/>
  </p:notesMasterIdLst>
  <p:sldIdLst>
    <p:sldId id="256" r:id="rId2"/>
    <p:sldId id="277" r:id="rId3"/>
    <p:sldId id="273" r:id="rId4"/>
    <p:sldId id="275" r:id="rId5"/>
    <p:sldId id="276" r:id="rId6"/>
    <p:sldId id="266" r:id="rId7"/>
    <p:sldId id="279" r:id="rId8"/>
    <p:sldId id="280" r:id="rId9"/>
    <p:sldId id="281" r:id="rId10"/>
    <p:sldId id="284" r:id="rId11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presProps" Target="presProps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theme" Target="theme/theme1.xml"/><Relationship Id="rId8" Type="http://schemas.openxmlformats.org/officeDocument/2006/relationships/slide" Target="slides/slide7.xml"/><Relationship Id="rId13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ict"/><Relationship Id="rId3" Type="http://schemas.openxmlformats.org/officeDocument/2006/relationships/image" Target="../media/image3.pict"/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pict"/><Relationship Id="rId4" Type="http://schemas.openxmlformats.org/officeDocument/2006/relationships/image" Target="../media/image7.pict"/><Relationship Id="rId1" Type="http://schemas.openxmlformats.org/officeDocument/2006/relationships/image" Target="../media/image4.pict"/><Relationship Id="rId2" Type="http://schemas.openxmlformats.org/officeDocument/2006/relationships/image" Target="../media/image5.pict"/><Relationship Id="rId3" Type="http://schemas.openxmlformats.org/officeDocument/2006/relationships/image" Target="../media/image6.pict"/><Relationship Id="rId5" Type="http://schemas.openxmlformats.org/officeDocument/2006/relationships/image" Target="../media/image8.pict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ict"/><Relationship Id="rId3" Type="http://schemas.openxmlformats.org/officeDocument/2006/relationships/image" Target="../media/image12.pict"/><Relationship Id="rId1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ict"/><Relationship Id="rId3" Type="http://schemas.openxmlformats.org/officeDocument/2006/relationships/image" Target="../media/image15.pict"/><Relationship Id="rId1" Type="http://schemas.openxmlformats.org/officeDocument/2006/relationships/image" Target="../media/image13.pict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ict"/><Relationship Id="rId1" Type="http://schemas.openxmlformats.org/officeDocument/2006/relationships/image" Target="../media/image16.pict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ict"/><Relationship Id="rId5" Type="http://schemas.openxmlformats.org/officeDocument/2006/relationships/image" Target="../media/image22.pict"/><Relationship Id="rId7" Type="http://schemas.openxmlformats.org/officeDocument/2006/relationships/image" Target="../media/image24.pict"/><Relationship Id="rId1" Type="http://schemas.openxmlformats.org/officeDocument/2006/relationships/image" Target="../media/image18.pict"/><Relationship Id="rId2" Type="http://schemas.openxmlformats.org/officeDocument/2006/relationships/image" Target="../media/image19.pict"/><Relationship Id="rId3" Type="http://schemas.openxmlformats.org/officeDocument/2006/relationships/image" Target="../media/image20.pict"/><Relationship Id="rId6" Type="http://schemas.openxmlformats.org/officeDocument/2006/relationships/image" Target="../media/image23.pict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pict"/><Relationship Id="rId1" Type="http://schemas.openxmlformats.org/officeDocument/2006/relationships/image" Target="../media/image25.pict"/><Relationship Id="rId2" Type="http://schemas.openxmlformats.org/officeDocument/2006/relationships/image" Target="../media/image26.pict"/><Relationship Id="rId3" Type="http://schemas.openxmlformats.org/officeDocument/2006/relationships/image" Target="../media/image27.pict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ict"/><Relationship Id="rId1" Type="http://schemas.openxmlformats.org/officeDocument/2006/relationships/image" Target="../media/image29.pict"/><Relationship Id="rId2" Type="http://schemas.openxmlformats.org/officeDocument/2006/relationships/image" Target="../media/image30.pict"/><Relationship Id="rId3" Type="http://schemas.openxmlformats.org/officeDocument/2006/relationships/image" Target="../media/image31.pict"/><Relationship Id="rId5" Type="http://schemas.openxmlformats.org/officeDocument/2006/relationships/image" Target="../media/image33.pict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ict"/><Relationship Id="rId1" Type="http://schemas.openxmlformats.org/officeDocument/2006/relationships/image" Target="../media/image30.pict"/><Relationship Id="rId2" Type="http://schemas.openxmlformats.org/officeDocument/2006/relationships/image" Target="../media/image31.pict"/><Relationship Id="rId3" Type="http://schemas.openxmlformats.org/officeDocument/2006/relationships/image" Target="../media/image34.pict"/><Relationship Id="rId5" Type="http://schemas.openxmlformats.org/officeDocument/2006/relationships/image" Target="../media/image36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t>09.11.3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.bin"/><Relationship Id="rId4" Type="http://schemas.openxmlformats.org/officeDocument/2006/relationships/oleObject" Target="../embeddings/Microsoft_Equation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5" Type="http://schemas.openxmlformats.org/officeDocument/2006/relationships/oleObject" Target="../embeddings/Microsoft_Equation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7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1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12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4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5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7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6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9.bin"/><Relationship Id="rId7" Type="http://schemas.openxmlformats.org/officeDocument/2006/relationships/oleObject" Target="../embeddings/Microsoft_Equation22.bin"/><Relationship Id="rId11" Type="http://schemas.openxmlformats.org/officeDocument/2006/relationships/oleObject" Target="../embeddings/Microsoft_Equation2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Microsoft_Equation21.bin"/><Relationship Id="rId8" Type="http://schemas.openxmlformats.org/officeDocument/2006/relationships/oleObject" Target="../embeddings/Microsoft_Equation23.bin"/><Relationship Id="rId13" Type="http://schemas.openxmlformats.org/officeDocument/2006/relationships/oleObject" Target="../embeddings/Microsoft_Equation28.bin"/><Relationship Id="rId10" Type="http://schemas.openxmlformats.org/officeDocument/2006/relationships/oleObject" Target="../embeddings/Microsoft_Equation25.bin"/><Relationship Id="rId5" Type="http://schemas.openxmlformats.org/officeDocument/2006/relationships/oleObject" Target="../embeddings/Microsoft_Equation20.bin"/><Relationship Id="rId12" Type="http://schemas.openxmlformats.org/officeDocument/2006/relationships/oleObject" Target="../embeddings/Microsoft_Equation27.bin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24.bin"/><Relationship Id="rId3" Type="http://schemas.openxmlformats.org/officeDocument/2006/relationships/oleObject" Target="../embeddings/Microsoft_Equation18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2.bin"/><Relationship Id="rId4" Type="http://schemas.openxmlformats.org/officeDocument/2006/relationships/oleObject" Target="../embeddings/Microsoft_Equation30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9.bin"/><Relationship Id="rId5" Type="http://schemas.openxmlformats.org/officeDocument/2006/relationships/oleObject" Target="../embeddings/Microsoft_Equation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38.bin"/><Relationship Id="rId4" Type="http://schemas.openxmlformats.org/officeDocument/2006/relationships/oleObject" Target="../embeddings/Microsoft_Equation34.bin"/><Relationship Id="rId5" Type="http://schemas.openxmlformats.org/officeDocument/2006/relationships/oleObject" Target="../embeddings/Microsoft_Equation35.bin"/><Relationship Id="rId7" Type="http://schemas.openxmlformats.org/officeDocument/2006/relationships/oleObject" Target="../embeddings/Microsoft_Equation37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39.bin"/><Relationship Id="rId3" Type="http://schemas.openxmlformats.org/officeDocument/2006/relationships/oleObject" Target="../embeddings/Microsoft_Equation33.bin"/><Relationship Id="rId6" Type="http://schemas.openxmlformats.org/officeDocument/2006/relationships/oleObject" Target="../embeddings/Microsoft_Equation36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41.bin"/><Relationship Id="rId5" Type="http://schemas.openxmlformats.org/officeDocument/2006/relationships/oleObject" Target="../embeddings/Microsoft_Equation42.bin"/><Relationship Id="rId7" Type="http://schemas.openxmlformats.org/officeDocument/2006/relationships/oleObject" Target="../embeddings/Microsoft_Equation44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40.bin"/><Relationship Id="rId6" Type="http://schemas.openxmlformats.org/officeDocument/2006/relationships/oleObject" Target="../embeddings/Microsoft_Equation43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altLang="ja-JP" sz="3200" smtClean="0">
                <a:solidFill>
                  <a:srgbClr val="00FF00"/>
                </a:solidFill>
              </a:rPr>
              <a:t>8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924800" cy="1096962"/>
          </a:xfrm>
        </p:spPr>
        <p:txBody>
          <a:bodyPr>
            <a:noAutofit/>
          </a:bodyPr>
          <a:lstStyle/>
          <a:p>
            <a:r>
              <a:rPr lang="en-US" sz="4400" b="1"/>
              <a:t>Chapter 3. Radiative Interactions</a:t>
            </a:r>
            <a:endParaRPr lang="ja-JP" altLang="en-US" sz="44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305800" cy="4191000"/>
          </a:xfrm>
        </p:spPr>
        <p:txBody>
          <a:bodyPr>
            <a:noAutofit/>
          </a:bodyPr>
          <a:lstStyle/>
          <a:p>
            <a:r>
              <a:rPr lang="en-US" sz="2000"/>
              <a:t>From classical electrodynamics we know that an electromagnetic field can be derived from scalar and vector potentials,        and          . </a:t>
            </a:r>
          </a:p>
          <a:p>
            <a:r>
              <a:rPr lang="en-US" sz="2000"/>
              <a:t>We also know that with a proper choice of gauge the wave equations for the potentials can be greatly simplified. For a radiation field (far away from the source) it is convenient to choose the Coulomb gauge,</a:t>
            </a:r>
            <a:endParaRPr lang="ko-KR" altLang="en-US" sz="2000"/>
          </a:p>
          <a:p>
            <a:endParaRPr lang="ko-KR" altLang="en-US" sz="2000"/>
          </a:p>
          <a:p>
            <a:r>
              <a:rPr lang="en-US" sz="2000"/>
              <a:t>The scalar potential then satisfies the Poisson equation as in a static case, and thus the electric field decays like 1/</a:t>
            </a:r>
            <a:r>
              <a:rPr lang="en-US" sz="2000" i="1"/>
              <a:t>r</a:t>
            </a:r>
            <a:r>
              <a:rPr lang="en-US" sz="2000" baseline="30000"/>
              <a:t>2</a:t>
            </a:r>
            <a:r>
              <a:rPr lang="en-US" sz="2000"/>
              <a:t> from the source. Therefore, the scalar potential does not contribute to the electric field in the radiation zone. </a:t>
            </a:r>
            <a:endParaRPr lang="ko-KR" alt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371600"/>
            <a:ext cx="7543800" cy="8382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lvl="0"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Review of Field Quantization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endParaRPr kumimoji="1" lang="ja-JP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7014129" y="2792757"/>
          <a:ext cx="590550" cy="247650"/>
        </p:xfrm>
        <a:graphic>
          <a:graphicData uri="http://schemas.openxmlformats.org/presentationml/2006/ole">
            <p:oleObj spid="_x0000_s15362" name="Equation" r:id="rId4" imgW="393700" imgH="165100" progId="Equation.3">
              <p:embed/>
            </p:oleObj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447800" y="3093693"/>
          <a:ext cx="636588" cy="231775"/>
        </p:xfrm>
        <a:graphic>
          <a:graphicData uri="http://schemas.openxmlformats.org/presentationml/2006/ole">
            <p:oleObj spid="_x0000_s15363" name="Equation" r:id="rId5" imgW="419100" imgH="152400" progId="Equation.3">
              <p:embed/>
            </p:oleObj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971925" y="4648200"/>
          <a:ext cx="1276350" cy="231775"/>
        </p:xfrm>
        <a:graphic>
          <a:graphicData uri="http://schemas.openxmlformats.org/presentationml/2006/ole">
            <p:oleObj spid="_x0000_s15364" name="Equation" r:id="rId6" imgW="838200" imgH="15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 lnSpcReduction="10000"/>
          </a:bodyPr>
          <a:lstStyle/>
          <a:p>
            <a:r>
              <a:rPr lang="en-US" sz="2400"/>
              <a:t>The electromagnetic field is then given by the vector potential alone: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the vector potential satisfies a homogeneous wave equation</a:t>
            </a:r>
            <a:endParaRPr lang="ko-KR" altLang="en-US" sz="2400"/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The solution of the above homogeneous equation in free space is a plane wave, which can be represented by a sum of traveling waves</a:t>
            </a:r>
          </a:p>
          <a:p>
            <a:endParaRPr lang="en-US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    is an unit vector representing the polarization. The frequency     is given by the dispersion relation,             . </a:t>
            </a:r>
            <a:endParaRPr lang="ko-KR" altLang="en-US" sz="2400"/>
          </a:p>
        </p:txBody>
      </p:sp>
      <p:graphicFrame>
        <p:nvGraphicFramePr>
          <p:cNvPr id="245765" name="Object 5"/>
          <p:cNvGraphicFramePr>
            <a:graphicFrameLocks noChangeAspect="1"/>
          </p:cNvGraphicFramePr>
          <p:nvPr/>
        </p:nvGraphicFramePr>
        <p:xfrm>
          <a:off x="2447925" y="1371600"/>
          <a:ext cx="4230688" cy="552450"/>
        </p:xfrm>
        <a:graphic>
          <a:graphicData uri="http://schemas.openxmlformats.org/presentationml/2006/ole">
            <p:oleObj spid="_x0000_s245765" name="Equation" r:id="rId3" imgW="2819400" imgH="368300" progId="Equation.3">
              <p:embed/>
            </p:oleObj>
          </a:graphicData>
        </a:graphic>
      </p:graphicFrame>
      <p:graphicFrame>
        <p:nvGraphicFramePr>
          <p:cNvPr id="245766" name="Object 6"/>
          <p:cNvGraphicFramePr>
            <a:graphicFrameLocks noChangeAspect="1"/>
          </p:cNvGraphicFramePr>
          <p:nvPr/>
        </p:nvGraphicFramePr>
        <p:xfrm>
          <a:off x="3371850" y="2819400"/>
          <a:ext cx="2174875" cy="687388"/>
        </p:xfrm>
        <a:graphic>
          <a:graphicData uri="http://schemas.openxmlformats.org/presentationml/2006/ole">
            <p:oleObj spid="_x0000_s245766" name="Equation" r:id="rId4" imgW="1447800" imgH="457200" progId="Equation.3">
              <p:embed/>
            </p:oleObj>
          </a:graphicData>
        </a:graphic>
      </p:graphicFrame>
      <p:graphicFrame>
        <p:nvGraphicFramePr>
          <p:cNvPr id="245767" name="Object 7"/>
          <p:cNvGraphicFramePr>
            <a:graphicFrameLocks noChangeAspect="1"/>
          </p:cNvGraphicFramePr>
          <p:nvPr/>
        </p:nvGraphicFramePr>
        <p:xfrm>
          <a:off x="1676400" y="4762500"/>
          <a:ext cx="5794375" cy="571500"/>
        </p:xfrm>
        <a:graphic>
          <a:graphicData uri="http://schemas.openxmlformats.org/presentationml/2006/ole">
            <p:oleObj spid="_x0000_s245767" name="Equation" r:id="rId5" imgW="3860800" imgH="381000" progId="Equation.3">
              <p:embed/>
            </p:oleObj>
          </a:graphicData>
        </a:graphic>
      </p:graphicFrame>
      <p:graphicFrame>
        <p:nvGraphicFramePr>
          <p:cNvPr id="245768" name="Object 8"/>
          <p:cNvGraphicFramePr>
            <a:graphicFrameLocks noChangeAspect="1"/>
          </p:cNvGraphicFramePr>
          <p:nvPr/>
        </p:nvGraphicFramePr>
        <p:xfrm>
          <a:off x="1828800" y="5486400"/>
          <a:ext cx="320675" cy="282575"/>
        </p:xfrm>
        <a:graphic>
          <a:graphicData uri="http://schemas.openxmlformats.org/presentationml/2006/ole">
            <p:oleObj spid="_x0000_s245768" name="Equation" r:id="rId6" imgW="215900" imgH="190500" progId="Equation.3">
              <p:embed/>
            </p:oleObj>
          </a:graphicData>
        </a:graphic>
      </p:graphicFrame>
      <p:graphicFrame>
        <p:nvGraphicFramePr>
          <p:cNvPr id="245769" name="Object 9"/>
          <p:cNvGraphicFramePr>
            <a:graphicFrameLocks noChangeAspect="1"/>
          </p:cNvGraphicFramePr>
          <p:nvPr/>
        </p:nvGraphicFramePr>
        <p:xfrm>
          <a:off x="2998443" y="5840023"/>
          <a:ext cx="266700" cy="266700"/>
        </p:xfrm>
        <a:graphic>
          <a:graphicData uri="http://schemas.openxmlformats.org/presentationml/2006/ole">
            <p:oleObj spid="_x0000_s245769" name="Equation" r:id="rId7" imgW="177800" imgH="177800" progId="Equation.3">
              <p:embed/>
            </p:oleObj>
          </a:graphicData>
        </a:graphic>
      </p:graphicFrame>
      <p:graphicFrame>
        <p:nvGraphicFramePr>
          <p:cNvPr id="245770" name="Object 10"/>
          <p:cNvGraphicFramePr>
            <a:graphicFrameLocks noChangeAspect="1"/>
          </p:cNvGraphicFramePr>
          <p:nvPr/>
        </p:nvGraphicFramePr>
        <p:xfrm>
          <a:off x="2141537" y="6177771"/>
          <a:ext cx="982663" cy="307975"/>
        </p:xfrm>
        <a:graphic>
          <a:graphicData uri="http://schemas.openxmlformats.org/presentationml/2006/ole">
            <p:oleObj spid="_x0000_s245770" name="Equation" r:id="rId8" imgW="6477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410200"/>
          </a:xfrm>
        </p:spPr>
        <p:txBody>
          <a:bodyPr>
            <a:noAutofit/>
          </a:bodyPr>
          <a:lstStyle/>
          <a:p>
            <a:r>
              <a:rPr lang="en-US" sz="2400"/>
              <a:t>The Coulomb gauge ensures the transversality of the electromagnetic fields,            . </a:t>
            </a:r>
          </a:p>
          <a:p>
            <a:r>
              <a:rPr lang="en-US" sz="2400"/>
              <a:t>The possible wave vectors are determined by a boundary condition for a cubic cavity of side length of </a:t>
            </a:r>
            <a:r>
              <a:rPr lang="en-US" sz="2400" i="1"/>
              <a:t>L</a:t>
            </a:r>
            <a:r>
              <a:rPr lang="en-US" sz="2400"/>
              <a:t>. It is customary to employ a periodic boundary condition (alternatively, one can consider a field in a conducting rectangular box, of course),</a:t>
            </a:r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which result in an infinite set of wave vectors given by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endParaRPr lang="en-US" altLang="ko-KR" sz="2400"/>
          </a:p>
        </p:txBody>
      </p:sp>
      <p:graphicFrame>
        <p:nvGraphicFramePr>
          <p:cNvPr id="225298" name="Object 18"/>
          <p:cNvGraphicFramePr>
            <a:graphicFrameLocks noChangeAspect="1"/>
          </p:cNvGraphicFramePr>
          <p:nvPr/>
        </p:nvGraphicFramePr>
        <p:xfrm>
          <a:off x="4065588" y="1403350"/>
          <a:ext cx="909637" cy="265113"/>
        </p:xfrm>
        <a:graphic>
          <a:graphicData uri="http://schemas.openxmlformats.org/presentationml/2006/ole">
            <p:oleObj spid="_x0000_s225298" name="Equation" r:id="rId3" imgW="609600" imgH="177800" progId="Equation.3">
              <p:embed/>
            </p:oleObj>
          </a:graphicData>
        </a:graphic>
      </p:graphicFrame>
      <p:graphicFrame>
        <p:nvGraphicFramePr>
          <p:cNvPr id="225299" name="Object 19"/>
          <p:cNvGraphicFramePr>
            <a:graphicFrameLocks noChangeAspect="1"/>
          </p:cNvGraphicFramePr>
          <p:nvPr/>
        </p:nvGraphicFramePr>
        <p:xfrm>
          <a:off x="3686175" y="3787775"/>
          <a:ext cx="1851025" cy="307975"/>
        </p:xfrm>
        <a:graphic>
          <a:graphicData uri="http://schemas.openxmlformats.org/presentationml/2006/ole">
            <p:oleObj spid="_x0000_s225299" name="Equation" r:id="rId4" imgW="1219200" imgH="203200" progId="Equation.3">
              <p:embed/>
            </p:oleObj>
          </a:graphicData>
        </a:graphic>
      </p:graphicFrame>
      <p:graphicFrame>
        <p:nvGraphicFramePr>
          <p:cNvPr id="225300" name="Object 20"/>
          <p:cNvGraphicFramePr>
            <a:graphicFrameLocks noChangeAspect="1"/>
          </p:cNvGraphicFramePr>
          <p:nvPr/>
        </p:nvGraphicFramePr>
        <p:xfrm>
          <a:off x="2371725" y="4648200"/>
          <a:ext cx="4651375" cy="552450"/>
        </p:xfrm>
        <a:graphic>
          <a:graphicData uri="http://schemas.openxmlformats.org/presentationml/2006/ole">
            <p:oleObj spid="_x0000_s225300" name="Equation" r:id="rId5" imgW="3098800" imgH="368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6248400"/>
          </a:xfrm>
        </p:spPr>
        <p:txBody>
          <a:bodyPr>
            <a:noAutofit/>
          </a:bodyPr>
          <a:lstStyle/>
          <a:p>
            <a:r>
              <a:rPr lang="en-US" sz="2400"/>
              <a:t>The number of modes per unit frequency interval is obtained by considering the number of modes in </a:t>
            </a:r>
            <a:r>
              <a:rPr lang="en-US" sz="2400" i="1"/>
              <a:t>d</a:t>
            </a:r>
            <a:r>
              <a:rPr lang="en-US" sz="2400" baseline="30000"/>
              <a:t>3</a:t>
            </a:r>
            <a:r>
              <a:rPr lang="en-US" sz="2400" b="1"/>
              <a:t>k</a:t>
            </a:r>
            <a:r>
              <a:rPr lang="en-US" sz="2400"/>
              <a:t>: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a factor of 2 is needed for accounting for the two possible polarizations. The number of modes per unit frequency interval is then given by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The Hamiltonian of the electromagnetic field in the cavity is obtained by integrating the field energy density over the cavity volume.</a:t>
            </a:r>
            <a:endParaRPr lang="ko-KR" altLang="en-US" sz="2400"/>
          </a:p>
          <a:p>
            <a:endParaRPr lang="ko-KR" altLang="en-US" sz="2400"/>
          </a:p>
          <a:p>
            <a:endParaRPr lang="en-US" sz="2400" dirty="0" smtClean="0"/>
          </a:p>
        </p:txBody>
      </p:sp>
      <p:graphicFrame>
        <p:nvGraphicFramePr>
          <p:cNvPr id="226325" name="Object 21"/>
          <p:cNvGraphicFramePr>
            <a:graphicFrameLocks noChangeAspect="1"/>
          </p:cNvGraphicFramePr>
          <p:nvPr/>
        </p:nvGraphicFramePr>
        <p:xfrm>
          <a:off x="2790825" y="1447800"/>
          <a:ext cx="3651250" cy="688975"/>
        </p:xfrm>
        <a:graphic>
          <a:graphicData uri="http://schemas.openxmlformats.org/presentationml/2006/ole">
            <p:oleObj spid="_x0000_s226325" name="Equation" r:id="rId3" imgW="2425700" imgH="457200" progId="Equation.3">
              <p:embed/>
            </p:oleObj>
          </a:graphicData>
        </a:graphic>
      </p:graphicFrame>
      <p:graphicFrame>
        <p:nvGraphicFramePr>
          <p:cNvPr id="226326" name="Object 22"/>
          <p:cNvGraphicFramePr>
            <a:graphicFrameLocks noChangeAspect="1"/>
          </p:cNvGraphicFramePr>
          <p:nvPr/>
        </p:nvGraphicFramePr>
        <p:xfrm>
          <a:off x="4191000" y="3460750"/>
          <a:ext cx="823913" cy="593725"/>
        </p:xfrm>
        <a:graphic>
          <a:graphicData uri="http://schemas.openxmlformats.org/presentationml/2006/ole">
            <p:oleObj spid="_x0000_s226326" name="Equation" r:id="rId4" imgW="546100" imgH="393700" progId="Equation.3">
              <p:embed/>
            </p:oleObj>
          </a:graphicData>
        </a:graphic>
      </p:graphicFrame>
      <p:graphicFrame>
        <p:nvGraphicFramePr>
          <p:cNvPr id="226327" name="Object 23"/>
          <p:cNvGraphicFramePr>
            <a:graphicFrameLocks noChangeAspect="1"/>
          </p:cNvGraphicFramePr>
          <p:nvPr/>
        </p:nvGraphicFramePr>
        <p:xfrm>
          <a:off x="3371850" y="5486400"/>
          <a:ext cx="2163763" cy="608013"/>
        </p:xfrm>
        <a:graphic>
          <a:graphicData uri="http://schemas.openxmlformats.org/presentationml/2006/ole">
            <p:oleObj spid="_x0000_s226327" name="Equation" r:id="rId5" imgW="14478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Exercise 1</a:t>
            </a:r>
            <a:endParaRPr lang="ja-JP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708525"/>
          </a:xfrm>
        </p:spPr>
        <p:txBody>
          <a:bodyPr/>
          <a:lstStyle/>
          <a:p>
            <a:r>
              <a:rPr lang="en-US"/>
              <a:t>Using the orthogonality of the plane waves with different </a:t>
            </a:r>
            <a:r>
              <a:rPr lang="en-US" b="1"/>
              <a:t>k</a:t>
            </a:r>
            <a:r>
              <a:rPr lang="en-US"/>
              <a:t>’s, show that</a:t>
            </a:r>
            <a:endParaRPr lang="ko-KR" altLang="en-US"/>
          </a:p>
          <a:p>
            <a:endParaRPr lang="ko-KR" altLang="en-US"/>
          </a:p>
          <a:p>
            <a:pPr>
              <a:buNone/>
            </a:pPr>
            <a:r>
              <a:rPr lang="en-US"/>
              <a:t>	where</a:t>
            </a:r>
            <a:r>
              <a:rPr lang="ko-KR"/>
              <a:t> </a:t>
            </a:r>
            <a:r>
              <a:rPr lang="en-US" altLang="ko-KR"/>
              <a:t>		  .</a:t>
            </a:r>
            <a:endParaRPr lang="ja-JP" altLang="en-US"/>
          </a:p>
        </p:txBody>
      </p:sp>
      <p:graphicFrame>
        <p:nvGraphicFramePr>
          <p:cNvPr id="207916" name="Object 44"/>
          <p:cNvGraphicFramePr>
            <a:graphicFrameLocks noChangeAspect="1"/>
          </p:cNvGraphicFramePr>
          <p:nvPr/>
        </p:nvGraphicFramePr>
        <p:xfrm>
          <a:off x="3581400" y="2438400"/>
          <a:ext cx="2201863" cy="608013"/>
        </p:xfrm>
        <a:graphic>
          <a:graphicData uri="http://schemas.openxmlformats.org/presentationml/2006/ole">
            <p:oleObj spid="_x0000_s207916" name="Equation" r:id="rId3" imgW="1473200" imgH="406400" progId="Equation.3">
              <p:embed/>
            </p:oleObj>
          </a:graphicData>
        </a:graphic>
      </p:graphicFrame>
      <p:graphicFrame>
        <p:nvGraphicFramePr>
          <p:cNvPr id="207917" name="Object 45"/>
          <p:cNvGraphicFramePr>
            <a:graphicFrameLocks noChangeAspect="1"/>
          </p:cNvGraphicFramePr>
          <p:nvPr/>
        </p:nvGraphicFramePr>
        <p:xfrm>
          <a:off x="2124719" y="3149256"/>
          <a:ext cx="1601788" cy="309563"/>
        </p:xfrm>
        <a:graphic>
          <a:graphicData uri="http://schemas.openxmlformats.org/presentationml/2006/ole">
            <p:oleObj spid="_x0000_s207917" name="Equation" r:id="rId4" imgW="1054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878513"/>
          </a:xfrm>
        </p:spPr>
        <p:txBody>
          <a:bodyPr>
            <a:noAutofit/>
          </a:bodyPr>
          <a:lstStyle/>
          <a:p>
            <a:r>
              <a:rPr lang="en-US" sz="2200"/>
              <a:t>We now introduce a new set of real variables      and      .</a:t>
            </a:r>
            <a:endParaRPr lang="ko-KR" altLang="en-US" sz="2200"/>
          </a:p>
          <a:p>
            <a:endParaRPr lang="en-US" altLang="ko-KR" sz="2200"/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in terms of which the field energy becomes</a:t>
            </a:r>
            <a:endParaRPr lang="ko-KR" altLang="en-US" sz="2200"/>
          </a:p>
          <a:p>
            <a:endParaRPr lang="en-US" sz="2200"/>
          </a:p>
          <a:p>
            <a:endParaRPr lang="ko-KR" altLang="en-US" sz="2200"/>
          </a:p>
          <a:p>
            <a:r>
              <a:rPr lang="en-US" sz="2200"/>
              <a:t>From the time dependence of	                   , etc, one can show the equation of motion for      and      to be</a:t>
            </a:r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which is exactly the Hamiltonian equation one would obtain from the above field energy while treating it a Hamiltonian with canonical variables      and      .</a:t>
            </a:r>
          </a:p>
          <a:p>
            <a:r>
              <a:rPr lang="en-US" sz="2200"/>
              <a:t>Therefore, one identify the Hamiltonian for the electro-magnetic field and associated </a:t>
            </a:r>
            <a:r>
              <a:rPr lang="en-US" sz="2200" i="1"/>
              <a:t>canonical variables</a:t>
            </a:r>
            <a:r>
              <a:rPr lang="en-US" sz="2200"/>
              <a:t>:</a:t>
            </a:r>
            <a:endParaRPr lang="ko-KR" altLang="en-US" sz="2200"/>
          </a:p>
          <a:p>
            <a:pPr>
              <a:buNone/>
            </a:pPr>
            <a:r>
              <a:rPr lang="en-US" sz="2200"/>
              <a:t> </a:t>
            </a:r>
            <a:endParaRPr lang="ko-KR" altLang="en-US" sz="2200" dirty="0"/>
          </a:p>
        </p:txBody>
      </p:sp>
      <p:graphicFrame>
        <p:nvGraphicFramePr>
          <p:cNvPr id="251912" name="Object 8"/>
          <p:cNvGraphicFramePr>
            <a:graphicFrameLocks noChangeAspect="1"/>
          </p:cNvGraphicFramePr>
          <p:nvPr/>
        </p:nvGraphicFramePr>
        <p:xfrm>
          <a:off x="1954213" y="914400"/>
          <a:ext cx="5307012" cy="644525"/>
        </p:xfrm>
        <a:graphic>
          <a:graphicData uri="http://schemas.openxmlformats.org/presentationml/2006/ole">
            <p:oleObj spid="_x0000_s251912" name="Equation" r:id="rId3" imgW="3556000" imgH="431800" progId="Equation.3">
              <p:embed/>
            </p:oleObj>
          </a:graphicData>
        </a:graphic>
      </p:graphicFrame>
      <p:graphicFrame>
        <p:nvGraphicFramePr>
          <p:cNvPr id="251913" name="Object 9"/>
          <p:cNvGraphicFramePr>
            <a:graphicFrameLocks noChangeAspect="1"/>
          </p:cNvGraphicFramePr>
          <p:nvPr/>
        </p:nvGraphicFramePr>
        <p:xfrm>
          <a:off x="6597005" y="515638"/>
          <a:ext cx="325438" cy="268288"/>
        </p:xfrm>
        <a:graphic>
          <a:graphicData uri="http://schemas.openxmlformats.org/presentationml/2006/ole">
            <p:oleObj spid="_x0000_s251913" name="Equation" r:id="rId4" imgW="215900" imgH="177800" progId="Equation.3">
              <p:embed/>
            </p:oleObj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494243" y="511474"/>
          <a:ext cx="365125" cy="268288"/>
        </p:xfrm>
        <a:graphic>
          <a:graphicData uri="http://schemas.openxmlformats.org/presentationml/2006/ole">
            <p:oleObj spid="_x0000_s251914" name="Equation" r:id="rId5" imgW="241300" imgH="177800" progId="Equation.3">
              <p:embed/>
            </p:oleObj>
          </a:graphicData>
        </a:graphic>
      </p:graphicFrame>
      <p:graphicFrame>
        <p:nvGraphicFramePr>
          <p:cNvPr id="251915" name="Object 11"/>
          <p:cNvGraphicFramePr>
            <a:graphicFrameLocks noChangeAspect="1"/>
          </p:cNvGraphicFramePr>
          <p:nvPr/>
        </p:nvGraphicFramePr>
        <p:xfrm>
          <a:off x="3490912" y="2133600"/>
          <a:ext cx="2147888" cy="608013"/>
        </p:xfrm>
        <a:graphic>
          <a:graphicData uri="http://schemas.openxmlformats.org/presentationml/2006/ole">
            <p:oleObj spid="_x0000_s251915" name="Equation" r:id="rId6" imgW="1435100" imgH="406400" progId="Equation.3">
              <p:embed/>
            </p:oleObj>
          </a:graphicData>
        </a:graphic>
      </p:graphicFrame>
      <p:graphicFrame>
        <p:nvGraphicFramePr>
          <p:cNvPr id="251916" name="Object 12"/>
          <p:cNvGraphicFramePr>
            <a:graphicFrameLocks noChangeAspect="1"/>
          </p:cNvGraphicFramePr>
          <p:nvPr/>
        </p:nvGraphicFramePr>
        <p:xfrm>
          <a:off x="4715669" y="2877838"/>
          <a:ext cx="1846262" cy="307975"/>
        </p:xfrm>
        <a:graphic>
          <a:graphicData uri="http://schemas.openxmlformats.org/presentationml/2006/ole">
            <p:oleObj spid="_x0000_s251916" name="Equation" r:id="rId7" imgW="1219200" imgH="203200" progId="Equation.3">
              <p:embed/>
            </p:oleObj>
          </a:graphicData>
        </a:graphic>
      </p:graphicFrame>
      <p:graphicFrame>
        <p:nvGraphicFramePr>
          <p:cNvPr id="251917" name="Object 13"/>
          <p:cNvGraphicFramePr>
            <a:graphicFrameLocks noChangeAspect="1"/>
          </p:cNvGraphicFramePr>
          <p:nvPr/>
        </p:nvGraphicFramePr>
        <p:xfrm>
          <a:off x="5881433" y="3247980"/>
          <a:ext cx="325438" cy="268288"/>
        </p:xfrm>
        <a:graphic>
          <a:graphicData uri="http://schemas.openxmlformats.org/presentationml/2006/ole">
            <p:oleObj spid="_x0000_s251917" name="Equation" r:id="rId8" imgW="215900" imgH="177800" progId="Equation.3">
              <p:embed/>
            </p:oleObj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4947848" y="3256861"/>
          <a:ext cx="365125" cy="268288"/>
        </p:xfrm>
        <a:graphic>
          <a:graphicData uri="http://schemas.openxmlformats.org/presentationml/2006/ole">
            <p:oleObj spid="_x0000_s251918" name="Equation" r:id="rId9" imgW="241300" imgH="177800" progId="Equation.3">
              <p:embed/>
            </p:oleObj>
          </a:graphicData>
        </a:graphic>
      </p:graphicFrame>
      <p:graphicFrame>
        <p:nvGraphicFramePr>
          <p:cNvPr id="251919" name="Object 15"/>
          <p:cNvGraphicFramePr>
            <a:graphicFrameLocks noChangeAspect="1"/>
          </p:cNvGraphicFramePr>
          <p:nvPr/>
        </p:nvGraphicFramePr>
        <p:xfrm>
          <a:off x="3325812" y="3657600"/>
          <a:ext cx="2486025" cy="307975"/>
        </p:xfrm>
        <a:graphic>
          <a:graphicData uri="http://schemas.openxmlformats.org/presentationml/2006/ole">
            <p:oleObj spid="_x0000_s251919" name="Equation" r:id="rId10" imgW="1638300" imgH="203200" progId="Equation.3">
              <p:embed/>
            </p:oleObj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3419864" y="4742162"/>
          <a:ext cx="365125" cy="268288"/>
        </p:xfrm>
        <a:graphic>
          <a:graphicData uri="http://schemas.openxmlformats.org/presentationml/2006/ole">
            <p:oleObj spid="_x0000_s251920" name="Equation" r:id="rId11" imgW="241300" imgH="177800" progId="Equation.3">
              <p:embed/>
            </p:oleObj>
          </a:graphicData>
        </a:graphic>
      </p:graphicFrame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4363588" y="4733281"/>
          <a:ext cx="325438" cy="268288"/>
        </p:xfrm>
        <a:graphic>
          <a:graphicData uri="http://schemas.openxmlformats.org/presentationml/2006/ole">
            <p:oleObj spid="_x0000_s251921" name="Equation" r:id="rId12" imgW="215900" imgH="177800" progId="Equation.3">
              <p:embed/>
            </p:oleObj>
          </a:graphicData>
        </a:graphic>
      </p:graphicFrame>
      <p:graphicFrame>
        <p:nvGraphicFramePr>
          <p:cNvPr id="251922" name="Object 18"/>
          <p:cNvGraphicFramePr>
            <a:graphicFrameLocks noChangeAspect="1"/>
          </p:cNvGraphicFramePr>
          <p:nvPr/>
        </p:nvGraphicFramePr>
        <p:xfrm>
          <a:off x="3511550" y="5791200"/>
          <a:ext cx="2127250" cy="608013"/>
        </p:xfrm>
        <a:graphic>
          <a:graphicData uri="http://schemas.openxmlformats.org/presentationml/2006/ole">
            <p:oleObj spid="_x0000_s251922" name="Equation" r:id="rId13" imgW="14224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3048000"/>
          </a:xfrm>
        </p:spPr>
        <p:txBody>
          <a:bodyPr>
            <a:noAutofit/>
          </a:bodyPr>
          <a:lstStyle/>
          <a:p>
            <a:r>
              <a:rPr lang="en-US" sz="2400"/>
              <a:t>Field quantization then proceeds as in the case of a harmonic oscillator. </a:t>
            </a:r>
          </a:p>
          <a:p>
            <a:r>
              <a:rPr lang="en-US" sz="2400"/>
              <a:t>We impose commutation relations for the canonical variables as</a:t>
            </a:r>
          </a:p>
          <a:p>
            <a:endParaRPr lang="ko-KR" altLang="en-US" sz="2400"/>
          </a:p>
          <a:p>
            <a:r>
              <a:rPr lang="en-US" sz="2400"/>
              <a:t>We define a set of new variables as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which then obeys</a:t>
            </a:r>
          </a:p>
          <a:p>
            <a:r>
              <a:rPr lang="en-US" sz="2400"/>
              <a:t> </a:t>
            </a:r>
            <a:endParaRPr lang="ko-KR" altLang="en-US" sz="2400"/>
          </a:p>
          <a:p>
            <a:pPr>
              <a:buNone/>
            </a:pPr>
            <a:r>
              <a:rPr lang="en-US" sz="2400"/>
              <a:t>	and the Hamiltonian becomes</a:t>
            </a:r>
            <a:endParaRPr lang="ko-KR" altLang="en-US" sz="2400"/>
          </a:p>
        </p:txBody>
      </p:sp>
      <p:graphicFrame>
        <p:nvGraphicFramePr>
          <p:cNvPr id="238600" name="Object 8"/>
          <p:cNvGraphicFramePr>
            <a:graphicFrameLocks noChangeAspect="1"/>
          </p:cNvGraphicFramePr>
          <p:nvPr/>
        </p:nvGraphicFramePr>
        <p:xfrm>
          <a:off x="2252663" y="2359025"/>
          <a:ext cx="4681537" cy="307975"/>
        </p:xfrm>
        <a:graphic>
          <a:graphicData uri="http://schemas.openxmlformats.org/presentationml/2006/ole">
            <p:oleObj spid="_x0000_s238600" name="Equation" r:id="rId3" imgW="3086100" imgH="203200" progId="Equation.3">
              <p:embed/>
            </p:oleObj>
          </a:graphicData>
        </a:graphic>
      </p:graphicFrame>
      <p:graphicFrame>
        <p:nvGraphicFramePr>
          <p:cNvPr id="238601" name="Object 9"/>
          <p:cNvGraphicFramePr>
            <a:graphicFrameLocks noChangeAspect="1"/>
          </p:cNvGraphicFramePr>
          <p:nvPr/>
        </p:nvGraphicFramePr>
        <p:xfrm>
          <a:off x="1981200" y="3254375"/>
          <a:ext cx="5422900" cy="631825"/>
        </p:xfrm>
        <a:graphic>
          <a:graphicData uri="http://schemas.openxmlformats.org/presentationml/2006/ole">
            <p:oleObj spid="_x0000_s238601" name="Equation" r:id="rId4" imgW="3594100" imgH="419100" progId="Equation.3">
              <p:embed/>
            </p:oleObj>
          </a:graphicData>
        </a:graphic>
      </p:graphicFrame>
      <p:graphicFrame>
        <p:nvGraphicFramePr>
          <p:cNvPr id="238602" name="Object 10"/>
          <p:cNvGraphicFramePr>
            <a:graphicFrameLocks noChangeAspect="1"/>
          </p:cNvGraphicFramePr>
          <p:nvPr/>
        </p:nvGraphicFramePr>
        <p:xfrm>
          <a:off x="2514600" y="4494213"/>
          <a:ext cx="4303712" cy="379413"/>
        </p:xfrm>
        <a:graphic>
          <a:graphicData uri="http://schemas.openxmlformats.org/presentationml/2006/ole">
            <p:oleObj spid="_x0000_s238602" name="Equation" r:id="rId5" imgW="2882900" imgH="254000" progId="Equation.3">
              <p:embed/>
            </p:oleObj>
          </a:graphicData>
        </a:graphic>
      </p:graphicFrame>
      <p:graphicFrame>
        <p:nvGraphicFramePr>
          <p:cNvPr id="238603" name="Object 11"/>
          <p:cNvGraphicFramePr>
            <a:graphicFrameLocks noChangeAspect="1"/>
          </p:cNvGraphicFramePr>
          <p:nvPr/>
        </p:nvGraphicFramePr>
        <p:xfrm>
          <a:off x="3352800" y="5410200"/>
          <a:ext cx="2332038" cy="515938"/>
        </p:xfrm>
        <a:graphic>
          <a:graphicData uri="http://schemas.openxmlformats.org/presentationml/2006/ole">
            <p:oleObj spid="_x0000_s238603" name="Equation" r:id="rId6" imgW="1549400" imgH="342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Exercise 2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/>
              <a:t>Using the commutation relations of      and     , show   that      is a creation operator and      is an annihilation operator satisfying</a:t>
            </a:r>
            <a:endParaRPr lang="ko-KR" alt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      is the eigenstate of the number operator</a:t>
            </a:r>
          </a:p>
          <a:p>
            <a:pPr>
              <a:buNone/>
            </a:pPr>
            <a:r>
              <a:rPr lang="en-US" sz="2400"/>
              <a:t>                    .</a:t>
            </a:r>
            <a:endParaRPr lang="ko-KR" altLang="en-US" sz="2400"/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/>
        </p:nvGraphicFramePr>
        <p:xfrm>
          <a:off x="2181225" y="2819400"/>
          <a:ext cx="4676775" cy="339725"/>
        </p:xfrm>
        <a:graphic>
          <a:graphicData uri="http://schemas.openxmlformats.org/presentationml/2006/ole">
            <p:oleObj spid="_x0000_s239628" name="Equation" r:id="rId3" imgW="3149600" imgH="228600" progId="Equation.3">
              <p:embed/>
            </p:oleObj>
          </a:graphicData>
        </a:graphic>
      </p:graphicFrame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5754253" y="1676400"/>
          <a:ext cx="349250" cy="271463"/>
        </p:xfrm>
        <a:graphic>
          <a:graphicData uri="http://schemas.openxmlformats.org/presentationml/2006/ole">
            <p:oleObj spid="_x0000_s239629" name="Equation" r:id="rId4" imgW="228600" imgH="177800" progId="Equation.3">
              <p:embed/>
            </p:oleObj>
          </a:graphicData>
        </a:graphic>
      </p:graphicFrame>
      <p:graphicFrame>
        <p:nvGraphicFramePr>
          <p:cNvPr id="239630" name="Object 14"/>
          <p:cNvGraphicFramePr>
            <a:graphicFrameLocks noChangeAspect="1"/>
          </p:cNvGraphicFramePr>
          <p:nvPr/>
        </p:nvGraphicFramePr>
        <p:xfrm>
          <a:off x="6723362" y="1636713"/>
          <a:ext cx="349250" cy="311150"/>
        </p:xfrm>
        <a:graphic>
          <a:graphicData uri="http://schemas.openxmlformats.org/presentationml/2006/ole">
            <p:oleObj spid="_x0000_s239630" name="Equation" r:id="rId5" imgW="228600" imgH="203200" progId="Equation.3">
              <p:embed/>
            </p:oleObj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1568450" y="2001149"/>
          <a:ext cx="349250" cy="311150"/>
        </p:xfrm>
        <a:graphic>
          <a:graphicData uri="http://schemas.openxmlformats.org/presentationml/2006/ole">
            <p:oleObj spid="_x0000_s239631" name="Equation" r:id="rId6" imgW="228600" imgH="203200" progId="Equation.3">
              <p:embed/>
            </p:oleObj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5539641" y="2010030"/>
          <a:ext cx="349250" cy="271463"/>
        </p:xfrm>
        <a:graphic>
          <a:graphicData uri="http://schemas.openxmlformats.org/presentationml/2006/ole">
            <p:oleObj spid="_x0000_s239632" name="Equation" r:id="rId7" imgW="228600" imgH="177800" progId="Equation.3">
              <p:embed/>
            </p:oleObj>
          </a:graphicData>
        </a:graphic>
      </p:graphicFrame>
      <p:graphicFrame>
        <p:nvGraphicFramePr>
          <p:cNvPr id="239633" name="Object 17"/>
          <p:cNvGraphicFramePr>
            <a:graphicFrameLocks noChangeAspect="1"/>
          </p:cNvGraphicFramePr>
          <p:nvPr/>
        </p:nvGraphicFramePr>
        <p:xfrm>
          <a:off x="1874538" y="3258838"/>
          <a:ext cx="482600" cy="307975"/>
        </p:xfrm>
        <a:graphic>
          <a:graphicData uri="http://schemas.openxmlformats.org/presentationml/2006/ole">
            <p:oleObj spid="_x0000_s239633" name="Equation" r:id="rId8" imgW="317500" imgH="203200" progId="Equation.3">
              <p:embed/>
            </p:oleObj>
          </a:graphicData>
        </a:graphic>
      </p:graphicFrame>
      <p:graphicFrame>
        <p:nvGraphicFramePr>
          <p:cNvPr id="239634" name="Object 18"/>
          <p:cNvGraphicFramePr>
            <a:graphicFrameLocks noChangeAspect="1"/>
          </p:cNvGraphicFramePr>
          <p:nvPr/>
        </p:nvGraphicFramePr>
        <p:xfrm>
          <a:off x="990600" y="3652837"/>
          <a:ext cx="1179513" cy="309563"/>
        </p:xfrm>
        <a:graphic>
          <a:graphicData uri="http://schemas.openxmlformats.org/presentationml/2006/ole">
            <p:oleObj spid="_x0000_s239634" name="Equation" r:id="rId9" imgW="7747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Exercise 3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/>
              <a:t>Show that in the </a:t>
            </a:r>
            <a:r>
              <a:rPr lang="en-US" sz="2400" i="1"/>
              <a:t>Schrödinger picture</a:t>
            </a:r>
            <a:r>
              <a:rPr lang="en-US" sz="2400"/>
              <a:t> (meaning the time dependence is absorbed in the wave function) the vector potential can be written in terms of      and      as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and the corresponding electric and magnetic field operators as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sz="2400"/>
              <a:t>	where</a:t>
            </a:r>
            <a:endParaRPr lang="ko-KR" altLang="en-US" sz="2400"/>
          </a:p>
          <a:p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5715000" y="2169124"/>
          <a:ext cx="349250" cy="271463"/>
        </p:xfrm>
        <a:graphic>
          <a:graphicData uri="http://schemas.openxmlformats.org/presentationml/2006/ole">
            <p:oleObj spid="_x0000_s258051" name="Equation" r:id="rId3" imgW="228600" imgH="177800" progId="Equation.3">
              <p:embed/>
            </p:oleObj>
          </a:graphicData>
        </a:graphic>
      </p:graphicFrame>
      <p:graphicFrame>
        <p:nvGraphicFramePr>
          <p:cNvPr id="239630" name="Object 14"/>
          <p:cNvGraphicFramePr>
            <a:graphicFrameLocks noChangeAspect="1"/>
          </p:cNvGraphicFramePr>
          <p:nvPr/>
        </p:nvGraphicFramePr>
        <p:xfrm>
          <a:off x="6685562" y="2138318"/>
          <a:ext cx="349250" cy="311150"/>
        </p:xfrm>
        <a:graphic>
          <a:graphicData uri="http://schemas.openxmlformats.org/presentationml/2006/ole">
            <p:oleObj spid="_x0000_s258052" name="Equation" r:id="rId4" imgW="228600" imgH="203200" progId="Equation.3">
              <p:embed/>
            </p:oleObj>
          </a:graphicData>
        </a:graphic>
      </p:graphicFrame>
      <p:graphicFrame>
        <p:nvGraphicFramePr>
          <p:cNvPr id="258057" name="Object 9"/>
          <p:cNvGraphicFramePr>
            <a:graphicFrameLocks noChangeAspect="1"/>
          </p:cNvGraphicFramePr>
          <p:nvPr/>
        </p:nvGraphicFramePr>
        <p:xfrm>
          <a:off x="2743200" y="2598438"/>
          <a:ext cx="3754438" cy="739775"/>
        </p:xfrm>
        <a:graphic>
          <a:graphicData uri="http://schemas.openxmlformats.org/presentationml/2006/ole">
            <p:oleObj spid="_x0000_s258057" name="Equation" r:id="rId5" imgW="2514600" imgH="495300" progId="Equation.3">
              <p:embed/>
            </p:oleObj>
          </a:graphicData>
        </a:graphic>
      </p:graphicFrame>
      <p:graphicFrame>
        <p:nvGraphicFramePr>
          <p:cNvPr id="258058" name="Object 10"/>
          <p:cNvGraphicFramePr>
            <a:graphicFrameLocks noChangeAspect="1"/>
          </p:cNvGraphicFramePr>
          <p:nvPr/>
        </p:nvGraphicFramePr>
        <p:xfrm>
          <a:off x="2524125" y="4191000"/>
          <a:ext cx="4225925" cy="515938"/>
        </p:xfrm>
        <a:graphic>
          <a:graphicData uri="http://schemas.openxmlformats.org/presentationml/2006/ole">
            <p:oleObj spid="_x0000_s258058" name="Equation" r:id="rId6" imgW="2806700" imgH="342900" progId="Equation.3">
              <p:embed/>
            </p:oleObj>
          </a:graphicData>
        </a:graphic>
      </p:graphicFrame>
      <p:graphicFrame>
        <p:nvGraphicFramePr>
          <p:cNvPr id="258059" name="Object 11"/>
          <p:cNvGraphicFramePr>
            <a:graphicFrameLocks noChangeAspect="1"/>
          </p:cNvGraphicFramePr>
          <p:nvPr/>
        </p:nvGraphicFramePr>
        <p:xfrm>
          <a:off x="1447800" y="5105400"/>
          <a:ext cx="6286500" cy="1295400"/>
        </p:xfrm>
        <a:graphic>
          <a:graphicData uri="http://schemas.openxmlformats.org/presentationml/2006/ole">
            <p:oleObj spid="_x0000_s258059" name="Equation" r:id="rId7" imgW="4191000" imgH="863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801</TotalTime>
  <Words>564</Words>
  <Application>Microsoft Macintosh PowerPoint</Application>
  <PresentationFormat>On-screen Show (4:3)</PresentationFormat>
  <Paragraphs>71</Paragraphs>
  <Slides>10</Slides>
  <Notes>1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Technic</vt:lpstr>
      <vt:lpstr>Microsoft Equation</vt:lpstr>
      <vt:lpstr>Atomic and Molecular Physics  Lecture 18</vt:lpstr>
      <vt:lpstr>Chapter 3. Radiative Interactions</vt:lpstr>
      <vt:lpstr>Slide 3</vt:lpstr>
      <vt:lpstr>Slide 4</vt:lpstr>
      <vt:lpstr>Slide 5</vt:lpstr>
      <vt:lpstr>Exercise 1</vt:lpstr>
      <vt:lpstr>Slide 7</vt:lpstr>
      <vt:lpstr>Slide 8</vt:lpstr>
      <vt:lpstr>Exercise 2</vt:lpstr>
      <vt:lpstr>Exercise 3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경원 안</cp:lastModifiedBy>
  <cp:revision>58</cp:revision>
  <dcterms:created xsi:type="dcterms:W3CDTF">2009-11-03T05:39:57Z</dcterms:created>
  <dcterms:modified xsi:type="dcterms:W3CDTF">2009-11-03T07:04:43Z</dcterms:modified>
</cp:coreProperties>
</file>