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ict"/><Relationship Id="rId4" Type="http://schemas.openxmlformats.org/officeDocument/2006/relationships/image" Target="../media/image5.pict"/><Relationship Id="rId5" Type="http://schemas.openxmlformats.org/officeDocument/2006/relationships/image" Target="../media/image6.pict"/><Relationship Id="rId1" Type="http://schemas.openxmlformats.org/officeDocument/2006/relationships/image" Target="../media/image2.pict"/><Relationship Id="rId2" Type="http://schemas.openxmlformats.org/officeDocument/2006/relationships/image" Target="../media/image3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ict"/><Relationship Id="rId2" Type="http://schemas.openxmlformats.org/officeDocument/2006/relationships/image" Target="../media/image8.pict"/><Relationship Id="rId3" Type="http://schemas.openxmlformats.org/officeDocument/2006/relationships/image" Target="../media/image9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ict"/><Relationship Id="rId2" Type="http://schemas.openxmlformats.org/officeDocument/2006/relationships/image" Target="../media/image11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ict"/><Relationship Id="rId2" Type="http://schemas.openxmlformats.org/officeDocument/2006/relationships/image" Target="../media/image13.pict"/><Relationship Id="rId3" Type="http://schemas.openxmlformats.org/officeDocument/2006/relationships/image" Target="../media/image14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ict"/><Relationship Id="rId2" Type="http://schemas.openxmlformats.org/officeDocument/2006/relationships/image" Target="../media/image16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ict"/><Relationship Id="rId2" Type="http://schemas.openxmlformats.org/officeDocument/2006/relationships/image" Target="../media/image18.pict"/><Relationship Id="rId3" Type="http://schemas.openxmlformats.org/officeDocument/2006/relationships/image" Target="../media/image19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ict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ict"/><Relationship Id="rId4" Type="http://schemas.openxmlformats.org/officeDocument/2006/relationships/image" Target="../media/image24.pict"/><Relationship Id="rId5" Type="http://schemas.openxmlformats.org/officeDocument/2006/relationships/image" Target="../media/image25.pict"/><Relationship Id="rId1" Type="http://schemas.openxmlformats.org/officeDocument/2006/relationships/image" Target="../media/image21.pict"/><Relationship Id="rId2" Type="http://schemas.openxmlformats.org/officeDocument/2006/relationships/image" Target="../media/image22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.bin"/><Relationship Id="rId4" Type="http://schemas.openxmlformats.org/officeDocument/2006/relationships/oleObject" Target="../embeddings/Microsoft_Equation3.bin"/><Relationship Id="rId5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5.bin"/><Relationship Id="rId7" Type="http://schemas.openxmlformats.org/officeDocument/2006/relationships/oleObject" Target="../embeddings/Microsoft_Equation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7.bin"/><Relationship Id="rId4" Type="http://schemas.openxmlformats.org/officeDocument/2006/relationships/oleObject" Target="../embeddings/Microsoft_Equation8.bin"/><Relationship Id="rId5" Type="http://schemas.openxmlformats.org/officeDocument/2006/relationships/oleObject" Target="../embeddings/Microsoft_Equation9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0.bin"/><Relationship Id="rId4" Type="http://schemas.openxmlformats.org/officeDocument/2006/relationships/oleObject" Target="../embeddings/Microsoft_Equation11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2.bin"/><Relationship Id="rId4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4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5.bin"/><Relationship Id="rId4" Type="http://schemas.openxmlformats.org/officeDocument/2006/relationships/oleObject" Target="../embeddings/Microsoft_Equation16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7.bin"/><Relationship Id="rId4" Type="http://schemas.openxmlformats.org/officeDocument/2006/relationships/oleObject" Target="../embeddings/Microsoft_Equation18.bin"/><Relationship Id="rId5" Type="http://schemas.openxmlformats.org/officeDocument/2006/relationships/oleObject" Target="../embeddings/Microsoft_Equation19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1.bin"/><Relationship Id="rId4" Type="http://schemas.openxmlformats.org/officeDocument/2006/relationships/oleObject" Target="../embeddings/Microsoft_Equation22.bin"/><Relationship Id="rId5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4.bin"/><Relationship Id="rId7" Type="http://schemas.openxmlformats.org/officeDocument/2006/relationships/oleObject" Target="../embeddings/Microsoft_Equation25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14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u="sng" dirty="0" err="1" smtClean="0"/>
              <a:t>Hartree-Fock</a:t>
            </a:r>
            <a:r>
              <a:rPr lang="en-US" sz="2800" u="sng" dirty="0" smtClean="0"/>
              <a:t> </a:t>
            </a:r>
            <a:r>
              <a:rPr lang="en-US" sz="2800" u="sng" dirty="0" err="1" smtClean="0"/>
              <a:t>orbitals</a:t>
            </a:r>
            <a:r>
              <a:rPr lang="en-US" sz="2800" u="sng" dirty="0" smtClean="0"/>
              <a:t> and central field problem</a:t>
            </a:r>
          </a:p>
          <a:p>
            <a:r>
              <a:rPr lang="en-US" sz="2800" dirty="0" smtClean="0"/>
              <a:t>Assume the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of the form</a:t>
            </a:r>
            <a:endParaRPr lang="ko-KR" alt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which is the solution of a central potential problem. By showing that the this assumption leads to spherically symmetric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potentials, </a:t>
            </a:r>
            <a:r>
              <a:rPr lang="en-US" sz="2800" i="1" dirty="0" smtClean="0"/>
              <a:t>i.e.,</a:t>
            </a:r>
            <a:r>
              <a:rPr lang="en-US" sz="2800" dirty="0" smtClean="0"/>
              <a:t> that our assumption is self-consistent, we can show that the </a:t>
            </a:r>
            <a:r>
              <a:rPr lang="en-US" sz="2800" dirty="0" err="1" smtClean="0"/>
              <a:t>Hartree-Fock</a:t>
            </a:r>
            <a:r>
              <a:rPr lang="en-US" sz="2800" dirty="0" smtClean="0"/>
              <a:t> one-electron </a:t>
            </a:r>
            <a:r>
              <a:rPr lang="en-US" sz="2800" dirty="0" err="1" smtClean="0"/>
              <a:t>orbitals</a:t>
            </a:r>
            <a:r>
              <a:rPr lang="en-US" sz="2800" dirty="0" smtClean="0"/>
              <a:t> are indeed solutions of a central field problem.</a:t>
            </a:r>
            <a:endParaRPr lang="ko-KR" altLang="en-US" sz="2800" dirty="0" smtClean="0"/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/>
        </p:nvGraphicFramePr>
        <p:xfrm>
          <a:off x="3381375" y="1676400"/>
          <a:ext cx="2154238" cy="533400"/>
        </p:xfrm>
        <a:graphic>
          <a:graphicData uri="http://schemas.openxmlformats.org/presentationml/2006/ole">
            <p:oleObj spid="_x0000_s206861" name="Equation" r:id="rId3" imgW="1435100" imgH="355600" progId="Equation.3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724"/>
            <a:ext cx="8229600" cy="5730082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the Coulomb potential.</a:t>
            </a:r>
          </a:p>
          <a:p>
            <a:endParaRPr lang="ko-KR" altLang="en-US" sz="2400" dirty="0" smtClean="0"/>
          </a:p>
          <a:p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For a </a:t>
            </a:r>
            <a:r>
              <a:rPr lang="en-US" sz="2400" u="sng" dirty="0" smtClean="0"/>
              <a:t>closed shell</a:t>
            </a:r>
            <a:r>
              <a:rPr lang="en-US" sz="2400" dirty="0" smtClean="0"/>
              <a:t>, the summation over </a:t>
            </a:r>
            <a:r>
              <a:rPr lang="en-US" sz="2400" i="1" dirty="0" err="1" smtClean="0">
                <a:latin typeface="Times New Roman"/>
                <a:cs typeface="Times New Roman"/>
              </a:rPr>
              <a:t>j</a:t>
            </a:r>
            <a:r>
              <a:rPr lang="en-US" sz="2400" dirty="0" smtClean="0"/>
              <a:t> is over all possible </a:t>
            </a:r>
            <a:r>
              <a:rPr lang="en-US" sz="2400" i="1" dirty="0" err="1" smtClean="0">
                <a:latin typeface="Times New Roman"/>
                <a:cs typeface="Times New Roman"/>
              </a:rPr>
              <a:t>m</a:t>
            </a:r>
            <a:r>
              <a:rPr lang="en-US" sz="2400" dirty="0" smtClean="0"/>
              <a:t> states with the same </a:t>
            </a:r>
            <a:r>
              <a:rPr lang="en-US" sz="2400" i="1" dirty="0" err="1" smtClean="0">
                <a:latin typeface="Times New Roman"/>
                <a:cs typeface="Times New Roman"/>
              </a:rPr>
              <a:t>n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latin typeface="Times New Roman"/>
                <a:cs typeface="Times New Roman"/>
              </a:rPr>
              <a:t>l</a:t>
            </a:r>
            <a:r>
              <a:rPr lang="en-US" sz="2400" dirty="0" smtClean="0"/>
              <a:t> and over two possible spins. </a:t>
            </a:r>
          </a:p>
          <a:p>
            <a:r>
              <a:rPr lang="en-US" sz="2400" dirty="0" smtClean="0"/>
              <a:t>One </a:t>
            </a:r>
            <a:r>
              <a:rPr lang="en-US" sz="2400" dirty="0"/>
              <a:t>can show that the exchange potential is also of the form of a central potential. The exchange potential was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altLang="ko-KR" sz="2400" dirty="0"/>
          </a:p>
          <a:p>
            <a:pPr>
              <a:buNone/>
            </a:pPr>
            <a:r>
              <a:rPr lang="en-US" sz="2400" dirty="0"/>
              <a:t>	Our convention is that             for                and the first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orbitals</a:t>
            </a:r>
            <a:r>
              <a:rPr lang="en-US" sz="2400" dirty="0"/>
              <a:t> have the opposite spin with respect to the rest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orbitals</a:t>
            </a:r>
            <a:r>
              <a:rPr lang="en-US" sz="2400" dirty="0"/>
              <a:t>. Therefore,</a:t>
            </a:r>
            <a:endParaRPr lang="ko-KR" altLang="en-US" sz="2400" dirty="0"/>
          </a:p>
          <a:p>
            <a:pPr>
              <a:buNone/>
            </a:pPr>
            <a:endParaRPr lang="ko-KR" altLang="en-US" sz="2400" dirty="0"/>
          </a:p>
          <a:p>
            <a:pPr>
              <a:buNone/>
            </a:pPr>
            <a:endParaRPr lang="ko-KR" altLang="en-US" sz="2400" dirty="0"/>
          </a:p>
        </p:txBody>
      </p:sp>
      <p:graphicFrame>
        <p:nvGraphicFramePr>
          <p:cNvPr id="207890" name="Object 18"/>
          <p:cNvGraphicFramePr>
            <a:graphicFrameLocks noChangeAspect="1"/>
          </p:cNvGraphicFramePr>
          <p:nvPr/>
        </p:nvGraphicFramePr>
        <p:xfrm>
          <a:off x="2125663" y="912019"/>
          <a:ext cx="4964112" cy="547687"/>
        </p:xfrm>
        <a:graphic>
          <a:graphicData uri="http://schemas.openxmlformats.org/presentationml/2006/ole">
            <p:oleObj spid="_x0000_s207890" name="Equation" r:id="rId3" imgW="3340100" imgH="368300" progId="Equation.3">
              <p:embed/>
            </p:oleObj>
          </a:graphicData>
        </a:graphic>
      </p:graphicFrame>
      <p:graphicFrame>
        <p:nvGraphicFramePr>
          <p:cNvPr id="207894" name="Object 22"/>
          <p:cNvGraphicFramePr>
            <a:graphicFrameLocks noChangeAspect="1"/>
          </p:cNvGraphicFramePr>
          <p:nvPr/>
        </p:nvGraphicFramePr>
        <p:xfrm>
          <a:off x="2116138" y="3707606"/>
          <a:ext cx="4948237" cy="682625"/>
        </p:xfrm>
        <a:graphic>
          <a:graphicData uri="http://schemas.openxmlformats.org/presentationml/2006/ole">
            <p:oleObj spid="_x0000_s207894" name="Equation" r:id="rId4" imgW="3314700" imgH="457200" progId="Equation.3">
              <p:embed/>
            </p:oleObj>
          </a:graphicData>
        </a:graphic>
      </p:graphicFrame>
      <p:graphicFrame>
        <p:nvGraphicFramePr>
          <p:cNvPr id="207895" name="Object 23"/>
          <p:cNvGraphicFramePr>
            <a:graphicFrameLocks noChangeAspect="1"/>
          </p:cNvGraphicFramePr>
          <p:nvPr/>
        </p:nvGraphicFramePr>
        <p:xfrm>
          <a:off x="4067175" y="4568825"/>
          <a:ext cx="844550" cy="268288"/>
        </p:xfrm>
        <a:graphic>
          <a:graphicData uri="http://schemas.openxmlformats.org/presentationml/2006/ole">
            <p:oleObj spid="_x0000_s207895" name="Equation" r:id="rId5" imgW="558800" imgH="177800" progId="Equation.3">
              <p:embed/>
            </p:oleObj>
          </a:graphicData>
        </a:graphic>
      </p:graphicFrame>
      <p:graphicFrame>
        <p:nvGraphicFramePr>
          <p:cNvPr id="207896" name="Object 24"/>
          <p:cNvGraphicFramePr>
            <a:graphicFrameLocks noChangeAspect="1"/>
          </p:cNvGraphicFramePr>
          <p:nvPr/>
        </p:nvGraphicFramePr>
        <p:xfrm>
          <a:off x="5513388" y="4602163"/>
          <a:ext cx="1077912" cy="227012"/>
        </p:xfrm>
        <a:graphic>
          <a:graphicData uri="http://schemas.openxmlformats.org/presentationml/2006/ole">
            <p:oleObj spid="_x0000_s207896" name="Equation" r:id="rId6" imgW="723900" imgH="152400" progId="Equation.3">
              <p:embed/>
            </p:oleObj>
          </a:graphicData>
        </a:graphic>
      </p:graphicFrame>
      <p:graphicFrame>
        <p:nvGraphicFramePr>
          <p:cNvPr id="207897" name="Object 25"/>
          <p:cNvGraphicFramePr>
            <a:graphicFrameLocks noChangeAspect="1"/>
          </p:cNvGraphicFramePr>
          <p:nvPr/>
        </p:nvGraphicFramePr>
        <p:xfrm>
          <a:off x="2501900" y="5729288"/>
          <a:ext cx="4108450" cy="681037"/>
        </p:xfrm>
        <a:graphic>
          <a:graphicData uri="http://schemas.openxmlformats.org/presentationml/2006/ole">
            <p:oleObj spid="_x0000_s207897" name="Equation" r:id="rId7" imgW="27559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638800"/>
          </a:xfrm>
        </p:spPr>
        <p:txBody>
          <a:bodyPr>
            <a:normAutofit/>
          </a:bodyPr>
          <a:lstStyle/>
          <a:p>
            <a:r>
              <a:rPr lang="en-US" sz="2400"/>
              <a:t>Now consider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and its integral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	Thus, it is sufficient to investigate the spherical symmetry of           . </a:t>
            </a:r>
            <a:endParaRPr lang="ko-KR" altLang="en-US" sz="2400"/>
          </a:p>
        </p:txBody>
      </p:sp>
      <p:graphicFrame>
        <p:nvGraphicFramePr>
          <p:cNvPr id="208911" name="Object 15"/>
          <p:cNvGraphicFramePr>
            <a:graphicFrameLocks noChangeAspect="1"/>
          </p:cNvGraphicFramePr>
          <p:nvPr/>
        </p:nvGraphicFramePr>
        <p:xfrm>
          <a:off x="2362200" y="1057275"/>
          <a:ext cx="4506913" cy="706438"/>
        </p:xfrm>
        <a:graphic>
          <a:graphicData uri="http://schemas.openxmlformats.org/presentationml/2006/ole">
            <p:oleObj spid="_x0000_s1026" name="Equation" r:id="rId3" imgW="2997200" imgH="469900" progId="Equation.3">
              <p:embed/>
            </p:oleObj>
          </a:graphicData>
        </a:graphic>
      </p:graphicFrame>
      <p:graphicFrame>
        <p:nvGraphicFramePr>
          <p:cNvPr id="208912" name="Object 16"/>
          <p:cNvGraphicFramePr>
            <a:graphicFrameLocks noChangeAspect="1"/>
          </p:cNvGraphicFramePr>
          <p:nvPr/>
        </p:nvGraphicFramePr>
        <p:xfrm>
          <a:off x="2228850" y="2286000"/>
          <a:ext cx="4819650" cy="2667000"/>
        </p:xfrm>
        <a:graphic>
          <a:graphicData uri="http://schemas.openxmlformats.org/presentationml/2006/ole">
            <p:oleObj spid="_x0000_s1027" name="Equation" r:id="rId4" imgW="3213100" imgH="1778000" progId="Equation.3">
              <p:embed/>
            </p:oleObj>
          </a:graphicData>
        </a:graphic>
      </p:graphicFrame>
      <p:graphicFrame>
        <p:nvGraphicFramePr>
          <p:cNvPr id="208914" name="Object 18"/>
          <p:cNvGraphicFramePr>
            <a:graphicFrameLocks noChangeAspect="1"/>
          </p:cNvGraphicFramePr>
          <p:nvPr/>
        </p:nvGraphicFramePr>
        <p:xfrm>
          <a:off x="1335087" y="5410200"/>
          <a:ext cx="798513" cy="285750"/>
        </p:xfrm>
        <a:graphic>
          <a:graphicData uri="http://schemas.openxmlformats.org/presentationml/2006/ole">
            <p:oleObj spid="_x0000_s1029" name="Equation" r:id="rId5" imgW="533400" imgH="19050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2057400"/>
          </a:xfrm>
        </p:spPr>
        <p:txBody>
          <a:bodyPr>
            <a:normAutofit/>
          </a:bodyPr>
          <a:lstStyle/>
          <a:p>
            <a:r>
              <a:rPr lang="en-US" sz="2400"/>
              <a:t>Using the form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altLang="ko-KR" sz="2400"/>
              <a:t>	we can simplify</a:t>
            </a:r>
            <a:endParaRPr lang="ko-KR" altLang="en-US" sz="2400"/>
          </a:p>
        </p:txBody>
      </p:sp>
      <p:graphicFrame>
        <p:nvGraphicFramePr>
          <p:cNvPr id="208913" name="Object 17"/>
          <p:cNvGraphicFramePr>
            <a:graphicFrameLocks noChangeAspect="1"/>
          </p:cNvGraphicFramePr>
          <p:nvPr/>
        </p:nvGraphicFramePr>
        <p:xfrm>
          <a:off x="3429000" y="1066800"/>
          <a:ext cx="2192338" cy="552450"/>
        </p:xfrm>
        <a:graphic>
          <a:graphicData uri="http://schemas.openxmlformats.org/presentationml/2006/ole">
            <p:oleObj spid="_x0000_s208913" name="Equation" r:id="rId3" imgW="1460500" imgH="368300" progId="Equation.3">
              <p:embed/>
            </p:oleObj>
          </a:graphicData>
        </a:graphic>
      </p:graphicFrame>
      <p:graphicFrame>
        <p:nvGraphicFramePr>
          <p:cNvPr id="208915" name="Object 19"/>
          <p:cNvGraphicFramePr>
            <a:graphicFrameLocks noChangeAspect="1"/>
          </p:cNvGraphicFramePr>
          <p:nvPr/>
        </p:nvGraphicFramePr>
        <p:xfrm>
          <a:off x="485775" y="2438400"/>
          <a:ext cx="8194675" cy="3811588"/>
        </p:xfrm>
        <a:graphic>
          <a:graphicData uri="http://schemas.openxmlformats.org/presentationml/2006/ole">
            <p:oleObj spid="_x0000_s208915" name="Equation" r:id="rId4" imgW="5461000" imgH="254000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4419600"/>
          </a:xfrm>
        </p:spPr>
        <p:txBody>
          <a:bodyPr>
            <a:normAutofit/>
          </a:bodyPr>
          <a:lstStyle/>
          <a:p>
            <a:r>
              <a:rPr lang="en-US" sz="2400"/>
              <a:t>The integral of the product of three spherical harmonics is given by the </a:t>
            </a:r>
            <a:r>
              <a:rPr lang="en-US" sz="2400" i="1"/>
              <a:t>Gaunt</a:t>
            </a:r>
            <a:r>
              <a:rPr lang="en-US" sz="2400"/>
              <a:t> formula.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The quantities in ( ) are called “3</a:t>
            </a:r>
            <a:r>
              <a:rPr lang="en-US" sz="2400" i="1"/>
              <a:t>j</a:t>
            </a:r>
            <a:r>
              <a:rPr lang="en-US" sz="2400"/>
              <a:t> symbols”, which are defined in terms of the Clebsch-Gordan coefficients as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sz="2400"/>
              <a:t>Also note the </a:t>
            </a:r>
            <a:r>
              <a:rPr lang="en-US" sz="2400" i="1"/>
              <a:t>addition theorem</a:t>
            </a:r>
            <a:endParaRPr lang="ko-KR" altLang="en-US" sz="2400"/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/>
        </p:nvGraphicFramePr>
        <p:xfrm>
          <a:off x="1674813" y="1447800"/>
          <a:ext cx="5754687" cy="1143000"/>
        </p:xfrm>
        <a:graphic>
          <a:graphicData uri="http://schemas.openxmlformats.org/presentationml/2006/ole">
            <p:oleObj spid="_x0000_s218116" name="Equation" r:id="rId3" imgW="3835400" imgH="762000" progId="Equation.3">
              <p:embed/>
            </p:oleObj>
          </a:graphicData>
        </a:graphic>
      </p:graphicFrame>
      <p:graphicFrame>
        <p:nvGraphicFramePr>
          <p:cNvPr id="218117" name="Object 5"/>
          <p:cNvGraphicFramePr>
            <a:graphicFrameLocks noChangeAspect="1"/>
          </p:cNvGraphicFramePr>
          <p:nvPr/>
        </p:nvGraphicFramePr>
        <p:xfrm>
          <a:off x="2371725" y="3536950"/>
          <a:ext cx="4232275" cy="647700"/>
        </p:xfrm>
        <a:graphic>
          <a:graphicData uri="http://schemas.openxmlformats.org/presentationml/2006/ole">
            <p:oleObj spid="_x0000_s218117" name="Equation" r:id="rId4" imgW="2819400" imgH="431800" progId="Equation.3">
              <p:embed/>
            </p:oleObj>
          </a:graphicData>
        </a:graphic>
      </p:graphicFrame>
      <p:graphicFrame>
        <p:nvGraphicFramePr>
          <p:cNvPr id="218118" name="Object 6"/>
          <p:cNvGraphicFramePr>
            <a:graphicFrameLocks noChangeAspect="1"/>
          </p:cNvGraphicFramePr>
          <p:nvPr/>
        </p:nvGraphicFramePr>
        <p:xfrm>
          <a:off x="1900238" y="4933950"/>
          <a:ext cx="5491162" cy="1449388"/>
        </p:xfrm>
        <a:graphic>
          <a:graphicData uri="http://schemas.openxmlformats.org/presentationml/2006/ole">
            <p:oleObj spid="_x0000_s218118" name="Equation" r:id="rId5" imgW="3657600" imgH="9652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305800" cy="6477000"/>
          </a:xfrm>
        </p:spPr>
        <p:txBody>
          <a:bodyPr>
            <a:noAutofit/>
          </a:bodyPr>
          <a:lstStyle/>
          <a:p>
            <a:r>
              <a:rPr lang="en-US" sz="2400"/>
              <a:t>Using the Gaunt formula and the addition theorem, we get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	Further simplification is accomplished with the aid of the orthogonality property of the 3</a:t>
            </a:r>
            <a:r>
              <a:rPr lang="en-US" sz="2400" i="1"/>
              <a:t>j</a:t>
            </a:r>
            <a:r>
              <a:rPr lang="en-US" sz="2400"/>
              <a:t> symbol and the addition theorem. The final result is</a:t>
            </a:r>
          </a:p>
          <a:p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w</a:t>
            </a:r>
            <a:r>
              <a:rPr lang="en-US" sz="2400"/>
              <a:t> is the angle between </a:t>
            </a:r>
            <a:r>
              <a:rPr lang="en-US" sz="2400" b="1"/>
              <a:t>r</a:t>
            </a:r>
            <a:r>
              <a:rPr lang="en-US" sz="2400" baseline="-25000"/>
              <a:t>1</a:t>
            </a:r>
            <a:r>
              <a:rPr lang="en-US" sz="2400"/>
              <a:t> and </a:t>
            </a:r>
            <a:r>
              <a:rPr lang="en-US" sz="2400" b="1"/>
              <a:t>r</a:t>
            </a:r>
            <a:r>
              <a:rPr lang="en-US" sz="2400"/>
              <a:t>’</a:t>
            </a:r>
            <a:r>
              <a:rPr lang="en-US" sz="2400" baseline="-25000"/>
              <a:t>1</a:t>
            </a:r>
            <a:r>
              <a:rPr lang="en-US" sz="2400"/>
              <a:t>, </a:t>
            </a:r>
            <a:endParaRPr lang="ko-KR" altLang="en-US" sz="2400"/>
          </a:p>
          <a:p>
            <a:endParaRPr lang="ko-KR" altLang="en-US" sz="2400"/>
          </a:p>
        </p:txBody>
      </p:sp>
      <p:graphicFrame>
        <p:nvGraphicFramePr>
          <p:cNvPr id="219141" name="Object 5"/>
          <p:cNvGraphicFramePr>
            <a:graphicFrameLocks noChangeAspect="1"/>
          </p:cNvGraphicFramePr>
          <p:nvPr/>
        </p:nvGraphicFramePr>
        <p:xfrm>
          <a:off x="1524000" y="1030287"/>
          <a:ext cx="6262688" cy="2551113"/>
        </p:xfrm>
        <a:graphic>
          <a:graphicData uri="http://schemas.openxmlformats.org/presentationml/2006/ole">
            <p:oleObj spid="_x0000_s219141" name="Equation" r:id="rId3" imgW="4178300" imgH="1701800" progId="Equation.3">
              <p:embed/>
            </p:oleObj>
          </a:graphicData>
        </a:graphic>
      </p:graphicFrame>
      <p:graphicFrame>
        <p:nvGraphicFramePr>
          <p:cNvPr id="219142" name="Object 6"/>
          <p:cNvGraphicFramePr>
            <a:graphicFrameLocks noChangeAspect="1"/>
          </p:cNvGraphicFramePr>
          <p:nvPr/>
        </p:nvGraphicFramePr>
        <p:xfrm>
          <a:off x="1658938" y="4918075"/>
          <a:ext cx="6062662" cy="1101725"/>
        </p:xfrm>
        <a:graphic>
          <a:graphicData uri="http://schemas.openxmlformats.org/presentationml/2006/ole">
            <p:oleObj spid="_x0000_s219142" name="Equation" r:id="rId4" imgW="4051300" imgH="73660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05800" cy="5257800"/>
          </a:xfrm>
        </p:spPr>
        <p:txBody>
          <a:bodyPr>
            <a:noAutofit/>
          </a:bodyPr>
          <a:lstStyle/>
          <a:p>
            <a:r>
              <a:rPr lang="en-US" sz="2400"/>
              <a:t>Note that </a:t>
            </a:r>
            <a:r>
              <a:rPr lang="en-US" sz="2400" i="1"/>
              <a:t>U</a:t>
            </a:r>
            <a:r>
              <a:rPr lang="en-US" sz="2400" i="1" baseline="-25000"/>
              <a:t>ex</a:t>
            </a:r>
            <a:r>
              <a:rPr lang="en-US" sz="2400"/>
              <a:t> only depends on the magnitudes </a:t>
            </a:r>
            <a:r>
              <a:rPr lang="en-US" sz="2400" i="1"/>
              <a:t>r</a:t>
            </a:r>
            <a:r>
              <a:rPr lang="en-US" sz="2400" baseline="-25000"/>
              <a:t>1</a:t>
            </a:r>
            <a:r>
              <a:rPr lang="en-US" sz="2400"/>
              <a:t> and </a:t>
            </a:r>
            <a:r>
              <a:rPr lang="en-US" sz="2400" i="1"/>
              <a:t>r’</a:t>
            </a:r>
            <a:r>
              <a:rPr lang="en-US" sz="2400" baseline="-25000"/>
              <a:t>1</a:t>
            </a:r>
            <a:r>
              <a:rPr lang="en-US" sz="2400"/>
              <a:t> and on the angle </a:t>
            </a:r>
            <a:r>
              <a:rPr lang="en-US" sz="2400" i="1"/>
              <a:t>w. </a:t>
            </a:r>
          </a:p>
          <a:p>
            <a:r>
              <a:rPr lang="en-US" sz="2400"/>
              <a:t>The exchange potential is obtained by integrating		over </a:t>
            </a:r>
            <a:r>
              <a:rPr lang="en-US" sz="2400" b="1"/>
              <a:t>r</a:t>
            </a:r>
            <a:r>
              <a:rPr lang="en-US" sz="2400"/>
              <a:t>’</a:t>
            </a:r>
            <a:r>
              <a:rPr lang="en-US" sz="2400" baseline="-25000"/>
              <a:t>1</a:t>
            </a:r>
            <a:r>
              <a:rPr lang="en-US" sz="2400"/>
              <a:t>. The </a:t>
            </a:r>
            <a:r>
              <a:rPr lang="en-US" altLang="ko-KR" sz="2400"/>
              <a:t>angular part of the integral contains</a:t>
            </a:r>
            <a:endParaRPr lang="ko-KR" altLang="en-US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sz="2400"/>
          </a:p>
          <a:p>
            <a:pPr>
              <a:buNone/>
            </a:pPr>
            <a:r>
              <a:rPr lang="en-US" sz="2400"/>
              <a:t>	where we used the spherical harmonic addition theorem</a:t>
            </a:r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</p:txBody>
      </p:sp>
      <p:graphicFrame>
        <p:nvGraphicFramePr>
          <p:cNvPr id="220164" name="Object 4"/>
          <p:cNvGraphicFramePr>
            <a:graphicFrameLocks noChangeAspect="1"/>
          </p:cNvGraphicFramePr>
          <p:nvPr/>
        </p:nvGraphicFramePr>
        <p:xfrm>
          <a:off x="7658100" y="1398243"/>
          <a:ext cx="1257300" cy="285750"/>
        </p:xfrm>
        <a:graphic>
          <a:graphicData uri="http://schemas.openxmlformats.org/presentationml/2006/ole">
            <p:oleObj spid="_x0000_s220164" name="Equation" r:id="rId3" imgW="838200" imgH="190500" progId="Equation.3">
              <p:embed/>
            </p:oleObj>
          </a:graphicData>
        </a:graphic>
      </p:graphicFrame>
      <p:graphicFrame>
        <p:nvGraphicFramePr>
          <p:cNvPr id="220166" name="Object 6"/>
          <p:cNvGraphicFramePr>
            <a:graphicFrameLocks noChangeAspect="1"/>
          </p:cNvGraphicFramePr>
          <p:nvPr/>
        </p:nvGraphicFramePr>
        <p:xfrm>
          <a:off x="2808288" y="4791075"/>
          <a:ext cx="3290887" cy="663575"/>
        </p:xfrm>
        <a:graphic>
          <a:graphicData uri="http://schemas.openxmlformats.org/presentationml/2006/ole">
            <p:oleObj spid="_x0000_s220166" name="Equation" r:id="rId4" imgW="2197100" imgH="444500" progId="Equation.3">
              <p:embed/>
            </p:oleObj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070100" y="2209800"/>
          <a:ext cx="4770438" cy="1990725"/>
        </p:xfrm>
        <a:graphic>
          <a:graphicData uri="http://schemas.openxmlformats.org/presentationml/2006/ole">
            <p:oleObj spid="_x0000_s220167" name="Equation" r:id="rId5" imgW="3187700" imgH="13335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3657600"/>
          </a:xfrm>
        </p:spPr>
        <p:txBody>
          <a:bodyPr>
            <a:noAutofit/>
          </a:bodyPr>
          <a:lstStyle/>
          <a:p>
            <a:r>
              <a:rPr lang="en-US" sz="2400"/>
              <a:t>Therefore,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altLang="ko-KR" sz="2400"/>
              <a:t>	where it is shown that the exchange potential depends on radial coordinates </a:t>
            </a:r>
            <a:r>
              <a:rPr lang="en-US" altLang="ko-KR" sz="2400" i="1">
                <a:latin typeface="Times New Roman"/>
                <a:cs typeface="Times New Roman"/>
              </a:rPr>
              <a:t>r</a:t>
            </a:r>
            <a:r>
              <a:rPr lang="en-US" altLang="ko-KR" sz="2400" baseline="-25000"/>
              <a:t>1</a:t>
            </a:r>
            <a:r>
              <a:rPr lang="en-US" altLang="ko-KR" sz="2400"/>
              <a:t> only.</a:t>
            </a:r>
            <a:endParaRPr lang="ko-KR" altLang="en-US" sz="2400"/>
          </a:p>
        </p:txBody>
      </p:sp>
      <p:graphicFrame>
        <p:nvGraphicFramePr>
          <p:cNvPr id="220168" name="Object 8"/>
          <p:cNvGraphicFramePr>
            <a:graphicFrameLocks noChangeAspect="1"/>
          </p:cNvGraphicFramePr>
          <p:nvPr/>
        </p:nvGraphicFramePr>
        <p:xfrm>
          <a:off x="1428750" y="962025"/>
          <a:ext cx="6686550" cy="2381250"/>
        </p:xfrm>
        <a:graphic>
          <a:graphicData uri="http://schemas.openxmlformats.org/presentationml/2006/ole">
            <p:oleObj spid="_x0000_s221189" name="Equation" r:id="rId3" imgW="4457700" imgH="15875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Computational Methods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/>
              <a:t>Hartree-Fock-Self-Consistent Field (HF-SCF) method</a:t>
            </a:r>
            <a:endParaRPr lang="ko-KR" altLang="en-US"/>
          </a:p>
          <a:p>
            <a:pPr lvl="0"/>
            <a:r>
              <a:rPr lang="en-US"/>
              <a:t>With initial selection of spin orbitals we calculate the Coulomb and exchange potentials. </a:t>
            </a:r>
            <a:endParaRPr lang="ko-KR" altLang="en-US"/>
          </a:p>
          <a:p>
            <a:pPr lvl="0"/>
            <a:r>
              <a:rPr lang="en-US"/>
              <a:t>With these approximate potentials we calculate the resulting one-electron eigenvalue equation. </a:t>
            </a:r>
            <a:endParaRPr lang="ko-KR" altLang="en-US"/>
          </a:p>
          <a:p>
            <a:pPr lvl="0"/>
            <a:r>
              <a:rPr lang="en-US"/>
              <a:t>This process is continued until the difference between two sets of orbitals in successive cycles of computation is within a desired accuracy.</a:t>
            </a:r>
            <a:endParaRPr lang="ko-KR" altLang="en-US"/>
          </a:p>
          <a:p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534400" cy="6629400"/>
          </a:xfrm>
        </p:spPr>
        <p:txBody>
          <a:bodyPr>
            <a:noAutofit/>
          </a:bodyPr>
          <a:lstStyle/>
          <a:p>
            <a:pPr lvl="0"/>
            <a:r>
              <a:rPr lang="en-US" sz="2200" dirty="0"/>
              <a:t>When the spin </a:t>
            </a:r>
            <a:r>
              <a:rPr lang="en-US" sz="2200" dirty="0" err="1"/>
              <a:t>orbitals</a:t>
            </a:r>
            <a:r>
              <a:rPr lang="en-US" sz="2200" dirty="0"/>
              <a:t> are of the central field form (at least approximately), the </a:t>
            </a:r>
            <a:r>
              <a:rPr lang="en-US" sz="2200" dirty="0" err="1"/>
              <a:t>Hartree-Fock</a:t>
            </a:r>
            <a:r>
              <a:rPr lang="en-US" sz="2200" dirty="0"/>
              <a:t> equations can be reduced to radial equations only, which are called the radial </a:t>
            </a:r>
            <a:r>
              <a:rPr lang="en-US" sz="2200" dirty="0" err="1"/>
              <a:t>Hatree-Fock</a:t>
            </a:r>
            <a:r>
              <a:rPr lang="en-US" sz="2200" dirty="0"/>
              <a:t> equation, given by</a:t>
            </a:r>
          </a:p>
          <a:p>
            <a:pPr lvl="0"/>
            <a:endParaRPr lang="en-US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>
              <a:buNone/>
            </a:pPr>
            <a:r>
              <a:rPr lang="en-US" altLang="ko-KR" sz="2200" dirty="0"/>
              <a:t>	where</a:t>
            </a:r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 lvl="0"/>
            <a:endParaRPr lang="en-US" altLang="ko-KR" sz="2200" dirty="0"/>
          </a:p>
          <a:p>
            <a:pPr>
              <a:buNone/>
            </a:pPr>
            <a:r>
              <a:rPr lang="en-US" sz="2200" dirty="0"/>
              <a:t>	Here     and     are the diagonal and off-diagonal Lagrange multipliers in the </a:t>
            </a:r>
            <a:r>
              <a:rPr lang="en-US" sz="2200" dirty="0" err="1"/>
              <a:t>Hatree-Fock</a:t>
            </a:r>
            <a:r>
              <a:rPr lang="en-US" sz="2200" dirty="0"/>
              <a:t> equations and     is the number of electrons in a particular shell (not necessarily a closed shell). </a:t>
            </a:r>
            <a:endParaRPr lang="ko-KR" altLang="en-US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en-US" altLang="ja-JP" sz="2200" dirty="0"/>
          </a:p>
          <a:p>
            <a:endParaRPr lang="ja-JP" altLang="en-US" sz="2200" dirty="0"/>
          </a:p>
        </p:txBody>
      </p:sp>
      <p:graphicFrame>
        <p:nvGraphicFramePr>
          <p:cNvPr id="224258" name="Object 2"/>
          <p:cNvGraphicFramePr>
            <a:graphicFrameLocks noChangeAspect="1"/>
          </p:cNvGraphicFramePr>
          <p:nvPr/>
        </p:nvGraphicFramePr>
        <p:xfrm>
          <a:off x="685800" y="1752600"/>
          <a:ext cx="7848600" cy="1447800"/>
        </p:xfrm>
        <a:graphic>
          <a:graphicData uri="http://schemas.openxmlformats.org/presentationml/2006/ole">
            <p:oleObj spid="_x0000_s224258" name="Equation" r:id="rId3" imgW="5232400" imgH="965200" progId="Equation.3">
              <p:embed/>
            </p:oleObj>
          </a:graphicData>
        </a:graphic>
      </p:graphicFrame>
      <p:graphicFrame>
        <p:nvGraphicFramePr>
          <p:cNvPr id="224259" name="Object 3"/>
          <p:cNvGraphicFramePr>
            <a:graphicFrameLocks noChangeAspect="1"/>
          </p:cNvGraphicFramePr>
          <p:nvPr/>
        </p:nvGraphicFramePr>
        <p:xfrm>
          <a:off x="1200150" y="3886200"/>
          <a:ext cx="6953250" cy="1295400"/>
        </p:xfrm>
        <a:graphic>
          <a:graphicData uri="http://schemas.openxmlformats.org/presentationml/2006/ole">
            <p:oleObj spid="_x0000_s224259" name="Equation" r:id="rId4" imgW="4635500" imgH="863600" progId="Equation.3">
              <p:embed/>
            </p:oleObj>
          </a:graphicData>
        </a:graphic>
      </p:graphicFrame>
      <p:graphicFrame>
        <p:nvGraphicFramePr>
          <p:cNvPr id="224260" name="Object 4"/>
          <p:cNvGraphicFramePr>
            <a:graphicFrameLocks noChangeAspect="1"/>
          </p:cNvGraphicFramePr>
          <p:nvPr/>
        </p:nvGraphicFramePr>
        <p:xfrm>
          <a:off x="1600200" y="5446713"/>
          <a:ext cx="171450" cy="266700"/>
        </p:xfrm>
        <a:graphic>
          <a:graphicData uri="http://schemas.openxmlformats.org/presentationml/2006/ole">
            <p:oleObj spid="_x0000_s224260" name="Equation" r:id="rId5" imgW="114300" imgH="177800" progId="Equation.3">
              <p:embed/>
            </p:oleObj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438400" y="5445425"/>
          <a:ext cx="228600" cy="304800"/>
        </p:xfrm>
        <a:graphic>
          <a:graphicData uri="http://schemas.openxmlformats.org/presentationml/2006/ole">
            <p:oleObj spid="_x0000_s224261" name="Equation" r:id="rId6" imgW="152400" imgH="203200" progId="Equation.3">
              <p:embed/>
            </p:oleObj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6409681" y="5776868"/>
          <a:ext cx="247650" cy="266700"/>
        </p:xfrm>
        <a:graphic>
          <a:graphicData uri="http://schemas.openxmlformats.org/presentationml/2006/ole">
            <p:oleObj spid="_x0000_s224262" name="Equation" r:id="rId7" imgW="1651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439</TotalTime>
  <Words>508</Words>
  <Application>Microsoft Macintosh PowerPoint</Application>
  <PresentationFormat>On-screen Show (4:3)</PresentationFormat>
  <Paragraphs>89</Paragraphs>
  <Slides>11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Technic</vt:lpstr>
      <vt:lpstr>Equation</vt:lpstr>
      <vt:lpstr>Atomic and Molecular Physics  Lecture 14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Computational Methods</vt:lpstr>
      <vt:lpstr>Slide 11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45</cp:revision>
  <dcterms:created xsi:type="dcterms:W3CDTF">2009-11-16T14:18:55Z</dcterms:created>
  <dcterms:modified xsi:type="dcterms:W3CDTF">2009-11-16T14:19:17Z</dcterms:modified>
</cp:coreProperties>
</file>