
<file path=[Content_Types].xml><?xml version="1.0" encoding="utf-8"?>
<Types xmlns="http://schemas.openxmlformats.org/package/2006/content-types">
  <Default Extension="pict" ContentType="image/pict"/>
  <Override PartName="/ppt/embeddings/Microsoft_Equation12.bin" ContentType="application/vnd.openxmlformats-officedocument.oleObject"/>
  <Override PartName="/ppt/slides/slide9.xml" ContentType="application/vnd.openxmlformats-officedocument.presentationml.slide+xml"/>
  <Override PartName="/ppt/embeddings/Microsoft_Equation36.bin" ContentType="application/vnd.openxmlformats-officedocument.oleObject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5.xml" ContentType="application/vnd.openxmlformats-officedocument.presentationml.slide+xml"/>
  <Override PartName="/ppt/embeddings/Microsoft_Equation7.bin" ContentType="application/vnd.openxmlformats-officedocument.oleObject"/>
  <Override PartName="/ppt/embeddings/Microsoft_Equation24.bin" ContentType="application/vnd.openxmlformats-officedocument.oleObject"/>
  <Override PartName="/ppt/embeddings/Microsoft_Equation32.bin" ContentType="application/vnd.openxmlformats-officedocument.oleObject"/>
  <Override PartName="/ppt/slides/slide10.xml" ContentType="application/vnd.openxmlformats-officedocument.presentationml.slide+xml"/>
  <Override PartName="/ppt/slideLayouts/slideLayout5.xml" ContentType="application/vnd.openxmlformats-officedocument.presentationml.slideLayout+xml"/>
  <Default Extension="jpeg" ContentType="image/jpeg"/>
  <Override PartName="/ppt/slides/slide1.xml" ContentType="application/vnd.openxmlformats-officedocument.presentationml.slide+xml"/>
  <Override PartName="/ppt/embeddings/Microsoft_Equation3.bin" ContentType="application/vnd.openxmlformats-officedocument.oleObject"/>
  <Override PartName="/ppt/embeddings/Microsoft_Equation20.bin" ContentType="application/vnd.openxmlformats-officedocument.oleObject"/>
  <Override PartName="/ppt/embeddings/Microsoft_Equation29.bin" ContentType="application/vnd.openxmlformats-officedocument.oleObject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Default Extension="rels" ContentType="application/vnd.openxmlformats-package.relationships+xml"/>
  <Override PartName="/ppt/embeddings/Microsoft_Equation17.bin" ContentType="application/vnd.openxmlformats-officedocument.oleObject"/>
  <Default Extension="xml" ContentType="application/xml"/>
  <Override PartName="/ppt/tableStyles.xml" ContentType="application/vnd.openxmlformats-officedocument.presentationml.tableStyles+xml"/>
  <Override PartName="/ppt/embeddings/Microsoft_Equation13.bin" ContentType="application/vnd.openxmlformats-officedocument.oleObject"/>
  <Override PartName="/ppt/embeddings/Microsoft_Equation37.bin" ContentType="application/vnd.openxmlformats-officedocument.oleObject"/>
  <Override PartName="/ppt/embeddings/Microsoft_Equation8.bin" ContentType="application/vnd.openxmlformats-officedocument.oleObject"/>
  <Override PartName="/ppt/slides/slide6.xml" ContentType="application/vnd.openxmlformats-officedocument.presentationml.slide+xml"/>
  <Override PartName="/ppt/embeddings/Microsoft_Equation25.bin" ContentType="application/vnd.openxmlformats-officedocument.oleObject"/>
  <Override PartName="/ppt/embeddings/Microsoft_Equation33.bin" ContentType="application/vnd.openxmlformats-officedocument.oleObject"/>
  <Override PartName="/ppt/slides/slide11.xml" ContentType="application/vnd.openxmlformats-officedocument.presentationml.slide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embeddings/Microsoft_Equation4.bin" ContentType="application/vnd.openxmlformats-officedocument.oleObject"/>
  <Override PartName="/ppt/slides/slide2.xml" ContentType="application/vnd.openxmlformats-officedocument.presentationml.slide+xml"/>
  <Override PartName="/ppt/embeddings/Microsoft_Equation21.bin" ContentType="application/vnd.openxmlformats-officedocument.oleObject"/>
  <Override PartName="/ppt/slideLayouts/slideLayout2.xml" ContentType="application/vnd.openxmlformats-officedocument.presentationml.slideLayout+xml"/>
  <Override PartName="/ppt/embeddings/Microsoft_Equation18.bin" ContentType="application/vnd.openxmlformats-officedocument.oleObject"/>
  <Override PartName="/ppt/embeddings/Microsoft_Equation26.bin" ContentType="application/vnd.openxmlformats-officedocument.oleObject"/>
  <Override PartName="/ppt/embeddings/Microsoft_Equation14.bin" ContentType="application/vnd.openxmlformats-officedocument.oleObject"/>
  <Override PartName="/ppt/embeddings/Microsoft_Equation10.bin" ContentType="application/vnd.openxmlformats-officedocument.oleObject"/>
  <Override PartName="/ppt/slides/slide7.xml" ContentType="application/vnd.openxmlformats-officedocument.presentationml.slide+xml"/>
  <Override PartName="/ppt/embeddings/Microsoft_Equation9.bin" ContentType="application/vnd.openxmlformats-officedocument.oleObject"/>
  <Override PartName="/ppt/presentation.xml" ContentType="application/vnd.openxmlformats-officedocument.presentationml.presentation.main+xml"/>
  <Override PartName="/ppt/embeddings/Microsoft_Equation34.bin" ContentType="application/vnd.openxmlformats-officedocument.oleObject"/>
  <Override PartName="/ppt/slides/slide12.xml" ContentType="application/vnd.openxmlformats-officedocument.presentationml.slide+xml"/>
  <Default Extension="vml" ContentType="application/vnd.openxmlformats-officedocument.vmlDrawing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embeddings/Microsoft_Equation5.bin" ContentType="application/vnd.openxmlformats-officedocument.oleObject"/>
  <Override PartName="/ppt/embeddings/Microsoft_Equation22.bin" ContentType="application/vnd.openxmlformats-officedocument.oleObject"/>
  <Override PartName="/ppt/embeddings/Microsoft_Equation30.bin" ContentType="application/vnd.openxmlformats-officedocument.oleObject"/>
  <Override PartName="/ppt/slideLayouts/slideLayout3.xml" ContentType="application/vnd.openxmlformats-officedocument.presentationml.slideLayout+xml"/>
  <Override PartName="/ppt/embeddings/Microsoft_Equation1.bin" ContentType="application/vnd.openxmlformats-officedocument.oleObject"/>
  <Override PartName="/ppt/embeddings/Microsoft_Equation19.bin" ContentType="application/vnd.openxmlformats-officedocument.oleObject"/>
  <Override PartName="/ppt/embeddings/Microsoft_Equation27.bin" ContentType="application/vnd.openxmlformats-officedocument.oleObject"/>
  <Override PartName="/ppt/embeddings/Microsoft_Equation15.bin" ContentType="application/vnd.openxmlformats-officedocument.oleObject"/>
  <Override PartName="/ppt/embeddings/Microsoft_Equation11.bin" ContentType="application/vnd.openxmlformats-officedocument.oleObject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embeddings/Microsoft_Equation35.bin" ContentType="application/vnd.openxmlformats-officedocument.oleObject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embeddings/Microsoft_Equation6.bin" ContentType="application/vnd.openxmlformats-officedocument.oleObject"/>
  <Override PartName="/ppt/slides/slide4.xml" ContentType="application/vnd.openxmlformats-officedocument.presentationml.slide+xml"/>
  <Override PartName="/ppt/embeddings/Microsoft_Equation23.bin" ContentType="application/vnd.openxmlformats-officedocument.oleObject"/>
  <Override PartName="/ppt/embeddings/Microsoft_Equation31.bin" ContentType="application/vnd.openxmlformats-officedocument.oleObject"/>
  <Override PartName="/ppt/slideLayouts/slideLayout4.xml" ContentType="application/vnd.openxmlformats-officedocument.presentationml.slideLayout+xml"/>
  <Override PartName="/ppt/embeddings/Microsoft_Equation2.bin" ContentType="application/vnd.openxmlformats-officedocument.oleObject"/>
  <Override PartName="/ppt/slideMasters/slideMaster1.xml" ContentType="application/vnd.openxmlformats-officedocument.presentationml.slideMaster+xml"/>
  <Override PartName="/ppt/embeddings/Microsoft_Equation28.bin" ContentType="application/vnd.openxmlformats-officedocument.oleObject"/>
  <Override PartName="/ppt/theme/theme1.xml" ContentType="application/vnd.openxmlformats-officedocument.theme+xml"/>
  <Override PartName="/ppt/viewProps.xml" ContentType="application/vnd.openxmlformats-officedocument.presentationml.viewProps+xml"/>
  <Default Extension="bin" ContentType="application/vnd.openxmlformats-officedocument.presentationml.printerSettings"/>
  <Override PartName="/ppt/embeddings/Microsoft_Equation16.bin" ContentType="application/vnd.openxmlformats-officedocument.oleObject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 autoCompressPictures="0">
  <p:sldMasterIdLst>
    <p:sldMasterId id="214748382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ja-JP"/>
    </a:defPPr>
    <a:lvl1pPr marL="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showPr showNarration="1" useTimings="0">
    <p:present/>
    <p:sldAll/>
    <p:penClr>
      <a:schemeClr val="tx1"/>
    </p:penClr>
  </p:showPr>
  <p:clrMru>
    <a:srgbClr val="00FF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normalViewPr>
    <p:restoredLeft sz="15620"/>
    <p:restoredTop sz="94660"/>
  </p:normalViewPr>
  <p:slideViewPr>
    <p:cSldViewPr snapToObjects="1">
      <p:cViewPr varScale="1">
        <p:scale>
          <a:sx n="140" d="100"/>
          <a:sy n="140" d="100"/>
        </p:scale>
        <p:origin x="-536" y="-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printerSettings" Target="printerSettings/printerSettings1.bin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ict"/><Relationship Id="rId2" Type="http://schemas.openxmlformats.org/officeDocument/2006/relationships/image" Target="../media/image2.pict"/><Relationship Id="rId3" Type="http://schemas.openxmlformats.org/officeDocument/2006/relationships/image" Target="../media/image3.pict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pict"/><Relationship Id="rId4" Type="http://schemas.openxmlformats.org/officeDocument/2006/relationships/image" Target="../media/image7.pict"/><Relationship Id="rId1" Type="http://schemas.openxmlformats.org/officeDocument/2006/relationships/image" Target="../media/image4.pict"/><Relationship Id="rId2" Type="http://schemas.openxmlformats.org/officeDocument/2006/relationships/image" Target="../media/image5.pict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pict"/><Relationship Id="rId2" Type="http://schemas.openxmlformats.org/officeDocument/2006/relationships/image" Target="../media/image9.pict"/><Relationship Id="rId3" Type="http://schemas.openxmlformats.org/officeDocument/2006/relationships/image" Target="../media/image10.pict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ict"/><Relationship Id="rId4" Type="http://schemas.openxmlformats.org/officeDocument/2006/relationships/image" Target="../media/image14.pict"/><Relationship Id="rId5" Type="http://schemas.openxmlformats.org/officeDocument/2006/relationships/image" Target="../media/image15.pict"/><Relationship Id="rId1" Type="http://schemas.openxmlformats.org/officeDocument/2006/relationships/image" Target="../media/image11.pict"/><Relationship Id="rId2" Type="http://schemas.openxmlformats.org/officeDocument/2006/relationships/image" Target="../media/image12.pict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pict"/><Relationship Id="rId2" Type="http://schemas.openxmlformats.org/officeDocument/2006/relationships/image" Target="../media/image17.pict"/><Relationship Id="rId3" Type="http://schemas.openxmlformats.org/officeDocument/2006/relationships/image" Target="../media/image18.pict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pict"/><Relationship Id="rId2" Type="http://schemas.openxmlformats.org/officeDocument/2006/relationships/image" Target="../media/image20.pict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pict"/><Relationship Id="rId2" Type="http://schemas.openxmlformats.org/officeDocument/2006/relationships/image" Target="../media/image22.pict"/><Relationship Id="rId3" Type="http://schemas.openxmlformats.org/officeDocument/2006/relationships/image" Target="../media/image23.pict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pict"/><Relationship Id="rId2" Type="http://schemas.openxmlformats.org/officeDocument/2006/relationships/image" Target="../media/image25.pict"/><Relationship Id="rId3" Type="http://schemas.openxmlformats.org/officeDocument/2006/relationships/image" Target="../media/image26.pict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ict"/><Relationship Id="rId4" Type="http://schemas.openxmlformats.org/officeDocument/2006/relationships/image" Target="../media/image30.pict"/><Relationship Id="rId1" Type="http://schemas.openxmlformats.org/officeDocument/2006/relationships/image" Target="../media/image27.pict"/><Relationship Id="rId2" Type="http://schemas.openxmlformats.org/officeDocument/2006/relationships/image" Target="../media/image28.pict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ict"/><Relationship Id="rId4" Type="http://schemas.openxmlformats.org/officeDocument/2006/relationships/image" Target="../media/image34.pict"/><Relationship Id="rId1" Type="http://schemas.openxmlformats.org/officeDocument/2006/relationships/image" Target="../media/image31.pict"/><Relationship Id="rId2" Type="http://schemas.openxmlformats.org/officeDocument/2006/relationships/image" Target="../media/image32.pict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pict"/><Relationship Id="rId2" Type="http://schemas.openxmlformats.org/officeDocument/2006/relationships/image" Target="../media/image36.pict"/><Relationship Id="rId3" Type="http://schemas.openxmlformats.org/officeDocument/2006/relationships/image" Target="../media/image26.pict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30124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433050" y="1544812"/>
            <a:ext cx="6480048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altLang="ja-JP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09.10.14</a:t>
            </a:fld>
            <a:endParaRPr lang="ja-JP" alt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41667-7291-42E8-B00B-345BA5840895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09.10.14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83837"/>
            <a:ext cx="66294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485800"/>
            <a:ext cx="66294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B4A3-4212-4E39-93DE-E053E8F69C28}" type="datetimeFigureOut">
              <a:rPr lang="en-US" altLang="ja-JP" smtClean="0"/>
              <a:pPr/>
              <a:t>09.10.14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CDF73-85D2-4237-9B32-053DBDB0C312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09.10.14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86400"/>
            <a:ext cx="4040188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5486400"/>
            <a:ext cx="4041775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516912"/>
            <a:ext cx="404018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516912"/>
            <a:ext cx="4041775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09.10.14</a:t>
            </a:fld>
            <a:endParaRPr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7470648" cy="114300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09.10.14</a:t>
            </a:fld>
            <a:endParaRPr lang="ja-JP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09.10.14</a:t>
            </a:fld>
            <a:endParaRPr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27432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7086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09.10.14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56448" y="6422064"/>
            <a:ext cx="762000" cy="365125"/>
          </a:xfrm>
        </p:spPr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56732" y="1705709"/>
            <a:ext cx="3053868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65628" y="1019907"/>
            <a:ext cx="41148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altLang="ja-JP" dirty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56734" y="2998765"/>
            <a:ext cx="3053866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422064"/>
            <a:ext cx="2133600" cy="365125"/>
          </a:xfrm>
        </p:spPr>
        <p:txBody>
          <a:bodyPr/>
          <a:lstStyle/>
          <a:p>
            <a:fld id="{66E5988B-D4EB-4E73-AE89-924C64C03B8C}" type="datetimeFigureOut">
              <a:rPr lang="ko-KR" altLang="ja-JP"/>
              <a:pPr/>
              <a:t>09.10.14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09.10.14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09.10.14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en-US" altLang="ja-JP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altLang="ja-JP" smtClean="0"/>
              <a:t>Click to edit Master text styles</a:t>
            </a:r>
          </a:p>
          <a:p>
            <a:pPr lvl="1" eaLnBrk="1" latinLnBrk="0" hangingPunct="1"/>
            <a:r>
              <a:rPr kumimoji="0" lang="en-US" altLang="ja-JP" smtClean="0"/>
              <a:t>Second level</a:t>
            </a:r>
          </a:p>
          <a:p>
            <a:pPr lvl="2" eaLnBrk="1" latinLnBrk="0" hangingPunct="1"/>
            <a:r>
              <a:rPr kumimoji="0" lang="en-US" altLang="ja-JP" smtClean="0"/>
              <a:t>Third level</a:t>
            </a:r>
          </a:p>
          <a:p>
            <a:pPr lvl="3" eaLnBrk="1" latinLnBrk="0" hangingPunct="1"/>
            <a:r>
              <a:rPr kumimoji="0" lang="en-US" altLang="ja-JP" smtClean="0"/>
              <a:t>Fourth level</a:t>
            </a:r>
          </a:p>
          <a:p>
            <a:pPr lvl="4" eaLnBrk="1" latinLnBrk="0" hangingPunct="1"/>
            <a:r>
              <a:rPr kumimoji="0" lang="en-US" altLang="ja-JP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422064"/>
            <a:ext cx="21336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66E5988B-D4EB-4E73-AE89-924C64C03B8C}" type="datetimeFigureOut">
              <a:rPr lang="ko-KR" altLang="ja-JP"/>
              <a:pPr/>
              <a:t>09.10.14</a:t>
            </a:fld>
            <a:endParaRPr lang="ja-JP" alt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124200" y="6422064"/>
            <a:ext cx="28956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endParaRPr lang="ja-JP" alt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153400" y="6422064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30" r:id="rId1"/>
    <p:sldLayoutId id="2147483831" r:id="rId2"/>
    <p:sldLayoutId id="2147483832" r:id="rId3"/>
    <p:sldLayoutId id="2147483833" r:id="rId4"/>
    <p:sldLayoutId id="2147483834" r:id="rId5"/>
    <p:sldLayoutId id="2147483835" r:id="rId6"/>
    <p:sldLayoutId id="2147483836" r:id="rId7"/>
    <p:sldLayoutId id="2147483837" r:id="rId8"/>
    <p:sldLayoutId id="2147483838" r:id="rId9"/>
    <p:sldLayoutId id="2147483839" r:id="rId10"/>
    <p:sldLayoutId id="2147483840" r:id="rId11"/>
  </p:sldLayoutIdLst>
  <p:txStyles>
    <p:titleStyle>
      <a:lvl1pPr algn="l" rtl="0" eaLnBrk="1" latinLnBrk="0" hangingPunct="1">
        <a:spcBef>
          <a:spcPct val="0"/>
        </a:spcBef>
        <a:buNone/>
        <a:defRPr kumimoji="1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1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1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1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1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quation1.bin"/><Relationship Id="rId4" Type="http://schemas.openxmlformats.org/officeDocument/2006/relationships/oleObject" Target="../embeddings/Microsoft_Equation2.bin"/><Relationship Id="rId5" Type="http://schemas.openxmlformats.org/officeDocument/2006/relationships/oleObject" Target="../embeddings/Microsoft_Equation3.bin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quation4.bin"/><Relationship Id="rId4" Type="http://schemas.openxmlformats.org/officeDocument/2006/relationships/oleObject" Target="../embeddings/Microsoft_Equation5.bin"/><Relationship Id="rId5" Type="http://schemas.openxmlformats.org/officeDocument/2006/relationships/oleObject" Target="../embeddings/Microsoft_Equation6.bin"/><Relationship Id="rId6" Type="http://schemas.openxmlformats.org/officeDocument/2006/relationships/oleObject" Target="../embeddings/Microsoft_Equation7.bin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quation8.bin"/><Relationship Id="rId4" Type="http://schemas.openxmlformats.org/officeDocument/2006/relationships/oleObject" Target="../embeddings/Microsoft_Equation9.bin"/><Relationship Id="rId5" Type="http://schemas.openxmlformats.org/officeDocument/2006/relationships/oleObject" Target="../embeddings/Microsoft_Equation10.bin"/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quation11.bin"/><Relationship Id="rId4" Type="http://schemas.openxmlformats.org/officeDocument/2006/relationships/oleObject" Target="../embeddings/Microsoft_Equation12.bin"/><Relationship Id="rId5" Type="http://schemas.openxmlformats.org/officeDocument/2006/relationships/oleObject" Target="../embeddings/Microsoft_Equation13.bin"/><Relationship Id="rId6" Type="http://schemas.openxmlformats.org/officeDocument/2006/relationships/oleObject" Target="../embeddings/Microsoft_Equation14.bin"/><Relationship Id="rId7" Type="http://schemas.openxmlformats.org/officeDocument/2006/relationships/oleObject" Target="../embeddings/Microsoft_Equation15.bin"/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quation16.bin"/><Relationship Id="rId4" Type="http://schemas.openxmlformats.org/officeDocument/2006/relationships/oleObject" Target="../embeddings/Microsoft_Equation17.bin"/><Relationship Id="rId5" Type="http://schemas.openxmlformats.org/officeDocument/2006/relationships/oleObject" Target="../embeddings/Microsoft_Equation18.bin"/><Relationship Id="rId1" Type="http://schemas.openxmlformats.org/officeDocument/2006/relationships/vmlDrawing" Target="../drawings/vmlDrawing5.vml"/><Relationship Id="rId2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quation19.bin"/><Relationship Id="rId4" Type="http://schemas.openxmlformats.org/officeDocument/2006/relationships/oleObject" Target="../embeddings/Microsoft_Equation20.bin"/><Relationship Id="rId1" Type="http://schemas.openxmlformats.org/officeDocument/2006/relationships/vmlDrawing" Target="../drawings/vmlDrawing6.vml"/><Relationship Id="rId2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quation21.bin"/><Relationship Id="rId4" Type="http://schemas.openxmlformats.org/officeDocument/2006/relationships/oleObject" Target="../embeddings/Microsoft_Equation22.bin"/><Relationship Id="rId5" Type="http://schemas.openxmlformats.org/officeDocument/2006/relationships/oleObject" Target="../embeddings/Microsoft_Equation23.bin"/><Relationship Id="rId1" Type="http://schemas.openxmlformats.org/officeDocument/2006/relationships/vmlDrawing" Target="../drawings/vmlDrawing7.vml"/><Relationship Id="rId2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quation24.bin"/><Relationship Id="rId4" Type="http://schemas.openxmlformats.org/officeDocument/2006/relationships/oleObject" Target="../embeddings/Microsoft_Equation25.bin"/><Relationship Id="rId5" Type="http://schemas.openxmlformats.org/officeDocument/2006/relationships/oleObject" Target="../embeddings/Microsoft_Equation26.bin"/><Relationship Id="rId1" Type="http://schemas.openxmlformats.org/officeDocument/2006/relationships/vmlDrawing" Target="../drawings/vmlDrawing8.vml"/><Relationship Id="rId2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quation27.bin"/><Relationship Id="rId4" Type="http://schemas.openxmlformats.org/officeDocument/2006/relationships/oleObject" Target="../embeddings/Microsoft_Equation28.bin"/><Relationship Id="rId5" Type="http://schemas.openxmlformats.org/officeDocument/2006/relationships/oleObject" Target="../embeddings/Microsoft_Equation29.bin"/><Relationship Id="rId6" Type="http://schemas.openxmlformats.org/officeDocument/2006/relationships/oleObject" Target="../embeddings/Microsoft_Equation30.bin"/><Relationship Id="rId1" Type="http://schemas.openxmlformats.org/officeDocument/2006/relationships/vmlDrawing" Target="../drawings/vmlDrawing9.vml"/><Relationship Id="rId2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quation31.bin"/><Relationship Id="rId4" Type="http://schemas.openxmlformats.org/officeDocument/2006/relationships/oleObject" Target="../embeddings/Microsoft_Equation32.bin"/><Relationship Id="rId5" Type="http://schemas.openxmlformats.org/officeDocument/2006/relationships/oleObject" Target="../embeddings/Microsoft_Equation33.bin"/><Relationship Id="rId6" Type="http://schemas.openxmlformats.org/officeDocument/2006/relationships/oleObject" Target="../embeddings/Microsoft_Equation34.bin"/><Relationship Id="rId1" Type="http://schemas.openxmlformats.org/officeDocument/2006/relationships/vmlDrawing" Target="../drawings/vmlDrawing10.vml"/><Relationship Id="rId2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quation35.bin"/><Relationship Id="rId4" Type="http://schemas.openxmlformats.org/officeDocument/2006/relationships/oleObject" Target="../embeddings/Microsoft_Equation36.bin"/><Relationship Id="rId5" Type="http://schemas.openxmlformats.org/officeDocument/2006/relationships/oleObject" Target="../embeddings/Microsoft_Equation37.bin"/><Relationship Id="rId1" Type="http://schemas.openxmlformats.org/officeDocument/2006/relationships/vmlDrawing" Target="../drawings/vmlDrawing11.vml"/><Relationship Id="rId2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606040"/>
          </a:xfrm>
        </p:spPr>
        <p:txBody>
          <a:bodyPr>
            <a:noAutofit/>
          </a:bodyPr>
          <a:lstStyle/>
          <a:p>
            <a:r>
              <a:rPr lang="en-US" altLang="ja-JP" sz="4400"/>
              <a:t>Atomic and Molecular Physics</a:t>
            </a:r>
            <a:r>
              <a:rPr altLang="ja-JP" sz="4400"/>
              <a:t/>
            </a:r>
            <a:br>
              <a:rPr altLang="ja-JP" sz="4400"/>
            </a:br>
            <a:r>
              <a:rPr altLang="ja-JP" sz="4400"/>
              <a:t/>
            </a:r>
            <a:br>
              <a:rPr altLang="ja-JP" sz="4400"/>
            </a:br>
            <a:r>
              <a:rPr altLang="ja-JP" sz="3200">
                <a:solidFill>
                  <a:srgbClr val="00FF00"/>
                </a:solidFill>
              </a:rPr>
              <a:t>Lecture 12</a:t>
            </a:r>
            <a:endParaRPr lang="ja-JP" altLang="en-US" sz="3200">
              <a:solidFill>
                <a:srgbClr val="00FF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ja-JP"/>
              <a:t>Prof. Kyungwon An</a:t>
            </a:r>
          </a:p>
          <a:p>
            <a:r>
              <a:rPr lang="en-US" altLang="ja-JP"/>
              <a:t>Department of Physics and Astronomy</a:t>
            </a:r>
          </a:p>
          <a:p>
            <a:r>
              <a:rPr lang="en-US" altLang="ja-JP"/>
              <a:t>Seoul National University</a:t>
            </a:r>
            <a:endParaRPr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467600" cy="1143000"/>
          </a:xfrm>
        </p:spPr>
        <p:txBody>
          <a:bodyPr>
            <a:normAutofit/>
          </a:bodyPr>
          <a:lstStyle/>
          <a:p>
            <a:r>
              <a:rPr lang="en-US" b="1"/>
              <a:t>Hartree-Fock Equation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5238"/>
            <a:ext cx="8001000" cy="528796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000" b="1" u="sng"/>
              <a:t>a) Derivation</a:t>
            </a:r>
            <a:endParaRPr lang="ko-KR" altLang="en-US" sz="2000" b="1" u="sng"/>
          </a:p>
          <a:p>
            <a:r>
              <a:rPr lang="en-US" sz="2000"/>
              <a:t>Consider </a:t>
            </a:r>
            <a:r>
              <a:rPr lang="en-US" sz="2000" i="1"/>
              <a:t>N</a:t>
            </a:r>
            <a:r>
              <a:rPr lang="en-US" sz="2000"/>
              <a:t>-electron Hamiltonian without the spin-orbit interaction.</a:t>
            </a:r>
          </a:p>
          <a:p>
            <a:endParaRPr lang="en-US" altLang="ko-KR" sz="2000"/>
          </a:p>
          <a:p>
            <a:endParaRPr lang="en-US" altLang="ko-KR" sz="2000"/>
          </a:p>
          <a:p>
            <a:endParaRPr lang="en-US" altLang="ko-KR" sz="2000"/>
          </a:p>
          <a:p>
            <a:endParaRPr lang="en-US" altLang="ko-KR" sz="2000"/>
          </a:p>
          <a:p>
            <a:endParaRPr lang="ko-KR" altLang="en-US" sz="2000"/>
          </a:p>
          <a:p>
            <a:r>
              <a:rPr lang="en-US" sz="2000"/>
              <a:t>Try a trial wave function</a:t>
            </a:r>
            <a:endParaRPr lang="ko-KR" alt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pPr>
              <a:buNone/>
            </a:pPr>
            <a:r>
              <a:rPr lang="en-US" sz="2000"/>
              <a:t>     where          ’s are spin orbitals, i.e., the eigenfunctions of </a:t>
            </a:r>
            <a:r>
              <a:rPr lang="en-US" sz="2000" i="1"/>
              <a:t>H</a:t>
            </a:r>
            <a:r>
              <a:rPr lang="en-US" sz="2000" baseline="-25000"/>
              <a:t>0</a:t>
            </a:r>
            <a:r>
              <a:rPr lang="en-US" sz="2000"/>
              <a:t>(</a:t>
            </a:r>
            <a:r>
              <a:rPr lang="en-US" sz="2000" i="1"/>
              <a:t>j</a:t>
            </a:r>
            <a:r>
              <a:rPr lang="en-US" sz="2000"/>
              <a:t>) in the zeroth approximation.</a:t>
            </a:r>
            <a:endParaRPr lang="ko-KR" altLang="en-US" sz="2000"/>
          </a:p>
        </p:txBody>
      </p:sp>
      <p:graphicFrame>
        <p:nvGraphicFramePr>
          <p:cNvPr id="26629" name="Object 5"/>
          <p:cNvGraphicFramePr>
            <a:graphicFrameLocks noChangeAspect="1"/>
          </p:cNvGraphicFramePr>
          <p:nvPr/>
        </p:nvGraphicFramePr>
        <p:xfrm>
          <a:off x="1800225" y="2162175"/>
          <a:ext cx="5411788" cy="1390650"/>
        </p:xfrm>
        <a:graphic>
          <a:graphicData uri="http://schemas.openxmlformats.org/presentationml/2006/ole">
            <p:oleObj spid="_x0000_s26629" name="Equation" r:id="rId3" imgW="3606800" imgH="927100" progId="Equation.3">
              <p:embed/>
            </p:oleObj>
          </a:graphicData>
        </a:graphic>
      </p:graphicFrame>
      <p:graphicFrame>
        <p:nvGraphicFramePr>
          <p:cNvPr id="26630" name="Object 6"/>
          <p:cNvGraphicFramePr>
            <a:graphicFrameLocks noChangeAspect="1"/>
          </p:cNvGraphicFramePr>
          <p:nvPr/>
        </p:nvGraphicFramePr>
        <p:xfrm>
          <a:off x="2095500" y="4257675"/>
          <a:ext cx="4905375" cy="1349375"/>
        </p:xfrm>
        <a:graphic>
          <a:graphicData uri="http://schemas.openxmlformats.org/presentationml/2006/ole">
            <p:oleObj spid="_x0000_s26630" name="Equation" r:id="rId4" imgW="3276600" imgH="901700" progId="Equation.3">
              <p:embed/>
            </p:oleObj>
          </a:graphicData>
        </a:graphic>
      </p:graphicFrame>
      <p:graphicFrame>
        <p:nvGraphicFramePr>
          <p:cNvPr id="26631" name="Object 7"/>
          <p:cNvGraphicFramePr>
            <a:graphicFrameLocks noChangeAspect="1"/>
          </p:cNvGraphicFramePr>
          <p:nvPr/>
        </p:nvGraphicFramePr>
        <p:xfrm>
          <a:off x="1684338" y="5737225"/>
          <a:ext cx="620712" cy="301625"/>
        </p:xfrm>
        <a:graphic>
          <a:graphicData uri="http://schemas.openxmlformats.org/presentationml/2006/ole">
            <p:oleObj spid="_x0000_s26631" name="Equation" r:id="rId5" imgW="419100" imgH="2032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7912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Consider a two-electron system.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Slater determinant is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 smtClean="0"/>
          </a:p>
          <a:p>
            <a:pPr>
              <a:buNone/>
            </a:pPr>
            <a:r>
              <a:rPr lang="en-US" dirty="0" smtClean="0"/>
              <a:t>	where </a:t>
            </a:r>
            <a:r>
              <a:rPr lang="en-US" i="1" dirty="0">
                <a:latin typeface="Times New Roman"/>
                <a:cs typeface="Times New Roman"/>
              </a:rPr>
              <a:t>x</a:t>
            </a:r>
            <a:r>
              <a:rPr lang="en-US" i="1" baseline="-25000" dirty="0">
                <a:latin typeface="Times New Roman"/>
                <a:cs typeface="Times New Roman"/>
              </a:rPr>
              <a:t>i</a:t>
            </a:r>
            <a:r>
              <a:rPr lang="en-US" dirty="0"/>
              <a:t> is abbreviated as </a:t>
            </a:r>
            <a:r>
              <a:rPr lang="en-US" i="1" dirty="0" err="1">
                <a:latin typeface="Times New Roman"/>
                <a:cs typeface="Times New Roman"/>
              </a:rPr>
              <a:t>i</a:t>
            </a:r>
            <a:r>
              <a:rPr lang="en-US" dirty="0"/>
              <a:t>. In addition, we need the </a:t>
            </a:r>
            <a:r>
              <a:rPr lang="en-US" dirty="0" err="1"/>
              <a:t>ortho</a:t>
            </a:r>
            <a:r>
              <a:rPr lang="en-US" dirty="0"/>
              <a:t>-normality condition</a:t>
            </a:r>
          </a:p>
          <a:p>
            <a:endParaRPr lang="en-US" altLang="ko-KR" dirty="0"/>
          </a:p>
          <a:p>
            <a:endParaRPr lang="ko-KR" altLang="en-US" dirty="0"/>
          </a:p>
          <a:p>
            <a:r>
              <a:rPr lang="en-US" dirty="0"/>
              <a:t>We now apply the </a:t>
            </a:r>
            <a:r>
              <a:rPr lang="en-US" dirty="0" err="1"/>
              <a:t>variational</a:t>
            </a:r>
            <a:r>
              <a:rPr lang="en-US" dirty="0"/>
              <a:t> </a:t>
            </a:r>
            <a:r>
              <a:rPr lang="en-US" dirty="0" err="1"/>
              <a:t>priciple</a:t>
            </a:r>
            <a:r>
              <a:rPr lang="en-US" dirty="0"/>
              <a:t> with appropriate Lagrange multipliers.</a:t>
            </a:r>
            <a:endParaRPr lang="ko-KR" altLang="en-US" dirty="0"/>
          </a:p>
        </p:txBody>
      </p:sp>
      <p:graphicFrame>
        <p:nvGraphicFramePr>
          <p:cNvPr id="27659" name="Object 11"/>
          <p:cNvGraphicFramePr>
            <a:graphicFrameLocks noChangeAspect="1"/>
          </p:cNvGraphicFramePr>
          <p:nvPr/>
        </p:nvGraphicFramePr>
        <p:xfrm>
          <a:off x="3162300" y="933450"/>
          <a:ext cx="2533650" cy="1314450"/>
        </p:xfrm>
        <a:graphic>
          <a:graphicData uri="http://schemas.openxmlformats.org/presentationml/2006/ole">
            <p:oleObj spid="_x0000_s27659" name="Equation" r:id="rId3" imgW="1689100" imgH="876300" progId="Equation.3">
              <p:embed/>
            </p:oleObj>
          </a:graphicData>
        </a:graphic>
      </p:graphicFrame>
      <p:graphicFrame>
        <p:nvGraphicFramePr>
          <p:cNvPr id="27660" name="Object 12"/>
          <p:cNvGraphicFramePr>
            <a:graphicFrameLocks noChangeAspect="1"/>
          </p:cNvGraphicFramePr>
          <p:nvPr/>
        </p:nvGraphicFramePr>
        <p:xfrm>
          <a:off x="2428875" y="2974975"/>
          <a:ext cx="4171950" cy="666750"/>
        </p:xfrm>
        <a:graphic>
          <a:graphicData uri="http://schemas.openxmlformats.org/presentationml/2006/ole">
            <p:oleObj spid="_x0000_s27660" name="Equation" r:id="rId4" imgW="2781300" imgH="444500" progId="Equation.3">
              <p:embed/>
            </p:oleObj>
          </a:graphicData>
        </a:graphic>
      </p:graphicFrame>
      <p:graphicFrame>
        <p:nvGraphicFramePr>
          <p:cNvPr id="27661" name="Object 13"/>
          <p:cNvGraphicFramePr>
            <a:graphicFrameLocks noChangeAspect="1"/>
          </p:cNvGraphicFramePr>
          <p:nvPr/>
        </p:nvGraphicFramePr>
        <p:xfrm>
          <a:off x="2335213" y="4714875"/>
          <a:ext cx="4683125" cy="327025"/>
        </p:xfrm>
        <a:graphic>
          <a:graphicData uri="http://schemas.openxmlformats.org/presentationml/2006/ole">
            <p:oleObj spid="_x0000_s27661" name="Equation" r:id="rId5" imgW="3086100" imgH="215900" progId="Equation.3">
              <p:embed/>
            </p:oleObj>
          </a:graphicData>
        </a:graphic>
      </p:graphicFrame>
      <p:graphicFrame>
        <p:nvGraphicFramePr>
          <p:cNvPr id="27662" name="Object 14"/>
          <p:cNvGraphicFramePr>
            <a:graphicFrameLocks noChangeAspect="1"/>
          </p:cNvGraphicFramePr>
          <p:nvPr/>
        </p:nvGraphicFramePr>
        <p:xfrm>
          <a:off x="1666875" y="6048375"/>
          <a:ext cx="6256338" cy="398463"/>
        </p:xfrm>
        <a:graphic>
          <a:graphicData uri="http://schemas.openxmlformats.org/presentationml/2006/ole">
            <p:oleObj spid="_x0000_s27662" name="Equation" r:id="rId6" imgW="4191000" imgH="2667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7467600" cy="1143000"/>
          </a:xfrm>
        </p:spPr>
        <p:txBody>
          <a:bodyPr>
            <a:normAutofit/>
          </a:bodyPr>
          <a:lstStyle/>
          <a:p>
            <a:r>
              <a:rPr lang="en-US" sz="4400" b="1"/>
              <a:t>Exercise 2</a:t>
            </a:r>
            <a:r>
              <a:rPr lang="ko-KR" sz="4400"/>
              <a:t> </a:t>
            </a:r>
            <a:endParaRPr lang="ja-JP" altLang="en-US" sz="44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7467600" cy="4237037"/>
          </a:xfrm>
        </p:spPr>
        <p:txBody>
          <a:bodyPr>
            <a:normAutofit fontScale="77500" lnSpcReduction="20000"/>
          </a:bodyPr>
          <a:lstStyle/>
          <a:p>
            <a:r>
              <a:rPr lang="en-US"/>
              <a:t>Show that</a:t>
            </a:r>
            <a:endParaRPr lang="ko-KR" alt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pPr>
              <a:buNone/>
            </a:pPr>
            <a:r>
              <a:rPr lang="en-US"/>
              <a:t>    where the abbreviation, </a:t>
            </a:r>
          </a:p>
          <a:p>
            <a:pPr>
              <a:buNone/>
            </a:pPr>
            <a:endParaRPr lang="en-US"/>
          </a:p>
          <a:p>
            <a:pPr>
              <a:buNone/>
            </a:pPr>
            <a:r>
              <a:rPr lang="en-US"/>
              <a:t>    was used.</a:t>
            </a:r>
          </a:p>
          <a:p>
            <a:pPr>
              <a:buNone/>
            </a:pPr>
            <a:endParaRPr lang="en-US"/>
          </a:p>
          <a:p>
            <a:pPr>
              <a:buNone/>
            </a:pPr>
            <a:endParaRPr lang="en-US"/>
          </a:p>
          <a:p>
            <a:pPr>
              <a:buNone/>
            </a:pPr>
            <a:endParaRPr lang="en-US" altLang="ko-KR"/>
          </a:p>
          <a:p>
            <a:pPr>
              <a:buNone/>
            </a:pPr>
            <a:endParaRPr lang="en-US" altLang="ko-KR"/>
          </a:p>
          <a:p>
            <a:r>
              <a:rPr lang="en-US"/>
              <a:t>Show that the above variational equation becomes</a:t>
            </a:r>
            <a:endParaRPr lang="ko-KR" altLang="en-US"/>
          </a:p>
          <a:p>
            <a:pPr>
              <a:buNone/>
            </a:pPr>
            <a:endParaRPr lang="ko-KR" altLang="en-US"/>
          </a:p>
        </p:txBody>
      </p:sp>
      <p:graphicFrame>
        <p:nvGraphicFramePr>
          <p:cNvPr id="28677" name="Object 5"/>
          <p:cNvGraphicFramePr>
            <a:graphicFrameLocks noChangeAspect="1"/>
          </p:cNvGraphicFramePr>
          <p:nvPr/>
        </p:nvGraphicFramePr>
        <p:xfrm>
          <a:off x="1143000" y="1590675"/>
          <a:ext cx="6915150" cy="895350"/>
        </p:xfrm>
        <a:graphic>
          <a:graphicData uri="http://schemas.openxmlformats.org/presentationml/2006/ole">
            <p:oleObj spid="_x0000_s28677" name="Equation" r:id="rId3" imgW="4610100" imgH="596900" progId="Equation.3">
              <p:embed/>
            </p:oleObj>
          </a:graphicData>
        </a:graphic>
      </p:graphicFrame>
      <p:graphicFrame>
        <p:nvGraphicFramePr>
          <p:cNvPr id="28678" name="Object 6"/>
          <p:cNvGraphicFramePr>
            <a:graphicFrameLocks noChangeAspect="1"/>
          </p:cNvGraphicFramePr>
          <p:nvPr/>
        </p:nvGraphicFramePr>
        <p:xfrm>
          <a:off x="2408238" y="2943225"/>
          <a:ext cx="4470400" cy="396875"/>
        </p:xfrm>
        <a:graphic>
          <a:graphicData uri="http://schemas.openxmlformats.org/presentationml/2006/ole">
            <p:oleObj spid="_x0000_s28678" name="Equation" r:id="rId4" imgW="3009900" imgH="266700" progId="Equation.3">
              <p:embed/>
            </p:oleObj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>
          <a:xfrm>
            <a:off x="457200" y="3962400"/>
            <a:ext cx="7467600" cy="1143000"/>
          </a:xfrm>
          <a:prstGeom prst="rect">
            <a:avLst/>
          </a:prstGeom>
        </p:spPr>
        <p:txBody>
          <a:bodyPr vert="horz" lIns="45720" rIns="4572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Exercise 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sz="4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endParaRPr kumimoji="1" lang="ja-JP" altLang="en-US" sz="4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28679" name="Object 7"/>
          <p:cNvGraphicFramePr>
            <a:graphicFrameLocks noChangeAspect="1"/>
          </p:cNvGraphicFramePr>
          <p:nvPr/>
        </p:nvGraphicFramePr>
        <p:xfrm>
          <a:off x="171450" y="5435600"/>
          <a:ext cx="8815388" cy="974725"/>
        </p:xfrm>
        <a:graphic>
          <a:graphicData uri="http://schemas.openxmlformats.org/presentationml/2006/ole">
            <p:oleObj spid="_x0000_s28679" name="Equation" r:id="rId5" imgW="5854700" imgH="6477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685800"/>
            <a:ext cx="8069263" cy="42672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We can choose a linear </a:t>
            </a:r>
            <a:r>
              <a:rPr lang="en-US" dirty="0" smtClean="0"/>
              <a:t>combination of     </a:t>
            </a:r>
            <a:r>
              <a:rPr lang="en-US" dirty="0"/>
              <a:t>and  such that the right hand side of the above equations contain </a:t>
            </a:r>
            <a:r>
              <a:rPr lang="en-US" dirty="0" smtClean="0"/>
              <a:t>only     and     </a:t>
            </a:r>
            <a:r>
              <a:rPr lang="en-US" dirty="0"/>
              <a:t>terms (similar to </a:t>
            </a:r>
            <a:r>
              <a:rPr lang="en-US" dirty="0" err="1"/>
              <a:t>diagonalizing</a:t>
            </a:r>
            <a:r>
              <a:rPr lang="en-US" dirty="0"/>
              <a:t> 2x2 matrix). This is equivalent to eliminating the </a:t>
            </a:r>
            <a:r>
              <a:rPr lang="en-US" dirty="0" err="1"/>
              <a:t>orthogonality</a:t>
            </a:r>
            <a:r>
              <a:rPr lang="en-US" dirty="0"/>
              <a:t> condition, while keeping the normality condition (However, even in this case we can show later that they are still orthogonal. See Exercise 4). In this new basis, the above </a:t>
            </a:r>
            <a:r>
              <a:rPr lang="en-US" dirty="0" err="1"/>
              <a:t>variational</a:t>
            </a:r>
            <a:r>
              <a:rPr lang="en-US" dirty="0"/>
              <a:t> equation becomes</a:t>
            </a:r>
            <a:endParaRPr lang="ko-KR" altLang="en-US" dirty="0"/>
          </a:p>
        </p:txBody>
      </p:sp>
      <p:graphicFrame>
        <p:nvGraphicFramePr>
          <p:cNvPr id="1032" name="Object 8"/>
          <p:cNvGraphicFramePr>
            <a:graphicFrameLocks noChangeAspect="1"/>
          </p:cNvGraphicFramePr>
          <p:nvPr/>
        </p:nvGraphicFramePr>
        <p:xfrm>
          <a:off x="628650" y="4848225"/>
          <a:ext cx="8059738" cy="933450"/>
        </p:xfrm>
        <a:graphic>
          <a:graphicData uri="http://schemas.openxmlformats.org/presentationml/2006/ole">
            <p:oleObj spid="_x0000_s1032" name="Equation" r:id="rId3" imgW="5372100" imgH="622300" progId="Equation.3">
              <p:embed/>
            </p:oleObj>
          </a:graphicData>
        </a:graphic>
      </p:graphicFrame>
      <p:graphicFrame>
        <p:nvGraphicFramePr>
          <p:cNvPr id="1035" name="Object 11"/>
          <p:cNvGraphicFramePr>
            <a:graphicFrameLocks noChangeAspect="1"/>
          </p:cNvGraphicFramePr>
          <p:nvPr/>
        </p:nvGraphicFramePr>
        <p:xfrm>
          <a:off x="7373937" y="838200"/>
          <a:ext cx="246063" cy="265113"/>
        </p:xfrm>
        <a:graphic>
          <a:graphicData uri="http://schemas.openxmlformats.org/presentationml/2006/ole">
            <p:oleObj spid="_x0000_s1035" name="Equation" r:id="rId4" imgW="165100" imgH="177800" progId="Equation.3">
              <p:embed/>
            </p:oleObj>
          </a:graphicData>
        </a:graphic>
      </p:graphicFrame>
      <p:graphicFrame>
        <p:nvGraphicFramePr>
          <p:cNvPr id="5" name="Object 11"/>
          <p:cNvGraphicFramePr>
            <a:graphicFrameLocks noChangeAspect="1"/>
          </p:cNvGraphicFramePr>
          <p:nvPr/>
        </p:nvGraphicFramePr>
        <p:xfrm>
          <a:off x="8431213" y="838200"/>
          <a:ext cx="265112" cy="265113"/>
        </p:xfrm>
        <a:graphic>
          <a:graphicData uri="http://schemas.openxmlformats.org/presentationml/2006/ole">
            <p:oleObj spid="_x0000_s1036" name="Equation" r:id="rId5" imgW="177800" imgH="177800" progId="Equation.3">
              <p:embed/>
            </p:oleObj>
          </a:graphicData>
        </a:graphic>
      </p:graphicFrame>
      <p:graphicFrame>
        <p:nvGraphicFramePr>
          <p:cNvPr id="1037" name="Object 13"/>
          <p:cNvGraphicFramePr>
            <a:graphicFrameLocks noChangeAspect="1"/>
          </p:cNvGraphicFramePr>
          <p:nvPr/>
        </p:nvGraphicFramePr>
        <p:xfrm>
          <a:off x="4748213" y="1600200"/>
          <a:ext cx="265113" cy="265113"/>
        </p:xfrm>
        <a:graphic>
          <a:graphicData uri="http://schemas.openxmlformats.org/presentationml/2006/ole">
            <p:oleObj spid="_x0000_s1037" name="Equation" r:id="rId6" imgW="177800" imgH="177800" progId="Equation.3">
              <p:embed/>
            </p:oleObj>
          </a:graphicData>
        </a:graphic>
      </p:graphicFrame>
      <p:graphicFrame>
        <p:nvGraphicFramePr>
          <p:cNvPr id="7" name="Object 13"/>
          <p:cNvGraphicFramePr>
            <a:graphicFrameLocks noChangeAspect="1"/>
          </p:cNvGraphicFramePr>
          <p:nvPr/>
        </p:nvGraphicFramePr>
        <p:xfrm>
          <a:off x="5851525" y="1600200"/>
          <a:ext cx="320675" cy="265113"/>
        </p:xfrm>
        <a:graphic>
          <a:graphicData uri="http://schemas.openxmlformats.org/presentationml/2006/ole">
            <p:oleObj spid="_x0000_s1038" name="Equation" r:id="rId7" imgW="215900" imgH="1778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7848600" cy="5516562"/>
          </a:xfrm>
        </p:spPr>
        <p:txBody>
          <a:bodyPr>
            <a:normAutofit/>
          </a:bodyPr>
          <a:lstStyle/>
          <a:p>
            <a:r>
              <a:rPr lang="en-US" sz="2800" dirty="0"/>
              <a:t>When generalized to an </a:t>
            </a:r>
            <a:r>
              <a:rPr lang="en-US" sz="2800" i="1" dirty="0"/>
              <a:t>N</a:t>
            </a:r>
            <a:r>
              <a:rPr lang="en-US" sz="2800" dirty="0"/>
              <a:t>-electron system,</a:t>
            </a:r>
          </a:p>
          <a:p>
            <a:pPr>
              <a:buNone/>
            </a:pPr>
            <a:endParaRPr lang="en-US" altLang="ko-KR" sz="2800" dirty="0"/>
          </a:p>
          <a:p>
            <a:pPr>
              <a:buNone/>
            </a:pPr>
            <a:endParaRPr lang="ko-KR" altLang="en-US" sz="2800" dirty="0" smtClean="0"/>
          </a:p>
          <a:p>
            <a:pPr>
              <a:buNone/>
            </a:pPr>
            <a:r>
              <a:rPr lang="en-US" sz="2800" dirty="0" smtClean="0"/>
              <a:t>	where        </a:t>
            </a:r>
            <a:r>
              <a:rPr lang="en-US" sz="2800" dirty="0"/>
              <a:t>, the energy </a:t>
            </a:r>
            <a:r>
              <a:rPr lang="en-US" sz="2800" dirty="0" err="1"/>
              <a:t>eigenvalue</a:t>
            </a:r>
            <a:r>
              <a:rPr lang="en-US" sz="2800" dirty="0"/>
              <a:t>. Since</a:t>
            </a:r>
            <a:r>
              <a:rPr lang="en-US" sz="2800" dirty="0" smtClean="0"/>
              <a:t> the </a:t>
            </a:r>
            <a:r>
              <a:rPr lang="en-US" sz="2800" dirty="0"/>
              <a:t>second term equals the third </a:t>
            </a:r>
            <a:r>
              <a:rPr lang="en-US" sz="2800" dirty="0" smtClean="0"/>
              <a:t>term when </a:t>
            </a:r>
            <a:r>
              <a:rPr lang="en-US" sz="2800" i="1" dirty="0" err="1" smtClean="0">
                <a:latin typeface="Times New Roman"/>
                <a:cs typeface="Times New Roman"/>
              </a:rPr>
              <a:t>j</a:t>
            </a:r>
            <a:r>
              <a:rPr lang="en-US" sz="2800" dirty="0" smtClean="0"/>
              <a:t>=</a:t>
            </a:r>
            <a:r>
              <a:rPr lang="en-US" sz="2800" i="1" dirty="0" err="1" smtClean="0">
                <a:latin typeface="Times New Roman"/>
                <a:cs typeface="Times New Roman"/>
              </a:rPr>
              <a:t>i</a:t>
            </a:r>
            <a:r>
              <a:rPr lang="en-US" sz="2800" dirty="0" smtClean="0"/>
              <a:t>, we </a:t>
            </a:r>
            <a:r>
              <a:rPr lang="en-US" sz="2800" dirty="0"/>
              <a:t>can</a:t>
            </a:r>
            <a:r>
              <a:rPr lang="en-US" sz="2800" dirty="0" smtClean="0"/>
              <a:t> drop </a:t>
            </a:r>
            <a:r>
              <a:rPr lang="en-US" sz="2800" dirty="0"/>
              <a:t>the not-equal restriction. </a:t>
            </a:r>
            <a:endParaRPr lang="ko-KR" altLang="en-US" sz="3200" dirty="0"/>
          </a:p>
        </p:txBody>
      </p:sp>
      <p:graphicFrame>
        <p:nvGraphicFramePr>
          <p:cNvPr id="29705" name="Object 9"/>
          <p:cNvGraphicFramePr>
            <a:graphicFrameLocks noChangeAspect="1"/>
          </p:cNvGraphicFramePr>
          <p:nvPr/>
        </p:nvGraphicFramePr>
        <p:xfrm>
          <a:off x="476250" y="1362075"/>
          <a:ext cx="8272463" cy="742950"/>
        </p:xfrm>
        <a:graphic>
          <a:graphicData uri="http://schemas.openxmlformats.org/presentationml/2006/ole">
            <p:oleObj spid="_x0000_s29705" name="Equation" r:id="rId3" imgW="5511800" imgH="495300" progId="Equation.3">
              <p:embed/>
            </p:oleObj>
          </a:graphicData>
        </a:graphic>
      </p:graphicFrame>
      <p:graphicFrame>
        <p:nvGraphicFramePr>
          <p:cNvPr id="29706" name="Object 10"/>
          <p:cNvGraphicFramePr>
            <a:graphicFrameLocks noChangeAspect="1"/>
          </p:cNvGraphicFramePr>
          <p:nvPr/>
        </p:nvGraphicFramePr>
        <p:xfrm>
          <a:off x="1095375" y="3895725"/>
          <a:ext cx="6881813" cy="2001838"/>
        </p:xfrm>
        <a:graphic>
          <a:graphicData uri="http://schemas.openxmlformats.org/presentationml/2006/ole">
            <p:oleObj spid="_x0000_s29706" name="Equation" r:id="rId4" imgW="4584700" imgH="1333500" progId="Equation.3">
              <p:embed/>
            </p:oleObj>
          </a:graphicData>
        </a:graphic>
      </p:graphicFrame>
      <p:graphicFrame>
        <p:nvGraphicFramePr>
          <p:cNvPr id="29709" name="Object 13"/>
          <p:cNvGraphicFramePr>
            <a:graphicFrameLocks noChangeAspect="1"/>
          </p:cNvGraphicFramePr>
          <p:nvPr/>
        </p:nvGraphicFramePr>
        <p:xfrm>
          <a:off x="1999342" y="2466298"/>
          <a:ext cx="695325" cy="271463"/>
        </p:xfrm>
        <a:graphic>
          <a:graphicData uri="http://schemas.openxmlformats.org/presentationml/2006/ole">
            <p:oleObj spid="_x0000_s29709" name="Equation" r:id="rId5" imgW="457200" imgH="177800" progId="Equation.3">
              <p:embed/>
            </p:oleObj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305800" cy="4038600"/>
          </a:xfrm>
        </p:spPr>
        <p:txBody>
          <a:bodyPr>
            <a:noAutofit/>
          </a:bodyPr>
          <a:lstStyle/>
          <a:p>
            <a:r>
              <a:rPr lang="en-US" sz="2400" dirty="0"/>
              <a:t>Show that two </a:t>
            </a:r>
            <a:r>
              <a:rPr lang="en-US" sz="2400" dirty="0" err="1"/>
              <a:t>nondegenerate</a:t>
            </a:r>
            <a:r>
              <a:rPr lang="en-US" sz="2400" dirty="0"/>
              <a:t> </a:t>
            </a:r>
            <a:r>
              <a:rPr lang="en-US" sz="2400" dirty="0" smtClean="0"/>
              <a:t>solutions       and            </a:t>
            </a:r>
            <a:r>
              <a:rPr lang="en-US" sz="2400" dirty="0"/>
              <a:t>of the </a:t>
            </a:r>
            <a:r>
              <a:rPr lang="en-US" sz="2400" dirty="0" err="1"/>
              <a:t>Hartree-Fock</a:t>
            </a:r>
            <a:r>
              <a:rPr lang="en-US" sz="2400" dirty="0"/>
              <a:t> equations are orthogonal.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The </a:t>
            </a:r>
            <a:r>
              <a:rPr lang="en-US" sz="2400" dirty="0" err="1"/>
              <a:t>Hartree-Fock</a:t>
            </a:r>
            <a:r>
              <a:rPr lang="en-US" sz="2400" dirty="0"/>
              <a:t> equation pictures a single electron moves in the field produced by the nucleus (in </a:t>
            </a:r>
            <a:r>
              <a:rPr lang="en-US" sz="2400" i="1" dirty="0"/>
              <a:t>H</a:t>
            </a:r>
            <a:r>
              <a:rPr lang="en-US" sz="2400" baseline="-25000" dirty="0"/>
              <a:t>0</a:t>
            </a:r>
            <a:r>
              <a:rPr lang="en-US" sz="2400" dirty="0"/>
              <a:t>) and the average field of the remaining electrons (the Coulomb and the exchange terms).</a:t>
            </a:r>
            <a:endParaRPr lang="ko-KR" altLang="en-US" sz="2400" dirty="0"/>
          </a:p>
          <a:p>
            <a:endParaRPr lang="ko-KR" altLang="en-US" sz="2400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7467600" cy="1143000"/>
          </a:xfrm>
        </p:spPr>
        <p:txBody>
          <a:bodyPr>
            <a:normAutofit/>
          </a:bodyPr>
          <a:lstStyle/>
          <a:p>
            <a:r>
              <a:rPr lang="en-US" sz="4400" b="1"/>
              <a:t>Exercise 4</a:t>
            </a:r>
            <a:r>
              <a:rPr lang="ko-KR" sz="4400"/>
              <a:t> </a:t>
            </a:r>
            <a:endParaRPr lang="ja-JP" altLang="en-US" sz="4400"/>
          </a:p>
        </p:txBody>
      </p:sp>
      <p:graphicFrame>
        <p:nvGraphicFramePr>
          <p:cNvPr id="31746" name="Object 2"/>
          <p:cNvGraphicFramePr>
            <a:graphicFrameLocks noChangeAspect="1"/>
          </p:cNvGraphicFramePr>
          <p:nvPr/>
        </p:nvGraphicFramePr>
        <p:xfrm>
          <a:off x="6373812" y="1371600"/>
          <a:ext cx="484188" cy="271463"/>
        </p:xfrm>
        <a:graphic>
          <a:graphicData uri="http://schemas.openxmlformats.org/presentationml/2006/ole">
            <p:oleObj spid="_x0000_s31746" name="Equation" r:id="rId3" imgW="317500" imgH="177800" progId="Equation.3">
              <p:embed/>
            </p:oleObj>
          </a:graphicData>
        </a:graphic>
      </p:graphicFrame>
      <p:graphicFrame>
        <p:nvGraphicFramePr>
          <p:cNvPr id="31748" name="Object 4"/>
          <p:cNvGraphicFramePr>
            <a:graphicFrameLocks noChangeAspect="1"/>
          </p:cNvGraphicFramePr>
          <p:nvPr/>
        </p:nvGraphicFramePr>
        <p:xfrm>
          <a:off x="7467600" y="1371600"/>
          <a:ext cx="1343025" cy="273050"/>
        </p:xfrm>
        <a:graphic>
          <a:graphicData uri="http://schemas.openxmlformats.org/presentationml/2006/ole">
            <p:oleObj spid="_x0000_s31748" name="Equation" r:id="rId4" imgW="876300" imgH="177800" progId="Equation.3">
              <p:embed/>
            </p:oleObj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305800" cy="6096000"/>
          </a:xfrm>
        </p:spPr>
        <p:txBody>
          <a:bodyPr>
            <a:noAutofit/>
          </a:bodyPr>
          <a:lstStyle/>
          <a:p>
            <a:r>
              <a:rPr lang="en-US" sz="2400" dirty="0"/>
              <a:t>Let us define density matrices and an exchange operator.</a:t>
            </a:r>
            <a:endParaRPr lang="ko-KR" altLang="en-US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ko-KR" alt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    where the subscript “1” in </a:t>
            </a:r>
            <a:r>
              <a:rPr lang="en-US" sz="2400" i="1" dirty="0">
                <a:latin typeface="Symbol" charset="2"/>
                <a:cs typeface="Symbol" charset="2"/>
              </a:rPr>
              <a:t>r</a:t>
            </a:r>
            <a:r>
              <a:rPr lang="en-US" sz="2400" baseline="-25000" dirty="0"/>
              <a:t>1</a:t>
            </a:r>
            <a:r>
              <a:rPr lang="en-US" sz="2400" dirty="0"/>
              <a:t> means “single-particle”. Then,</a:t>
            </a:r>
            <a:endParaRPr lang="ko-KR" altLang="en-US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ko-KR" altLang="en-US" sz="2400" dirty="0"/>
          </a:p>
          <a:p>
            <a:pPr>
              <a:buNone/>
            </a:pPr>
            <a:r>
              <a:rPr lang="en-US" sz="2400" dirty="0"/>
              <a:t>    such that                             in the form of an </a:t>
            </a:r>
            <a:r>
              <a:rPr lang="en-US" sz="2400" dirty="0" err="1"/>
              <a:t>eigenvalue</a:t>
            </a:r>
            <a:r>
              <a:rPr lang="en-US" sz="2400" dirty="0"/>
              <a:t> equation.</a:t>
            </a:r>
            <a:endParaRPr lang="ko-KR" altLang="en-US" sz="2400" dirty="0"/>
          </a:p>
        </p:txBody>
      </p:sp>
      <p:graphicFrame>
        <p:nvGraphicFramePr>
          <p:cNvPr id="204812" name="Object 12"/>
          <p:cNvGraphicFramePr>
            <a:graphicFrameLocks noChangeAspect="1"/>
          </p:cNvGraphicFramePr>
          <p:nvPr/>
        </p:nvGraphicFramePr>
        <p:xfrm>
          <a:off x="981075" y="1412875"/>
          <a:ext cx="7278688" cy="1501775"/>
        </p:xfrm>
        <a:graphic>
          <a:graphicData uri="http://schemas.openxmlformats.org/presentationml/2006/ole">
            <p:oleObj spid="_x0000_s204812" name="Equation" r:id="rId3" imgW="4864100" imgH="1003300" progId="Equation.3">
              <p:embed/>
            </p:oleObj>
          </a:graphicData>
        </a:graphic>
      </p:graphicFrame>
      <p:graphicFrame>
        <p:nvGraphicFramePr>
          <p:cNvPr id="204813" name="Object 13"/>
          <p:cNvGraphicFramePr>
            <a:graphicFrameLocks noChangeAspect="1"/>
          </p:cNvGraphicFramePr>
          <p:nvPr/>
        </p:nvGraphicFramePr>
        <p:xfrm>
          <a:off x="1019175" y="3979863"/>
          <a:ext cx="7205663" cy="1106487"/>
        </p:xfrm>
        <a:graphic>
          <a:graphicData uri="http://schemas.openxmlformats.org/presentationml/2006/ole">
            <p:oleObj spid="_x0000_s204813" name="Equation" r:id="rId4" imgW="4800600" imgH="736600" progId="Equation.3">
              <p:embed/>
            </p:oleObj>
          </a:graphicData>
        </a:graphic>
      </p:graphicFrame>
      <p:graphicFrame>
        <p:nvGraphicFramePr>
          <p:cNvPr id="204814" name="Object 14"/>
          <p:cNvGraphicFramePr>
            <a:graphicFrameLocks noChangeAspect="1"/>
          </p:cNvGraphicFramePr>
          <p:nvPr/>
        </p:nvGraphicFramePr>
        <p:xfrm>
          <a:off x="2244725" y="5330825"/>
          <a:ext cx="2174875" cy="307975"/>
        </p:xfrm>
        <a:graphic>
          <a:graphicData uri="http://schemas.openxmlformats.org/presentationml/2006/ole">
            <p:oleObj spid="_x0000_s204814" name="Equation" r:id="rId5" imgW="1435100" imgH="203200" progId="Equation.3">
              <p:embed/>
            </p:oleObj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27038"/>
            <a:ext cx="8229600" cy="792162"/>
          </a:xfrm>
        </p:spPr>
        <p:txBody>
          <a:bodyPr>
            <a:noAutofit/>
          </a:bodyPr>
          <a:lstStyle/>
          <a:p>
            <a:r>
              <a:rPr lang="en-US" sz="3200" b="1" u="sng">
                <a:ea typeface="한컴바탕"/>
                <a:cs typeface="한컴바탕"/>
              </a:rPr>
              <a:t>b) Decomposition into spin and space parts</a:t>
            </a:r>
            <a:endParaRPr lang="ko-KR" altLang="en-US" sz="3200" b="1" u="sng">
              <a:ea typeface="한컴바탕"/>
              <a:cs typeface="한컴바탕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514600"/>
            <a:ext cx="7924800" cy="4191000"/>
          </a:xfrm>
        </p:spPr>
        <p:txBody>
          <a:bodyPr>
            <a:normAutofit fontScale="85000" lnSpcReduction="20000"/>
          </a:bodyPr>
          <a:lstStyle/>
          <a:p>
            <a:r>
              <a:rPr lang="en-US"/>
              <a:t>Decompose the spin orbitals into the spin and space parts,            , and show that the Hartree-Fock equation can be written in terms of the space part      as</a:t>
            </a:r>
            <a:endParaRPr lang="ko-KR" alt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pPr>
              <a:buNone/>
            </a:pPr>
            <a:r>
              <a:rPr lang="en-US"/>
              <a:t>    where </a:t>
            </a:r>
            <a:r>
              <a:rPr lang="en-US" i="1">
                <a:latin typeface="Times New Roman"/>
                <a:cs typeface="Times New Roman"/>
              </a:rPr>
              <a:t>J</a:t>
            </a:r>
            <a:r>
              <a:rPr lang="en-US" i="1" baseline="-25000">
                <a:latin typeface="Times New Roman"/>
                <a:cs typeface="Times New Roman"/>
              </a:rPr>
              <a:t>j</a:t>
            </a:r>
            <a:r>
              <a:rPr lang="en-US"/>
              <a:t>(1) and </a:t>
            </a:r>
            <a:r>
              <a:rPr lang="en-US" i="1">
                <a:latin typeface="Times New Roman"/>
                <a:cs typeface="Times New Roman"/>
              </a:rPr>
              <a:t>K</a:t>
            </a:r>
            <a:r>
              <a:rPr lang="en-US" i="1" baseline="-25000">
                <a:latin typeface="Times New Roman"/>
                <a:cs typeface="Times New Roman"/>
              </a:rPr>
              <a:t>j</a:t>
            </a:r>
            <a:r>
              <a:rPr lang="en-US"/>
              <a:t>(1) are called the Coulomb and exchange operators.</a:t>
            </a:r>
            <a:endParaRPr lang="ko-KR" altLang="en-US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200" y="1371600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Exercise 5</a:t>
            </a:r>
            <a:endParaRPr kumimoji="1" lang="ja-JP" altLang="en-US" sz="4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205826" name="Object 2"/>
          <p:cNvGraphicFramePr>
            <a:graphicFrameLocks noChangeAspect="1"/>
          </p:cNvGraphicFramePr>
          <p:nvPr/>
        </p:nvGraphicFramePr>
        <p:xfrm>
          <a:off x="1600200" y="3981450"/>
          <a:ext cx="5995988" cy="1636713"/>
        </p:xfrm>
        <a:graphic>
          <a:graphicData uri="http://schemas.openxmlformats.org/presentationml/2006/ole">
            <p:oleObj spid="_x0000_s205826" name="Equation" r:id="rId3" imgW="4000500" imgH="1092200" progId="Equation.3">
              <p:embed/>
            </p:oleObj>
          </a:graphicData>
        </a:graphic>
      </p:graphicFrame>
      <p:graphicFrame>
        <p:nvGraphicFramePr>
          <p:cNvPr id="205827" name="Object 3"/>
          <p:cNvGraphicFramePr>
            <a:graphicFrameLocks noChangeAspect="1"/>
          </p:cNvGraphicFramePr>
          <p:nvPr/>
        </p:nvGraphicFramePr>
        <p:xfrm>
          <a:off x="2884488" y="2922588"/>
          <a:ext cx="839787" cy="268287"/>
        </p:xfrm>
        <a:graphic>
          <a:graphicData uri="http://schemas.openxmlformats.org/presentationml/2006/ole">
            <p:oleObj spid="_x0000_s205827" name="Equation" r:id="rId4" imgW="558800" imgH="177800" progId="Equation.3">
              <p:embed/>
            </p:oleObj>
          </a:graphicData>
        </a:graphic>
      </p:graphicFrame>
      <p:graphicFrame>
        <p:nvGraphicFramePr>
          <p:cNvPr id="205828" name="Object 4"/>
          <p:cNvGraphicFramePr>
            <a:graphicFrameLocks noChangeAspect="1"/>
          </p:cNvGraphicFramePr>
          <p:nvPr/>
        </p:nvGraphicFramePr>
        <p:xfrm>
          <a:off x="2670175" y="3562350"/>
          <a:ext cx="228600" cy="266700"/>
        </p:xfrm>
        <a:graphic>
          <a:graphicData uri="http://schemas.openxmlformats.org/presentationml/2006/ole">
            <p:oleObj spid="_x0000_s205828" name="Equation" r:id="rId5" imgW="152400" imgH="177800" progId="Equation.3">
              <p:embed/>
            </p:oleObj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6019799"/>
          </a:xfrm>
        </p:spPr>
        <p:txBody>
          <a:bodyPr>
            <a:normAutofit/>
          </a:bodyPr>
          <a:lstStyle/>
          <a:p>
            <a:r>
              <a:rPr lang="en-US" sz="2800"/>
              <a:t>Define the spinless density matrices and corresponding exchange operator.</a:t>
            </a:r>
            <a:endParaRPr lang="ko-KR" altLang="en-US" sz="2800"/>
          </a:p>
          <a:p>
            <a:endParaRPr lang="en-US" sz="2800"/>
          </a:p>
          <a:p>
            <a:endParaRPr lang="en-US" sz="2800"/>
          </a:p>
          <a:p>
            <a:endParaRPr lang="en-US" sz="2800"/>
          </a:p>
          <a:p>
            <a:pPr>
              <a:buNone/>
            </a:pPr>
            <a:r>
              <a:rPr lang="en-US" sz="2800"/>
              <a:t>    and then</a:t>
            </a:r>
            <a:endParaRPr lang="ko-KR" altLang="en-US" sz="2800"/>
          </a:p>
          <a:p>
            <a:endParaRPr lang="ko-KR" altLang="en-US" sz="2800"/>
          </a:p>
          <a:p>
            <a:pPr>
              <a:buNone/>
            </a:pPr>
            <a:endParaRPr lang="en-US" sz="2800"/>
          </a:p>
          <a:p>
            <a:pPr>
              <a:buNone/>
            </a:pPr>
            <a:endParaRPr lang="en-US" sz="2800"/>
          </a:p>
          <a:p>
            <a:pPr>
              <a:buNone/>
            </a:pPr>
            <a:r>
              <a:rPr lang="en-US" sz="2800"/>
              <a:t>    The Coulomb potential is the sum of the two-body electrostatic repulsion energies with the other </a:t>
            </a:r>
            <a:r>
              <a:rPr lang="en-US" sz="2800" i="1">
                <a:latin typeface="Times New Roman"/>
                <a:cs typeface="Times New Roman"/>
              </a:rPr>
              <a:t>N</a:t>
            </a:r>
            <a:r>
              <a:rPr lang="en-US" sz="2800"/>
              <a:t>-1 electrons. </a:t>
            </a:r>
            <a:endParaRPr lang="ko-KR" altLang="en-US" sz="2800"/>
          </a:p>
        </p:txBody>
      </p:sp>
      <p:graphicFrame>
        <p:nvGraphicFramePr>
          <p:cNvPr id="206855" name="Object 7"/>
          <p:cNvGraphicFramePr>
            <a:graphicFrameLocks noChangeAspect="1"/>
          </p:cNvGraphicFramePr>
          <p:nvPr/>
        </p:nvGraphicFramePr>
        <p:xfrm>
          <a:off x="3419475" y="1438275"/>
          <a:ext cx="2030413" cy="550863"/>
        </p:xfrm>
        <a:graphic>
          <a:graphicData uri="http://schemas.openxmlformats.org/presentationml/2006/ole">
            <p:oleObj spid="_x0000_s206855" name="Equation" r:id="rId3" imgW="1358900" imgH="368300" progId="Equation.3">
              <p:embed/>
            </p:oleObj>
          </a:graphicData>
        </a:graphic>
      </p:graphicFrame>
      <p:graphicFrame>
        <p:nvGraphicFramePr>
          <p:cNvPr id="206856" name="Object 8"/>
          <p:cNvGraphicFramePr>
            <a:graphicFrameLocks noChangeAspect="1"/>
          </p:cNvGraphicFramePr>
          <p:nvPr/>
        </p:nvGraphicFramePr>
        <p:xfrm>
          <a:off x="2935288" y="2047875"/>
          <a:ext cx="2943225" cy="550863"/>
        </p:xfrm>
        <a:graphic>
          <a:graphicData uri="http://schemas.openxmlformats.org/presentationml/2006/ole">
            <p:oleObj spid="_x0000_s206856" name="Equation" r:id="rId4" imgW="1968500" imgH="368300" progId="Equation.3">
              <p:embed/>
            </p:oleObj>
          </a:graphicData>
        </a:graphic>
      </p:graphicFrame>
      <p:graphicFrame>
        <p:nvGraphicFramePr>
          <p:cNvPr id="206857" name="Object 9"/>
          <p:cNvGraphicFramePr>
            <a:graphicFrameLocks noChangeAspect="1"/>
          </p:cNvGraphicFramePr>
          <p:nvPr/>
        </p:nvGraphicFramePr>
        <p:xfrm>
          <a:off x="3667125" y="2667000"/>
          <a:ext cx="1460500" cy="268288"/>
        </p:xfrm>
        <a:graphic>
          <a:graphicData uri="http://schemas.openxmlformats.org/presentationml/2006/ole">
            <p:oleObj spid="_x0000_s206857" name="Equation" r:id="rId5" imgW="965200" imgH="177800" progId="Equation.3">
              <p:embed/>
            </p:oleObj>
          </a:graphicData>
        </a:graphic>
      </p:graphicFrame>
      <p:graphicFrame>
        <p:nvGraphicFramePr>
          <p:cNvPr id="206858" name="Object 10"/>
          <p:cNvGraphicFramePr>
            <a:graphicFrameLocks noChangeAspect="1"/>
          </p:cNvGraphicFramePr>
          <p:nvPr/>
        </p:nvGraphicFramePr>
        <p:xfrm>
          <a:off x="1009650" y="3667125"/>
          <a:ext cx="7173913" cy="1144588"/>
        </p:xfrm>
        <a:graphic>
          <a:graphicData uri="http://schemas.openxmlformats.org/presentationml/2006/ole">
            <p:oleObj spid="_x0000_s206858" name="Equation" r:id="rId6" imgW="4775200" imgH="762000" progId="Equation.3">
              <p:embed/>
            </p:oleObj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70718"/>
            <a:ext cx="8229600" cy="5730082"/>
          </a:xfrm>
        </p:spPr>
        <p:txBody>
          <a:bodyPr>
            <a:noAutofit/>
          </a:bodyPr>
          <a:lstStyle/>
          <a:p>
            <a:r>
              <a:rPr lang="en-US" sz="2400"/>
              <a:t>An exchange probability density is defined as</a:t>
            </a:r>
          </a:p>
          <a:p>
            <a:endParaRPr lang="en-US" altLang="ko-KR" sz="2400"/>
          </a:p>
          <a:p>
            <a:endParaRPr lang="ko-KR" altLang="en-US" sz="2400"/>
          </a:p>
          <a:p>
            <a:pPr>
              <a:buNone/>
            </a:pPr>
            <a:endParaRPr lang="en-US" sz="2400"/>
          </a:p>
          <a:p>
            <a:pPr>
              <a:buNone/>
            </a:pPr>
            <a:r>
              <a:rPr lang="en-US" sz="2400"/>
              <a:t>    such that the exchange potential becomes</a:t>
            </a:r>
            <a:endParaRPr lang="ko-KR" altLang="en-US" sz="2400"/>
          </a:p>
          <a:p>
            <a:endParaRPr lang="ko-KR" altLang="en-US" sz="2400"/>
          </a:p>
          <a:p>
            <a:r>
              <a:rPr lang="en-US" sz="2400"/>
              <a:t>Note that</a:t>
            </a:r>
            <a:endParaRPr lang="ko-KR" altLang="en-US" sz="2400"/>
          </a:p>
          <a:p>
            <a:pPr>
              <a:buNone/>
            </a:pPr>
            <a:endParaRPr lang="en-US" sz="2400"/>
          </a:p>
          <a:p>
            <a:pPr>
              <a:buNone/>
            </a:pPr>
            <a:endParaRPr lang="en-US" sz="2400"/>
          </a:p>
          <a:p>
            <a:pPr>
              <a:buNone/>
            </a:pPr>
            <a:r>
              <a:rPr lang="en-US" sz="2400"/>
              <a:t>    for orthogonal orbitals, resulting in a unit charge. Thus  corresponds to an exchange (or Fermi) </a:t>
            </a:r>
            <a:r>
              <a:rPr lang="en-US" sz="2400" i="1"/>
              <a:t>hole</a:t>
            </a:r>
            <a:r>
              <a:rPr lang="en-US" sz="2400"/>
              <a:t> (due to the minus sign in ) surrounding each given electron with the </a:t>
            </a:r>
            <a:r>
              <a:rPr lang="en-US" sz="2400" i="1"/>
              <a:t>same spin</a:t>
            </a:r>
            <a:r>
              <a:rPr lang="en-US" sz="2400"/>
              <a:t> with the given electron.</a:t>
            </a:r>
            <a:endParaRPr lang="ko-KR" altLang="en-US" sz="2400"/>
          </a:p>
        </p:txBody>
      </p:sp>
      <p:graphicFrame>
        <p:nvGraphicFramePr>
          <p:cNvPr id="207882" name="Object 10"/>
          <p:cNvGraphicFramePr>
            <a:graphicFrameLocks noChangeAspect="1"/>
          </p:cNvGraphicFramePr>
          <p:nvPr/>
        </p:nvGraphicFramePr>
        <p:xfrm>
          <a:off x="800100" y="1360488"/>
          <a:ext cx="7597775" cy="706437"/>
        </p:xfrm>
        <a:graphic>
          <a:graphicData uri="http://schemas.openxmlformats.org/presentationml/2006/ole">
            <p:oleObj spid="_x0000_s207882" name="Equation" r:id="rId3" imgW="5054600" imgH="469900" progId="Equation.3">
              <p:embed/>
            </p:oleObj>
          </a:graphicData>
        </a:graphic>
      </p:graphicFrame>
      <p:graphicFrame>
        <p:nvGraphicFramePr>
          <p:cNvPr id="207883" name="Object 11"/>
          <p:cNvGraphicFramePr>
            <a:graphicFrameLocks noChangeAspect="1"/>
          </p:cNvGraphicFramePr>
          <p:nvPr/>
        </p:nvGraphicFramePr>
        <p:xfrm>
          <a:off x="3209925" y="2973388"/>
          <a:ext cx="2708275" cy="379412"/>
        </p:xfrm>
        <a:graphic>
          <a:graphicData uri="http://schemas.openxmlformats.org/presentationml/2006/ole">
            <p:oleObj spid="_x0000_s207883" name="Equation" r:id="rId4" imgW="1816100" imgH="254000" progId="Equation.3">
              <p:embed/>
            </p:oleObj>
          </a:graphicData>
        </a:graphic>
      </p:graphicFrame>
      <p:graphicFrame>
        <p:nvGraphicFramePr>
          <p:cNvPr id="207884" name="Object 12"/>
          <p:cNvGraphicFramePr>
            <a:graphicFrameLocks noChangeAspect="1"/>
          </p:cNvGraphicFramePr>
          <p:nvPr/>
        </p:nvGraphicFramePr>
        <p:xfrm>
          <a:off x="1152525" y="3838575"/>
          <a:ext cx="6953250" cy="666750"/>
        </p:xfrm>
        <a:graphic>
          <a:graphicData uri="http://schemas.openxmlformats.org/presentationml/2006/ole">
            <p:oleObj spid="_x0000_s207884" name="Equation" r:id="rId5" imgW="4635500" imgH="444500" progId="Equation.3">
              <p:embed/>
            </p:oleObj>
          </a:graphicData>
        </a:graphic>
      </p:graphicFrame>
      <p:graphicFrame>
        <p:nvGraphicFramePr>
          <p:cNvPr id="207887" name="Object 15"/>
          <p:cNvGraphicFramePr>
            <a:graphicFrameLocks noChangeAspect="1"/>
          </p:cNvGraphicFramePr>
          <p:nvPr/>
        </p:nvGraphicFramePr>
        <p:xfrm>
          <a:off x="8251825" y="4724400"/>
          <a:ext cx="292100" cy="311150"/>
        </p:xfrm>
        <a:graphic>
          <a:graphicData uri="http://schemas.openxmlformats.org/presentationml/2006/ole">
            <p:oleObj spid="_x0000_s207887" name="Equation" r:id="rId6" imgW="190500" imgH="2032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305800" cy="4906962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The original Hamiltonian</a:t>
            </a:r>
          </a:p>
          <a:p>
            <a:endParaRPr lang="en-US" altLang="ko-KR"/>
          </a:p>
          <a:p>
            <a:endParaRPr lang="ko-KR" altLang="en-US"/>
          </a:p>
          <a:p>
            <a:pPr>
              <a:buNone/>
            </a:pPr>
            <a:r>
              <a:rPr lang="en-US"/>
              <a:t>    for an </a:t>
            </a:r>
            <a:r>
              <a:rPr lang="en-US" i="1">
                <a:latin typeface="Times New Roman"/>
                <a:cs typeface="Times New Roman"/>
              </a:rPr>
              <a:t>N</a:t>
            </a:r>
            <a:r>
              <a:rPr lang="en-US"/>
              <a:t>-electron wave function can be replaced with a single-electron Hamiltonian</a:t>
            </a:r>
          </a:p>
          <a:p>
            <a:pPr>
              <a:buNone/>
            </a:pPr>
            <a:endParaRPr lang="en-US" altLang="ko-KR"/>
          </a:p>
          <a:p>
            <a:pPr>
              <a:buNone/>
            </a:pPr>
            <a:endParaRPr lang="en-US"/>
          </a:p>
          <a:p>
            <a:pPr>
              <a:buNone/>
            </a:pPr>
            <a:endParaRPr lang="en-US"/>
          </a:p>
          <a:p>
            <a:pPr>
              <a:buNone/>
            </a:pPr>
            <a:r>
              <a:rPr lang="en-US"/>
              <a:t>    for single-electron orbitals    ’s with an </a:t>
            </a:r>
            <a:r>
              <a:rPr lang="en-US" i="1">
                <a:latin typeface="Times New Roman"/>
                <a:cs typeface="Times New Roman"/>
              </a:rPr>
              <a:t>N</a:t>
            </a:r>
            <a:r>
              <a:rPr lang="en-US"/>
              <a:t>-electron wave function is given by a Slater determinant.</a:t>
            </a:r>
            <a:endParaRPr lang="ko-KR" alt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944562"/>
          </a:xfrm>
        </p:spPr>
        <p:txBody>
          <a:bodyPr>
            <a:normAutofit/>
          </a:bodyPr>
          <a:lstStyle/>
          <a:p>
            <a:r>
              <a:rPr lang="en-US" sz="3600" u="sng"/>
              <a:t>Summary</a:t>
            </a:r>
            <a:endParaRPr lang="ja-JP" altLang="en-US" sz="3600" u="sng"/>
          </a:p>
        </p:txBody>
      </p:sp>
      <p:graphicFrame>
        <p:nvGraphicFramePr>
          <p:cNvPr id="208903" name="Object 7"/>
          <p:cNvGraphicFramePr>
            <a:graphicFrameLocks noChangeAspect="1"/>
          </p:cNvGraphicFramePr>
          <p:nvPr/>
        </p:nvGraphicFramePr>
        <p:xfrm>
          <a:off x="3295650" y="2066925"/>
          <a:ext cx="2495550" cy="704850"/>
        </p:xfrm>
        <a:graphic>
          <a:graphicData uri="http://schemas.openxmlformats.org/presentationml/2006/ole">
            <p:oleObj spid="_x0000_s208903" name="Equation" r:id="rId3" imgW="1663700" imgH="469900" progId="Equation.3">
              <p:embed/>
            </p:oleObj>
          </a:graphicData>
        </a:graphic>
      </p:graphicFrame>
      <p:graphicFrame>
        <p:nvGraphicFramePr>
          <p:cNvPr id="208904" name="Object 8"/>
          <p:cNvGraphicFramePr>
            <a:graphicFrameLocks noChangeAspect="1"/>
          </p:cNvGraphicFramePr>
          <p:nvPr/>
        </p:nvGraphicFramePr>
        <p:xfrm>
          <a:off x="1581150" y="3914775"/>
          <a:ext cx="6059488" cy="990600"/>
        </p:xfrm>
        <a:graphic>
          <a:graphicData uri="http://schemas.openxmlformats.org/presentationml/2006/ole">
            <p:oleObj spid="_x0000_s208904" name="Equation" r:id="rId4" imgW="4038600" imgH="660400" progId="Equation.3">
              <p:embed/>
            </p:oleObj>
          </a:graphicData>
        </a:graphic>
      </p:graphicFrame>
      <p:graphicFrame>
        <p:nvGraphicFramePr>
          <p:cNvPr id="208905" name="Object 9"/>
          <p:cNvGraphicFramePr>
            <a:graphicFrameLocks noChangeAspect="1"/>
          </p:cNvGraphicFramePr>
          <p:nvPr/>
        </p:nvGraphicFramePr>
        <p:xfrm>
          <a:off x="5154613" y="5216525"/>
          <a:ext cx="228600" cy="266700"/>
        </p:xfrm>
        <a:graphic>
          <a:graphicData uri="http://schemas.openxmlformats.org/presentationml/2006/ole">
            <p:oleObj spid="_x0000_s208905" name="Equation" r:id="rId5" imgW="152400" imgH="177800" progId="Equation.3">
              <p:embed/>
            </p:oleObj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Technic">
  <a:themeElements>
    <a:clrScheme name="Technic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Technic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Technic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Technic.thmx</Template>
  <TotalTime>221</TotalTime>
  <Words>534</Words>
  <Application>Microsoft Macintosh PowerPoint</Application>
  <PresentationFormat>On-screen Show (4:3)</PresentationFormat>
  <Paragraphs>105</Paragraphs>
  <Slides>12</Slides>
  <Notes>0</Notes>
  <HiddenSlides>0</HiddenSlides>
  <MMClips>0</MMClips>
  <ScaleCrop>false</ScaleCrop>
  <HeadingPairs>
    <vt:vector size="6" baseType="variant">
      <vt:variant>
        <vt:lpstr>Design Template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Technic</vt:lpstr>
      <vt:lpstr>Equation</vt:lpstr>
      <vt:lpstr>Microsoft Equation</vt:lpstr>
      <vt:lpstr>Atomic and Molecular Physics  Lecture 12</vt:lpstr>
      <vt:lpstr>Hartree-Fock Equation</vt:lpstr>
      <vt:lpstr>Slide 3</vt:lpstr>
      <vt:lpstr>Exercise 2 </vt:lpstr>
      <vt:lpstr>Slide 5</vt:lpstr>
      <vt:lpstr>Slide 6</vt:lpstr>
      <vt:lpstr>Exercise 4 </vt:lpstr>
      <vt:lpstr>Slide 8</vt:lpstr>
      <vt:lpstr>b) Decomposition into spin and space parts</vt:lpstr>
      <vt:lpstr>Slide 10</vt:lpstr>
      <vt:lpstr>Slide 11</vt:lpstr>
      <vt:lpstr>Summary</vt:lpstr>
    </vt:vector>
  </TitlesOfParts>
  <Company>3463-6078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  -  AMP12</dc:title>
  <dc:creator>경원 안</dc:creator>
  <cp:keywords/>
  <cp:lastModifiedBy>Kyungwon An</cp:lastModifiedBy>
  <cp:revision>22</cp:revision>
  <dcterms:created xsi:type="dcterms:W3CDTF">2009-10-13T15:19:47Z</dcterms:created>
  <dcterms:modified xsi:type="dcterms:W3CDTF">2009-10-13T15:20:37Z</dcterms:modified>
</cp:coreProperties>
</file>