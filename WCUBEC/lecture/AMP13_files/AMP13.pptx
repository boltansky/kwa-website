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57" r:id="rId3"/>
    <p:sldId id="259" r:id="rId4"/>
    <p:sldId id="268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Relationship Id="rId2" Type="http://schemas.openxmlformats.org/officeDocument/2006/relationships/image" Target="../media/image2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ict"/><Relationship Id="rId4" Type="http://schemas.openxmlformats.org/officeDocument/2006/relationships/image" Target="../media/image6.pict"/><Relationship Id="rId5" Type="http://schemas.openxmlformats.org/officeDocument/2006/relationships/image" Target="../media/image7.pict"/><Relationship Id="rId1" Type="http://schemas.openxmlformats.org/officeDocument/2006/relationships/image" Target="../media/image3.pict"/><Relationship Id="rId2" Type="http://schemas.openxmlformats.org/officeDocument/2006/relationships/image" Target="../media/image4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ict"/><Relationship Id="rId2" Type="http://schemas.openxmlformats.org/officeDocument/2006/relationships/image" Target="../media/image9.pict"/><Relationship Id="rId3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ict"/><Relationship Id="rId4" Type="http://schemas.openxmlformats.org/officeDocument/2006/relationships/image" Target="../media/image14.pict"/><Relationship Id="rId5" Type="http://schemas.openxmlformats.org/officeDocument/2006/relationships/image" Target="../media/image15.pict"/><Relationship Id="rId1" Type="http://schemas.openxmlformats.org/officeDocument/2006/relationships/image" Target="../media/image11.pict"/><Relationship Id="rId2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ict"/><Relationship Id="rId4" Type="http://schemas.openxmlformats.org/officeDocument/2006/relationships/image" Target="../media/image19.pict"/><Relationship Id="rId5" Type="http://schemas.openxmlformats.org/officeDocument/2006/relationships/image" Target="../media/image20.pict"/><Relationship Id="rId1" Type="http://schemas.openxmlformats.org/officeDocument/2006/relationships/image" Target="../media/image16.pict"/><Relationship Id="rId2" Type="http://schemas.openxmlformats.org/officeDocument/2006/relationships/image" Target="../media/image17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ict"/><Relationship Id="rId2" Type="http://schemas.openxmlformats.org/officeDocument/2006/relationships/image" Target="../media/image23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3.bin"/><Relationship Id="rId4" Type="http://schemas.openxmlformats.org/officeDocument/2006/relationships/oleObject" Target="../embeddings/Microsoft_Equation4.bin"/><Relationship Id="rId5" Type="http://schemas.openxmlformats.org/officeDocument/2006/relationships/oleObject" Target="../embeddings/Microsoft_Equation5.bin"/><Relationship Id="rId6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7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8.bin"/><Relationship Id="rId4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0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1.bin"/><Relationship Id="rId4" Type="http://schemas.openxmlformats.org/officeDocument/2006/relationships/oleObject" Target="../embeddings/Microsoft_Equation12.bin"/><Relationship Id="rId5" Type="http://schemas.openxmlformats.org/officeDocument/2006/relationships/oleObject" Target="../embeddings/Microsoft_Equation13.bin"/><Relationship Id="rId6" Type="http://schemas.openxmlformats.org/officeDocument/2006/relationships/oleObject" Target="../embeddings/Microsoft_Equation14.bin"/><Relationship Id="rId7" Type="http://schemas.openxmlformats.org/officeDocument/2006/relationships/oleObject" Target="../embeddings/Microsoft_Equation15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6.bin"/><Relationship Id="rId4" Type="http://schemas.openxmlformats.org/officeDocument/2006/relationships/oleObject" Target="../embeddings/Microsoft_Equation17.bin"/><Relationship Id="rId5" Type="http://schemas.openxmlformats.org/officeDocument/2006/relationships/oleObject" Target="../embeddings/Microsoft_Equation18.bin"/><Relationship Id="rId6" Type="http://schemas.openxmlformats.org/officeDocument/2006/relationships/oleObject" Target="../embeddings/Microsoft_Equation19.bin"/><Relationship Id="rId7" Type="http://schemas.openxmlformats.org/officeDocument/2006/relationships/oleObject" Target="../embeddings/Microsoft_Equation20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2.bin"/><Relationship Id="rId4" Type="http://schemas.openxmlformats.org/officeDocument/2006/relationships/oleObject" Target="../embeddings/Microsoft_Equation23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4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lang="en-US" altLang="ja-JP" sz="3200" dirty="0" smtClean="0">
                <a:solidFill>
                  <a:srgbClr val="00FF00"/>
                </a:solidFill>
              </a:rPr>
              <a:t>3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Properties of the </a:t>
            </a:r>
            <a:r>
              <a:rPr lang="en-US" b="1" dirty="0" err="1" smtClean="0"/>
              <a:t>Hartree</a:t>
            </a:r>
            <a:r>
              <a:rPr lang="en-US" b="1" dirty="0" err="1"/>
              <a:t>-Fock</a:t>
            </a:r>
            <a:r>
              <a:rPr lang="en-US" b="1" dirty="0" smtClean="0"/>
              <a:t>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001000" cy="4876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/>
              <a:t>General Properties</a:t>
            </a:r>
            <a:endParaRPr lang="ko-KR" altLang="en-US" sz="2400" b="1" u="sng" dirty="0" smtClean="0"/>
          </a:p>
          <a:p>
            <a:pPr lvl="0"/>
            <a:r>
              <a:rPr lang="en-US" sz="2400" dirty="0" smtClean="0"/>
              <a:t>Two </a:t>
            </a:r>
            <a:r>
              <a:rPr lang="en-US" sz="2400" dirty="0" err="1" smtClean="0"/>
              <a:t>nondegenerate</a:t>
            </a:r>
            <a:r>
              <a:rPr lang="en-US" sz="2400" dirty="0" smtClean="0"/>
              <a:t> solutions of the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equations are orthogonal (Exercise 4).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total energy is not simply the sum of the single-electron energies </a:t>
            </a:r>
            <a:r>
              <a:rPr lang="en-US" sz="2400" i="1" dirty="0" err="1" smtClean="0">
                <a:latin typeface="Symbol" charset="2"/>
                <a:cs typeface="Symbol" charset="2"/>
              </a:rPr>
              <a:t>e</a:t>
            </a:r>
            <a:r>
              <a:rPr lang="en-US" sz="2400" i="1" baseline="-25000" dirty="0" err="1" smtClean="0"/>
              <a:t>i</a:t>
            </a:r>
            <a:r>
              <a:rPr lang="en-US" sz="2400" dirty="0" smtClean="0"/>
              <a:t> (Example 2).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energy </a:t>
            </a:r>
            <a:r>
              <a:rPr lang="en-US" sz="2400" i="1" dirty="0" err="1" smtClean="0">
                <a:latin typeface="Symbol" charset="2"/>
                <a:cs typeface="Symbol" charset="2"/>
              </a:rPr>
              <a:t>e</a:t>
            </a:r>
            <a:r>
              <a:rPr lang="en-US" sz="2400" i="1" baseline="-25000" dirty="0" err="1" smtClean="0"/>
              <a:t>i</a:t>
            </a:r>
            <a:r>
              <a:rPr lang="en-US" sz="2400" dirty="0" smtClean="0"/>
              <a:t> is the energy required to remove an electron from the </a:t>
            </a:r>
            <a:r>
              <a:rPr lang="en-US" sz="2400" i="1" dirty="0" err="1" smtClean="0"/>
              <a:t>i</a:t>
            </a:r>
            <a:r>
              <a:rPr lang="en-US" sz="2400" dirty="0" err="1" smtClean="0"/>
              <a:t>th</a:t>
            </a:r>
            <a:r>
              <a:rPr lang="en-US" sz="2400" dirty="0" smtClean="0"/>
              <a:t> orbital (</a:t>
            </a:r>
            <a:r>
              <a:rPr lang="en-US" sz="2400" dirty="0" err="1" smtClean="0"/>
              <a:t>Koopman’s</a:t>
            </a:r>
            <a:r>
              <a:rPr lang="en-US" sz="2400" dirty="0" smtClean="0"/>
              <a:t> theorem).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matrix elements of the Hamiltonian between a state represented by an </a:t>
            </a:r>
            <a:r>
              <a:rPr lang="en-US" sz="2400" i="1" dirty="0" smtClean="0"/>
              <a:t>N</a:t>
            </a:r>
            <a:r>
              <a:rPr lang="en-US" sz="2400" dirty="0" smtClean="0"/>
              <a:t> electron Slater determinant constructed of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and a singly excited state vanishes identically (</a:t>
            </a:r>
            <a:r>
              <a:rPr lang="en-US" sz="2400" dirty="0" err="1" smtClean="0"/>
              <a:t>Brillouin</a:t>
            </a:r>
            <a:r>
              <a:rPr lang="en-US" sz="2400" dirty="0" smtClean="0"/>
              <a:t> theorem, see Exercise 6).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1143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Example </a:t>
            </a:r>
            <a:r>
              <a:rPr lang="en-US" sz="4400" b="1" dirty="0"/>
              <a:t>2</a:t>
            </a:r>
            <a:r>
              <a:rPr lang="ko-KR" sz="4400" dirty="0"/>
              <a:t> </a:t>
            </a:r>
            <a:endParaRPr lang="ja-JP" alt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467600" cy="4237037"/>
          </a:xfrm>
        </p:spPr>
        <p:txBody>
          <a:bodyPr>
            <a:normAutofit/>
          </a:bodyPr>
          <a:lstStyle/>
          <a:p>
            <a:r>
              <a:rPr lang="en-US" dirty="0" smtClean="0"/>
              <a:t>From Exercise 2, we have</a:t>
            </a:r>
            <a:endParaRPr lang="ko-KR" alt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</a:t>
            </a:r>
            <a:endParaRPr lang="ko-KR" altLang="en-US" dirty="0"/>
          </a:p>
        </p:txBody>
      </p: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771525" y="1771650"/>
          <a:ext cx="7666038" cy="2644775"/>
        </p:xfrm>
        <a:graphic>
          <a:graphicData uri="http://schemas.openxmlformats.org/presentationml/2006/ole">
            <p:oleObj spid="_x0000_s28682" name="Equation" r:id="rId3" imgW="5118100" imgH="1765300" progId="Equation.3">
              <p:embed/>
            </p:oleObj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1017588" y="4829175"/>
          <a:ext cx="7069137" cy="1266825"/>
        </p:xfrm>
        <a:graphic>
          <a:graphicData uri="http://schemas.openxmlformats.org/presentationml/2006/ole">
            <p:oleObj spid="_x0000_s28683" name="Equation" r:id="rId4" imgW="4749800" imgH="850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2025"/>
            <a:ext cx="8229600" cy="369728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Multiplying       to the </a:t>
            </a:r>
            <a:r>
              <a:rPr lang="en-US" dirty="0" err="1" smtClean="0"/>
              <a:t>Hartree-Fock</a:t>
            </a:r>
            <a:r>
              <a:rPr lang="en-US" dirty="0" smtClean="0"/>
              <a:t> equations</a:t>
            </a:r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dirty="0" smtClean="0"/>
              <a:t>	and integrating, we obtain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altLang="ko-KR" dirty="0" smtClean="0"/>
              <a:t>	and thus</a:t>
            </a:r>
            <a:endParaRPr lang="ko-KR" altLang="en-US" dirty="0" smtClean="0"/>
          </a:p>
          <a:p>
            <a:endParaRPr lang="ko-KR" altLang="en-US" dirty="0"/>
          </a:p>
        </p:txBody>
      </p:sp>
      <p:graphicFrame>
        <p:nvGraphicFramePr>
          <p:cNvPr id="209924" name="Object 4"/>
          <p:cNvGraphicFramePr>
            <a:graphicFrameLocks noChangeAspect="1"/>
          </p:cNvGraphicFramePr>
          <p:nvPr/>
        </p:nvGraphicFramePr>
        <p:xfrm>
          <a:off x="688975" y="358775"/>
          <a:ext cx="7769225" cy="1774825"/>
        </p:xfrm>
        <a:graphic>
          <a:graphicData uri="http://schemas.openxmlformats.org/presentationml/2006/ole">
            <p:oleObj spid="_x0000_s209924" name="Equation" r:id="rId3" imgW="5168900" imgH="1181100" progId="Equation.3">
              <p:embed/>
            </p:oleObj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2868387" y="2380342"/>
          <a:ext cx="520700" cy="307975"/>
        </p:xfrm>
        <a:graphic>
          <a:graphicData uri="http://schemas.openxmlformats.org/presentationml/2006/ole">
            <p:oleObj spid="_x0000_s209925" name="Equation" r:id="rId4" imgW="342900" imgH="203200" progId="Equation.3">
              <p:embed/>
            </p:oleObj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1905000" y="3054350"/>
          <a:ext cx="5273675" cy="1212850"/>
        </p:xfrm>
        <a:graphic>
          <a:graphicData uri="http://schemas.openxmlformats.org/presentationml/2006/ole">
            <p:oleObj spid="_x0000_s209926" name="Equation" r:id="rId5" imgW="3479800" imgH="800100" progId="Equation.3">
              <p:embed/>
            </p:oleObj>
          </a:graphicData>
        </a:graphic>
      </p:graphicFrame>
      <p:graphicFrame>
        <p:nvGraphicFramePr>
          <p:cNvPr id="209927" name="Object 7"/>
          <p:cNvGraphicFramePr>
            <a:graphicFrameLocks noChangeAspect="1"/>
          </p:cNvGraphicFramePr>
          <p:nvPr/>
        </p:nvGraphicFramePr>
        <p:xfrm>
          <a:off x="3389087" y="4814887"/>
          <a:ext cx="2455862" cy="549275"/>
        </p:xfrm>
        <a:graphic>
          <a:graphicData uri="http://schemas.openxmlformats.org/presentationml/2006/ole">
            <p:oleObj spid="_x0000_s209927" name="Equation" r:id="rId6" imgW="1651000" imgH="368300" progId="Equation.3">
              <p:embed/>
            </p:oleObj>
          </a:graphicData>
        </a:graphic>
      </p:graphicFrame>
      <p:graphicFrame>
        <p:nvGraphicFramePr>
          <p:cNvPr id="209929" name="Object 9"/>
          <p:cNvGraphicFramePr>
            <a:graphicFrameLocks noChangeAspect="1"/>
          </p:cNvGraphicFramePr>
          <p:nvPr/>
        </p:nvGraphicFramePr>
        <p:xfrm>
          <a:off x="665163" y="5892800"/>
          <a:ext cx="7826375" cy="546100"/>
        </p:xfrm>
        <a:graphic>
          <a:graphicData uri="http://schemas.openxmlformats.org/presentationml/2006/ole">
            <p:oleObj spid="_x0000_s209929" name="Equation" r:id="rId7" imgW="5270500" imgH="368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381000"/>
            <a:ext cx="8069263" cy="6248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u="sng" dirty="0" err="1" smtClean="0"/>
              <a:t>Koopman’s</a:t>
            </a:r>
            <a:r>
              <a:rPr lang="en-US" b="1" u="sng" dirty="0" smtClean="0"/>
              <a:t> Theorem </a:t>
            </a:r>
            <a:endParaRPr lang="ko-KR" altLang="en-US" b="1" u="sng" dirty="0" smtClean="0"/>
          </a:p>
          <a:p>
            <a:r>
              <a:rPr lang="en-US" dirty="0" smtClean="0"/>
              <a:t>Consider an </a:t>
            </a:r>
            <a:r>
              <a:rPr lang="en-US" i="1" dirty="0" smtClean="0"/>
              <a:t>N</a:t>
            </a:r>
            <a:r>
              <a:rPr lang="en-US" dirty="0" smtClean="0"/>
              <a:t> electron system with </a:t>
            </a:r>
            <a:r>
              <a:rPr lang="en-US" dirty="0" err="1" smtClean="0"/>
              <a:t>orbitals</a:t>
            </a:r>
            <a:r>
              <a:rPr lang="en-US" dirty="0" smtClean="0"/>
              <a:t> labeled as </a:t>
            </a:r>
            <a:r>
              <a:rPr lang="en-US" i="1" dirty="0" err="1" smtClean="0">
                <a:latin typeface="Times New Roman"/>
                <a:cs typeface="Times New Roman"/>
              </a:rPr>
              <a:t>j</a:t>
            </a:r>
            <a:r>
              <a:rPr lang="en-US" dirty="0" smtClean="0">
                <a:latin typeface="Times New Roman"/>
                <a:cs typeface="Times New Roman"/>
              </a:rPr>
              <a:t>=1,2,…,</a:t>
            </a:r>
            <a:r>
              <a:rPr lang="en-US" i="1" dirty="0" smtClean="0">
                <a:latin typeface="Times New Roman"/>
                <a:cs typeface="Times New Roman"/>
              </a:rPr>
              <a:t>N</a:t>
            </a:r>
            <a:r>
              <a:rPr lang="en-US" dirty="0" smtClean="0">
                <a:latin typeface="Times New Roman"/>
                <a:cs typeface="Times New Roman"/>
              </a:rPr>
              <a:t>, </a:t>
            </a:r>
            <a:r>
              <a:rPr lang="en-US" dirty="0" smtClean="0"/>
              <a:t>and an </a:t>
            </a:r>
            <a:r>
              <a:rPr lang="en-US" i="1" dirty="0" smtClean="0">
                <a:latin typeface="Times New Roman"/>
                <a:cs typeface="Times New Roman"/>
              </a:rPr>
              <a:t>N</a:t>
            </a:r>
            <a:r>
              <a:rPr lang="en-US" dirty="0" smtClean="0">
                <a:latin typeface="Times New Roman"/>
                <a:cs typeface="Times New Roman"/>
              </a:rPr>
              <a:t>+1 </a:t>
            </a:r>
            <a:r>
              <a:rPr lang="en-US" dirty="0" smtClean="0"/>
              <a:t>electron system with the additional electron labeled as </a:t>
            </a:r>
            <a:r>
              <a:rPr lang="en-US" i="1" dirty="0" err="1" smtClean="0">
                <a:latin typeface="Times New Roman"/>
                <a:cs typeface="Times New Roman"/>
              </a:rPr>
              <a:t>q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 smtClean="0"/>
          </a:p>
          <a:p>
            <a:r>
              <a:rPr lang="en-US" dirty="0" smtClean="0"/>
              <a:t>Since                  , the summation in ( ) can include </a:t>
            </a:r>
            <a:r>
              <a:rPr lang="en-US" i="1" dirty="0" err="1" smtClean="0">
                <a:latin typeface="Times New Roman"/>
                <a:cs typeface="Times New Roman"/>
              </a:rPr>
              <a:t>j</a:t>
            </a:r>
            <a:r>
              <a:rPr lang="en-US" dirty="0" smtClean="0">
                <a:latin typeface="Times New Roman"/>
                <a:cs typeface="Times New Roman"/>
              </a:rPr>
              <a:t>=</a:t>
            </a:r>
            <a:r>
              <a:rPr lang="en-US" i="1" dirty="0" err="1" smtClean="0">
                <a:latin typeface="Times New Roman"/>
                <a:cs typeface="Times New Roman"/>
              </a:rPr>
              <a:t>q</a:t>
            </a:r>
            <a:r>
              <a:rPr lang="en-US" dirty="0" smtClean="0"/>
              <a:t>. Then the quantity in ( ) is just </a:t>
            </a:r>
            <a:r>
              <a:rPr lang="en-US" i="1" dirty="0" smtClean="0">
                <a:latin typeface="Symbol" charset="2"/>
                <a:cs typeface="Symbol" charset="2"/>
              </a:rPr>
              <a:t>e</a:t>
            </a:r>
            <a:r>
              <a:rPr lang="en-US" i="1" baseline="-25000" dirty="0" smtClean="0"/>
              <a:t>q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Koopman’s</a:t>
            </a:r>
            <a:r>
              <a:rPr lang="en-US" dirty="0" smtClean="0"/>
              <a:t> theorem is not rigorous since it neglects the fact that the rapid readjustment in the </a:t>
            </a:r>
            <a:r>
              <a:rPr lang="en-US" dirty="0" err="1" smtClean="0"/>
              <a:t>orbitals</a:t>
            </a:r>
            <a:r>
              <a:rPr lang="en-US" dirty="0" smtClean="0"/>
              <a:t> that occurs after the removal of an electron results in different </a:t>
            </a:r>
            <a:r>
              <a:rPr lang="en-US" dirty="0" err="1" smtClean="0"/>
              <a:t>orbitals</a:t>
            </a:r>
            <a:r>
              <a:rPr lang="en-US" dirty="0" smtClean="0"/>
              <a:t> for the resulting ion. </a:t>
            </a:r>
            <a:endParaRPr lang="ko-KR" altLang="en-US" dirty="0"/>
          </a:p>
        </p:txBody>
      </p:sp>
      <p:graphicFrame>
        <p:nvGraphicFramePr>
          <p:cNvPr id="1041" name="Object 17"/>
          <p:cNvGraphicFramePr>
            <a:graphicFrameLocks noChangeAspect="1"/>
          </p:cNvGraphicFramePr>
          <p:nvPr/>
        </p:nvGraphicFramePr>
        <p:xfrm>
          <a:off x="1771650" y="2017713"/>
          <a:ext cx="5529263" cy="1506537"/>
        </p:xfrm>
        <a:graphic>
          <a:graphicData uri="http://schemas.openxmlformats.org/presentationml/2006/ole">
            <p:oleObj spid="_x0000_s1041" name="Equation" r:id="rId3" imgW="3683000" imgH="1003300" progId="Equation.3">
              <p:embed/>
            </p:oleObj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/>
        </p:nvGraphicFramePr>
        <p:xfrm>
          <a:off x="2058988" y="3852863"/>
          <a:ext cx="1423987" cy="247650"/>
        </p:xfrm>
        <a:graphic>
          <a:graphicData uri="http://schemas.openxmlformats.org/presentationml/2006/ole">
            <p:oleObj spid="_x0000_s1042" name="Equation" r:id="rId4" imgW="952500" imgH="165100" progId="Equation.3">
              <p:embed/>
            </p:oleObj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/>
        </p:nvGraphicFramePr>
        <p:xfrm>
          <a:off x="3935413" y="4589463"/>
          <a:ext cx="1362075" cy="298450"/>
        </p:xfrm>
        <a:graphic>
          <a:graphicData uri="http://schemas.openxmlformats.org/presentationml/2006/ole">
            <p:oleObj spid="_x0000_s1043" name="Equation" r:id="rId5" imgW="927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Brillouin</a:t>
            </a:r>
            <a:r>
              <a:rPr lang="en-US" sz="2400" dirty="0" smtClean="0"/>
              <a:t> Theorem: Consider two N-electron wave functions,</a:t>
            </a:r>
            <a:r>
              <a:rPr lang="ko-KR" altLang="en-US" sz="2400" dirty="0" smtClean="0"/>
              <a:t> 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where     corresponds to an excited orbital from     such that              . All of the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are the solutions of the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equations. Then show that                 .</a:t>
            </a:r>
            <a:endParaRPr lang="ko-KR" altLang="en-US" sz="2400" dirty="0" smtClean="0"/>
          </a:p>
          <a:p>
            <a:endParaRPr lang="ko-KR" alt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Exercise</a:t>
            </a:r>
            <a:r>
              <a:rPr lang="en-US" sz="4400" b="1" dirty="0" smtClean="0"/>
              <a:t> 6</a:t>
            </a:r>
            <a:r>
              <a:rPr lang="ko-KR" sz="4400" dirty="0" smtClean="0"/>
              <a:t> </a:t>
            </a:r>
            <a:endParaRPr lang="ja-JP" altLang="en-US" sz="4400" dirty="0"/>
          </a:p>
        </p:txBody>
      </p: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3000375" y="2609850"/>
          <a:ext cx="3124200" cy="1200150"/>
        </p:xfrm>
        <a:graphic>
          <a:graphicData uri="http://schemas.openxmlformats.org/presentationml/2006/ole">
            <p:oleObj spid="_x0000_s31751" name="Equation" r:id="rId3" imgW="2082800" imgH="800100" progId="Equation.3">
              <p:embed/>
            </p:oleObj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1905000" y="4006056"/>
          <a:ext cx="265113" cy="265113"/>
        </p:xfrm>
        <a:graphic>
          <a:graphicData uri="http://schemas.openxmlformats.org/presentationml/2006/ole">
            <p:oleObj spid="_x0000_s31752" name="Equation" r:id="rId4" imgW="177800" imgH="177800" progId="Equation.3">
              <p:embed/>
            </p:oleObj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1560284" y="4356103"/>
          <a:ext cx="1050925" cy="314325"/>
        </p:xfrm>
        <a:graphic>
          <a:graphicData uri="http://schemas.openxmlformats.org/presentationml/2006/ole">
            <p:oleObj spid="_x0000_s31753" name="Equation" r:id="rId5" imgW="723900" imgH="21590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391400" y="4006056"/>
          <a:ext cx="265113" cy="265113"/>
        </p:xfrm>
        <a:graphic>
          <a:graphicData uri="http://schemas.openxmlformats.org/presentationml/2006/ole">
            <p:oleObj spid="_x0000_s31754" name="Equation" r:id="rId6" imgW="177800" imgH="177800" progId="Equation.3">
              <p:embed/>
            </p:oleObj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/>
        </p:nvGraphicFramePr>
        <p:xfrm>
          <a:off x="6583363" y="4743450"/>
          <a:ext cx="1123950" cy="312738"/>
        </p:xfrm>
        <a:graphic>
          <a:graphicData uri="http://schemas.openxmlformats.org/presentationml/2006/ole">
            <p:oleObj spid="_x0000_s31755" name="Equation" r:id="rId7" imgW="774700" imgH="2159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3124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/>
              <a:t>Closed Shell</a:t>
            </a:r>
            <a:endParaRPr lang="ko-KR" altLang="en-US" sz="2400" b="1" u="sng" dirty="0" smtClean="0"/>
          </a:p>
          <a:p>
            <a:pPr lvl="0"/>
            <a:r>
              <a:rPr lang="en-US" sz="2400" dirty="0" smtClean="0"/>
              <a:t>A closed shell contains 2</a:t>
            </a:r>
            <a:r>
              <a:rPr lang="en-US" sz="2400" i="1" dirty="0" smtClean="0"/>
              <a:t>N</a:t>
            </a:r>
            <a:r>
              <a:rPr lang="en-US" sz="2400" dirty="0" smtClean="0"/>
              <a:t> spin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, </a:t>
            </a:r>
            <a:r>
              <a:rPr lang="en-US" sz="2400" i="1" dirty="0" smtClean="0"/>
              <a:t>N</a:t>
            </a:r>
            <a:r>
              <a:rPr lang="en-US" sz="2400" dirty="0" smtClean="0"/>
              <a:t> spatial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with opposite spins. </a:t>
            </a:r>
            <a:endParaRPr lang="ko-KR" altLang="en-US" sz="2400" dirty="0" smtClean="0"/>
          </a:p>
          <a:p>
            <a:r>
              <a:rPr lang="en-US" sz="2400" dirty="0" smtClean="0"/>
              <a:t>e.g.) 1s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(He, 2</a:t>
            </a:r>
            <a:r>
              <a:rPr lang="en-US" sz="2400" i="1" dirty="0" smtClean="0"/>
              <a:t>N</a:t>
            </a:r>
            <a:r>
              <a:rPr lang="en-US" sz="2400" dirty="0" smtClean="0"/>
              <a:t>=2), 2p</a:t>
            </a:r>
            <a:r>
              <a:rPr lang="en-US" sz="2400" baseline="30000" dirty="0" smtClean="0"/>
              <a:t>6</a:t>
            </a:r>
            <a:r>
              <a:rPr lang="en-US" sz="2400" dirty="0" smtClean="0"/>
              <a:t> (Ne, 2</a:t>
            </a:r>
            <a:r>
              <a:rPr lang="en-US" sz="2400" i="1" dirty="0" smtClean="0"/>
              <a:t>N</a:t>
            </a:r>
            <a:r>
              <a:rPr lang="en-US" sz="2400" dirty="0" smtClean="0"/>
              <a:t>=6), etc., 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</a:t>
            </a:r>
            <a:r>
              <a:rPr lang="en-US" sz="2400" dirty="0" err="1" smtClean="0"/>
              <a:t>Hartree-Fock</a:t>
            </a:r>
            <a:r>
              <a:rPr lang="en-US" sz="2400" dirty="0" smtClean="0"/>
              <a:t> one-electron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 are </a:t>
            </a:r>
            <a:r>
              <a:rPr lang="en-US" sz="2400" i="1" dirty="0" smtClean="0"/>
              <a:t>rigorously</a:t>
            </a:r>
            <a:r>
              <a:rPr lang="en-US" sz="2400" dirty="0" smtClean="0"/>
              <a:t> solutions of a </a:t>
            </a:r>
            <a:r>
              <a:rPr lang="en-US" sz="2400" i="1" dirty="0" smtClean="0"/>
              <a:t>central field</a:t>
            </a:r>
            <a:r>
              <a:rPr lang="en-US" sz="2400" dirty="0" smtClean="0"/>
              <a:t> problem. Each electron in a closed shell moves in a spherically symmetric potential.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611562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a 2</a:t>
            </a:r>
            <a:r>
              <a:rPr lang="en-US" sz="2400" i="1" dirty="0" smtClean="0"/>
              <a:t>N</a:t>
            </a:r>
            <a:r>
              <a:rPr lang="en-US" sz="2400" dirty="0" smtClean="0"/>
              <a:t>-electron </a:t>
            </a:r>
            <a:r>
              <a:rPr lang="en-US" sz="2400" i="1" dirty="0" smtClean="0">
                <a:latin typeface="Times New Roman"/>
                <a:cs typeface="Times New Roman"/>
              </a:rPr>
              <a:t>close shell</a:t>
            </a:r>
            <a:r>
              <a:rPr lang="en-US" sz="2400" dirty="0" smtClean="0"/>
              <a:t> described by a wave function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r>
              <a:rPr lang="en-US" altLang="ja-JP" sz="2400" dirty="0" smtClean="0"/>
              <a:t>	where  				       with         represent </a:t>
            </a:r>
            <a:r>
              <a:rPr lang="en-US" altLang="ja-JP" sz="2400" dirty="0" err="1" smtClean="0"/>
              <a:t>spinors</a:t>
            </a:r>
            <a:r>
              <a:rPr lang="en-US" altLang="ja-JP" sz="2400" dirty="0" smtClean="0"/>
              <a:t>. Show that the energy is given by</a:t>
            </a:r>
          </a:p>
          <a:p>
            <a:pPr>
              <a:buNone/>
            </a:pPr>
            <a:endParaRPr lang="en-US" altLang="ja-JP" sz="2400" dirty="0" smtClean="0"/>
          </a:p>
          <a:p>
            <a:pPr>
              <a:buNone/>
            </a:pPr>
            <a:endParaRPr lang="en-US" altLang="ja-JP" sz="2400" dirty="0" smtClean="0"/>
          </a:p>
          <a:p>
            <a:pPr>
              <a:buNone/>
            </a:pPr>
            <a:r>
              <a:rPr lang="en-US" altLang="ja-JP" sz="2400" dirty="0" smtClean="0"/>
              <a:t>	where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r>
              <a:rPr lang="en-US" altLang="ja-JP" dirty="0" smtClean="0"/>
              <a:t>Exercise 7</a:t>
            </a:r>
            <a:endParaRPr lang="ja-JP" altLang="en-US" dirty="0"/>
          </a:p>
        </p:txBody>
      </p:sp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2247900" y="1990725"/>
          <a:ext cx="4408488" cy="642938"/>
        </p:xfrm>
        <a:graphic>
          <a:graphicData uri="http://schemas.openxmlformats.org/presentationml/2006/ole">
            <p:oleObj spid="_x0000_s205831" name="Equation" r:id="rId3" imgW="2959100" imgH="431800" progId="Equation.3">
              <p:embed/>
            </p:oleObj>
          </a:graphicData>
        </a:graphic>
      </p:graphicFrame>
      <p:graphicFrame>
        <p:nvGraphicFramePr>
          <p:cNvPr id="205832" name="Object 8"/>
          <p:cNvGraphicFramePr>
            <a:graphicFrameLocks noChangeAspect="1"/>
          </p:cNvGraphicFramePr>
          <p:nvPr/>
        </p:nvGraphicFramePr>
        <p:xfrm>
          <a:off x="1830388" y="2954338"/>
          <a:ext cx="3806825" cy="317500"/>
        </p:xfrm>
        <a:graphic>
          <a:graphicData uri="http://schemas.openxmlformats.org/presentationml/2006/ole">
            <p:oleObj spid="_x0000_s205832" name="Equation" r:id="rId4" imgW="2578100" imgH="215900" progId="Equation.3">
              <p:embed/>
            </p:oleObj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6381750" y="2924175"/>
          <a:ext cx="549275" cy="322263"/>
        </p:xfrm>
        <a:graphic>
          <a:graphicData uri="http://schemas.openxmlformats.org/presentationml/2006/ole">
            <p:oleObj spid="_x0000_s205833" name="Equation" r:id="rId5" imgW="368300" imgH="215900" progId="Equation.3">
              <p:embed/>
            </p:oleObj>
          </a:graphicData>
        </a:graphic>
      </p:graphicFrame>
      <p:graphicFrame>
        <p:nvGraphicFramePr>
          <p:cNvPr id="205834" name="Object 10"/>
          <p:cNvGraphicFramePr>
            <a:graphicFrameLocks noChangeAspect="1"/>
          </p:cNvGraphicFramePr>
          <p:nvPr/>
        </p:nvGraphicFramePr>
        <p:xfrm>
          <a:off x="1666875" y="3762375"/>
          <a:ext cx="5861050" cy="696913"/>
        </p:xfrm>
        <a:graphic>
          <a:graphicData uri="http://schemas.openxmlformats.org/presentationml/2006/ole">
            <p:oleObj spid="_x0000_s205834" name="Equation" r:id="rId6" imgW="3848100" imgH="457200" progId="Equation.3">
              <p:embed/>
            </p:oleObj>
          </a:graphicData>
        </a:graphic>
      </p:graphicFrame>
      <p:graphicFrame>
        <p:nvGraphicFramePr>
          <p:cNvPr id="205835" name="Object 11"/>
          <p:cNvGraphicFramePr>
            <a:graphicFrameLocks noChangeAspect="1"/>
          </p:cNvGraphicFramePr>
          <p:nvPr/>
        </p:nvGraphicFramePr>
        <p:xfrm>
          <a:off x="2895600" y="4987925"/>
          <a:ext cx="3573463" cy="1395413"/>
        </p:xfrm>
        <a:graphic>
          <a:graphicData uri="http://schemas.openxmlformats.org/presentationml/2006/ole">
            <p:oleObj spid="_x0000_s205835" name="Equation" r:id="rId7" imgW="2374900" imgH="9271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u="sng" dirty="0" err="1" smtClean="0"/>
              <a:t>Hartree-Fock</a:t>
            </a:r>
            <a:r>
              <a:rPr lang="en-US" sz="2800" u="sng" dirty="0" smtClean="0"/>
              <a:t> </a:t>
            </a:r>
            <a:r>
              <a:rPr lang="en-US" sz="2800" u="sng" dirty="0" err="1" smtClean="0"/>
              <a:t>orbitals</a:t>
            </a:r>
            <a:r>
              <a:rPr lang="en-US" sz="2800" u="sng" dirty="0" smtClean="0"/>
              <a:t> and central field problem</a:t>
            </a:r>
          </a:p>
          <a:p>
            <a:r>
              <a:rPr lang="en-US" sz="2800" dirty="0" smtClean="0"/>
              <a:t>Assume the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of the form</a:t>
            </a:r>
            <a:endParaRPr lang="ko-KR" alt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which is the solution of a central potential problem. By showing that the this assumption leads to spherically symmetric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potentials, </a:t>
            </a:r>
            <a:r>
              <a:rPr lang="en-US" sz="2800" i="1" dirty="0" smtClean="0"/>
              <a:t>i.e.,</a:t>
            </a:r>
            <a:r>
              <a:rPr lang="en-US" sz="2800" dirty="0" smtClean="0"/>
              <a:t> that our assumption is self-consistent, we can show that the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indeed solutions of a central field problem.</a:t>
            </a:r>
            <a:endParaRPr lang="ko-KR" altLang="en-US" sz="2800" dirty="0" smtClean="0"/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/>
        </p:nvGraphicFramePr>
        <p:xfrm>
          <a:off x="3381375" y="1676400"/>
          <a:ext cx="2154238" cy="533400"/>
        </p:xfrm>
        <a:graphic>
          <a:graphicData uri="http://schemas.openxmlformats.org/presentationml/2006/ole">
            <p:oleObj spid="_x0000_s206861" name="Equation" r:id="rId3" imgW="1435100" imgH="355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0718"/>
            <a:ext cx="8229600" cy="5730082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the Coulomb potential.</a:t>
            </a:r>
          </a:p>
          <a:p>
            <a:endParaRPr lang="ko-KR" altLang="en-US" sz="2400" dirty="0" smtClean="0"/>
          </a:p>
          <a:p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For a </a:t>
            </a:r>
            <a:r>
              <a:rPr lang="en-US" sz="2400" u="sng" dirty="0" smtClean="0"/>
              <a:t>closed shell</a:t>
            </a:r>
            <a:r>
              <a:rPr lang="en-US" sz="2400" dirty="0" smtClean="0"/>
              <a:t>, the summation over </a:t>
            </a:r>
            <a:r>
              <a:rPr lang="en-US" sz="2400" i="1" dirty="0" err="1" smtClean="0">
                <a:latin typeface="Times New Roman"/>
                <a:cs typeface="Times New Roman"/>
              </a:rPr>
              <a:t>j</a:t>
            </a:r>
            <a:r>
              <a:rPr lang="en-US" sz="2400" dirty="0" smtClean="0"/>
              <a:t> is over all possible </a:t>
            </a:r>
            <a:r>
              <a:rPr lang="en-US" sz="2400" i="1" dirty="0" err="1" smtClean="0">
                <a:latin typeface="Times New Roman"/>
                <a:cs typeface="Times New Roman"/>
              </a:rPr>
              <a:t>m</a:t>
            </a:r>
            <a:r>
              <a:rPr lang="en-US" sz="2400" dirty="0" smtClean="0"/>
              <a:t> states with the same </a:t>
            </a:r>
            <a:r>
              <a:rPr lang="en-US" sz="2400" i="1" dirty="0" err="1" smtClean="0">
                <a:latin typeface="Times New Roman"/>
                <a:cs typeface="Times New Roman"/>
              </a:rPr>
              <a:t>n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latin typeface="Times New Roman"/>
                <a:cs typeface="Times New Roman"/>
              </a:rPr>
              <a:t>l</a:t>
            </a:r>
            <a:r>
              <a:rPr lang="en-US" sz="2400" dirty="0" smtClean="0"/>
              <a:t> and over two possible spins. So,</a:t>
            </a:r>
            <a:endParaRPr lang="ko-KR" altLang="en-US" sz="2400" dirty="0"/>
          </a:p>
        </p:txBody>
      </p:sp>
      <p:graphicFrame>
        <p:nvGraphicFramePr>
          <p:cNvPr id="207890" name="Object 18"/>
          <p:cNvGraphicFramePr>
            <a:graphicFrameLocks noChangeAspect="1"/>
          </p:cNvGraphicFramePr>
          <p:nvPr/>
        </p:nvGraphicFramePr>
        <p:xfrm>
          <a:off x="2125663" y="1243013"/>
          <a:ext cx="4964112" cy="547687"/>
        </p:xfrm>
        <a:graphic>
          <a:graphicData uri="http://schemas.openxmlformats.org/presentationml/2006/ole">
            <p:oleObj spid="_x0000_s207890" name="Equation" r:id="rId3" imgW="3340100" imgH="368300" progId="Equation.3">
              <p:embed/>
            </p:oleObj>
          </a:graphicData>
        </a:graphic>
      </p:graphicFrame>
      <p:graphicFrame>
        <p:nvGraphicFramePr>
          <p:cNvPr id="207891" name="Object 19"/>
          <p:cNvGraphicFramePr>
            <a:graphicFrameLocks noChangeAspect="1"/>
          </p:cNvGraphicFramePr>
          <p:nvPr/>
        </p:nvGraphicFramePr>
        <p:xfrm>
          <a:off x="1133475" y="3389313"/>
          <a:ext cx="6883400" cy="2078037"/>
        </p:xfrm>
        <a:graphic>
          <a:graphicData uri="http://schemas.openxmlformats.org/presentationml/2006/ole">
            <p:oleObj spid="_x0000_s207891" name="Equation" r:id="rId4" imgW="4584700" imgH="1384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67200"/>
            <a:ext cx="8305800" cy="228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where </a:t>
            </a:r>
            <a:r>
              <a:rPr lang="en-US" sz="2400" i="1" dirty="0" err="1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&gt;</a:t>
            </a:r>
            <a:r>
              <a:rPr lang="en-US" sz="2400" dirty="0" smtClean="0"/>
              <a:t> is the larger one between </a:t>
            </a:r>
            <a:r>
              <a:rPr lang="en-US" sz="2400" i="1" dirty="0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/>
              <a:t> and </a:t>
            </a:r>
            <a:r>
              <a:rPr lang="en-US" sz="2400" i="1" dirty="0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2</a:t>
            </a:r>
            <a:r>
              <a:rPr lang="en-US" sz="2400" dirty="0" smtClean="0"/>
              <a:t>. The Coulomb potential is only a function of </a:t>
            </a:r>
            <a:r>
              <a:rPr lang="en-US" sz="2400" i="1" dirty="0" smtClean="0">
                <a:latin typeface="Times New Roman"/>
                <a:cs typeface="Times New Roman"/>
              </a:rPr>
              <a:t>r</a:t>
            </a:r>
            <a:r>
              <a:rPr lang="en-US" sz="2400" baseline="-250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/>
              <a:t> and independent of angle and therefore </a:t>
            </a:r>
            <a:r>
              <a:rPr lang="en-US" sz="2400" i="1" dirty="0" smtClean="0"/>
              <a:t>spherically symmetric.</a:t>
            </a:r>
            <a:r>
              <a:rPr lang="en-US" sz="2400" dirty="0" smtClean="0"/>
              <a:t> Likewise, one can also show that the exchange potential is of the form of a central potential.</a:t>
            </a:r>
            <a:r>
              <a:rPr lang="ko-KR" altLang="en-US" sz="2400" dirty="0" smtClean="0"/>
              <a:t> </a:t>
            </a:r>
            <a:endParaRPr lang="ko-KR" altLang="en-US" sz="2400" i="1" dirty="0"/>
          </a:p>
        </p:txBody>
      </p:sp>
      <p:graphicFrame>
        <p:nvGraphicFramePr>
          <p:cNvPr id="208908" name="Object 12"/>
          <p:cNvGraphicFramePr>
            <a:graphicFrameLocks noChangeAspect="1"/>
          </p:cNvGraphicFramePr>
          <p:nvPr/>
        </p:nvGraphicFramePr>
        <p:xfrm>
          <a:off x="1438275" y="936625"/>
          <a:ext cx="6399213" cy="2990850"/>
        </p:xfrm>
        <a:graphic>
          <a:graphicData uri="http://schemas.openxmlformats.org/presentationml/2006/ole">
            <p:oleObj spid="_x0000_s208908" name="Equation" r:id="rId3" imgW="4267200" imgH="19939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275</TotalTime>
  <Words>549</Words>
  <Application>Microsoft Macintosh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Technic</vt:lpstr>
      <vt:lpstr>Equation</vt:lpstr>
      <vt:lpstr>Microsoft Equation</vt:lpstr>
      <vt:lpstr>Atomic and Molecular Physics  Lecture 13</vt:lpstr>
      <vt:lpstr>Properties of the Hartree-Fock Solutions</vt:lpstr>
      <vt:lpstr>Example 2 </vt:lpstr>
      <vt:lpstr>Slide 4</vt:lpstr>
      <vt:lpstr>Slide 5</vt:lpstr>
      <vt:lpstr>Exercise 6 </vt:lpstr>
      <vt:lpstr>Slide 7</vt:lpstr>
      <vt:lpstr>Exercise 7</vt:lpstr>
      <vt:lpstr>Slide 9</vt:lpstr>
      <vt:lpstr>Slide 10</vt:lpstr>
      <vt:lpstr>Slide 11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37</cp:revision>
  <dcterms:created xsi:type="dcterms:W3CDTF">2009-11-16T14:02:53Z</dcterms:created>
  <dcterms:modified xsi:type="dcterms:W3CDTF">2009-11-16T14:07:12Z</dcterms:modified>
</cp:coreProperties>
</file>