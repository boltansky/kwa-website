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6.xml" ContentType="application/vnd.openxmlformats-officedocument.presentationml.slideLayout+xml"/>
  <Override PartName="/ppt/presentation.xml" ContentType="application/vnd.openxmlformats-officedocument.presentationml.presentation.main+xml"/>
  <Override PartName="/docProps/app.xml" ContentType="application/vnd.openxmlformats-officedocument.extended-properties+xml"/>
  <Override PartName="/ppt/slides/slide5.xml" ContentType="application/vnd.openxmlformats-officedocument.presentationml.slide+xml"/>
  <Override PartName="/ppt/slides/slide10.xml" ContentType="application/vnd.openxmlformats-officedocument.presentationml.slide+xml"/>
  <Override PartName="/ppt/slideLayouts/slideLayout7.xml" ContentType="application/vnd.openxmlformats-officedocument.presentationml.slideLayout+xml"/>
  <Override PartName="/ppt/presProps.xml" ContentType="application/vnd.openxmlformats-officedocument.presentationml.presProps+xml"/>
  <Default Extension="vml" ContentType="application/vnd.openxmlformats-officedocument.vmlDrawing"/>
  <Default Extension="jpeg" ContentType="image/jpeg"/>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s/slide3.xml" ContentType="application/vnd.openxmlformats-officedocument.presentationml.slide+xml"/>
  <Override PartName="/ppt/slides/slide4.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embeddings/Microsoft_Equation1.bin" ContentType="application/vnd.openxmlformats-officedocument.oleObject"/>
  <Override PartName="/docProps/core.xml" ContentType="application/vnd.openxmlformats-package.core-properties+xml"/>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viewProps.xml" ContentType="application/vnd.openxmlformats-officedocument.presentationml.viewProps+xml"/>
  <Default Extension="bin" ContentType="application/vnd.openxmlformats-officedocument.presentationml.printerSettings"/>
  <Override PartName="/ppt/embeddings/Microsoft_Equation6.bin" ContentType="application/vnd.openxmlformats-officedocument.oleObject"/>
  <Override PartName="/ppt/embeddings/Microsoft_Equation2.bin" ContentType="application/vnd.openxmlformats-officedocument.oleObject"/>
  <Override PartName="/ppt/slides/slide9.xml" ContentType="application/vnd.openxmlformats-officedocument.presentationml.slide+xml"/>
  <Override PartName="/ppt/embeddings/Microsoft_Equation3.bin" ContentType="application/vnd.openxmlformats-officedocument.oleObject"/>
  <Override PartName="/ppt/embeddings/Microsoft_Equation4.bin" ContentType="application/vnd.openxmlformats-officedocument.oleObject"/>
  <Default Extension="rels" ContentType="application/vnd.openxmlformats-package.relationships+xml"/>
  <Override PartName="/ppt/slides/slide6.xml" ContentType="application/vnd.openxmlformats-officedocument.presentationml.slide+xml"/>
  <Override PartName="/ppt/embeddings/Microsoft_Equation5.bin" ContentType="application/vnd.openxmlformats-officedocument.oleObject"/>
  <Default Extension="pict" ContentType="image/pict"/>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webPr allowPng="1" organizeInFolders="0" useLongFilenames="0" imgSz="1024x768" encoding="csShiftJIS"/>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showOutlineIcons="0">
    <p:restoredLeft sz="15620"/>
    <p:restoredTop sz="94660"/>
  </p:normalViewPr>
  <p:slideViewPr>
    <p:cSldViewPr snapToObjects="1">
      <p:cViewPr varScale="1">
        <p:scale>
          <a:sx n="143" d="100"/>
          <a:sy n="143" d="100"/>
        </p:scale>
        <p:origin x="-125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4" Type="http://schemas.openxmlformats.org/officeDocument/2006/relationships/viewProps" Target="viewProps.xml"/><Relationship Id="rId4" Type="http://schemas.openxmlformats.org/officeDocument/2006/relationships/slide" Target="slides/slide3.xml"/><Relationship Id="rId7" Type="http://schemas.openxmlformats.org/officeDocument/2006/relationships/slide" Target="slides/slide6.xml"/><Relationship Id="rId11"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 Target="slides/slide5.xml"/><Relationship Id="rId16" Type="http://schemas.openxmlformats.org/officeDocument/2006/relationships/tableStyles" Target="tableStyles.xml"/><Relationship Id="rId8" Type="http://schemas.openxmlformats.org/officeDocument/2006/relationships/slide" Target="slides/slide7.xml"/><Relationship Id="rId13" Type="http://schemas.openxmlformats.org/officeDocument/2006/relationships/presProps" Target="presProps.xml"/><Relationship Id="rId10" Type="http://schemas.openxmlformats.org/officeDocument/2006/relationships/slide" Target="slides/slide9.xml"/><Relationship Id="rId5" Type="http://schemas.openxmlformats.org/officeDocument/2006/relationships/slide" Target="slides/slide4.xml"/><Relationship Id="rId15" Type="http://schemas.openxmlformats.org/officeDocument/2006/relationships/theme" Target="theme/theme1.xml"/><Relationship Id="rId12" Type="http://schemas.openxmlformats.org/officeDocument/2006/relationships/printerSettings" Target="printerSettings/printerSettings1.bin"/><Relationship Id="rId2" Type="http://schemas.openxmlformats.org/officeDocument/2006/relationships/slide" Target="slides/slide1.xml"/><Relationship Id="rId9" Type="http://schemas.openxmlformats.org/officeDocument/2006/relationships/slide" Target="slides/slide8.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pict"/><Relationship Id="rId3" Type="http://schemas.openxmlformats.org/officeDocument/2006/relationships/image" Target="../media/image3.pict"/><Relationship Id="rId1" Type="http://schemas.openxmlformats.org/officeDocument/2006/relationships/image" Target="../media/image1.pict"/></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ict"/></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pict"/><Relationship Id="rId1" Type="http://schemas.openxmlformats.org/officeDocument/2006/relationships/image" Target="../media/image5.pict"/></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ict"/></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a:pPr/>
              <a:t>09.10.6</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a:pPr/>
              <a:t>09.10.6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09.10.6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a:pPr/>
              <a:t>09.10.6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a:pPr/>
              <a:t>09.10.6</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a:pPr/>
              <a:t>09.10.6</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a:pPr/>
              <a:t>09.10.6</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a:pPr/>
              <a:t>09.10.6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a:pPr/>
              <a:t>09.10.6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a:pPr/>
              <a:t>09.10.6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a:pPr/>
              <a:t>09.10.6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4" Type="http://schemas.openxmlformats.org/officeDocument/2006/relationships/slideLayout" Target="../slideLayouts/slideLayout4.xml"/><Relationship Id="rId10" Type="http://schemas.openxmlformats.org/officeDocument/2006/relationships/slideLayout" Target="../slideLayouts/slideLayout10.xml"/><Relationship Id="rId5" Type="http://schemas.openxmlformats.org/officeDocument/2006/relationships/slideLayout" Target="../slideLayouts/slideLayout5.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a:pPr/>
              <a:t>09.10.6</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oleObject" Target="../embeddings/Microsoft_Equation2.bin"/><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oleObject" Target="../embeddings/Microsoft_Equation1.bin"/><Relationship Id="rId5" Type="http://schemas.openxmlformats.org/officeDocument/2006/relationships/oleObject" Target="../embeddings/Microsoft_Equation3.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oleObject" Target="../embeddings/Microsoft_Equation4.bin"/><Relationship Id="rId1" Type="http://schemas.openxmlformats.org/officeDocument/2006/relationships/vmlDrawing" Target="../drawings/vmlDrawing2.vml"/></Relationships>
</file>

<file path=ppt/slides/_rels/slide9.xml.rels><?xml version="1.0" encoding="UTF-8" standalone="yes"?>
<Relationships xmlns="http://schemas.openxmlformats.org/package/2006/relationships"><Relationship Id="rId4" Type="http://schemas.openxmlformats.org/officeDocument/2006/relationships/oleObject" Target="../embeddings/Microsoft_Equation6.bin"/><Relationship Id="rId1" Type="http://schemas.openxmlformats.org/officeDocument/2006/relationships/vmlDrawing" Target="../drawings/vmlDrawing3.vml"/><Relationship Id="rId2" Type="http://schemas.openxmlformats.org/officeDocument/2006/relationships/slideLayout" Target="../slideLayouts/slideLayout2.xml"/><Relationship Id="rId3" Type="http://schemas.openxmlformats.org/officeDocument/2006/relationships/oleObject" Target="../embeddings/Microsoft_Equation5.bin"/></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oleObject" Target="!OLE_LINK1" TargetMode="External"/><Relationship Id="rId1" Type="http://schemas.openxmlformats.org/officeDocument/2006/relationships/vmlDrawing" Target="../drawings/vmlDrawing4.v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a:t>Atomic and Molecular Physics</a:t>
            </a:r>
            <a:r>
              <a:rPr altLang="ja-JP" sz="4400"/>
              <a:t/>
            </a:r>
            <a:br>
              <a:rPr altLang="ja-JP" sz="4400"/>
            </a:br>
            <a:r>
              <a:rPr altLang="ja-JP" sz="4400"/>
              <a:t/>
            </a:r>
            <a:br>
              <a:rPr altLang="ja-JP" sz="4400"/>
            </a:br>
            <a:r>
              <a:rPr altLang="ja-JP" sz="3200">
                <a:solidFill>
                  <a:srgbClr val="00FF00"/>
                </a:solidFill>
              </a:rPr>
              <a:t>Lecture 01</a:t>
            </a:r>
            <a:endParaRPr lang="ja-JP" altLang="en-US" sz="3200">
              <a:solidFill>
                <a:srgbClr val="00FF00"/>
              </a:solidFill>
            </a:endParaRPr>
          </a:p>
        </p:txBody>
      </p:sp>
      <p:sp>
        <p:nvSpPr>
          <p:cNvPr id="3" name="Subtitle 2"/>
          <p:cNvSpPr>
            <a:spLocks noGrp="1"/>
          </p:cNvSpPr>
          <p:nvPr>
            <p:ph type="subTitle" idx="1"/>
          </p:nvPr>
        </p:nvSpPr>
        <p:spPr/>
        <p:txBody>
          <a:bodyPr>
            <a:normAutofit/>
          </a:bodyPr>
          <a:lstStyle/>
          <a:p>
            <a:r>
              <a:rPr lang="en-US" altLang="ja-JP"/>
              <a:t>Prof. Kyungwon An</a:t>
            </a:r>
          </a:p>
          <a:p>
            <a:r>
              <a:rPr lang="en-US" altLang="ja-JP"/>
              <a:t>Department of Physics and Astronomy</a:t>
            </a:r>
          </a:p>
          <a:p>
            <a:r>
              <a:rPr lang="en-US" altLang="ja-JP"/>
              <a:t>Seoul National University</a:t>
            </a:r>
            <a:endParaRPr lang="ja-JP"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Synopsis</a:t>
            </a:r>
            <a:r>
              <a:rPr lang="ko-KR" altLang="en-US" b="1"/>
              <a:t/>
            </a:r>
            <a:br>
              <a:rPr lang="ko-KR" altLang="en-US" b="1"/>
            </a:br>
            <a:endParaRPr lang="ja-JP" altLang="en-US"/>
          </a:p>
        </p:txBody>
      </p:sp>
      <p:sp>
        <p:nvSpPr>
          <p:cNvPr id="3" name="Content Placeholder 2"/>
          <p:cNvSpPr>
            <a:spLocks noGrp="1"/>
          </p:cNvSpPr>
          <p:nvPr>
            <p:ph idx="1"/>
          </p:nvPr>
        </p:nvSpPr>
        <p:spPr/>
        <p:txBody>
          <a:bodyPr>
            <a:normAutofit fontScale="62500" lnSpcReduction="20000"/>
          </a:bodyPr>
          <a:lstStyle/>
          <a:p>
            <a:r>
              <a:rPr lang="en-US"/>
              <a:t>The aim of this course is to provide a general atomic and molecular physics background to the starting graduate students in physics. A particular emphasis will be placed on familiarity with quantum mechanical description of the simplest atom, hydrogen, and its alike, alkali atoms. Subjects to be covered include quantum defect and WKB method, physics of fine and hyperfine structures and interactions with external fields. One-electron-atom theory will be extended to multi-electron atoms in the context of Hartree-Fock formalism, followed by composition of multiplet wave functions, methods for identifying possible terms for given configurations, and physics of isotope shifts. In the discussion of radiative interactions of atoms, various multipole interactions and associated selection rules will be discussed in the framework of field quantization. Interactions with intense laser fields will be discussed with a flavor of modern quantum optics or so-called dressed state picture. Discussions on Born-Oppenheimer approximation will be given, followed by extension to the discussion of hydrogen molecules and molecular ions. </a:t>
            </a:r>
            <a:endParaRPr lang="ja-JP"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Prerequisite</a:t>
            </a:r>
            <a:r>
              <a:rPr lang="ko-KR"/>
              <a:t> </a:t>
            </a:r>
            <a:endParaRPr lang="ja-JP" altLang="en-US"/>
          </a:p>
        </p:txBody>
      </p:sp>
      <p:sp>
        <p:nvSpPr>
          <p:cNvPr id="3" name="Content Placeholder 2"/>
          <p:cNvSpPr>
            <a:spLocks noGrp="1"/>
          </p:cNvSpPr>
          <p:nvPr>
            <p:ph idx="1"/>
          </p:nvPr>
        </p:nvSpPr>
        <p:spPr>
          <a:xfrm>
            <a:off x="914400" y="1426464"/>
            <a:ext cx="7772400" cy="1340640"/>
          </a:xfrm>
        </p:spPr>
        <p:txBody>
          <a:bodyPr/>
          <a:lstStyle/>
          <a:p>
            <a:r>
              <a:rPr lang="en-US"/>
              <a:t>Undergraduate Quantum Physics 1 &amp; 2 (884.303 &amp; 304)</a:t>
            </a:r>
            <a:r>
              <a:rPr lang="ko-KR"/>
              <a:t> </a:t>
            </a:r>
            <a:endParaRPr lang="ja-JP" altLang="en-US"/>
          </a:p>
        </p:txBody>
      </p:sp>
      <p:sp>
        <p:nvSpPr>
          <p:cNvPr id="4" name="Title 1"/>
          <p:cNvSpPr txBox="1">
            <a:spLocks/>
          </p:cNvSpPr>
          <p:nvPr/>
        </p:nvSpPr>
        <p:spPr>
          <a:xfrm>
            <a:off x="457200" y="3505200"/>
            <a:ext cx="7772400" cy="91440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sz="4000" b="1" i="0" u="none" strike="noStrike" kern="1200" cap="none" spc="-100" normalizeH="0" baseline="0" noProof="0">
                <a:ln>
                  <a:noFill/>
                </a:ln>
                <a:solidFill>
                  <a:schemeClr val="tx2">
                    <a:satMod val="200000"/>
                  </a:schemeClr>
                </a:solidFill>
                <a:effectLst/>
                <a:uLnTx/>
                <a:uFillTx/>
                <a:latin typeface="+mj-lt"/>
                <a:ea typeface="+mj-ea"/>
                <a:cs typeface="+mj-cs"/>
              </a:rPr>
              <a:t>References</a:t>
            </a:r>
            <a:r>
              <a:rPr kumimoji="1" lang="ko-KR" sz="4000" b="0" i="0" u="none" strike="noStrike" kern="1200" cap="none" spc="-100" normalizeH="0" baseline="0" noProof="0">
                <a:ln>
                  <a:noFill/>
                </a:ln>
                <a:solidFill>
                  <a:schemeClr val="tx2">
                    <a:satMod val="200000"/>
                  </a:schemeClr>
                </a:solidFill>
                <a:effectLst/>
                <a:uLnTx/>
                <a:uFillTx/>
                <a:latin typeface="+mj-lt"/>
                <a:ea typeface="+mj-ea"/>
                <a:cs typeface="+mj-cs"/>
              </a:rPr>
              <a:t> </a:t>
            </a:r>
            <a:endParaRPr kumimoji="1" lang="ja-JP" altLang="en-US" sz="4000" b="0" i="0" u="none" strike="noStrike" kern="1200" cap="none" spc="-100" normalizeH="0" baseline="0" noProof="0">
              <a:ln>
                <a:noFill/>
              </a:ln>
              <a:solidFill>
                <a:schemeClr val="tx2">
                  <a:satMod val="200000"/>
                </a:schemeClr>
              </a:solidFill>
              <a:effectLst/>
              <a:uLnTx/>
              <a:uFillTx/>
              <a:latin typeface="+mj-lt"/>
              <a:ea typeface="+mj-ea"/>
              <a:cs typeface="+mj-cs"/>
            </a:endParaRPr>
          </a:p>
        </p:txBody>
      </p:sp>
      <p:sp>
        <p:nvSpPr>
          <p:cNvPr id="5" name="Content Placeholder 2"/>
          <p:cNvSpPr txBox="1">
            <a:spLocks/>
          </p:cNvSpPr>
          <p:nvPr/>
        </p:nvSpPr>
        <p:spPr>
          <a:xfrm>
            <a:off x="914400" y="4419600"/>
            <a:ext cx="7772400" cy="1340640"/>
          </a:xfrm>
          <a:prstGeom prst="rect">
            <a:avLst/>
          </a:prstGeom>
        </p:spPr>
        <p:txBody>
          <a:bodyPr vert="horz">
            <a:normAutofit/>
          </a:bodyPr>
          <a:lstStyle/>
          <a:p>
            <a:pPr marL="411480" lvl="0" indent="-342900" defTabSz="914400">
              <a:spcBef>
                <a:spcPts val="700"/>
              </a:spcBef>
              <a:buClr>
                <a:schemeClr val="tx2"/>
              </a:buClr>
              <a:buSzPct val="95000"/>
              <a:buFont typeface="Wingdings"/>
              <a:buChar char=""/>
            </a:pPr>
            <a:r>
              <a:rPr lang="en-US" sz="3200" i="1"/>
              <a:t>Atoms and Molecules</a:t>
            </a:r>
            <a:r>
              <a:rPr lang="en-US" sz="3200"/>
              <a:t> by M. Weissbluth (San Diego, 1978, Academic Press)</a:t>
            </a:r>
            <a:r>
              <a:rPr lang="ko-KR" sz="3200"/>
              <a:t> </a:t>
            </a:r>
            <a:endParaRPr kumimoji="1" lang="ja-JP" altLang="en-US" sz="3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smtClean="0"/>
              <a:t>Hydrogen</a:t>
            </a:r>
            <a:endParaRPr lang="ja-JP" altLang="en-US"/>
          </a:p>
        </p:txBody>
      </p:sp>
      <p:sp>
        <p:nvSpPr>
          <p:cNvPr id="3" name="Content Placeholder 2"/>
          <p:cNvSpPr>
            <a:spLocks noGrp="1"/>
          </p:cNvSpPr>
          <p:nvPr>
            <p:ph idx="1"/>
          </p:nvPr>
        </p:nvSpPr>
        <p:spPr/>
        <p:txBody>
          <a:bodyPr>
            <a:normAutofit fontScale="77500" lnSpcReduction="20000"/>
          </a:bodyPr>
          <a:lstStyle/>
          <a:p>
            <a:r>
              <a:rPr lang="en-US" altLang="ja-JP" smtClean="0"/>
              <a:t>the most abundant of all elements in the universe, 90%- found in the sun and most stars, accounting for energy of the sun and stars</a:t>
            </a:r>
          </a:p>
          <a:p>
            <a:r>
              <a:rPr lang="en-US" altLang="ja-JP" smtClean="0"/>
              <a:t>major component of the planet Jupiter, metallic hydrogen inside (high pressure 2.8 Mbar)</a:t>
            </a:r>
          </a:p>
          <a:p>
            <a:r>
              <a:rPr lang="en-US" altLang="ja-JP" smtClean="0"/>
              <a:t>mostly in water, only 1 ppm by volume in the atmosphere on earth</a:t>
            </a:r>
          </a:p>
          <a:p>
            <a:r>
              <a:rPr lang="en-US" altLang="ja-JP" smtClean="0"/>
              <a:t>ordinary isotope of hydrogen, protium. Others are deuterium (2H or D), tritium (3H)</a:t>
            </a:r>
          </a:p>
          <a:p>
            <a:r>
              <a:rPr lang="en-US" altLang="ja-JP" smtClean="0"/>
              <a:t>Gound state hydrogen is in 25% para (F=0, singlet) and 75% ortho (F=1, triplet) form due to nuclear and electron spins</a:t>
            </a:r>
          </a:p>
          <a:p>
            <a:r>
              <a:rPr lang="en-US" altLang="ja-JP" smtClean="0"/>
              <a:t>Hydrogen fuel may be the future source of energy.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Chapter 1 Hydrogen</a:t>
            </a:r>
            <a:r>
              <a:rPr lang="ko-KR"/>
              <a:t> </a:t>
            </a:r>
            <a:endParaRPr lang="ja-JP" altLang="en-US"/>
          </a:p>
        </p:txBody>
      </p:sp>
      <p:sp>
        <p:nvSpPr>
          <p:cNvPr id="3" name="Content Placeholder 2"/>
          <p:cNvSpPr>
            <a:spLocks noGrp="1"/>
          </p:cNvSpPr>
          <p:nvPr>
            <p:ph idx="1"/>
          </p:nvPr>
        </p:nvSpPr>
        <p:spPr>
          <a:xfrm>
            <a:off x="914400" y="1600200"/>
            <a:ext cx="7772400" cy="4572000"/>
          </a:xfrm>
        </p:spPr>
        <p:txBody>
          <a:bodyPr>
            <a:normAutofit/>
          </a:bodyPr>
          <a:lstStyle/>
          <a:p>
            <a:pPr lvl="0"/>
            <a:r>
              <a:rPr lang="en-US"/>
              <a:t>Historical</a:t>
            </a:r>
          </a:p>
          <a:p>
            <a:pPr lvl="1"/>
            <a:r>
              <a:rPr lang="en-US"/>
              <a:t>first observed by Theophrastus Bombast von Hohenheiem (1520)</a:t>
            </a:r>
            <a:endParaRPr lang="ko-KR" altLang="en-US"/>
          </a:p>
          <a:p>
            <a:pPr lvl="1"/>
            <a:r>
              <a:rPr lang="en-US"/>
              <a:t>isolated and identified by Cavendish (1776)</a:t>
            </a:r>
            <a:endParaRPr lang="ko-KR" altLang="en-US"/>
          </a:p>
          <a:p>
            <a:pPr lvl="1"/>
            <a:r>
              <a:rPr lang="en-US"/>
              <a:t>given its name hydrogen (“water forming”) by Lavoisier (1783)</a:t>
            </a:r>
            <a:endParaRPr lang="ko-KR" altLang="en-US"/>
          </a:p>
          <a:p>
            <a:pPr lvl="1"/>
            <a:r>
              <a:rPr lang="en-US"/>
              <a:t>its spectral line (first two of the Balmer series H</a:t>
            </a:r>
            <a:r>
              <a:rPr lang="en-US" baseline="-25000"/>
              <a:t>a</a:t>
            </a:r>
            <a:r>
              <a:rPr lang="en-US"/>
              <a:t> &amp; H</a:t>
            </a:r>
            <a:r>
              <a:rPr lang="en-US" baseline="-25000"/>
              <a:t>b</a:t>
            </a:r>
            <a:r>
              <a:rPr lang="en-US"/>
              <a:t>) first observed (though not identified) by Fraunhofer in sunlight</a:t>
            </a:r>
            <a:endParaRPr lang="ko-KR"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Balmer’s Emprical Formula</a:t>
            </a:r>
            <a:endParaRPr lang="ja-JP" altLang="en-US"/>
          </a:p>
        </p:txBody>
      </p:sp>
      <p:sp>
        <p:nvSpPr>
          <p:cNvPr id="3" name="Content Placeholder 2"/>
          <p:cNvSpPr>
            <a:spLocks noGrp="1"/>
          </p:cNvSpPr>
          <p:nvPr>
            <p:ph idx="1"/>
          </p:nvPr>
        </p:nvSpPr>
        <p:spPr/>
        <p:txBody>
          <a:bodyPr/>
          <a:lstStyle/>
          <a:p>
            <a:pPr marL="411480" lvl="1" indent="-342900">
              <a:spcBef>
                <a:spcPts val="700"/>
              </a:spcBef>
              <a:buClr>
                <a:schemeClr val="tx2"/>
              </a:buClr>
              <a:buSzPct val="95000"/>
              <a:buFont typeface="Wingdings"/>
              <a:buChar char=""/>
            </a:pPr>
            <a:r>
              <a:rPr lang="en-US"/>
              <a:t>Empirical formula was found by Balmer (1884)</a:t>
            </a:r>
          </a:p>
          <a:p>
            <a:pPr marL="411480" lvl="1" indent="-342900">
              <a:spcBef>
                <a:spcPts val="700"/>
              </a:spcBef>
              <a:buClr>
                <a:schemeClr val="tx2"/>
              </a:buClr>
              <a:buSzPct val="95000"/>
              <a:buFont typeface="Wingdings"/>
              <a:buChar char=""/>
            </a:pPr>
            <a:endParaRPr lang="en-US" altLang="ko-KR"/>
          </a:p>
          <a:p>
            <a:pPr marL="411480" lvl="1" indent="-342900">
              <a:spcBef>
                <a:spcPts val="700"/>
              </a:spcBef>
              <a:buClr>
                <a:schemeClr val="tx2"/>
              </a:buClr>
              <a:buSzPct val="95000"/>
              <a:buFont typeface="Wingdings"/>
              <a:buChar char=""/>
            </a:pPr>
            <a:endParaRPr lang="en-US" altLang="ko-KR"/>
          </a:p>
          <a:p>
            <a:pPr marL="411480" lvl="1" indent="-342900">
              <a:spcBef>
                <a:spcPts val="700"/>
              </a:spcBef>
              <a:buClr>
                <a:schemeClr val="tx2"/>
              </a:buClr>
              <a:buSzPct val="95000"/>
              <a:buNone/>
            </a:pPr>
            <a:r>
              <a:rPr lang="en-US" altLang="ko-KR"/>
              <a:t>    which is more commonly written as</a:t>
            </a:r>
          </a:p>
          <a:p>
            <a:pPr marL="411480" lvl="1" indent="-342900">
              <a:spcBef>
                <a:spcPts val="700"/>
              </a:spcBef>
              <a:buClr>
                <a:schemeClr val="tx2"/>
              </a:buClr>
              <a:buSzPct val="95000"/>
              <a:buNone/>
            </a:pPr>
            <a:endParaRPr lang="en-US" altLang="ko-KR"/>
          </a:p>
          <a:p>
            <a:pPr marL="411480" lvl="1" indent="-342900">
              <a:spcBef>
                <a:spcPts val="700"/>
              </a:spcBef>
              <a:buClr>
                <a:schemeClr val="tx2"/>
              </a:buClr>
              <a:buSzPct val="95000"/>
              <a:buNone/>
            </a:pPr>
            <a:endParaRPr lang="en-US" altLang="ko-KR"/>
          </a:p>
          <a:p>
            <a:pPr marL="411480" lvl="1" indent="-342900">
              <a:spcBef>
                <a:spcPts val="700"/>
              </a:spcBef>
              <a:buClr>
                <a:schemeClr val="tx2"/>
              </a:buClr>
              <a:buSzPct val="95000"/>
              <a:buNone/>
            </a:pPr>
            <a:r>
              <a:rPr lang="en-US" altLang="ko-KR"/>
              <a:t>    Rydberg first worte Balmer’s formula in the standard form</a:t>
            </a:r>
            <a:endParaRPr lang="ko-KR" altLang="en-US"/>
          </a:p>
          <a:p>
            <a:endParaRPr lang="ja-JP" altLang="en-US"/>
          </a:p>
        </p:txBody>
      </p:sp>
      <p:graphicFrame>
        <p:nvGraphicFramePr>
          <p:cNvPr id="29698" name="Object 2"/>
          <p:cNvGraphicFramePr>
            <a:graphicFrameLocks noChangeAspect="1"/>
          </p:cNvGraphicFramePr>
          <p:nvPr/>
        </p:nvGraphicFramePr>
        <p:xfrm>
          <a:off x="2743200" y="2438400"/>
          <a:ext cx="4070350" cy="588963"/>
        </p:xfrm>
        <a:graphic>
          <a:graphicData uri="http://schemas.openxmlformats.org/presentationml/2006/ole">
            <p:oleObj spid="_x0000_s29698" name="Equation" r:id="rId3" imgW="2717800" imgH="393700" progId="Equation.3">
              <p:embed/>
            </p:oleObj>
          </a:graphicData>
        </a:graphic>
      </p:graphicFrame>
      <p:graphicFrame>
        <p:nvGraphicFramePr>
          <p:cNvPr id="29699" name="Object 3"/>
          <p:cNvGraphicFramePr>
            <a:graphicFrameLocks noChangeAspect="1"/>
          </p:cNvGraphicFramePr>
          <p:nvPr/>
        </p:nvGraphicFramePr>
        <p:xfrm>
          <a:off x="3890962" y="3887787"/>
          <a:ext cx="1519238" cy="608013"/>
        </p:xfrm>
        <a:graphic>
          <a:graphicData uri="http://schemas.openxmlformats.org/presentationml/2006/ole">
            <p:oleObj spid="_x0000_s29699" name="Equation" r:id="rId4" imgW="1016000" imgH="406400" progId="Equation.3">
              <p:embed/>
            </p:oleObj>
          </a:graphicData>
        </a:graphic>
      </p:graphicFrame>
      <p:graphicFrame>
        <p:nvGraphicFramePr>
          <p:cNvPr id="29700" name="Object 4"/>
          <p:cNvGraphicFramePr>
            <a:graphicFrameLocks noChangeAspect="1"/>
          </p:cNvGraphicFramePr>
          <p:nvPr/>
        </p:nvGraphicFramePr>
        <p:xfrm>
          <a:off x="3733800" y="5562600"/>
          <a:ext cx="1922463" cy="647700"/>
        </p:xfrm>
        <a:graphic>
          <a:graphicData uri="http://schemas.openxmlformats.org/presentationml/2006/ole">
            <p:oleObj spid="_x0000_s29700" name="Equation" r:id="rId5" imgW="1282700" imgH="431800" progId="Equation.3">
              <p:embed/>
            </p:oleObj>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001000" cy="914400"/>
          </a:xfrm>
        </p:spPr>
        <p:txBody>
          <a:bodyPr>
            <a:normAutofit/>
          </a:bodyPr>
          <a:lstStyle/>
          <a:p>
            <a:r>
              <a:rPr lang="en-US" altLang="ja-JP"/>
              <a:t>The Bohr’s Theory of Hydrogen</a:t>
            </a:r>
            <a:endParaRPr lang="ja-JP" altLang="en-US"/>
          </a:p>
        </p:txBody>
      </p:sp>
      <p:sp>
        <p:nvSpPr>
          <p:cNvPr id="3" name="Content Placeholder 2"/>
          <p:cNvSpPr>
            <a:spLocks noGrp="1"/>
          </p:cNvSpPr>
          <p:nvPr>
            <p:ph idx="1"/>
          </p:nvPr>
        </p:nvSpPr>
        <p:spPr/>
        <p:txBody>
          <a:bodyPr>
            <a:normAutofit fontScale="92500" lnSpcReduction="20000"/>
          </a:bodyPr>
          <a:lstStyle/>
          <a:p>
            <a:pPr lvl="0"/>
            <a:r>
              <a:rPr lang="en-US"/>
              <a:t>Atoms exist in stationary states of energy </a:t>
            </a:r>
            <a:r>
              <a:rPr lang="en-US" i="1"/>
              <a:t>E</a:t>
            </a:r>
            <a:r>
              <a:rPr lang="en-US" i="1" baseline="-25000"/>
              <a:t>n</a:t>
            </a:r>
            <a:r>
              <a:rPr lang="en-US"/>
              <a:t>.</a:t>
            </a:r>
            <a:endParaRPr lang="ko-KR" altLang="en-US"/>
          </a:p>
          <a:p>
            <a:pPr lvl="0"/>
            <a:r>
              <a:rPr lang="en-US"/>
              <a:t>Atoms emit radiation upon undergoing transitions between stationary states according to </a:t>
            </a:r>
            <a:r>
              <a:rPr lang="en-US" i="1"/>
              <a:t>h</a:t>
            </a:r>
            <a:r>
              <a:rPr lang="en-US" i="1">
                <a:latin typeface="Symbol" charset="2"/>
                <a:cs typeface="Symbol" charset="2"/>
              </a:rPr>
              <a:t>n</a:t>
            </a:r>
            <a:r>
              <a:rPr lang="en-US"/>
              <a:t>=</a:t>
            </a:r>
            <a:r>
              <a:rPr lang="en-US" i="1"/>
              <a:t>E</a:t>
            </a:r>
            <a:r>
              <a:rPr lang="en-US" i="1" baseline="-25000"/>
              <a:t>n</a:t>
            </a:r>
            <a:r>
              <a:rPr lang="en-US"/>
              <a:t>-</a:t>
            </a:r>
            <a:r>
              <a:rPr lang="en-US" i="1"/>
              <a:t>E</a:t>
            </a:r>
            <a:r>
              <a:rPr lang="en-US" i="1" baseline="-25000"/>
              <a:t>m</a:t>
            </a:r>
            <a:r>
              <a:rPr lang="en-US"/>
              <a:t>.</a:t>
            </a:r>
            <a:endParaRPr lang="ko-KR" altLang="en-US"/>
          </a:p>
          <a:p>
            <a:pPr lvl="0"/>
            <a:r>
              <a:rPr lang="en-US"/>
              <a:t>Angular momentum is quantized in units of </a:t>
            </a:r>
            <a:r>
              <a:rPr lang="en-US">
                <a:sym typeface="MT Extra"/>
              </a:rPr>
              <a:t></a:t>
            </a:r>
            <a:r>
              <a:rPr lang="en-US"/>
              <a:t>.</a:t>
            </a:r>
            <a:endParaRPr lang="ko-KR" altLang="en-US"/>
          </a:p>
          <a:p>
            <a:r>
              <a:rPr lang="en-US"/>
              <a:t>An electron and proton move under this Coulombic attraction according to the laws of classical physics, as modified by the above three postulates.</a:t>
            </a:r>
            <a:r>
              <a:rPr lang="ko-KR"/>
              <a:t> </a:t>
            </a:r>
            <a:endParaRPr lang="ja-JP" altLang="en-US"/>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Exercise 1</a:t>
            </a:r>
            <a:r>
              <a:rPr lang="ko-KR"/>
              <a:t> </a:t>
            </a:r>
            <a:endParaRPr lang="ja-JP" altLang="en-US"/>
          </a:p>
        </p:txBody>
      </p:sp>
      <p:sp>
        <p:nvSpPr>
          <p:cNvPr id="3" name="Content Placeholder 2"/>
          <p:cNvSpPr>
            <a:spLocks noGrp="1"/>
          </p:cNvSpPr>
          <p:nvPr>
            <p:ph idx="1"/>
          </p:nvPr>
        </p:nvSpPr>
        <p:spPr/>
        <p:txBody>
          <a:bodyPr>
            <a:normAutofit/>
          </a:bodyPr>
          <a:lstStyle/>
          <a:p>
            <a:r>
              <a:rPr lang="en-US"/>
              <a:t>From Bohr’s postulates, derive the following formula.</a:t>
            </a:r>
          </a:p>
          <a:p>
            <a:endParaRPr lang="en-US" altLang="ko-KR"/>
          </a:p>
          <a:p>
            <a:endParaRPr lang="en-US" altLang="ko-KR"/>
          </a:p>
          <a:p>
            <a:pPr>
              <a:buNone/>
            </a:pPr>
            <a:r>
              <a:rPr lang="en-US"/>
              <a:t>    where </a:t>
            </a:r>
            <a:r>
              <a:rPr lang="en-US" i="1"/>
              <a:t>M</a:t>
            </a:r>
            <a:r>
              <a:rPr lang="en-US"/>
              <a:t> and </a:t>
            </a:r>
            <a:r>
              <a:rPr lang="en-US" i="1"/>
              <a:t>m</a:t>
            </a:r>
            <a:r>
              <a:rPr lang="en-US"/>
              <a:t> are the masses of proton and electron, respectively. Assume a circular motion for simplicity.</a:t>
            </a:r>
            <a:endParaRPr lang="ko-KR" altLang="en-US"/>
          </a:p>
          <a:p>
            <a:pPr>
              <a:buNone/>
            </a:pPr>
            <a:endParaRPr lang="ja-JP" altLang="en-US"/>
          </a:p>
        </p:txBody>
      </p:sp>
      <p:graphicFrame>
        <p:nvGraphicFramePr>
          <p:cNvPr id="204802" name="Object 2"/>
          <p:cNvGraphicFramePr>
            <a:graphicFrameLocks noChangeAspect="1"/>
          </p:cNvGraphicFramePr>
          <p:nvPr/>
        </p:nvGraphicFramePr>
        <p:xfrm>
          <a:off x="3232150" y="2819400"/>
          <a:ext cx="2559050" cy="687388"/>
        </p:xfrm>
        <a:graphic>
          <a:graphicData uri="http://schemas.openxmlformats.org/presentationml/2006/ole">
            <p:oleObj spid="_x0000_s204802" name="Equation" r:id="rId3" imgW="1701800" imgH="457200" progId="Equation.3">
              <p:embed/>
            </p:oleObj>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Rydberg Constant</a:t>
            </a:r>
            <a:endParaRPr lang="ja-JP" altLang="en-US"/>
          </a:p>
        </p:txBody>
      </p:sp>
      <p:sp>
        <p:nvSpPr>
          <p:cNvPr id="3" name="Content Placeholder 2"/>
          <p:cNvSpPr>
            <a:spLocks noGrp="1"/>
          </p:cNvSpPr>
          <p:nvPr>
            <p:ph idx="1"/>
          </p:nvPr>
        </p:nvSpPr>
        <p:spPr/>
        <p:txBody>
          <a:bodyPr/>
          <a:lstStyle/>
          <a:p>
            <a:r>
              <a:rPr lang="en-US"/>
              <a:t>Since </a:t>
            </a:r>
            <a:r>
              <a:rPr lang="en-US" i="1"/>
              <a:t>E</a:t>
            </a:r>
            <a:r>
              <a:rPr lang="en-US"/>
              <a:t>=</a:t>
            </a:r>
            <a:r>
              <a:rPr lang="en-US" i="1"/>
              <a:t>hc</a:t>
            </a:r>
            <a:r>
              <a:rPr lang="en-US"/>
              <a:t>/</a:t>
            </a:r>
            <a:r>
              <a:rPr lang="en-US" i="1">
                <a:latin typeface="Symbol" charset="2"/>
                <a:cs typeface="Symbol" charset="2"/>
              </a:rPr>
              <a:t>l</a:t>
            </a:r>
            <a:r>
              <a:rPr lang="en-US"/>
              <a:t>, we can identify</a:t>
            </a:r>
          </a:p>
          <a:p>
            <a:endParaRPr lang="en-US" altLang="ko-KR"/>
          </a:p>
          <a:p>
            <a:endParaRPr lang="ko-KR" altLang="en-US"/>
          </a:p>
          <a:p>
            <a:pPr>
              <a:buNone/>
            </a:pPr>
            <a:r>
              <a:rPr lang="en-US"/>
              <a:t>   Rydberg constant for infinite nuclear mass</a:t>
            </a:r>
            <a:endParaRPr lang="ko-KR" altLang="en-US"/>
          </a:p>
          <a:p>
            <a:endParaRPr lang="ja-JP" altLang="en-US"/>
          </a:p>
        </p:txBody>
      </p:sp>
      <p:graphicFrame>
        <p:nvGraphicFramePr>
          <p:cNvPr id="205826" name="Object 2"/>
          <p:cNvGraphicFramePr>
            <a:graphicFrameLocks noChangeAspect="1"/>
          </p:cNvGraphicFramePr>
          <p:nvPr/>
        </p:nvGraphicFramePr>
        <p:xfrm>
          <a:off x="3352800" y="2362200"/>
          <a:ext cx="2349500" cy="687388"/>
        </p:xfrm>
        <a:graphic>
          <a:graphicData uri="http://schemas.openxmlformats.org/presentationml/2006/ole">
            <p:oleObj spid="_x0000_s205826" name="Equation" r:id="rId3" imgW="1562100" imgH="457200" progId="Equation.3">
              <p:embed/>
            </p:oleObj>
          </a:graphicData>
        </a:graphic>
      </p:graphicFrame>
      <p:graphicFrame>
        <p:nvGraphicFramePr>
          <p:cNvPr id="205827" name="Object 3"/>
          <p:cNvGraphicFramePr>
            <a:graphicFrameLocks noChangeAspect="1"/>
          </p:cNvGraphicFramePr>
          <p:nvPr/>
        </p:nvGraphicFramePr>
        <p:xfrm>
          <a:off x="3581400" y="4343400"/>
          <a:ext cx="1720850" cy="592138"/>
        </p:xfrm>
        <a:graphic>
          <a:graphicData uri="http://schemas.openxmlformats.org/presentationml/2006/ole">
            <p:oleObj spid="_x0000_s205827" name="Equation" r:id="rId4" imgW="1143000" imgH="393700" progId="Equation.3">
              <p:embed/>
            </p:oleObj>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5400"/>
            <a:ext cx="3581400" cy="3230562"/>
          </a:xfrm>
        </p:spPr>
        <p:txBody>
          <a:bodyPr>
            <a:normAutofit/>
          </a:bodyPr>
          <a:lstStyle/>
          <a:p>
            <a:r>
              <a:rPr lang="en-US" altLang="ja-JP" sz="3200"/>
              <a:t>Fig. 1: Energy levels and Spectra of hydrogen</a:t>
            </a:r>
            <a:endParaRPr lang="ja-JP" altLang="en-US" sz="3200"/>
          </a:p>
        </p:txBody>
      </p:sp>
      <p:graphicFrame>
        <p:nvGraphicFramePr>
          <p:cNvPr id="206850" name="Object 2"/>
          <p:cNvGraphicFramePr>
            <a:graphicFrameLocks noChangeAspect="1"/>
          </p:cNvGraphicFramePr>
          <p:nvPr/>
        </p:nvGraphicFramePr>
        <p:xfrm>
          <a:off x="4267200" y="622300"/>
          <a:ext cx="4051300" cy="5613400"/>
        </p:xfrm>
        <a:graphic>
          <a:graphicData uri="http://schemas.openxmlformats.org/presentationml/2006/ole">
            <p:oleObj spid="_x0000_s206850" name="Document" r:id="rId3" imgW="4051300" imgH="5613400" progId="Word.Document.12">
              <p:link updateAutomatic="1"/>
            </p:oleObj>
          </a:graphicData>
        </a:graphic>
      </p:graphicFrame>
    </p:spTree>
  </p:cSld>
  <p:clrMapOvr>
    <a:masterClrMapping/>
  </p:clrMapOvr>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43</TotalTime>
  <Words>582</Words>
  <Application>Microsoft Macintosh PowerPoint</Application>
  <PresentationFormat>On-screen Show (4:3)</PresentationFormat>
  <Paragraphs>47</Paragraphs>
  <Slides>10</Slides>
  <Notes>0</Notes>
  <HiddenSlides>0</HiddenSlides>
  <MMClips>0</MMClips>
  <ScaleCrop>false</ScaleCrop>
  <HeadingPairs>
    <vt:vector size="8" baseType="variant">
      <vt:variant>
        <vt:lpstr>Design Template</vt:lpstr>
      </vt:variant>
      <vt:variant>
        <vt:i4>1</vt:i4>
      </vt:variant>
      <vt:variant>
        <vt:lpstr>Links</vt:lpstr>
      </vt:variant>
      <vt:variant>
        <vt:i4>1</vt:i4>
      </vt:variant>
      <vt:variant>
        <vt:lpstr>Embedded OLE Servers</vt:lpstr>
      </vt:variant>
      <vt:variant>
        <vt:i4>1</vt:i4>
      </vt:variant>
      <vt:variant>
        <vt:lpstr>Slide Titles</vt:lpstr>
      </vt:variant>
      <vt:variant>
        <vt:i4>10</vt:i4>
      </vt:variant>
    </vt:vector>
  </HeadingPairs>
  <TitlesOfParts>
    <vt:vector size="13" baseType="lpstr">
      <vt:lpstr>Technic</vt:lpstr>
      <vt:lpstr>!OLE_LINK1</vt:lpstr>
      <vt:lpstr>Equation</vt:lpstr>
      <vt:lpstr>Atomic and Molecular Physics  Lecture 01</vt:lpstr>
      <vt:lpstr>Synopsis </vt:lpstr>
      <vt:lpstr>Prerequisite </vt:lpstr>
      <vt:lpstr>Hydrogen</vt:lpstr>
      <vt:lpstr>Chapter 1 Hydrogen </vt:lpstr>
      <vt:lpstr>Balmer’s Emprical Formula</vt:lpstr>
      <vt:lpstr>The Bohr’s Theory of Hydrogen</vt:lpstr>
      <vt:lpstr>Exercise 1 </vt:lpstr>
      <vt:lpstr>Rydberg Constant</vt:lpstr>
      <vt:lpstr>Fig. 1: Energy levels and Spectra of hydrogen</vt:lpstr>
    </vt:vector>
  </TitlesOfParts>
  <Company>3463-6078</Company>
  <LinksUpToDate>false</LinksUpToDate>
  <SharedDoc>false</SharedDoc>
  <HyperlinksChanged>false</HyperlinksChanged>
  <AppVersion>12.0258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Atomic and Molecular Physics lecture 01</dc:title>
  <dc:creator>경원 안</dc:creator>
  <cp:keywords/>
  <cp:lastModifiedBy>경원 안</cp:lastModifiedBy>
  <cp:revision>6</cp:revision>
  <dcterms:created xsi:type="dcterms:W3CDTF">2009-10-06T09:04:33Z</dcterms:created>
  <dcterms:modified xsi:type="dcterms:W3CDTF">2009-10-06T09:06:03Z</dcterms:modified>
</cp:coreProperties>
</file>