
<file path=[Content_Types].xml><?xml version="1.0" encoding="utf-8"?>
<Types xmlns="http://schemas.openxmlformats.org/package/2006/content-types">
  <Default Extension="pict" ContentType="image/pict"/>
  <Override PartName="/ppt/embeddings/Microsoft_Equation12.bin" ContentType="application/vnd.openxmlformats-officedocument.oleObject"/>
  <Override PartName="/ppt/slides/slide9.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5.xml" ContentType="application/vnd.openxmlformats-officedocument.presentationml.slide+xml"/>
  <Override PartName="/ppt/embeddings/Microsoft_Equation7.bin" ContentType="application/vnd.openxmlformats-officedocument.oleObject"/>
  <Default Extension="rels" ContentType="application/vnd.openxmlformats-package.relationships+xml"/>
  <Override PartName="/ppt/slides/slide10.xml" ContentType="application/vnd.openxmlformats-officedocument.presentationml.slide+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embeddings/Microsoft_Equation3.bin" ContentType="application/vnd.openxmlformats-officedocument.oleObject"/>
  <Default Extension="jpeg" ContentType="image/jpeg"/>
  <Override PartName="/docProps/app.xml" ContentType="application/vnd.openxmlformats-officedocument.extended-properties+xml"/>
  <Override PartName="/ppt/theme/theme2.xml" ContentType="application/vnd.openxmlformats-officedocument.theme+xml"/>
  <Override PartName="/ppt/slideLayouts/slideLayout1.xml" ContentType="application/vnd.openxmlformats-officedocument.presentationml.slideLayout+xml"/>
  <Override PartName="/ppt/embeddings/Microsoft_Equation17.bin" ContentType="application/vnd.openxmlformats-officedocument.oleObject"/>
  <Default Extension="xml" ContentType="application/xml"/>
  <Override PartName="/ppt/tableStyles.xml" ContentType="application/vnd.openxmlformats-officedocument.presentationml.tableStyles+xml"/>
  <Override PartName="/ppt/embeddings/Microsoft_Equation13.bin" ContentType="application/vnd.openxmlformats-officedocument.oleObject"/>
  <Override PartName="/ppt/notesSlides/notesSlide1.xml" ContentType="application/vnd.openxmlformats-officedocument.presentationml.notesSlide+xml"/>
  <Override PartName="/ppt/embeddings/Microsoft_Equation8.bin" ContentType="application/vnd.openxmlformats-officedocument.oleObject"/>
  <Override PartName="/ppt/slides/slide6.xml" ContentType="application/vnd.openxmlformats-officedocument.presentationml.slide+xml"/>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embeddings/Microsoft_Equation4.bin" ContentType="application/vnd.openxmlformats-officedocument.oleObject"/>
  <Override PartName="/ppt/slides/slide2.xml" ContentType="application/vnd.openxmlformats-officedocument.presentationml.slide+xml"/>
  <Override PartName="/ppt/slideLayouts/slideLayout2.xml" ContentType="application/vnd.openxmlformats-officedocument.presentationml.slideLayout+xml"/>
  <Override PartName="/ppt/embeddings/Microsoft_Equation18.bin" ContentType="application/vnd.openxmlformats-officedocument.oleObject"/>
  <Override PartName="/ppt/embeddings/Microsoft_Equation14.bin" ContentType="application/vnd.openxmlformats-officedocument.oleObject"/>
  <Override PartName="/ppt/embeddings/Microsoft_Equation10.bin" ContentType="application/vnd.openxmlformats-officedocument.oleObject"/>
  <Override PartName="/ppt/slides/slide7.xml" ContentType="application/vnd.openxmlformats-officedocument.presentationml.slide+xml"/>
  <Override PartName="/ppt/embeddings/Microsoft_Equation9.bin" ContentType="application/vnd.openxmlformats-officedocument.oleObject"/>
  <Override PartName="/ppt/presentation.xml" ContentType="application/vnd.openxmlformats-officedocument.presentationml.presentation.main+xml"/>
  <Override PartName="/ppt/slides/slide12.xml" ContentType="application/vnd.openxmlformats-officedocument.presentationml.slide+xml"/>
  <Override PartName="/ppt/slideLayouts/slideLayout7.xml" ContentType="application/vnd.openxmlformats-officedocument.presentationml.slideLayout+xml"/>
  <Default Extension="vml" ContentType="application/vnd.openxmlformats-officedocument.vmlDrawing"/>
  <Override PartName="/ppt/slides/slide3.xml" ContentType="application/vnd.openxmlformats-officedocument.presentationml.slide+xml"/>
  <Override PartName="/ppt/embeddings/Microsoft_Equation5.bin" ContentType="application/vnd.openxmlformats-officedocument.oleObject"/>
  <Override PartName="/ppt/slideLayouts/slideLayout3.xml" ContentType="application/vnd.openxmlformats-officedocument.presentationml.slideLayout+xml"/>
  <Override PartName="/ppt/embeddings/Microsoft_Equation1.bin" ContentType="application/vnd.openxmlformats-officedocument.oleObject"/>
  <Default Extension="tiff" ContentType="image/tiff"/>
  <Override PartName="/ppt/embeddings/Microsoft_Equation15.bin" ContentType="application/vnd.openxmlformats-officedocument.oleObject"/>
  <Override PartName="/ppt/embeddings/Microsoft_Equation11.bin" ContentType="application/vnd.openxmlformats-officedocument.oleObject"/>
  <Override PartName="/ppt/slides/slide8.xml" ContentType="application/vnd.openxmlformats-officedocument.presentationml.slide+xml"/>
  <Override PartName="/ppt/presProps.xml" ContentType="application/vnd.openxmlformats-officedocument.presentationml.presProps+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embeddings/Microsoft_Equation6.bin" ContentType="application/vnd.openxmlformats-officedocument.oleObject"/>
  <Override PartName="/ppt/slides/slide4.xml" ContentType="application/vnd.openxmlformats-officedocument.presentationml.slide+xml"/>
  <Override PartName="/ppt/slideLayouts/slideLayout4.xml" ContentType="application/vnd.openxmlformats-officedocument.presentationml.slideLayout+xml"/>
  <Override PartName="/ppt/embeddings/Microsoft_Equation2.bin" ContentType="application/vnd.openxmlformats-officedocument.oleObject"/>
  <Override PartName="/ppt/slideMasters/slideMaster1.xml" ContentType="application/vnd.openxmlformats-officedocument.presentationml.slideMaster+xml"/>
  <Override PartName="/ppt/theme/theme1.xml" ContentType="application/vnd.openxmlformats-officedocument.theme+xml"/>
  <Override PartName="/ppt/viewProps.xml" ContentType="application/vnd.openxmlformats-officedocument.presentationml.viewProps+xml"/>
  <Default Extension="bin" ContentType="application/vnd.openxmlformats-officedocument.presentationml.printerSettings"/>
  <Override PartName="/ppt/embeddings/Microsoft_Equation16.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829" r:id="rId1"/>
  </p:sldMasterIdLst>
  <p:notesMasterIdLst>
    <p:notesMasterId r:id="rId14"/>
  </p:notesMasterIdLst>
  <p:sldIdLst>
    <p:sldId id="256" r:id="rId2"/>
    <p:sldId id="285" r:id="rId3"/>
    <p:sldId id="273" r:id="rId4"/>
    <p:sldId id="275" r:id="rId5"/>
    <p:sldId id="286" r:id="rId6"/>
    <p:sldId id="266" r:id="rId7"/>
    <p:sldId id="279" r:id="rId8"/>
    <p:sldId id="287" r:id="rId9"/>
    <p:sldId id="280" r:id="rId10"/>
    <p:sldId id="288" r:id="rId11"/>
    <p:sldId id="289" r:id="rId12"/>
    <p:sldId id="290" r:id="rId13"/>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showPr showNarration="1" useTimings="0">
    <p:present/>
    <p:sldAll/>
    <p:penClr>
      <a:schemeClr val="tx1"/>
    </p:penClr>
  </p:showPr>
  <p:clrMru>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Objects="1">
      <p:cViewPr varScale="1">
        <p:scale>
          <a:sx n="140" d="100"/>
          <a:sy n="140" d="100"/>
        </p:scale>
        <p:origin x="-536"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interSettings" Target="printerSettings/printerSettings1.bin"/><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pict"/><Relationship Id="rId4" Type="http://schemas.openxmlformats.org/officeDocument/2006/relationships/image" Target="../media/image4.pict"/><Relationship Id="rId1" Type="http://schemas.openxmlformats.org/officeDocument/2006/relationships/image" Target="../media/image1.pict"/><Relationship Id="rId2" Type="http://schemas.openxmlformats.org/officeDocument/2006/relationships/image" Target="../media/image2.pict"/></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ict"/><Relationship Id="rId2" Type="http://schemas.openxmlformats.org/officeDocument/2006/relationships/image" Target="../media/image6.pict"/></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ict"/><Relationship Id="rId2" Type="http://schemas.openxmlformats.org/officeDocument/2006/relationships/image" Target="../media/image8.pict"/></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pict"/><Relationship Id="rId4" Type="http://schemas.openxmlformats.org/officeDocument/2006/relationships/image" Target="../media/image13.pict"/><Relationship Id="rId1" Type="http://schemas.openxmlformats.org/officeDocument/2006/relationships/image" Target="../media/image10.pict"/><Relationship Id="rId2" Type="http://schemas.openxmlformats.org/officeDocument/2006/relationships/image" Target="../media/image11.pict"/></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pict"/></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pict"/></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pict"/><Relationship Id="rId2" Type="http://schemas.openxmlformats.org/officeDocument/2006/relationships/image" Target="../media/image18.pict"/></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pict"/><Relationship Id="rId2" Type="http://schemas.openxmlformats.org/officeDocument/2006/relationships/image" Target="../media/image20.pict"/></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ja-JP"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04A24C-2BFC-4C63-AEAF-54CF7EFDB325}" type="datetimeFigureOut">
              <a:rPr lang="ko-KR" altLang="ja-JP"/>
              <a:pPr/>
              <a:t>09.11.30</a:t>
            </a:fld>
            <a:endParaRPr lang="ja-JP"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ja-JP"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31D213-E5B0-467F-9AA1-56239E62CB84}" type="slidenum">
              <a:rPr/>
              <a:pPr/>
              <a:t>‹#›</a:t>
            </a:fld>
            <a:endParaRPr lang="ja-JP"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ja-JP" altLang="en-US"/>
          </a:p>
        </p:txBody>
      </p:sp>
      <p:sp>
        <p:nvSpPr>
          <p:cNvPr id="4" name="Slide Number Placeholder 3"/>
          <p:cNvSpPr>
            <a:spLocks noGrp="1"/>
          </p:cNvSpPr>
          <p:nvPr>
            <p:ph type="sldNum" sz="quarter" idx="10"/>
          </p:nvPr>
        </p:nvSpPr>
        <p:spPr/>
        <p:txBody>
          <a:bodyPr/>
          <a:lstStyle/>
          <a:p>
            <a:fld id="{BF31D213-E5B0-467F-9AA1-56239E62CB84}" type="slidenum">
              <a:rPr/>
              <a:pPr/>
              <a:t>2</a:t>
            </a:fld>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ja-JP"/>
              <a:t>Click to edit Master subtitle style</a:t>
            </a:r>
            <a:endParaRPr kumimoji="0" lang="en-US"/>
          </a:p>
        </p:txBody>
      </p:sp>
      <p:sp>
        <p:nvSpPr>
          <p:cNvPr id="30" name="Date Placeholder 29"/>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19" name="Footer Placeholder 18"/>
          <p:cNvSpPr>
            <a:spLocks noGrp="1"/>
          </p:cNvSpPr>
          <p:nvPr>
            <p:ph type="ftr" sz="quarter" idx="11"/>
          </p:nvPr>
        </p:nvSpPr>
        <p:spPr/>
        <p:txBody>
          <a:bodyPr/>
          <a:lstStyle/>
          <a:p>
            <a:endParaRPr lang="ja-JP" altLang="en-US"/>
          </a:p>
        </p:txBody>
      </p:sp>
      <p:sp>
        <p:nvSpPr>
          <p:cNvPr id="27" name="Slide Number Placeholder 26"/>
          <p:cNvSpPr>
            <a:spLocks noGrp="1"/>
          </p:cNvSpPr>
          <p:nvPr>
            <p:ph type="sldNum" sz="quarter" idx="12"/>
          </p:nvPr>
        </p:nvSpPr>
        <p:spPr/>
        <p:txBody>
          <a:bodyPr/>
          <a:lstStyle/>
          <a:p>
            <a:fld id="{7BC41667-7291-42E8-B00B-345BA5840895}" type="slidenum">
              <a:rPr lang="en-US" altLang="ja-JP"/>
              <a:pPr/>
              <a:t>‹#›</a:t>
            </a:fld>
            <a:endParaRPr lang="en-US" altLang="ja-JP"/>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altLang="ja-JP"/>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ja-JP"/>
              <a:t>Click to edit Master text styles</a:t>
            </a:r>
          </a:p>
        </p:txBody>
      </p:sp>
      <p:sp>
        <p:nvSpPr>
          <p:cNvPr id="4" name="Date Placeholder 3"/>
          <p:cNvSpPr>
            <a:spLocks noGrp="1"/>
          </p:cNvSpPr>
          <p:nvPr>
            <p:ph type="dt" sz="half" idx="10"/>
          </p:nvPr>
        </p:nvSpPr>
        <p:spPr/>
        <p:txBody>
          <a:bodyPr/>
          <a:lstStyle/>
          <a:p>
            <a:fld id="{0106B4A3-4212-4E39-93DE-E053E8F69C28}" type="datetimeFigureOut">
              <a:rPr lang="en-US" altLang="ja-JP" smtClean="0"/>
              <a:pPr/>
              <a:t>09.11.30</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altLang="ja-JP"/>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8" name="Footer Placeholder 7"/>
          <p:cNvSpPr>
            <a:spLocks noGrp="1"/>
          </p:cNvSpPr>
          <p:nvPr>
            <p:ph type="ftr" sz="quarter" idx="11"/>
          </p:nvPr>
        </p:nvSpPr>
        <p:spPr/>
        <p:txBody>
          <a:bodyPr/>
          <a:lstStyle/>
          <a:p>
            <a:endParaRPr lang="ja-JP" altLang="en-US"/>
          </a:p>
        </p:txBody>
      </p:sp>
      <p:sp>
        <p:nvSpPr>
          <p:cNvPr id="9" name="Slide Number Placeholder 8"/>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altLang="ja-JP"/>
              <a:t>Click to edit Master title style</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8" name="Slide Number Placeholder 7"/>
          <p:cNvSpPr>
            <a:spLocks noGrp="1"/>
          </p:cNvSpPr>
          <p:nvPr>
            <p:ph type="sldNum" sz="quarter" idx="11"/>
          </p:nvPr>
        </p:nvSpPr>
        <p:spPr/>
        <p:txBody>
          <a:bodyPr/>
          <a:lstStyle/>
          <a:p>
            <a:fld id="{45D75009-343C-488C-BB37-2311D1D6123B}" type="slidenum">
              <a:rPr/>
              <a:pPr/>
              <a:t>‹#›</a:t>
            </a:fld>
            <a:endParaRPr lang="ja-JP" altLang="en-US"/>
          </a:p>
        </p:txBody>
      </p:sp>
      <p:sp>
        <p:nvSpPr>
          <p:cNvPr id="9" name="Footer Placeholder 8"/>
          <p:cNvSpPr>
            <a:spLocks noGrp="1"/>
          </p:cNvSpPr>
          <p:nvPr>
            <p:ph type="ftr" sz="quarter" idx="12"/>
          </p:nvPr>
        </p:nvSpPr>
        <p:spPr/>
        <p:txBody>
          <a:bodyPr/>
          <a:lstStyle/>
          <a:p>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3" name="Footer Placeholder 2"/>
          <p:cNvSpPr>
            <a:spLocks noGrp="1"/>
          </p:cNvSpPr>
          <p:nvPr>
            <p:ph type="ftr" sz="quarter" idx="11"/>
          </p:nvPr>
        </p:nvSpPr>
        <p:spPr/>
        <p:txBody>
          <a:bodyPr/>
          <a:lstStyle/>
          <a:p>
            <a:endParaRPr lang="ja-JP" altLang="en-US"/>
          </a:p>
        </p:txBody>
      </p:sp>
      <p:sp>
        <p:nvSpPr>
          <p:cNvPr id="4" name="Slide Number Placeholder 3"/>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altLang="ja-JP"/>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ltLang="ja-JP"/>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a:xfrm>
            <a:off x="8156448" y="6422064"/>
            <a:ext cx="762000" cy="365125"/>
          </a:xfrm>
        </p:spPr>
        <p:txBody>
          <a:bodyPr/>
          <a:lstStyle/>
          <a:p>
            <a:fld id="{45D75009-343C-488C-BB37-2311D1D6123B}" type="slidenum">
              <a: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altLang="ja-JP"/>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altLang="ja-JP" dirty="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ltLang="ja-JP"/>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66E5988B-D4EB-4E73-AE89-924C64C03B8C}" type="datetimeFigureOut">
              <a:rPr lang="ko-KR" altLang="ja-JP"/>
              <a:pPr/>
              <a:t>09.11.30</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altLang="ja-JP"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altLang="ja-JP" smtClean="0"/>
              <a:t>Click to edit Master text styles</a:t>
            </a:r>
          </a:p>
          <a:p>
            <a:pPr lvl="1" eaLnBrk="1" latinLnBrk="0" hangingPunct="1"/>
            <a:r>
              <a:rPr kumimoji="0" lang="en-US" altLang="ja-JP" smtClean="0"/>
              <a:t>Second level</a:t>
            </a:r>
          </a:p>
          <a:p>
            <a:pPr lvl="2" eaLnBrk="1" latinLnBrk="0" hangingPunct="1"/>
            <a:r>
              <a:rPr kumimoji="0" lang="en-US" altLang="ja-JP" smtClean="0"/>
              <a:t>Third level</a:t>
            </a:r>
          </a:p>
          <a:p>
            <a:pPr lvl="3" eaLnBrk="1" latinLnBrk="0" hangingPunct="1"/>
            <a:r>
              <a:rPr kumimoji="0" lang="en-US" altLang="ja-JP" smtClean="0"/>
              <a:t>Fourth level</a:t>
            </a:r>
          </a:p>
          <a:p>
            <a:pPr lvl="4" eaLnBrk="1" latinLnBrk="0" hangingPunct="1"/>
            <a:r>
              <a:rPr kumimoji="0" lang="en-US" altLang="ja-JP"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6E5988B-D4EB-4E73-AE89-924C64C03B8C}" type="datetimeFigureOut">
              <a:rPr lang="ko-KR" altLang="ja-JP"/>
              <a:pPr/>
              <a:t>09.11.30</a:t>
            </a:fld>
            <a:endParaRPr lang="ja-JP" alt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ja-JP" alt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45D75009-343C-488C-BB37-2311D1D6123B}" type="slidenum">
              <a:rPr/>
              <a:pPr/>
              <a:t>‹#›</a:t>
            </a:fld>
            <a:endParaRPr lang="ja-JP" altLang="en-US"/>
          </a:p>
        </p:txBody>
      </p:sp>
    </p:spTree>
  </p:cSld>
  <p:clrMap bg1="dk1" tx1="lt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rtl="0" eaLnBrk="1" latinLnBrk="0" hangingPunct="1">
        <a:spcBef>
          <a:spcPct val="0"/>
        </a:spcBef>
        <a:buNone/>
        <a:defRPr kumimoji="1"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1"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1"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1"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1"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1"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1"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1"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4" Type="http://schemas.openxmlformats.org/officeDocument/2006/relationships/oleObject" Target="../embeddings/Microsoft_Equation1.bin"/><Relationship Id="rId5" Type="http://schemas.openxmlformats.org/officeDocument/2006/relationships/oleObject" Target="../embeddings/Microsoft_Equation2.bin"/><Relationship Id="rId6" Type="http://schemas.openxmlformats.org/officeDocument/2006/relationships/oleObject" Target="../embeddings/Microsoft_Equation3.bin"/><Relationship Id="rId7" Type="http://schemas.openxmlformats.org/officeDocument/2006/relationships/oleObject" Target="../embeddings/Microsoft_Equation4.bin"/><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Microsoft_Equation5.bin"/><Relationship Id="rId4" Type="http://schemas.openxmlformats.org/officeDocument/2006/relationships/oleObject" Target="../embeddings/Microsoft_Equation6.bin"/><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Microsoft_Equation7.bin"/><Relationship Id="rId4" Type="http://schemas.openxmlformats.org/officeDocument/2006/relationships/oleObject" Target="../embeddings/Microsoft_Equation8.bin"/><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tiff"/></Relationships>
</file>

<file path=ppt/slides/_rels/slide6.xml.rels><?xml version="1.0" encoding="UTF-8" standalone="yes"?>
<Relationships xmlns="http://schemas.openxmlformats.org/package/2006/relationships"><Relationship Id="rId3" Type="http://schemas.openxmlformats.org/officeDocument/2006/relationships/oleObject" Target="../embeddings/Microsoft_Equation9.bin"/><Relationship Id="rId4" Type="http://schemas.openxmlformats.org/officeDocument/2006/relationships/oleObject" Target="../embeddings/Microsoft_Equation10.bin"/><Relationship Id="rId5" Type="http://schemas.openxmlformats.org/officeDocument/2006/relationships/oleObject" Target="../embeddings/Microsoft_Equation11.bin"/><Relationship Id="rId6" Type="http://schemas.openxmlformats.org/officeDocument/2006/relationships/oleObject" Target="../embeddings/Microsoft_Equation12.bin"/><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tiff"/></Relationships>
</file>

<file path=ppt/slides/_rels/slide8.xml.rels><?xml version="1.0" encoding="UTF-8" standalone="yes"?>
<Relationships xmlns="http://schemas.openxmlformats.org/package/2006/relationships"><Relationship Id="rId1" Type="http://schemas.openxmlformats.org/officeDocument/2006/relationships/vmlDrawing" Target="../drawings/vmlDrawing5.vml"/><Relationship Id="rId2" Type="http://schemas.openxmlformats.org/officeDocument/2006/relationships/slideLayout" Target="../slideLayouts/slideLayout2.xml"/><Relationship Id="rId3" Type="http://schemas.openxmlformats.org/officeDocument/2006/relationships/oleObject" Target="../embeddings/Microsoft_Equation13.bin"/></Relationships>
</file>

<file path=ppt/slides/_rels/slide9.xml.rels><?xml version="1.0" encoding="UTF-8" standalone="yes"?>
<Relationships xmlns="http://schemas.openxmlformats.org/package/2006/relationships"><Relationship Id="rId1" Type="http://schemas.openxmlformats.org/officeDocument/2006/relationships/vmlDrawing" Target="../drawings/vmlDrawing6.vml"/><Relationship Id="rId2" Type="http://schemas.openxmlformats.org/officeDocument/2006/relationships/slideLayout" Target="../slideLayouts/slideLayout2.xml"/><Relationship Id="rId3" Type="http://schemas.openxmlformats.org/officeDocument/2006/relationships/oleObject" Target="../embeddings/Microsoft_Equation14.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Microsoft_Equation15.bin"/><Relationship Id="rId4" Type="http://schemas.openxmlformats.org/officeDocument/2006/relationships/oleObject" Target="../embeddings/Microsoft_Equation16.bin"/><Relationship Id="rId1" Type="http://schemas.openxmlformats.org/officeDocument/2006/relationships/vmlDrawing" Target="../drawings/vmlDrawing7.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Microsoft_Equation17.bin"/><Relationship Id="rId4" Type="http://schemas.openxmlformats.org/officeDocument/2006/relationships/oleObject" Target="../embeddings/Microsoft_Equation18.bin"/><Relationship Id="rId1" Type="http://schemas.openxmlformats.org/officeDocument/2006/relationships/vmlDrawing" Target="../drawings/vmlDrawing8.v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tif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064" y="3337560"/>
            <a:ext cx="6480048" cy="2606040"/>
          </a:xfrm>
        </p:spPr>
        <p:txBody>
          <a:bodyPr>
            <a:noAutofit/>
          </a:bodyPr>
          <a:lstStyle/>
          <a:p>
            <a:r>
              <a:rPr lang="en-US" altLang="ja-JP" sz="4400" dirty="0"/>
              <a:t>Atomic and Molecular Physics</a:t>
            </a:r>
            <a:r>
              <a:rPr altLang="ja-JP" sz="4400" dirty="0"/>
              <a:t/>
            </a:r>
            <a:br>
              <a:rPr altLang="ja-JP" sz="4400" dirty="0"/>
            </a:br>
            <a:r>
              <a:rPr altLang="ja-JP" sz="4400" dirty="0"/>
              <a:t/>
            </a:r>
            <a:br>
              <a:rPr altLang="ja-JP" sz="4400" dirty="0"/>
            </a:br>
            <a:r>
              <a:rPr altLang="ja-JP" sz="3200" dirty="0">
                <a:solidFill>
                  <a:srgbClr val="00FF00"/>
                </a:solidFill>
              </a:rPr>
              <a:t>Lecture </a:t>
            </a:r>
            <a:r>
              <a:rPr altLang="ja-JP" sz="3200" smtClean="0">
                <a:solidFill>
                  <a:srgbClr val="00FF00"/>
                </a:solidFill>
              </a:rPr>
              <a:t>24</a:t>
            </a:r>
            <a:endParaRPr lang="ja-JP" altLang="en-US" sz="3200" dirty="0">
              <a:solidFill>
                <a:srgbClr val="00FF00"/>
              </a:solidFill>
            </a:endParaRPr>
          </a:p>
        </p:txBody>
      </p:sp>
      <p:sp>
        <p:nvSpPr>
          <p:cNvPr id="3" name="Subtitle 2"/>
          <p:cNvSpPr>
            <a:spLocks noGrp="1"/>
          </p:cNvSpPr>
          <p:nvPr>
            <p:ph type="subTitle" idx="1"/>
          </p:nvPr>
        </p:nvSpPr>
        <p:spPr/>
        <p:txBody>
          <a:bodyPr>
            <a:normAutofit/>
          </a:bodyPr>
          <a:lstStyle/>
          <a:p>
            <a:r>
              <a:rPr lang="en-US" altLang="ja-JP" dirty="0"/>
              <a:t>Prof. Kyungwon An</a:t>
            </a:r>
          </a:p>
          <a:p>
            <a:r>
              <a:rPr lang="en-US" altLang="ja-JP" dirty="0"/>
              <a:t>Department of Physics and Astronomy</a:t>
            </a:r>
          </a:p>
          <a:p>
            <a:r>
              <a:rPr lang="en-US" altLang="ja-JP" dirty="0"/>
              <a:t>Seoul National University</a:t>
            </a:r>
            <a:endParaRPr lang="ja-JP"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5791200"/>
          </a:xfrm>
        </p:spPr>
        <p:txBody>
          <a:bodyPr>
            <a:noAutofit/>
          </a:bodyPr>
          <a:lstStyle/>
          <a:p>
            <a:pPr>
              <a:buNone/>
            </a:pPr>
            <a:r>
              <a:rPr lang="en-US" sz="3200" i="1">
                <a:latin typeface="Times New Roman"/>
                <a:cs typeface="Times New Roman"/>
              </a:rPr>
              <a:t>Virial Theorem Consideration</a:t>
            </a:r>
            <a:endParaRPr lang="ko-KR" altLang="en-US" sz="3200" i="1">
              <a:latin typeface="Times New Roman"/>
              <a:cs typeface="Times New Roman"/>
            </a:endParaRPr>
          </a:p>
          <a:p>
            <a:endParaRPr lang="en-US" sz="1050"/>
          </a:p>
          <a:p>
            <a:r>
              <a:rPr lang="en-US" sz="2400"/>
              <a:t>Recall the virial theorem:</a:t>
            </a:r>
          </a:p>
          <a:p>
            <a:endParaRPr lang="ko-KR" altLang="en-US" sz="2400"/>
          </a:p>
          <a:p>
            <a:r>
              <a:rPr lang="en-US" sz="2400"/>
              <a:t>For the Hamiltonian except the nucleus repulsion</a:t>
            </a:r>
            <a:endParaRPr lang="ko-KR" altLang="en-US" sz="2400"/>
          </a:p>
          <a:p>
            <a:endParaRPr lang="en-US" sz="2400"/>
          </a:p>
          <a:p>
            <a:endParaRPr lang="en-US" sz="2400"/>
          </a:p>
          <a:p>
            <a:pPr>
              <a:buNone/>
            </a:pPr>
            <a:r>
              <a:rPr lang="en-US" sz="2400"/>
              <a:t>	we have</a:t>
            </a:r>
          </a:p>
          <a:p>
            <a:pPr>
              <a:buNone/>
            </a:pPr>
            <a:endParaRPr lang="ko-KR" altLang="en-US" sz="2400"/>
          </a:p>
          <a:p>
            <a:pPr>
              <a:buNone/>
            </a:pPr>
            <a:r>
              <a:rPr lang="en-US" sz="2400"/>
              <a:t>	for the wave function corresponding to the equilibrium position (i.e., stationary). </a:t>
            </a:r>
          </a:p>
          <a:p>
            <a:r>
              <a:rPr lang="en-US" sz="2400"/>
              <a:t>The wave function obtained in the preceding section gives                                          , not satisfying the virial theorem well. </a:t>
            </a:r>
            <a:endParaRPr lang="ko-KR" altLang="en-US" sz="2400"/>
          </a:p>
        </p:txBody>
      </p:sp>
      <p:graphicFrame>
        <p:nvGraphicFramePr>
          <p:cNvPr id="259079" name="Object 7"/>
          <p:cNvGraphicFramePr>
            <a:graphicFrameLocks noChangeAspect="1"/>
          </p:cNvGraphicFramePr>
          <p:nvPr/>
        </p:nvGraphicFramePr>
        <p:xfrm>
          <a:off x="3886200" y="1752600"/>
          <a:ext cx="1379538" cy="346075"/>
        </p:xfrm>
        <a:graphic>
          <a:graphicData uri="http://schemas.openxmlformats.org/presentationml/2006/ole">
            <p:oleObj spid="_x0000_s259079" name="Equation" r:id="rId4" imgW="914400" imgH="228600" progId="Equation.3">
              <p:embed/>
            </p:oleObj>
          </a:graphicData>
        </a:graphic>
      </p:graphicFrame>
      <p:graphicFrame>
        <p:nvGraphicFramePr>
          <p:cNvPr id="259080" name="Object 8"/>
          <p:cNvGraphicFramePr>
            <a:graphicFrameLocks noChangeAspect="1"/>
          </p:cNvGraphicFramePr>
          <p:nvPr/>
        </p:nvGraphicFramePr>
        <p:xfrm>
          <a:off x="3568700" y="2668587"/>
          <a:ext cx="1993900" cy="608013"/>
        </p:xfrm>
        <a:graphic>
          <a:graphicData uri="http://schemas.openxmlformats.org/presentationml/2006/ole">
            <p:oleObj spid="_x0000_s259080" name="Equation" r:id="rId5" imgW="1333500" imgH="406400" progId="Equation.3">
              <p:embed/>
            </p:oleObj>
          </a:graphicData>
        </a:graphic>
      </p:graphicFrame>
      <p:graphicFrame>
        <p:nvGraphicFramePr>
          <p:cNvPr id="259081" name="Object 9"/>
          <p:cNvGraphicFramePr>
            <a:graphicFrameLocks noChangeAspect="1"/>
          </p:cNvGraphicFramePr>
          <p:nvPr/>
        </p:nvGraphicFramePr>
        <p:xfrm>
          <a:off x="3886200" y="3733800"/>
          <a:ext cx="1200150" cy="552450"/>
        </p:xfrm>
        <a:graphic>
          <a:graphicData uri="http://schemas.openxmlformats.org/presentationml/2006/ole">
            <p:oleObj spid="_x0000_s259081" name="Equation" r:id="rId6" imgW="800100" imgH="368300" progId="Equation.3">
              <p:embed/>
            </p:oleObj>
          </a:graphicData>
        </a:graphic>
      </p:graphicFrame>
      <p:graphicFrame>
        <p:nvGraphicFramePr>
          <p:cNvPr id="259082" name="Object 10"/>
          <p:cNvGraphicFramePr>
            <a:graphicFrameLocks noChangeAspect="1"/>
          </p:cNvGraphicFramePr>
          <p:nvPr/>
        </p:nvGraphicFramePr>
        <p:xfrm>
          <a:off x="1747837" y="5580362"/>
          <a:ext cx="3413125" cy="307975"/>
        </p:xfrm>
        <a:graphic>
          <a:graphicData uri="http://schemas.openxmlformats.org/presentationml/2006/ole">
            <p:oleObj spid="_x0000_s259082" name="Equation" r:id="rId7" imgW="2247900" imgH="203200" progId="Equation.3">
              <p:embed/>
            </p:oleObj>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077200" cy="6172200"/>
          </a:xfrm>
        </p:spPr>
        <p:txBody>
          <a:bodyPr>
            <a:normAutofit/>
          </a:bodyPr>
          <a:lstStyle/>
          <a:p>
            <a:r>
              <a:rPr lang="en-US" sz="2400"/>
              <a:t>We introduce an additional parameter </a:t>
            </a:r>
            <a:r>
              <a:rPr lang="en-US" sz="2400" i="1"/>
              <a:t>Z </a:t>
            </a:r>
            <a:r>
              <a:rPr lang="en-US" sz="2400"/>
              <a:t>in the atomic orbitals:</a:t>
            </a:r>
          </a:p>
          <a:p>
            <a:endParaRPr lang="en-US" altLang="ko-KR" sz="2400"/>
          </a:p>
          <a:p>
            <a:endParaRPr lang="en-US" altLang="ko-KR" sz="2400"/>
          </a:p>
          <a:p>
            <a:endParaRPr lang="en-US" altLang="ko-KR" sz="2400"/>
          </a:p>
          <a:p>
            <a:pPr>
              <a:buNone/>
            </a:pPr>
            <a:endParaRPr lang="en-US" altLang="ko-KR" sz="2400"/>
          </a:p>
          <a:p>
            <a:pPr>
              <a:buNone/>
            </a:pPr>
            <a:r>
              <a:rPr lang="en-US" sz="4000" b="1"/>
              <a:t>Exercise 3</a:t>
            </a:r>
            <a:endParaRPr lang="en-US" sz="4000"/>
          </a:p>
          <a:p>
            <a:r>
              <a:rPr lang="en-US" sz="2400"/>
              <a:t>Show that</a:t>
            </a:r>
            <a:endParaRPr lang="ko-KR" altLang="en-US" sz="2400"/>
          </a:p>
          <a:p>
            <a:endParaRPr lang="en-US" altLang="ko-KR" sz="2400"/>
          </a:p>
          <a:p>
            <a:endParaRPr lang="en-US" altLang="ko-KR" sz="2400"/>
          </a:p>
          <a:p>
            <a:endParaRPr lang="en-US" altLang="ko-KR" sz="2400"/>
          </a:p>
          <a:p>
            <a:endParaRPr lang="ko-KR" altLang="en-US" sz="2400"/>
          </a:p>
        </p:txBody>
      </p:sp>
      <p:graphicFrame>
        <p:nvGraphicFramePr>
          <p:cNvPr id="245773" name="Object 13"/>
          <p:cNvGraphicFramePr>
            <a:graphicFrameLocks noChangeAspect="1"/>
          </p:cNvGraphicFramePr>
          <p:nvPr/>
        </p:nvGraphicFramePr>
        <p:xfrm>
          <a:off x="1676400" y="1447800"/>
          <a:ext cx="5872163" cy="647700"/>
        </p:xfrm>
        <a:graphic>
          <a:graphicData uri="http://schemas.openxmlformats.org/presentationml/2006/ole">
            <p:oleObj spid="_x0000_s245773" name="Equation" r:id="rId3" imgW="3911600" imgH="431800" progId="Equation.3">
              <p:embed/>
            </p:oleObj>
          </a:graphicData>
        </a:graphic>
      </p:graphicFrame>
      <p:graphicFrame>
        <p:nvGraphicFramePr>
          <p:cNvPr id="245774" name="Object 14"/>
          <p:cNvGraphicFramePr>
            <a:graphicFrameLocks noChangeAspect="1"/>
          </p:cNvGraphicFramePr>
          <p:nvPr/>
        </p:nvGraphicFramePr>
        <p:xfrm>
          <a:off x="2209800" y="4495800"/>
          <a:ext cx="4900613" cy="1220788"/>
        </p:xfrm>
        <a:graphic>
          <a:graphicData uri="http://schemas.openxmlformats.org/presentationml/2006/ole">
            <p:oleObj spid="_x0000_s245774" name="Equation" r:id="rId4" imgW="3263900" imgH="812800" progId="Equation.3">
              <p:embed/>
            </p:oleObj>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305800" cy="5410200"/>
          </a:xfrm>
        </p:spPr>
        <p:txBody>
          <a:bodyPr>
            <a:noAutofit/>
          </a:bodyPr>
          <a:lstStyle/>
          <a:p>
            <a:r>
              <a:rPr lang="en-US" sz="2400"/>
              <a:t>Therefore,</a:t>
            </a:r>
          </a:p>
          <a:p>
            <a:endParaRPr lang="en-US" sz="2400"/>
          </a:p>
          <a:p>
            <a:pPr>
              <a:buNone/>
            </a:pPr>
            <a:endParaRPr lang="en-US" sz="2400"/>
          </a:p>
          <a:p>
            <a:r>
              <a:rPr lang="en-US" sz="2400"/>
              <a:t>This procedure for modifying a molecular orbital so as to satisfy the Virial theorem is called “scaling”.</a:t>
            </a:r>
            <a:endParaRPr lang="ko-KR" altLang="en-US" sz="2400"/>
          </a:p>
          <a:p>
            <a:r>
              <a:rPr lang="en-US" sz="2400"/>
              <a:t>Alternatively, one can minimize the total energy </a:t>
            </a:r>
            <a:r>
              <a:rPr lang="en-US" sz="2400" i="1"/>
              <a:t>E</a:t>
            </a:r>
            <a:r>
              <a:rPr lang="en-US" sz="2400"/>
              <a:t>(</a:t>
            </a:r>
            <a:r>
              <a:rPr lang="en-US" sz="2400" i="1"/>
              <a:t>Z</a:t>
            </a:r>
            <a:r>
              <a:rPr lang="en-US" sz="2400"/>
              <a:t>).</a:t>
            </a:r>
          </a:p>
          <a:p>
            <a:endParaRPr lang="en-US" altLang="ko-KR" sz="2400"/>
          </a:p>
          <a:p>
            <a:endParaRPr lang="en-US" altLang="ko-KR" sz="2400"/>
          </a:p>
          <a:p>
            <a:endParaRPr lang="ko-KR" altLang="en-US" sz="2400"/>
          </a:p>
          <a:p>
            <a:pPr>
              <a:buNone/>
            </a:pPr>
            <a:r>
              <a:rPr lang="en-US" sz="2400"/>
              <a:t>	which is the same as what the virial theorem gives.</a:t>
            </a:r>
            <a:endParaRPr lang="ko-KR" altLang="en-US" sz="2400"/>
          </a:p>
          <a:p>
            <a:r>
              <a:rPr lang="en-US" sz="2400"/>
              <a:t> </a:t>
            </a:r>
            <a:endParaRPr lang="ko-KR" altLang="en-US" sz="2400"/>
          </a:p>
        </p:txBody>
      </p:sp>
      <p:graphicFrame>
        <p:nvGraphicFramePr>
          <p:cNvPr id="225303" name="Object 23"/>
          <p:cNvGraphicFramePr>
            <a:graphicFrameLocks noChangeAspect="1"/>
          </p:cNvGraphicFramePr>
          <p:nvPr/>
        </p:nvGraphicFramePr>
        <p:xfrm>
          <a:off x="2438400" y="1447800"/>
          <a:ext cx="4471988" cy="663575"/>
        </p:xfrm>
        <a:graphic>
          <a:graphicData uri="http://schemas.openxmlformats.org/presentationml/2006/ole">
            <p:oleObj spid="_x0000_s225303" name="Equation" r:id="rId3" imgW="2997200" imgH="444500" progId="Equation.3">
              <p:embed/>
            </p:oleObj>
          </a:graphicData>
        </a:graphic>
      </p:graphicFrame>
      <p:graphicFrame>
        <p:nvGraphicFramePr>
          <p:cNvPr id="225304" name="Object 24"/>
          <p:cNvGraphicFramePr>
            <a:graphicFrameLocks noChangeAspect="1"/>
          </p:cNvGraphicFramePr>
          <p:nvPr/>
        </p:nvGraphicFramePr>
        <p:xfrm>
          <a:off x="2819400" y="3605212"/>
          <a:ext cx="3738563" cy="1063625"/>
        </p:xfrm>
        <a:graphic>
          <a:graphicData uri="http://schemas.openxmlformats.org/presentationml/2006/ole">
            <p:oleObj spid="_x0000_s225304" name="Equation" r:id="rId4" imgW="2501900" imgH="711200" progId="Equation.3">
              <p:embed/>
            </p:oleObj>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0"/>
            <a:ext cx="8001000" cy="1554163"/>
          </a:xfrm>
        </p:spPr>
        <p:txBody>
          <a:bodyPr>
            <a:noAutofit/>
          </a:bodyPr>
          <a:lstStyle/>
          <a:p>
            <a:pPr>
              <a:buNone/>
            </a:pPr>
            <a:r>
              <a:rPr lang="en-US" sz="2400" b="1"/>
              <a:t>	Table 1</a:t>
            </a:r>
            <a:r>
              <a:rPr lang="en-US" sz="2400"/>
              <a:t>. </a:t>
            </a:r>
            <a:r>
              <a:rPr lang="en-US" sz="2400" i="1"/>
              <a:t>R</a:t>
            </a:r>
            <a:r>
              <a:rPr lang="en-US" sz="2400" baseline="-25000"/>
              <a:t>eq</a:t>
            </a:r>
            <a:r>
              <a:rPr lang="en-US" sz="2400"/>
              <a:t> is the distance between two protons at equilibrium, </a:t>
            </a:r>
            <a:r>
              <a:rPr lang="en-US" sz="2400" i="1"/>
              <a:t>E</a:t>
            </a:r>
            <a:r>
              <a:rPr lang="en-US" sz="2400" baseline="-25000"/>
              <a:t>eq</a:t>
            </a:r>
            <a:r>
              <a:rPr lang="en-US" sz="2400"/>
              <a:t> is the energy required to dissociate H</a:t>
            </a:r>
            <a:r>
              <a:rPr lang="en-US" sz="2400" baseline="-25000"/>
              <a:t>2</a:t>
            </a:r>
            <a:r>
              <a:rPr lang="en-US" sz="2400" baseline="30000"/>
              <a:t>+</a:t>
            </a:r>
            <a:r>
              <a:rPr lang="en-US" sz="2400"/>
              <a:t> according to H</a:t>
            </a:r>
            <a:r>
              <a:rPr lang="en-US" sz="2400" baseline="-25000"/>
              <a:t>2</a:t>
            </a:r>
            <a:r>
              <a:rPr lang="en-US" sz="2400" baseline="30000"/>
              <a:t>+</a:t>
            </a:r>
            <a:r>
              <a:rPr lang="en-US" sz="2400"/>
              <a:t> </a:t>
            </a:r>
            <a:r>
              <a:rPr lang="en-US" sz="2400">
                <a:sym typeface="Symbol"/>
              </a:rPr>
              <a:t></a:t>
            </a:r>
            <a:r>
              <a:rPr lang="en-US" sz="2400"/>
              <a:t> H</a:t>
            </a:r>
            <a:r>
              <a:rPr lang="en-US" sz="2400" baseline="30000"/>
              <a:t>+</a:t>
            </a:r>
            <a:r>
              <a:rPr lang="en-US" sz="2400"/>
              <a:t>+H</a:t>
            </a:r>
            <a:r>
              <a:rPr lang="en-US" sz="2400" baseline="30000"/>
              <a:t>+</a:t>
            </a:r>
            <a:r>
              <a:rPr lang="en-US" sz="2400"/>
              <a:t>+e, and </a:t>
            </a:r>
            <a:r>
              <a:rPr lang="en-US" sz="2400" i="1"/>
              <a:t>E</a:t>
            </a:r>
            <a:r>
              <a:rPr lang="en-US" sz="2400" baseline="-25000"/>
              <a:t>D</a:t>
            </a:r>
            <a:r>
              <a:rPr lang="en-US" sz="2400"/>
              <a:t> is the energy required to dissociated H</a:t>
            </a:r>
            <a:r>
              <a:rPr lang="en-US" sz="2400" baseline="-25000"/>
              <a:t>2</a:t>
            </a:r>
            <a:r>
              <a:rPr lang="en-US" sz="2400" baseline="30000"/>
              <a:t>+</a:t>
            </a:r>
            <a:r>
              <a:rPr lang="en-US" sz="2400"/>
              <a:t> according to H</a:t>
            </a:r>
            <a:r>
              <a:rPr lang="en-US" sz="2400" baseline="-25000"/>
              <a:t>2</a:t>
            </a:r>
            <a:r>
              <a:rPr lang="en-US" sz="2400" baseline="30000"/>
              <a:t>+</a:t>
            </a:r>
            <a:r>
              <a:rPr lang="en-US" sz="2400"/>
              <a:t> </a:t>
            </a:r>
            <a:r>
              <a:rPr lang="en-US" sz="2400">
                <a:sym typeface="Symbol"/>
              </a:rPr>
              <a:t></a:t>
            </a:r>
            <a:r>
              <a:rPr lang="en-US" sz="2400"/>
              <a:t> H</a:t>
            </a:r>
            <a:r>
              <a:rPr lang="en-US" sz="2400" baseline="30000"/>
              <a:t>+</a:t>
            </a:r>
            <a:r>
              <a:rPr lang="en-US" sz="2400"/>
              <a:t>+H.</a:t>
            </a:r>
            <a:endParaRPr lang="ko-KR" altLang="en-US" sz="2400"/>
          </a:p>
          <a:p>
            <a:endParaRPr lang="ja-JP" altLang="en-US" sz="2400"/>
          </a:p>
        </p:txBody>
      </p:sp>
      <p:pic>
        <p:nvPicPr>
          <p:cNvPr id="4" name="Picture 3" descr="table1.tiff"/>
          <p:cNvPicPr>
            <a:picLocks noChangeAspect="1"/>
          </p:cNvPicPr>
          <p:nvPr/>
        </p:nvPicPr>
        <p:blipFill>
          <a:blip r:embed="rId2"/>
          <a:stretch>
            <a:fillRect/>
          </a:stretch>
        </p:blipFill>
        <p:spPr>
          <a:xfrm>
            <a:off x="685800" y="990600"/>
            <a:ext cx="7848600" cy="34446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304800"/>
            <a:ext cx="7467600" cy="1143000"/>
          </a:xfrm>
        </p:spPr>
        <p:txBody>
          <a:bodyPr/>
          <a:lstStyle/>
          <a:p>
            <a:r>
              <a:rPr lang="en-US" b="1">
                <a:ea typeface="한컴바탕"/>
                <a:cs typeface="한컴바탕"/>
              </a:rPr>
              <a:t>4.</a:t>
            </a:r>
            <a:r>
              <a:rPr lang="en-US">
                <a:ea typeface="한컴바탕"/>
                <a:cs typeface="한컴바탕"/>
              </a:rPr>
              <a:t>3 Hydrogen Molecule</a:t>
            </a:r>
            <a:r>
              <a:rPr lang="ko-KR">
                <a:ea typeface="한컴바탕"/>
                <a:cs typeface="한컴바탕"/>
              </a:rPr>
              <a:t> </a:t>
            </a:r>
            <a:endParaRPr lang="ko-KR" altLang="en-US" b="1">
              <a:ea typeface="한컴바탕"/>
              <a:cs typeface="한컴바탕"/>
            </a:endParaRPr>
          </a:p>
        </p:txBody>
      </p:sp>
      <p:sp>
        <p:nvSpPr>
          <p:cNvPr id="8" name="Content Placeholder 7"/>
          <p:cNvSpPr>
            <a:spLocks noGrp="1"/>
          </p:cNvSpPr>
          <p:nvPr>
            <p:ph idx="1"/>
          </p:nvPr>
        </p:nvSpPr>
        <p:spPr>
          <a:xfrm>
            <a:off x="457200" y="1692275"/>
            <a:ext cx="8305800" cy="4708525"/>
          </a:xfrm>
        </p:spPr>
        <p:txBody>
          <a:bodyPr>
            <a:normAutofit fontScale="92500" lnSpcReduction="10000"/>
          </a:bodyPr>
          <a:lstStyle/>
          <a:p>
            <a:r>
              <a:rPr lang="en-US" sz="2400"/>
              <a:t>The electron Hamiltonian for a hydrogen molecule in the atomic unit is</a:t>
            </a:r>
          </a:p>
          <a:p>
            <a:endParaRPr lang="ko-KR" altLang="en-US" sz="2400"/>
          </a:p>
          <a:p>
            <a:pPr>
              <a:buNone/>
            </a:pPr>
            <a:endParaRPr lang="en-US" sz="2400"/>
          </a:p>
          <a:p>
            <a:pPr>
              <a:buNone/>
            </a:pPr>
            <a:r>
              <a:rPr lang="en-US" sz="2400"/>
              <a:t>	where </a:t>
            </a:r>
          </a:p>
          <a:p>
            <a:pPr>
              <a:buNone/>
            </a:pPr>
            <a:endParaRPr lang="ko-KR" altLang="en-US" sz="2400"/>
          </a:p>
          <a:p>
            <a:r>
              <a:rPr lang="en-US" sz="2400"/>
              <a:t>Consider a trial function which is made of two bonding orbitals                      :</a:t>
            </a:r>
          </a:p>
          <a:p>
            <a:endParaRPr lang="en-US" altLang="ko-KR" sz="2400"/>
          </a:p>
          <a:p>
            <a:endParaRPr lang="en-US" altLang="ko-KR" sz="2400"/>
          </a:p>
          <a:p>
            <a:endParaRPr lang="en-US" altLang="ko-KR" sz="2400"/>
          </a:p>
          <a:p>
            <a:pPr>
              <a:buNone/>
            </a:pPr>
            <a:r>
              <a:rPr lang="en-US" sz="2400"/>
              <a:t>	where two orbitals  are the same </a:t>
            </a:r>
            <a:r>
              <a:rPr lang="en-US" sz="2400" i="1"/>
              <a:t>s</a:t>
            </a:r>
            <a:r>
              <a:rPr lang="en-US" sz="2400"/>
              <a:t> orbitals centered around nuclei </a:t>
            </a:r>
            <a:r>
              <a:rPr lang="en-US" sz="2400" i="1"/>
              <a:t>a</a:t>
            </a:r>
            <a:r>
              <a:rPr lang="en-US" sz="2400"/>
              <a:t> and </a:t>
            </a:r>
            <a:r>
              <a:rPr lang="en-US" sz="2400" i="1"/>
              <a:t>b</a:t>
            </a:r>
            <a:r>
              <a:rPr lang="en-US" sz="2400"/>
              <a:t>, respectively. </a:t>
            </a:r>
            <a:endParaRPr lang="ko-KR" altLang="en-US" sz="2400"/>
          </a:p>
          <a:p>
            <a:endParaRPr lang="ko-KR" altLang="en-US" sz="2400"/>
          </a:p>
        </p:txBody>
      </p:sp>
      <p:graphicFrame>
        <p:nvGraphicFramePr>
          <p:cNvPr id="207920" name="Object 48"/>
          <p:cNvGraphicFramePr>
            <a:graphicFrameLocks noChangeAspect="1"/>
          </p:cNvGraphicFramePr>
          <p:nvPr/>
        </p:nvGraphicFramePr>
        <p:xfrm>
          <a:off x="2346325" y="2493963"/>
          <a:ext cx="4554538" cy="588962"/>
        </p:xfrm>
        <a:graphic>
          <a:graphicData uri="http://schemas.openxmlformats.org/presentationml/2006/ole">
            <p:oleObj spid="_x0000_s207920" name="Equation" r:id="rId3" imgW="3048000" imgH="393700" progId="Equation.3">
              <p:embed/>
            </p:oleObj>
          </a:graphicData>
        </a:graphic>
      </p:graphicFrame>
      <p:graphicFrame>
        <p:nvGraphicFramePr>
          <p:cNvPr id="207921" name="Object 49"/>
          <p:cNvGraphicFramePr>
            <a:graphicFrameLocks noChangeAspect="1"/>
          </p:cNvGraphicFramePr>
          <p:nvPr/>
        </p:nvGraphicFramePr>
        <p:xfrm>
          <a:off x="889000" y="3551237"/>
          <a:ext cx="7569200" cy="276644"/>
        </p:xfrm>
        <a:graphic>
          <a:graphicData uri="http://schemas.openxmlformats.org/presentationml/2006/ole">
            <p:oleObj spid="_x0000_s207921" name="Equation" r:id="rId4" imgW="5549900" imgH="203200" progId="Equation.3">
              <p:embed/>
            </p:oleObj>
          </a:graphicData>
        </a:graphic>
      </p:graphicFrame>
      <p:graphicFrame>
        <p:nvGraphicFramePr>
          <p:cNvPr id="207922" name="Object 50"/>
          <p:cNvGraphicFramePr>
            <a:graphicFrameLocks noChangeAspect="1"/>
          </p:cNvGraphicFramePr>
          <p:nvPr/>
        </p:nvGraphicFramePr>
        <p:xfrm>
          <a:off x="1940524" y="4254799"/>
          <a:ext cx="1608138" cy="268288"/>
        </p:xfrm>
        <a:graphic>
          <a:graphicData uri="http://schemas.openxmlformats.org/presentationml/2006/ole">
            <p:oleObj spid="_x0000_s207922" name="Equation" r:id="rId5" imgW="1066800" imgH="177800" progId="Equation.3">
              <p:embed/>
            </p:oleObj>
          </a:graphicData>
        </a:graphic>
      </p:graphicFrame>
      <p:graphicFrame>
        <p:nvGraphicFramePr>
          <p:cNvPr id="207923" name="Object 51"/>
          <p:cNvGraphicFramePr>
            <a:graphicFrameLocks noChangeAspect="1"/>
          </p:cNvGraphicFramePr>
          <p:nvPr/>
        </p:nvGraphicFramePr>
        <p:xfrm>
          <a:off x="1450975" y="4618037"/>
          <a:ext cx="6473825" cy="949325"/>
        </p:xfrm>
        <a:graphic>
          <a:graphicData uri="http://schemas.openxmlformats.org/presentationml/2006/ole">
            <p:oleObj spid="_x0000_s207923" name="Equation" r:id="rId6" imgW="4330700" imgH="635000" progId="Equation.3">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5105400"/>
            <a:ext cx="7315200" cy="914400"/>
          </a:xfrm>
        </p:spPr>
        <p:txBody>
          <a:bodyPr>
            <a:noAutofit/>
          </a:bodyPr>
          <a:lstStyle/>
          <a:p>
            <a:pPr>
              <a:buNone/>
            </a:pPr>
            <a:r>
              <a:rPr lang="en-US" sz="2400" b="1"/>
              <a:t>	Fig. 4</a:t>
            </a:r>
            <a:r>
              <a:rPr lang="en-US" sz="2400"/>
              <a:t>. Coordinates for a hydrogen molecule.</a:t>
            </a:r>
          </a:p>
          <a:p>
            <a:endParaRPr lang="en-US" altLang="ko-KR" sz="2400"/>
          </a:p>
          <a:p>
            <a:endParaRPr lang="ko-KR" altLang="en-US" sz="2400"/>
          </a:p>
        </p:txBody>
      </p:sp>
      <p:pic>
        <p:nvPicPr>
          <p:cNvPr id="14" name="Picture 13" descr="fig4.tiff"/>
          <p:cNvPicPr>
            <a:picLocks noChangeAspect="1"/>
          </p:cNvPicPr>
          <p:nvPr/>
        </p:nvPicPr>
        <p:blipFill>
          <a:blip r:embed="rId2"/>
          <a:stretch>
            <a:fillRect/>
          </a:stretch>
        </p:blipFill>
        <p:spPr>
          <a:xfrm>
            <a:off x="1804760" y="1219200"/>
            <a:ext cx="5510440" cy="37338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05800" cy="6096000"/>
          </a:xfrm>
        </p:spPr>
        <p:txBody>
          <a:bodyPr>
            <a:noAutofit/>
          </a:bodyPr>
          <a:lstStyle/>
          <a:p>
            <a:pPr>
              <a:buNone/>
            </a:pPr>
            <a:r>
              <a:rPr lang="en-US" sz="4000" b="1" dirty="0"/>
              <a:t>Exercise 4</a:t>
            </a:r>
            <a:endParaRPr lang="en-US" sz="4000" dirty="0"/>
          </a:p>
          <a:p>
            <a:endParaRPr lang="en-US" sz="1400" dirty="0"/>
          </a:p>
          <a:p>
            <a:r>
              <a:rPr lang="en-US" sz="2400" dirty="0"/>
              <a:t>Show that the above trial wave function is in a form of Slater </a:t>
            </a:r>
            <a:r>
              <a:rPr lang="en-US" sz="2400" dirty="0" err="1"/>
              <a:t>determinent</a:t>
            </a:r>
            <a:r>
              <a:rPr lang="en-US" sz="2400" dirty="0"/>
              <a:t>:</a:t>
            </a:r>
            <a:endParaRPr lang="ko-KR" altLang="en-US" sz="2400" dirty="0"/>
          </a:p>
          <a:p>
            <a:endParaRPr lang="ko-KR" altLang="en-US" sz="2400" dirty="0"/>
          </a:p>
          <a:p>
            <a:pPr>
              <a:buNone/>
            </a:pPr>
            <a:endParaRPr lang="en-US" sz="2400" dirty="0"/>
          </a:p>
          <a:p>
            <a:pPr>
              <a:buNone/>
            </a:pPr>
            <a:r>
              <a:rPr lang="en-US" sz="2400" dirty="0"/>
              <a:t>	where </a:t>
            </a:r>
            <a:r>
              <a:rPr lang="en-US" sz="2400" i="1" dirty="0">
                <a:latin typeface="Symbol" charset="2"/>
                <a:cs typeface="Symbol" charset="2"/>
              </a:rPr>
              <a:t>a</a:t>
            </a:r>
            <a:r>
              <a:rPr lang="en-US" sz="2400" dirty="0"/>
              <a:t> and </a:t>
            </a:r>
            <a:r>
              <a:rPr lang="en-US" sz="2400" i="1" dirty="0" err="1">
                <a:latin typeface="Symbol" charset="2"/>
                <a:cs typeface="Symbol" charset="2"/>
              </a:rPr>
              <a:t>b</a:t>
            </a:r>
            <a:r>
              <a:rPr lang="en-US" sz="2400" dirty="0"/>
              <a:t> represent </a:t>
            </a:r>
            <a:r>
              <a:rPr lang="en-US" sz="2400" dirty="0" err="1"/>
              <a:t>spinors</a:t>
            </a:r>
            <a:r>
              <a:rPr lang="en-US" sz="2400" dirty="0"/>
              <a:t>, up and down, respectively.</a:t>
            </a:r>
            <a:endParaRPr lang="ko-KR" altLang="en-US" sz="2400" dirty="0"/>
          </a:p>
          <a:p>
            <a:endParaRPr lang="en-US" altLang="ko-KR" sz="2400" dirty="0"/>
          </a:p>
          <a:p>
            <a:r>
              <a:rPr lang="en-US" sz="2400" dirty="0"/>
              <a:t>The first two terms represent both electrons revolving around the same proton, and the last two terms represent one electron around each proton. For large separation the amplitude both electrons to be on the same proton is very small.</a:t>
            </a:r>
            <a:r>
              <a:rPr lang="ko-KR" sz="2400" dirty="0"/>
              <a:t> </a:t>
            </a:r>
            <a:endParaRPr lang="ko-KR" altLang="en-US" sz="2400" dirty="0"/>
          </a:p>
        </p:txBody>
      </p:sp>
      <p:graphicFrame>
        <p:nvGraphicFramePr>
          <p:cNvPr id="251925" name="Object 21"/>
          <p:cNvGraphicFramePr>
            <a:graphicFrameLocks noChangeAspect="1"/>
          </p:cNvGraphicFramePr>
          <p:nvPr/>
        </p:nvGraphicFramePr>
        <p:xfrm>
          <a:off x="2514600" y="2286000"/>
          <a:ext cx="3908425" cy="647700"/>
        </p:xfrm>
        <a:graphic>
          <a:graphicData uri="http://schemas.openxmlformats.org/presentationml/2006/ole">
            <p:oleObj spid="_x0000_s270338" name="Equation" r:id="rId3" imgW="2603500" imgH="431800" progId="Equation.3">
              <p:embed/>
            </p:oleObj>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305800" cy="3048000"/>
          </a:xfrm>
        </p:spPr>
        <p:txBody>
          <a:bodyPr>
            <a:noAutofit/>
          </a:bodyPr>
          <a:lstStyle/>
          <a:p>
            <a:r>
              <a:rPr lang="en-US" sz="2400"/>
              <a:t>So, our new choice of trial functions are</a:t>
            </a:r>
          </a:p>
          <a:p>
            <a:endParaRPr lang="en-US" altLang="ko-KR" sz="2400"/>
          </a:p>
          <a:p>
            <a:endParaRPr lang="en-US" altLang="ko-KR" sz="2400"/>
          </a:p>
          <a:p>
            <a:endParaRPr lang="en-US" altLang="ko-KR" sz="2400"/>
          </a:p>
          <a:p>
            <a:endParaRPr lang="ko-KR" altLang="en-US" sz="2400"/>
          </a:p>
          <a:p>
            <a:pPr>
              <a:buNone/>
            </a:pPr>
            <a:r>
              <a:rPr lang="en-US" sz="2400"/>
              <a:t>	for single and triplet states, respectively. </a:t>
            </a:r>
          </a:p>
          <a:p>
            <a:r>
              <a:rPr lang="en-US" sz="2400"/>
              <a:t>This trial function does not work for small separation, for which the hydrogen molecule is like a helium atom, which has </a:t>
            </a:r>
            <a:r>
              <a:rPr lang="en-US" sz="2400" i="1"/>
              <a:t>Z</a:t>
            </a:r>
            <a:r>
              <a:rPr lang="en-US" sz="2400"/>
              <a:t>=2 whereas atomic </a:t>
            </a:r>
            <a:r>
              <a:rPr lang="en-US" sz="2400" i="1"/>
              <a:t>s</a:t>
            </a:r>
            <a:r>
              <a:rPr lang="en-US" sz="2400"/>
              <a:t> orbitals used in the wave functions are for </a:t>
            </a:r>
            <a:r>
              <a:rPr lang="en-US" sz="2400" i="1"/>
              <a:t>Z</a:t>
            </a:r>
            <a:r>
              <a:rPr lang="en-US" sz="2400"/>
              <a:t>=1. </a:t>
            </a:r>
          </a:p>
          <a:p>
            <a:r>
              <a:rPr lang="en-US" sz="2400"/>
              <a:t>Nevertheless, we can get a reasonably good ground state energy. The approximation method with this choice of wave function is called the </a:t>
            </a:r>
            <a:r>
              <a:rPr lang="en-US" sz="2400" i="1"/>
              <a:t>valence bond</a:t>
            </a:r>
            <a:r>
              <a:rPr lang="en-US" sz="2400"/>
              <a:t> method or </a:t>
            </a:r>
            <a:r>
              <a:rPr lang="en-US" sz="2400" i="1"/>
              <a:t>Heitler-London</a:t>
            </a:r>
            <a:r>
              <a:rPr lang="en-US" sz="2400"/>
              <a:t> method.</a:t>
            </a:r>
            <a:r>
              <a:rPr lang="ko-KR" sz="2400"/>
              <a:t> </a:t>
            </a:r>
            <a:endParaRPr lang="ko-KR" altLang="en-US" sz="2400"/>
          </a:p>
        </p:txBody>
      </p:sp>
      <p:graphicFrame>
        <p:nvGraphicFramePr>
          <p:cNvPr id="238606" name="Object 14"/>
          <p:cNvGraphicFramePr>
            <a:graphicFrameLocks noChangeAspect="1"/>
          </p:cNvGraphicFramePr>
          <p:nvPr/>
        </p:nvGraphicFramePr>
        <p:xfrm>
          <a:off x="2209800" y="1143000"/>
          <a:ext cx="4802188" cy="1524000"/>
        </p:xfrm>
        <a:graphic>
          <a:graphicData uri="http://schemas.openxmlformats.org/presentationml/2006/ole">
            <p:oleObj spid="_x0000_s238606" name="Equation" r:id="rId3" imgW="3200400" imgH="1016000" progId="Equation.3">
              <p:embed/>
            </p:oleObj>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305800" cy="3048000"/>
          </a:xfrm>
        </p:spPr>
        <p:txBody>
          <a:bodyPr>
            <a:noAutofit/>
          </a:bodyPr>
          <a:lstStyle/>
          <a:p>
            <a:r>
              <a:rPr lang="en-US" sz="2400"/>
              <a:t>The energy expectation values for singlet and triplet states are then given by</a:t>
            </a:r>
          </a:p>
          <a:p>
            <a:endParaRPr lang="en-US" altLang="ko-KR" sz="2400"/>
          </a:p>
          <a:p>
            <a:endParaRPr lang="ko-KR" altLang="en-US" sz="2400"/>
          </a:p>
          <a:p>
            <a:pPr>
              <a:buNone/>
            </a:pPr>
            <a:r>
              <a:rPr lang="en-US" sz="2400"/>
              <a:t>	where</a:t>
            </a:r>
          </a:p>
          <a:p>
            <a:endParaRPr lang="en-US" altLang="ko-KR" sz="2400"/>
          </a:p>
          <a:p>
            <a:endParaRPr lang="en-US" altLang="ko-KR" sz="2400"/>
          </a:p>
          <a:p>
            <a:endParaRPr lang="en-US" altLang="ko-KR" sz="2400"/>
          </a:p>
          <a:p>
            <a:endParaRPr lang="ko-KR" altLang="en-US" sz="2400"/>
          </a:p>
          <a:p>
            <a:pPr>
              <a:buNone/>
            </a:pPr>
            <a:r>
              <a:rPr lang="en-US" sz="2400"/>
              <a:t>	where </a:t>
            </a:r>
            <a:r>
              <a:rPr lang="en-US" sz="2400" i="1">
                <a:latin typeface="Symbol" charset="2"/>
                <a:cs typeface="Symbol" charset="2"/>
              </a:rPr>
              <a:t>e</a:t>
            </a:r>
            <a:r>
              <a:rPr lang="en-US" sz="2400" baseline="-25000"/>
              <a:t>1</a:t>
            </a:r>
            <a:r>
              <a:rPr lang="en-US" sz="2400"/>
              <a:t> is equal to –1 Ry</a:t>
            </a:r>
            <a:endParaRPr lang="ko-KR" altLang="en-US" sz="2400"/>
          </a:p>
        </p:txBody>
      </p:sp>
      <p:graphicFrame>
        <p:nvGraphicFramePr>
          <p:cNvPr id="271363" name="Object 3"/>
          <p:cNvGraphicFramePr>
            <a:graphicFrameLocks noChangeAspect="1"/>
          </p:cNvGraphicFramePr>
          <p:nvPr/>
        </p:nvGraphicFramePr>
        <p:xfrm>
          <a:off x="2133600" y="1811337"/>
          <a:ext cx="5168900" cy="703263"/>
        </p:xfrm>
        <a:graphic>
          <a:graphicData uri="http://schemas.openxmlformats.org/presentationml/2006/ole">
            <p:oleObj spid="_x0000_s271363" name="Equation" r:id="rId3" imgW="3454400" imgH="469900" progId="Equation.3">
              <p:embed/>
            </p:oleObj>
          </a:graphicData>
        </a:graphic>
      </p:graphicFrame>
      <p:graphicFrame>
        <p:nvGraphicFramePr>
          <p:cNvPr id="271364" name="Object 4"/>
          <p:cNvGraphicFramePr>
            <a:graphicFrameLocks noChangeAspect="1"/>
          </p:cNvGraphicFramePr>
          <p:nvPr/>
        </p:nvGraphicFramePr>
        <p:xfrm>
          <a:off x="1295400" y="3082925"/>
          <a:ext cx="6718300" cy="1565275"/>
        </p:xfrm>
        <a:graphic>
          <a:graphicData uri="http://schemas.openxmlformats.org/presentationml/2006/ole">
            <p:oleObj spid="_x0000_s271364" name="Equation" r:id="rId4" imgW="4470400" imgH="1041400" progId="Equation.3">
              <p:embed/>
            </p:oleObj>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3048000"/>
          </a:xfrm>
        </p:spPr>
        <p:txBody>
          <a:bodyPr>
            <a:noAutofit/>
          </a:bodyPr>
          <a:lstStyle/>
          <a:p>
            <a:r>
              <a:rPr lang="en-US" altLang="ko-KR" sz="2400"/>
              <a:t>Likewise</a:t>
            </a:r>
          </a:p>
          <a:p>
            <a:endParaRPr lang="en-US" altLang="ko-KR" sz="2400"/>
          </a:p>
          <a:p>
            <a:endParaRPr lang="en-US" altLang="ko-KR" sz="2400"/>
          </a:p>
          <a:p>
            <a:endParaRPr lang="en-US" altLang="ko-KR" sz="2400"/>
          </a:p>
          <a:p>
            <a:endParaRPr lang="en-US" altLang="ko-KR" sz="2400"/>
          </a:p>
          <a:p>
            <a:endParaRPr lang="ko-KR" altLang="en-US" sz="2400"/>
          </a:p>
          <a:p>
            <a:pPr>
              <a:buNone/>
            </a:pPr>
            <a:r>
              <a:rPr lang="en-US" sz="2400"/>
              <a:t>	where </a:t>
            </a:r>
            <a:r>
              <a:rPr lang="en-US" sz="2400" i="1"/>
              <a:t>V</a:t>
            </a:r>
            <a:r>
              <a:rPr lang="en-US" sz="2400" baseline="-25000"/>
              <a:t>ex</a:t>
            </a:r>
            <a:r>
              <a:rPr lang="en-US" sz="2400"/>
              <a:t>(</a:t>
            </a:r>
            <a:r>
              <a:rPr lang="en-US" sz="2400" i="1"/>
              <a:t>R</a:t>
            </a:r>
            <a:r>
              <a:rPr lang="en-US" sz="2400"/>
              <a:t>) is roughly proportional to </a:t>
            </a:r>
            <a:r>
              <a:rPr lang="en-US" sz="2400" i="1"/>
              <a:t>S</a:t>
            </a:r>
            <a:r>
              <a:rPr lang="en-US" sz="2400" baseline="30000"/>
              <a:t>2</a:t>
            </a:r>
            <a:r>
              <a:rPr lang="en-US" sz="2400"/>
              <a:t>. Therefore,</a:t>
            </a:r>
          </a:p>
          <a:p>
            <a:pPr>
              <a:buNone/>
            </a:pPr>
            <a:endParaRPr lang="en-US" altLang="ko-KR" sz="2400"/>
          </a:p>
          <a:p>
            <a:pPr>
              <a:buNone/>
            </a:pPr>
            <a:endParaRPr lang="en-US" altLang="ko-KR" sz="2400"/>
          </a:p>
          <a:p>
            <a:pPr>
              <a:buNone/>
            </a:pPr>
            <a:endParaRPr lang="en-US" altLang="ko-KR" sz="2400"/>
          </a:p>
          <a:p>
            <a:pPr>
              <a:buNone/>
            </a:pPr>
            <a:endParaRPr lang="en-US" altLang="ko-KR" sz="2400"/>
          </a:p>
          <a:p>
            <a:r>
              <a:rPr lang="en-US" sz="2400"/>
              <a:t>The terms in the first bracket is always positive due to geometry (see Fig. 4), while the terms in the second bracket is generally negative.</a:t>
            </a:r>
            <a:r>
              <a:rPr lang="ko-KR" sz="2400"/>
              <a:t> </a:t>
            </a:r>
            <a:endParaRPr lang="ko-KR" altLang="en-US" sz="2400"/>
          </a:p>
        </p:txBody>
      </p:sp>
      <p:graphicFrame>
        <p:nvGraphicFramePr>
          <p:cNvPr id="271365" name="Object 5"/>
          <p:cNvGraphicFramePr>
            <a:graphicFrameLocks noChangeAspect="1"/>
          </p:cNvGraphicFramePr>
          <p:nvPr/>
        </p:nvGraphicFramePr>
        <p:xfrm>
          <a:off x="1355725" y="1144587"/>
          <a:ext cx="6657975" cy="1598613"/>
        </p:xfrm>
        <a:graphic>
          <a:graphicData uri="http://schemas.openxmlformats.org/presentationml/2006/ole">
            <p:oleObj spid="_x0000_s272388" name="Equation" r:id="rId3" imgW="4445000" imgH="1066800" progId="Equation.3">
              <p:embed/>
            </p:oleObj>
          </a:graphicData>
        </a:graphic>
      </p:graphicFrame>
      <p:graphicFrame>
        <p:nvGraphicFramePr>
          <p:cNvPr id="272389" name="Object 5"/>
          <p:cNvGraphicFramePr>
            <a:graphicFrameLocks noChangeAspect="1"/>
          </p:cNvGraphicFramePr>
          <p:nvPr/>
        </p:nvGraphicFramePr>
        <p:xfrm>
          <a:off x="1905000" y="3810000"/>
          <a:ext cx="5507038" cy="1257300"/>
        </p:xfrm>
        <a:graphic>
          <a:graphicData uri="http://schemas.openxmlformats.org/presentationml/2006/ole">
            <p:oleObj spid="_x0000_s272389" name="Equation" r:id="rId4" imgW="3670300" imgH="83820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3048000"/>
          </a:xfrm>
        </p:spPr>
        <p:txBody>
          <a:bodyPr>
            <a:noAutofit/>
          </a:bodyPr>
          <a:lstStyle/>
          <a:p>
            <a:r>
              <a:rPr lang="en-US" sz="2400" dirty="0"/>
              <a:t>Therefore, </a:t>
            </a:r>
            <a:r>
              <a:rPr lang="en-US" sz="2400" i="1" dirty="0"/>
              <a:t>E</a:t>
            </a:r>
            <a:r>
              <a:rPr lang="en-US" sz="2400" baseline="-25000" dirty="0"/>
              <a:t>+</a:t>
            </a:r>
            <a:r>
              <a:rPr lang="en-US" sz="2400" dirty="0"/>
              <a:t>(</a:t>
            </a:r>
            <a:r>
              <a:rPr lang="en-US" sz="2400" i="1" dirty="0"/>
              <a:t>R</a:t>
            </a:r>
            <a:r>
              <a:rPr lang="en-US" sz="2400" dirty="0"/>
              <a:t>) &lt; </a:t>
            </a:r>
            <a:r>
              <a:rPr lang="en-US" sz="2400" i="1" dirty="0"/>
              <a:t>E</a:t>
            </a:r>
            <a:r>
              <a:rPr lang="en-US" sz="2400" baseline="-25000" dirty="0"/>
              <a:t>-</a:t>
            </a:r>
            <a:r>
              <a:rPr lang="en-US" sz="2400" dirty="0"/>
              <a:t>(</a:t>
            </a:r>
            <a:r>
              <a:rPr lang="en-US" sz="2400" i="1" dirty="0"/>
              <a:t>R</a:t>
            </a:r>
            <a:r>
              <a:rPr lang="en-US" sz="2400" dirty="0"/>
              <a:t>), and </a:t>
            </a:r>
            <a:r>
              <a:rPr lang="en-US" sz="2400" i="1" dirty="0"/>
              <a:t>E</a:t>
            </a:r>
            <a:r>
              <a:rPr lang="en-US" sz="2400" baseline="-25000" dirty="0"/>
              <a:t>-</a:t>
            </a:r>
            <a:r>
              <a:rPr lang="en-US" sz="2400" dirty="0"/>
              <a:t>(</a:t>
            </a:r>
            <a:r>
              <a:rPr lang="en-US" sz="2400" i="1" dirty="0"/>
              <a:t>R</a:t>
            </a:r>
            <a:r>
              <a:rPr lang="en-US" sz="2400" dirty="0"/>
              <a:t>) does not have a minimum while </a:t>
            </a:r>
            <a:r>
              <a:rPr lang="en-US" sz="2400" i="1" dirty="0"/>
              <a:t>E</a:t>
            </a:r>
            <a:r>
              <a:rPr lang="en-US" sz="2400" baseline="-25000" dirty="0"/>
              <a:t>+</a:t>
            </a:r>
            <a:r>
              <a:rPr lang="en-US" sz="2400" dirty="0"/>
              <a:t>(</a:t>
            </a:r>
            <a:r>
              <a:rPr lang="en-US" sz="2400" i="1" dirty="0"/>
              <a:t>R</a:t>
            </a:r>
            <a:r>
              <a:rPr lang="en-US" sz="2400" dirty="0"/>
              <a:t>)-2</a:t>
            </a:r>
            <a:r>
              <a:rPr lang="en-US" sz="2400" i="1" dirty="0">
                <a:latin typeface="Symbol" charset="2"/>
                <a:cs typeface="Symbol" charset="2"/>
              </a:rPr>
              <a:t>e</a:t>
            </a:r>
            <a:r>
              <a:rPr lang="en-US" sz="2400" baseline="-25000" dirty="0"/>
              <a:t>1</a:t>
            </a:r>
            <a:r>
              <a:rPr lang="en-US" sz="2400" dirty="0"/>
              <a:t> has a </a:t>
            </a:r>
            <a:r>
              <a:rPr lang="en-US" sz="2400" dirty="0" smtClean="0"/>
              <a:t>3-eV deep minimum </a:t>
            </a:r>
            <a:r>
              <a:rPr lang="en-US" sz="2400" dirty="0"/>
              <a:t>at </a:t>
            </a:r>
            <a:r>
              <a:rPr lang="en-US" sz="2400" i="1" dirty="0"/>
              <a:t>R</a:t>
            </a:r>
            <a:r>
              <a:rPr lang="en-US" sz="2400" dirty="0"/>
              <a:t>=1.5 (see Fig. 5). </a:t>
            </a:r>
          </a:p>
          <a:p>
            <a:endParaRPr lang="en-US" sz="2400" dirty="0"/>
          </a:p>
          <a:p>
            <a:endParaRPr lang="en-US" sz="2400" dirty="0"/>
          </a:p>
          <a:p>
            <a:endParaRPr lang="en-US" sz="2400" dirty="0"/>
          </a:p>
          <a:p>
            <a:endParaRPr lang="en-US" sz="2400" dirty="0"/>
          </a:p>
          <a:p>
            <a:endParaRPr lang="en-US" sz="2400" dirty="0"/>
          </a:p>
          <a:p>
            <a:pPr>
              <a:buNone/>
            </a:pPr>
            <a:r>
              <a:rPr lang="en-US" sz="2400" b="1" dirty="0"/>
              <a:t>	Fig. 5</a:t>
            </a:r>
            <a:r>
              <a:rPr lang="en-US" sz="2400" dirty="0"/>
              <a:t>. Singlet (+) and triplet (-) energies of H</a:t>
            </a:r>
            <a:r>
              <a:rPr lang="en-US" sz="2400" baseline="-25000" dirty="0"/>
              <a:t>2</a:t>
            </a:r>
            <a:r>
              <a:rPr lang="en-US" sz="2400" dirty="0"/>
              <a:t> molecule.</a:t>
            </a:r>
            <a:r>
              <a:rPr lang="ko-KR" sz="2400" dirty="0"/>
              <a:t> </a:t>
            </a:r>
            <a:endParaRPr lang="en-US" sz="2400" b="1" dirty="0"/>
          </a:p>
          <a:p>
            <a:pPr>
              <a:buNone/>
            </a:pPr>
            <a:endParaRPr lang="en-US" sz="2400" dirty="0"/>
          </a:p>
          <a:p>
            <a:r>
              <a:rPr lang="en-US" sz="2400" dirty="0"/>
              <a:t>The triplet state wave function vanishes on the mid plane of the molecule whereas the singlet state has the largest amplitude on the mid plane. Having electrons there lowers the energy, forming bonding between repulsive two nuclei.</a:t>
            </a:r>
            <a:endParaRPr lang="ko-KR" altLang="en-US" sz="2400" dirty="0"/>
          </a:p>
        </p:txBody>
      </p:sp>
      <p:pic>
        <p:nvPicPr>
          <p:cNvPr id="5" name="Picture 4" descr="fig5.tiff"/>
          <p:cNvPicPr>
            <a:picLocks noChangeAspect="1"/>
          </p:cNvPicPr>
          <p:nvPr/>
        </p:nvPicPr>
        <p:blipFill>
          <a:blip r:embed="rId2"/>
          <a:stretch>
            <a:fillRect/>
          </a:stretch>
        </p:blipFill>
        <p:spPr>
          <a:xfrm>
            <a:off x="2438400" y="1939055"/>
            <a:ext cx="4500562" cy="179474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Technic.thmx</Template>
  <TotalTime>873</TotalTime>
  <Words>594</Words>
  <Application>Microsoft Macintosh PowerPoint</Application>
  <PresentationFormat>On-screen Show (4:3)</PresentationFormat>
  <Paragraphs>94</Paragraphs>
  <Slides>12</Slides>
  <Notes>1</Notes>
  <HiddenSlides>0</HiddenSlides>
  <MMClips>0</MMClips>
  <ScaleCrop>false</ScaleCrop>
  <HeadingPairs>
    <vt:vector size="6" baseType="variant">
      <vt:variant>
        <vt:lpstr>Design Template</vt:lpstr>
      </vt:variant>
      <vt:variant>
        <vt:i4>1</vt:i4>
      </vt:variant>
      <vt:variant>
        <vt:lpstr>Embedded OLE Servers</vt:lpstr>
      </vt:variant>
      <vt:variant>
        <vt:i4>2</vt:i4>
      </vt:variant>
      <vt:variant>
        <vt:lpstr>Slide Titles</vt:lpstr>
      </vt:variant>
      <vt:variant>
        <vt:i4>12</vt:i4>
      </vt:variant>
    </vt:vector>
  </HeadingPairs>
  <TitlesOfParts>
    <vt:vector size="15" baseType="lpstr">
      <vt:lpstr>Technic</vt:lpstr>
      <vt:lpstr>Equation</vt:lpstr>
      <vt:lpstr>Microsoft Equation</vt:lpstr>
      <vt:lpstr>Atomic and Molecular Physics  Lecture 24</vt:lpstr>
      <vt:lpstr>Slide 2</vt:lpstr>
      <vt:lpstr>Slide 3</vt:lpstr>
      <vt:lpstr>Slide 4</vt:lpstr>
      <vt:lpstr>Slide 5</vt:lpstr>
      <vt:lpstr>4.3 Hydrogen Molecule </vt:lpstr>
      <vt:lpstr>Slide 7</vt:lpstr>
      <vt:lpstr>Slide 8</vt:lpstr>
      <vt:lpstr>Slide 9</vt:lpstr>
      <vt:lpstr>Slide 10</vt:lpstr>
      <vt:lpstr>Slide 11</vt:lpstr>
      <vt:lpstr>Slide 12</vt:lpstr>
    </vt:vector>
  </TitlesOfParts>
  <Company>3463-6078</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AMP12</dc:title>
  <dc:creator>경원 안</dc:creator>
  <cp:keywords/>
  <cp:lastModifiedBy>Kyungwon An</cp:lastModifiedBy>
  <cp:revision>69</cp:revision>
  <dcterms:created xsi:type="dcterms:W3CDTF">2009-11-29T15:32:58Z</dcterms:created>
  <dcterms:modified xsi:type="dcterms:W3CDTF">2009-11-29T15:35:22Z</dcterms:modified>
</cp:coreProperties>
</file>