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Override PartName="/ppt/embeddings/Microsoft_Equation24.bin" ContentType="application/vnd.openxmlformats-officedocument.oleObject"/>
  <Default Extension="rels" ContentType="application/vnd.openxmlformats-package.relationships+xml"/>
  <Default Extension="jpeg" ContentType="image/jpeg"/>
  <Override PartName="/ppt/slides/slide10.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embeddings/Microsoft_Equation3.bin" ContentType="application/vnd.openxmlformats-officedocument.oleObject"/>
  <Override PartName="/ppt/slideLayouts/slideLayout5.xml" ContentType="application/vnd.openxmlformats-officedocument.presentationml.slideLayout+xml"/>
  <Override PartName="/ppt/embeddings/Microsoft_Equation20.bin" ContentType="application/vnd.openxmlformats-officedocument.oleObject"/>
  <Override PartName="/ppt/theme/theme2.xml" ContentType="application/vnd.openxmlformats-officedocument.theme+xml"/>
  <Override PartName="/ppt/slideLayouts/slideLayout1.xml" ContentType="application/vnd.openxmlformats-officedocument.presentationml.slideLayout+xml"/>
  <Override PartName="/ppt/embeddings/Microsoft_Equation29.bin" ContentType="application/vnd.openxmlformats-officedocument.oleObject"/>
  <Override PartName="/docProps/app.xml" ContentType="application/vnd.openxmlformats-officedocument.extended-properties+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slides/slide15.xml" ContentType="application/vnd.openxmlformats-officedocument.presentationml.slide+xml"/>
  <Override PartName="/ppt/notesSlides/notesSlide1.xml" ContentType="application/vnd.openxmlformats-officedocument.presentationml.notesSlide+xml"/>
  <Override PartName="/ppt/embeddings/Microsoft_Equation8.bin" ContentType="application/vnd.openxmlformats-officedocument.oleObject"/>
  <Override PartName="/ppt/slides/slide6.xml" ContentType="application/vnd.openxmlformats-officedocument.presentationml.slide+xml"/>
  <Override PartName="/ppt/embeddings/Microsoft_Equation25.bin" ContentType="application/vnd.openxmlformats-officedocument.oleObject"/>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embeddings/Microsoft_Equation21.bin" ContentType="application/vnd.openxmlformats-officedocument.oleObject"/>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26.bin" ContentType="application/vnd.openxmlformats-officedocument.oleObject"/>
  <Override PartName="/ppt/embeddings/Microsoft_Equation14.bin" ContentType="application/vnd.openxmlformats-officedocument.oleObject"/>
  <Override PartName="/ppt/slides/slide16.xml" ContentType="application/vnd.openxmlformats-officedocument.presentationml.slide+xml"/>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Default Extension="vml" ContentType="application/vnd.openxmlformats-officedocument.vmlDrawing"/>
  <Override PartName="/ppt/slides/slide3.xml" ContentType="application/vnd.openxmlformats-officedocument.presentationml.slide+xml"/>
  <Override PartName="/ppt/embeddings/Microsoft_Equation5.bin" ContentType="application/vnd.openxmlformats-officedocument.oleObject"/>
  <Override PartName="/ppt/embeddings/Microsoft_Equation22.bin" ContentType="application/vnd.openxmlformats-officedocument.oleObject"/>
  <Override PartName="/ppt/embeddings/Microsoft_Equation30.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Override PartName="/ppt/embeddings/Microsoft_Equation19.bin" ContentType="application/vnd.openxmlformats-officedocument.oleObject"/>
  <Override PartName="/ppt/embeddings/Microsoft_Equation27.bin" ContentType="application/vnd.openxmlformats-officedocument.oleObject"/>
  <Default Extension="tiff" ContentType="image/tiff"/>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embeddings/Microsoft_Equation23.bin" ContentType="application/vnd.openxmlformats-officedocument.oleObject"/>
  <Override PartName="/ppt/embeddings/Microsoft_Equation31.bin" ContentType="application/vnd.openxmlformats-officedocument.oleObject"/>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embeddings/Microsoft_Equation28.bin" ContentType="application/vnd.openxmlformats-officedocument.oleObject"/>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notesMasterIdLst>
    <p:notesMasterId r:id="rId18"/>
  </p:notesMasterIdLst>
  <p:sldIdLst>
    <p:sldId id="256" r:id="rId2"/>
    <p:sldId id="277" r:id="rId3"/>
    <p:sldId id="273" r:id="rId4"/>
    <p:sldId id="275" r:id="rId5"/>
    <p:sldId id="276" r:id="rId6"/>
    <p:sldId id="266" r:id="rId7"/>
    <p:sldId id="279" r:id="rId8"/>
    <p:sldId id="281" r:id="rId9"/>
    <p:sldId id="284" r:id="rId10"/>
    <p:sldId id="285" r:id="rId11"/>
    <p:sldId id="286" r:id="rId12"/>
    <p:sldId id="287" r:id="rId13"/>
    <p:sldId id="288" r:id="rId14"/>
    <p:sldId id="289" r:id="rId15"/>
    <p:sldId id="290" r:id="rId16"/>
    <p:sldId id="291" r:id="rId17"/>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20" y="-1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 Id="rId2" Type="http://schemas.openxmlformats.org/officeDocument/2006/relationships/image" Target="../media/image2.pict"/><Relationship Id="rId3" Type="http://schemas.openxmlformats.org/officeDocument/2006/relationships/image" Target="../media/image3.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ict"/><Relationship Id="rId2" Type="http://schemas.openxmlformats.org/officeDocument/2006/relationships/image" Target="../media/image5.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ict"/></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pict"/><Relationship Id="rId2" Type="http://schemas.openxmlformats.org/officeDocument/2006/relationships/image" Target="../media/image9.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pict"/></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pict"/><Relationship Id="rId4" Type="http://schemas.openxmlformats.org/officeDocument/2006/relationships/image" Target="../media/image14.pict"/><Relationship Id="rId5" Type="http://schemas.openxmlformats.org/officeDocument/2006/relationships/image" Target="../media/image15.pict"/><Relationship Id="rId6" Type="http://schemas.openxmlformats.org/officeDocument/2006/relationships/image" Target="../media/image16.pict"/><Relationship Id="rId1" Type="http://schemas.openxmlformats.org/officeDocument/2006/relationships/image" Target="../media/image11.pict"/><Relationship Id="rId2" Type="http://schemas.openxmlformats.org/officeDocument/2006/relationships/image" Target="../media/image12.pict"/></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pict"/><Relationship Id="rId4" Type="http://schemas.openxmlformats.org/officeDocument/2006/relationships/image" Target="../media/image20.pict"/><Relationship Id="rId5" Type="http://schemas.openxmlformats.org/officeDocument/2006/relationships/image" Target="../media/image21.pict"/><Relationship Id="rId1" Type="http://schemas.openxmlformats.org/officeDocument/2006/relationships/image" Target="../media/image17.pict"/><Relationship Id="rId2" Type="http://schemas.openxmlformats.org/officeDocument/2006/relationships/image" Target="../media/image18.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pict"/></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pict"/><Relationship Id="rId2" Type="http://schemas.openxmlformats.org/officeDocument/2006/relationships/image" Target="../media/image24.pict"/><Relationship Id="rId3" Type="http://schemas.openxmlformats.org/officeDocument/2006/relationships/image" Target="../media/image25.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pict"/><Relationship Id="rId2" Type="http://schemas.openxmlformats.org/officeDocument/2006/relationships/image" Target="../media/image27.pict"/><Relationship Id="rId3" Type="http://schemas.openxmlformats.org/officeDocument/2006/relationships/image" Target="../media/image28.pict"/></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pict"/><Relationship Id="rId2" Type="http://schemas.openxmlformats.org/officeDocument/2006/relationships/image" Target="../media/image31.pict"/><Relationship Id="rId3" Type="http://schemas.openxmlformats.org/officeDocument/2006/relationships/image" Target="../media/image32.pict"/></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pict"/></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pict"/></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ja-JP"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4A24C-2BFC-4C63-AEAF-54CF7EFDB325}" type="datetimeFigureOut">
              <a:rPr lang="ko-KR" altLang="ja-JP"/>
              <a:pPr/>
              <a:t>09.11.14</a:t>
            </a:fld>
            <a:endParaRPr lang="ja-JP"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ja-JP"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31D213-E5B0-467F-9AA1-56239E62CB84}" type="slidenum">
              <a:rPr/>
              <a:pPr/>
              <a:t>‹#›</a:t>
            </a:fld>
            <a:endParaRPr lang="ja-JP"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ja-JP" altLang="en-US"/>
          </a:p>
        </p:txBody>
      </p:sp>
      <p:sp>
        <p:nvSpPr>
          <p:cNvPr id="4" name="Slide Number Placeholder 3"/>
          <p:cNvSpPr>
            <a:spLocks noGrp="1"/>
          </p:cNvSpPr>
          <p:nvPr>
            <p:ph type="sldNum" sz="quarter" idx="10"/>
          </p:nvPr>
        </p:nvSpPr>
        <p:spPr/>
        <p:txBody>
          <a:bodyPr/>
          <a:lstStyle/>
          <a:p>
            <a:fld id="{BF31D213-E5B0-467F-9AA1-56239E62CB84}" type="slidenum">
              <a:rPr/>
              <a:pPr/>
              <a:t>2</a:t>
            </a:fld>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09.11.14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ko-KR" altLang="ja-JP"/>
              <a:pPr/>
              <a:t>09.11.14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ko-KR" altLang="ja-JP"/>
              <a:pPr/>
              <a:t>09.11.14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ko-KR" altLang="ja-JP"/>
              <a:pPr/>
              <a:t>09.11.14</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4" Type="http://schemas.openxmlformats.org/officeDocument/2006/relationships/oleObject" Target="../embeddings/Microsoft_Equation1.bin"/><Relationship Id="rId5" Type="http://schemas.openxmlformats.org/officeDocument/2006/relationships/oleObject" Target="../embeddings/Microsoft_Equation2.bin"/><Relationship Id="rId6" Type="http://schemas.openxmlformats.org/officeDocument/2006/relationships/oleObject" Target="../embeddings/Microsoft_Equation3.bin"/><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4.bin"/><Relationship Id="rId4" Type="http://schemas.openxmlformats.org/officeDocument/2006/relationships/oleObject" Target="../embeddings/Microsoft_Equation5.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Microsoft_Equation6.bin"/><Relationship Id="rId4" Type="http://schemas.openxmlformats.org/officeDocument/2006/relationships/image" Target="../media/image7.jpeg"/><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7.bin"/><Relationship Id="rId4" Type="http://schemas.openxmlformats.org/officeDocument/2006/relationships/oleObject" Target="../embeddings/Microsoft_Equation8.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9.bin"/></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Equation10.bin"/><Relationship Id="rId4" Type="http://schemas.openxmlformats.org/officeDocument/2006/relationships/oleObject" Target="../embeddings/Microsoft_Equation11.bin"/><Relationship Id="rId5" Type="http://schemas.openxmlformats.org/officeDocument/2006/relationships/oleObject" Target="../embeddings/Microsoft_Equation12.bin"/><Relationship Id="rId6" Type="http://schemas.openxmlformats.org/officeDocument/2006/relationships/oleObject" Target="../embeddings/Microsoft_Equation13.bin"/><Relationship Id="rId7" Type="http://schemas.openxmlformats.org/officeDocument/2006/relationships/oleObject" Target="../embeddings/Microsoft_Equation14.bin"/><Relationship Id="rId8" Type="http://schemas.openxmlformats.org/officeDocument/2006/relationships/oleObject" Target="../embeddings/Microsoft_Equation15.bin"/><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Equation16.bin"/><Relationship Id="rId4" Type="http://schemas.openxmlformats.org/officeDocument/2006/relationships/oleObject" Target="../embeddings/Microsoft_Equation17.bin"/><Relationship Id="rId5" Type="http://schemas.openxmlformats.org/officeDocument/2006/relationships/oleObject" Target="../embeddings/Microsoft_Equation18.bin"/><Relationship Id="rId6" Type="http://schemas.openxmlformats.org/officeDocument/2006/relationships/oleObject" Target="../embeddings/Microsoft_Equation19.bin"/><Relationship Id="rId7" Type="http://schemas.openxmlformats.org/officeDocument/2006/relationships/oleObject" Target="../embeddings/Microsoft_Equation20.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8.vml"/><Relationship Id="rId2" Type="http://schemas.openxmlformats.org/officeDocument/2006/relationships/slideLayout" Target="../slideLayouts/slideLayout2.xml"/><Relationship Id="rId3" Type="http://schemas.openxmlformats.org/officeDocument/2006/relationships/oleObject" Target="../embeddings/Microsoft_Equation21.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22.bin"/><Relationship Id="rId4" Type="http://schemas.openxmlformats.org/officeDocument/2006/relationships/oleObject" Target="../embeddings/Microsoft_Equation23.bin"/><Relationship Id="rId5" Type="http://schemas.openxmlformats.org/officeDocument/2006/relationships/oleObject" Target="../embeddings/Microsoft_Equation24.bin"/><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25.bin"/><Relationship Id="rId4" Type="http://schemas.openxmlformats.org/officeDocument/2006/relationships/oleObject" Target="../embeddings/Microsoft_Equation26.bin"/><Relationship Id="rId5" Type="http://schemas.openxmlformats.org/officeDocument/2006/relationships/oleObject" Target="../embeddings/Microsoft_Equation27.bin"/><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Microsoft_Equation28.bin"/><Relationship Id="rId4" Type="http://schemas.openxmlformats.org/officeDocument/2006/relationships/oleObject" Target="../embeddings/Microsoft_Equation29.bin"/><Relationship Id="rId5" Type="http://schemas.openxmlformats.org/officeDocument/2006/relationships/oleObject" Target="../embeddings/Microsoft_Equation30.bin"/><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vmlDrawing" Target="../drawings/vmlDrawing12.vml"/><Relationship Id="rId2" Type="http://schemas.openxmlformats.org/officeDocument/2006/relationships/slideLayout" Target="../slideLayouts/slideLayout2.xml"/><Relationship Id="rId3" Type="http://schemas.openxmlformats.org/officeDocument/2006/relationships/oleObject" Target="../embeddings/Microsoft_Equation31.bin"/></Relationships>
</file>

<file path=ppt/slides/_rels/slide16.xml.rels><?xml version="1.0" encoding="UTF-8" standalone="yes"?>
<Relationships xmlns="http://schemas.openxmlformats.org/package/2006/relationships"><Relationship Id="rId1" Type="http://schemas.openxmlformats.org/officeDocument/2006/relationships/vmlDrawing" Target="../drawings/vmlDrawing13.vml"/><Relationship Id="rId2" Type="http://schemas.openxmlformats.org/officeDocument/2006/relationships/slideLayout" Target="../slideLayouts/slideLayout2.xml"/><Relationship Id="rId3" Type="http://schemas.openxmlformats.org/officeDocument/2006/relationships/oleObject" Target="!OLE_LINK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dirty="0"/>
              <a:t>Atomic and Molecular Physics</a:t>
            </a:r>
            <a:r>
              <a:rPr altLang="ja-JP" sz="4400" dirty="0"/>
              <a:t/>
            </a:r>
            <a:br>
              <a:rPr altLang="ja-JP" sz="4400" dirty="0"/>
            </a:br>
            <a:r>
              <a:rPr altLang="ja-JP" sz="4400" dirty="0"/>
              <a:t/>
            </a:r>
            <a:br>
              <a:rPr altLang="ja-JP" sz="4400" dirty="0"/>
            </a:br>
            <a:r>
              <a:rPr altLang="ja-JP" sz="3200" dirty="0">
                <a:solidFill>
                  <a:srgbClr val="00FF00"/>
                </a:solidFill>
              </a:rPr>
              <a:t>Lecture </a:t>
            </a:r>
            <a:r>
              <a:rPr altLang="ja-JP" sz="3200" smtClean="0">
                <a:solidFill>
                  <a:srgbClr val="00FF00"/>
                </a:solidFill>
              </a:rPr>
              <a:t>21</a:t>
            </a:r>
            <a:endParaRPr lang="ja-JP" altLang="en-US" sz="3200" dirty="0">
              <a:solidFill>
                <a:srgbClr val="00FF00"/>
              </a:solidFill>
            </a:endParaRPr>
          </a:p>
        </p:txBody>
      </p:sp>
      <p:sp>
        <p:nvSpPr>
          <p:cNvPr id="3" name="Subtitle 2"/>
          <p:cNvSpPr>
            <a:spLocks noGrp="1"/>
          </p:cNvSpPr>
          <p:nvPr>
            <p:ph type="subTitle" idx="1"/>
          </p:nvPr>
        </p:nvSpPr>
        <p:spPr/>
        <p:txBody>
          <a:bodyPr>
            <a:normAutofit/>
          </a:bodyPr>
          <a:lstStyle/>
          <a:p>
            <a:r>
              <a:rPr lang="en-US" altLang="ja-JP" dirty="0"/>
              <a:t>Prof. Kyungwon An</a:t>
            </a:r>
          </a:p>
          <a:p>
            <a:r>
              <a:rPr lang="en-US" altLang="ja-JP" dirty="0"/>
              <a:t>Department of Physics and Astronomy</a:t>
            </a:r>
          </a:p>
          <a:p>
            <a:r>
              <a:rPr lang="en-US" altLang="ja-JP" dirty="0"/>
              <a:t>Seoul National University</a:t>
            </a:r>
            <a:endParaRPr lang="ja-JP"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924800" cy="914400"/>
          </a:xfrm>
        </p:spPr>
        <p:txBody>
          <a:bodyPr>
            <a:noAutofit/>
          </a:bodyPr>
          <a:lstStyle/>
          <a:p>
            <a:r>
              <a:rPr lang="en-US" sz="4400"/>
              <a:t>3.5 Transition Probabilities</a:t>
            </a:r>
            <a:r>
              <a:rPr lang="ko-KR" sz="4400"/>
              <a:t> </a:t>
            </a:r>
            <a:endParaRPr lang="ja-JP" altLang="en-US" sz="4400" b="1" dirty="0">
              <a:latin typeface="+mn-lt"/>
              <a:cs typeface="Times New Roman"/>
            </a:endParaRPr>
          </a:p>
        </p:txBody>
      </p:sp>
      <p:sp>
        <p:nvSpPr>
          <p:cNvPr id="3" name="Content Placeholder 2"/>
          <p:cNvSpPr>
            <a:spLocks noGrp="1"/>
          </p:cNvSpPr>
          <p:nvPr>
            <p:ph idx="1"/>
          </p:nvPr>
        </p:nvSpPr>
        <p:spPr>
          <a:xfrm>
            <a:off x="457200" y="1630362"/>
            <a:ext cx="8305800" cy="5227638"/>
          </a:xfrm>
        </p:spPr>
        <p:txBody>
          <a:bodyPr>
            <a:noAutofit/>
          </a:bodyPr>
          <a:lstStyle/>
          <a:p>
            <a:r>
              <a:rPr lang="en-US" sz="2400" dirty="0"/>
              <a:t>Consider an atom interacting with a radiation field of </a:t>
            </a:r>
            <a:r>
              <a:rPr lang="en-US" sz="2400" dirty="0" smtClean="0"/>
              <a:t>frequency     </a:t>
            </a:r>
            <a:r>
              <a:rPr lang="en-US" sz="2400" dirty="0"/>
              <a:t>. Assume that only a transition between particular two states (let us call them level a and level </a:t>
            </a:r>
            <a:r>
              <a:rPr lang="en-US" sz="2400" dirty="0" err="1"/>
              <a:t>b</a:t>
            </a:r>
            <a:r>
              <a:rPr lang="en-US" sz="2400" dirty="0"/>
              <a:t>) is resonant with the radiation field. Let the transition frequency be                           . The approximation that we can neglect the other levels is called two-level approximation and the atom in this case is called a two level system. </a:t>
            </a:r>
            <a:endParaRPr lang="ko-KR" altLang="en-US" sz="2400" dirty="0"/>
          </a:p>
          <a:p>
            <a:r>
              <a:rPr lang="en-US" sz="2400" dirty="0"/>
              <a:t>The transition probability from an initial state to a final state can be calculated from the Fermi Golden Rule:</a:t>
            </a:r>
            <a:r>
              <a:rPr lang="ko-KR" sz="2400" dirty="0"/>
              <a:t> </a:t>
            </a:r>
            <a:endParaRPr lang="ko-KR" altLang="en-US" sz="2400" dirty="0"/>
          </a:p>
        </p:txBody>
      </p:sp>
      <p:graphicFrame>
        <p:nvGraphicFramePr>
          <p:cNvPr id="15367" name="Object 7"/>
          <p:cNvGraphicFramePr>
            <a:graphicFrameLocks noChangeAspect="1"/>
          </p:cNvGraphicFramePr>
          <p:nvPr/>
        </p:nvGraphicFramePr>
        <p:xfrm>
          <a:off x="3124200" y="5541962"/>
          <a:ext cx="2671763" cy="554038"/>
        </p:xfrm>
        <a:graphic>
          <a:graphicData uri="http://schemas.openxmlformats.org/presentationml/2006/ole">
            <p:oleObj spid="_x0000_s15367" name="Equation" r:id="rId4" imgW="1778000" imgH="368300" progId="Equation.3">
              <p:embed/>
            </p:oleObj>
          </a:graphicData>
        </a:graphic>
      </p:graphicFrame>
      <p:graphicFrame>
        <p:nvGraphicFramePr>
          <p:cNvPr id="15368" name="Object 8"/>
          <p:cNvGraphicFramePr>
            <a:graphicFrameLocks noChangeAspect="1"/>
          </p:cNvGraphicFramePr>
          <p:nvPr/>
        </p:nvGraphicFramePr>
        <p:xfrm>
          <a:off x="2895600" y="3200400"/>
          <a:ext cx="2063750" cy="307975"/>
        </p:xfrm>
        <a:graphic>
          <a:graphicData uri="http://schemas.openxmlformats.org/presentationml/2006/ole">
            <p:oleObj spid="_x0000_s15368" name="Equation" r:id="rId5" imgW="1358900" imgH="203200" progId="Equation.3">
              <p:embed/>
            </p:oleObj>
          </a:graphicData>
        </a:graphic>
      </p:graphicFrame>
      <p:graphicFrame>
        <p:nvGraphicFramePr>
          <p:cNvPr id="15371" name="Object 11"/>
          <p:cNvGraphicFramePr>
            <a:graphicFrameLocks noChangeAspect="1"/>
          </p:cNvGraphicFramePr>
          <p:nvPr/>
        </p:nvGraphicFramePr>
        <p:xfrm>
          <a:off x="2374900" y="2133600"/>
          <a:ext cx="292100" cy="273050"/>
        </p:xfrm>
        <a:graphic>
          <a:graphicData uri="http://schemas.openxmlformats.org/presentationml/2006/ole">
            <p:oleObj spid="_x0000_s15371" name="Equation" r:id="rId6" imgW="190500" imgH="1778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077200" cy="6172200"/>
          </a:xfrm>
        </p:spPr>
        <p:txBody>
          <a:bodyPr>
            <a:normAutofit/>
          </a:bodyPr>
          <a:lstStyle/>
          <a:p>
            <a:r>
              <a:rPr lang="en-US" sz="2200" dirty="0" smtClean="0"/>
              <a:t>For E1 absorption process in which the two-level atom interacts with a field mode </a:t>
            </a:r>
            <a:r>
              <a:rPr lang="en-US" sz="2200" b="1" dirty="0" err="1" smtClean="0"/>
              <a:t>k</a:t>
            </a:r>
            <a:r>
              <a:rPr lang="en-US" sz="2200" i="1" dirty="0" err="1" smtClean="0"/>
              <a:t>l</a:t>
            </a:r>
            <a:r>
              <a:rPr lang="en-US" sz="2200" dirty="0" smtClean="0"/>
              <a:t>, </a:t>
            </a:r>
          </a:p>
          <a:p>
            <a:pPr>
              <a:buNone/>
            </a:pPr>
            <a:endParaRPr lang="en-US" sz="2200" dirty="0" smtClean="0"/>
          </a:p>
          <a:p>
            <a:endParaRPr lang="en-US" altLang="ko-KR" sz="2200" dirty="0" smtClean="0"/>
          </a:p>
          <a:p>
            <a:endParaRPr lang="en-US" altLang="ko-KR" sz="2200" dirty="0" smtClean="0"/>
          </a:p>
          <a:p>
            <a:endParaRPr lang="en-US" altLang="ko-KR" sz="2200" dirty="0" smtClean="0"/>
          </a:p>
          <a:p>
            <a:endParaRPr lang="en-US" altLang="ko-KR" sz="2200" dirty="0" smtClean="0"/>
          </a:p>
          <a:p>
            <a:endParaRPr lang="ko-KR" altLang="en-US" sz="2200" dirty="0" smtClean="0"/>
          </a:p>
          <a:p>
            <a:r>
              <a:rPr lang="en-US" sz="2200" dirty="0" smtClean="0"/>
              <a:t>When we have a distribution of modes instead of the infinitely-narrow-frequency mode, the above expression should be multiplied by the number of modes in a frequency interval in vacuum and integrated over all frequencies. </a:t>
            </a:r>
          </a:p>
          <a:p>
            <a:r>
              <a:rPr lang="en-US" sz="2200" dirty="0" smtClean="0"/>
              <a:t>The number of modes in a frequency interval </a:t>
            </a:r>
            <a:r>
              <a:rPr lang="en-US" sz="2200" u="sng" dirty="0" smtClean="0"/>
              <a:t>per polarization</a:t>
            </a:r>
            <a:r>
              <a:rPr lang="en-US" sz="2200" dirty="0" smtClean="0"/>
              <a:t> direction is</a:t>
            </a:r>
            <a:endParaRPr lang="ko-KR" altLang="en-US" sz="2200" dirty="0"/>
          </a:p>
        </p:txBody>
      </p:sp>
      <p:graphicFrame>
        <p:nvGraphicFramePr>
          <p:cNvPr id="245773" name="Object 13"/>
          <p:cNvGraphicFramePr>
            <a:graphicFrameLocks noChangeAspect="1"/>
          </p:cNvGraphicFramePr>
          <p:nvPr/>
        </p:nvGraphicFramePr>
        <p:xfrm>
          <a:off x="2133600" y="1381125"/>
          <a:ext cx="4854575" cy="1979613"/>
        </p:xfrm>
        <a:graphic>
          <a:graphicData uri="http://schemas.openxmlformats.org/presentationml/2006/ole">
            <p:oleObj spid="_x0000_s245773" name="Equation" r:id="rId3" imgW="3238500" imgH="1320800" progId="Equation.3">
              <p:embed/>
            </p:oleObj>
          </a:graphicData>
        </a:graphic>
      </p:graphicFrame>
      <p:graphicFrame>
        <p:nvGraphicFramePr>
          <p:cNvPr id="245774" name="Object 14"/>
          <p:cNvGraphicFramePr>
            <a:graphicFrameLocks noChangeAspect="1"/>
          </p:cNvGraphicFramePr>
          <p:nvPr/>
        </p:nvGraphicFramePr>
        <p:xfrm>
          <a:off x="3962400" y="5808662"/>
          <a:ext cx="858838" cy="668338"/>
        </p:xfrm>
        <a:graphic>
          <a:graphicData uri="http://schemas.openxmlformats.org/presentationml/2006/ole">
            <p:oleObj spid="_x0000_s245774" name="Equation" r:id="rId4" imgW="571500" imgH="4445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05800" cy="5410200"/>
          </a:xfrm>
        </p:spPr>
        <p:txBody>
          <a:bodyPr>
            <a:noAutofit/>
          </a:bodyPr>
          <a:lstStyle/>
          <a:p>
            <a:r>
              <a:rPr lang="en-US" sz="2400" dirty="0" smtClean="0"/>
              <a:t>and thus</a:t>
            </a:r>
          </a:p>
          <a:p>
            <a:pPr>
              <a:buNone/>
            </a:pPr>
            <a:endParaRPr lang="en-US" altLang="ko-KR" sz="2400" dirty="0" smtClean="0"/>
          </a:p>
          <a:p>
            <a:endParaRPr lang="en-US" altLang="ko-KR" sz="2400" dirty="0" smtClean="0"/>
          </a:p>
          <a:p>
            <a:endParaRPr lang="ko-KR" altLang="en-US" sz="2400" dirty="0" smtClean="0"/>
          </a:p>
          <a:p>
            <a:pPr>
              <a:buNone/>
            </a:pPr>
            <a:r>
              <a:rPr lang="en-US" sz="2400" dirty="0" smtClean="0"/>
              <a:t>	which then needs be integrated over all angles accounting for two possible polarization directions. We choose the polarization directions as shown in </a:t>
            </a:r>
            <a:r>
              <a:rPr lang="en-US" sz="2400" b="1" dirty="0" smtClean="0"/>
              <a:t>Fig. 1</a:t>
            </a:r>
            <a:r>
              <a:rPr lang="en-US" sz="2400" dirty="0" smtClean="0"/>
              <a:t>. </a:t>
            </a:r>
            <a:endParaRPr lang="en-US" altLang="ko-KR" sz="2400" dirty="0"/>
          </a:p>
        </p:txBody>
      </p:sp>
      <p:graphicFrame>
        <p:nvGraphicFramePr>
          <p:cNvPr id="225303" name="Object 23"/>
          <p:cNvGraphicFramePr>
            <a:graphicFrameLocks noChangeAspect="1"/>
          </p:cNvGraphicFramePr>
          <p:nvPr/>
        </p:nvGraphicFramePr>
        <p:xfrm>
          <a:off x="1790700" y="1082675"/>
          <a:ext cx="5689600" cy="1279525"/>
        </p:xfrm>
        <a:graphic>
          <a:graphicData uri="http://schemas.openxmlformats.org/presentationml/2006/ole">
            <p:oleObj spid="_x0000_s225303" name="Equation" r:id="rId3" imgW="3784600" imgH="850900" progId="Equation.3">
              <p:embed/>
            </p:oleObj>
          </a:graphicData>
        </a:graphic>
      </p:graphicFrame>
      <p:pic>
        <p:nvPicPr>
          <p:cNvPr id="19" name="Picture 18" descr="fig1.jpg"/>
          <p:cNvPicPr>
            <a:picLocks noChangeAspect="1"/>
          </p:cNvPicPr>
          <p:nvPr/>
        </p:nvPicPr>
        <p:blipFill>
          <a:blip r:embed="rId4"/>
          <a:stretch>
            <a:fillRect/>
          </a:stretch>
        </p:blipFill>
        <p:spPr>
          <a:xfrm>
            <a:off x="3276600" y="3733800"/>
            <a:ext cx="2663216" cy="2437187"/>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05800" cy="6248400"/>
          </a:xfrm>
        </p:spPr>
        <p:txBody>
          <a:bodyPr>
            <a:noAutofit/>
          </a:bodyPr>
          <a:lstStyle/>
          <a:p>
            <a:r>
              <a:rPr lang="en-US" sz="2400" dirty="0" smtClean="0"/>
              <a:t>Then,</a:t>
            </a:r>
          </a:p>
          <a:p>
            <a:endParaRPr lang="en-US" sz="2400" dirty="0" smtClean="0"/>
          </a:p>
          <a:p>
            <a:endParaRPr lang="en-US" altLang="ko-KR" sz="2400" dirty="0" smtClean="0"/>
          </a:p>
          <a:p>
            <a:endParaRPr lang="en-US" altLang="ko-KR" sz="2400" dirty="0" smtClean="0"/>
          </a:p>
          <a:p>
            <a:endParaRPr lang="ko-KR" altLang="en-US" sz="2400" dirty="0" smtClean="0"/>
          </a:p>
          <a:p>
            <a:r>
              <a:rPr lang="en-US" sz="2400" dirty="0" smtClean="0"/>
              <a:t>For E1 emission process, the procedure proceeds in the same way except that the result is proportional to </a:t>
            </a:r>
            <a:r>
              <a:rPr lang="en-US" sz="2400" i="1" dirty="0" smtClean="0"/>
              <a:t>n</a:t>
            </a:r>
            <a:r>
              <a:rPr lang="en-US" sz="2400" dirty="0" smtClean="0"/>
              <a:t>+1.</a:t>
            </a:r>
          </a:p>
          <a:p>
            <a:endParaRPr lang="en-US" altLang="ko-KR" sz="2400" dirty="0" smtClean="0"/>
          </a:p>
          <a:p>
            <a:endParaRPr lang="ko-KR" altLang="en-US" sz="2400" dirty="0" smtClean="0"/>
          </a:p>
          <a:p>
            <a:r>
              <a:rPr lang="en-US" sz="2400" dirty="0" smtClean="0"/>
              <a:t>Emission can occur even in the absence of photons in the mode. Such emission is called the </a:t>
            </a:r>
            <a:r>
              <a:rPr lang="en-US" sz="2400" i="1" dirty="0" smtClean="0"/>
              <a:t>spontaneous emission</a:t>
            </a:r>
            <a:r>
              <a:rPr lang="en-US" sz="2400" dirty="0" smtClean="0"/>
              <a:t> whereas the part proportional to </a:t>
            </a:r>
            <a:r>
              <a:rPr lang="en-US" sz="2400" i="1" dirty="0" err="1" smtClean="0"/>
              <a:t>n</a:t>
            </a:r>
            <a:r>
              <a:rPr lang="en-US" sz="2400" dirty="0" smtClean="0"/>
              <a:t> is called the </a:t>
            </a:r>
            <a:r>
              <a:rPr lang="en-US" sz="2400" i="1" dirty="0" smtClean="0"/>
              <a:t>stimulated emission</a:t>
            </a:r>
            <a:r>
              <a:rPr lang="en-US" sz="2400" dirty="0" smtClean="0"/>
              <a:t>. The absorption with its rate proportional to </a:t>
            </a:r>
            <a:r>
              <a:rPr lang="en-US" sz="2400" i="1" dirty="0" err="1" smtClean="0"/>
              <a:t>n</a:t>
            </a:r>
            <a:r>
              <a:rPr lang="en-US" sz="2400" dirty="0" smtClean="0"/>
              <a:t> is by definition a stimulated process. </a:t>
            </a:r>
            <a:endParaRPr lang="ko-KR" altLang="en-US" sz="2400" dirty="0" smtClean="0"/>
          </a:p>
          <a:p>
            <a:endParaRPr lang="en-US" sz="2400" dirty="0" smtClean="0"/>
          </a:p>
        </p:txBody>
      </p:sp>
      <p:graphicFrame>
        <p:nvGraphicFramePr>
          <p:cNvPr id="226330" name="Object 26"/>
          <p:cNvGraphicFramePr>
            <a:graphicFrameLocks noChangeAspect="1"/>
          </p:cNvGraphicFramePr>
          <p:nvPr/>
        </p:nvGraphicFramePr>
        <p:xfrm>
          <a:off x="1027341" y="895350"/>
          <a:ext cx="7165975" cy="1543050"/>
        </p:xfrm>
        <a:graphic>
          <a:graphicData uri="http://schemas.openxmlformats.org/presentationml/2006/ole">
            <p:oleObj spid="_x0000_s226330" name="Equation" r:id="rId3" imgW="4775200" imgH="1028700" progId="Equation.3">
              <p:embed/>
            </p:oleObj>
          </a:graphicData>
        </a:graphic>
      </p:graphicFrame>
      <p:graphicFrame>
        <p:nvGraphicFramePr>
          <p:cNvPr id="226331" name="Object 27"/>
          <p:cNvGraphicFramePr>
            <a:graphicFrameLocks noChangeAspect="1"/>
          </p:cNvGraphicFramePr>
          <p:nvPr/>
        </p:nvGraphicFramePr>
        <p:xfrm>
          <a:off x="3276600" y="3448050"/>
          <a:ext cx="2722563" cy="781050"/>
        </p:xfrm>
        <a:graphic>
          <a:graphicData uri="http://schemas.openxmlformats.org/presentationml/2006/ole">
            <p:oleObj spid="_x0000_s226331" name="Equation" r:id="rId4" imgW="1816100" imgH="5207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533400"/>
            <a:ext cx="8305800" cy="5791200"/>
          </a:xfrm>
        </p:spPr>
        <p:txBody>
          <a:bodyPr>
            <a:normAutofit/>
          </a:bodyPr>
          <a:lstStyle/>
          <a:p>
            <a:r>
              <a:rPr lang="en-US" sz="2400" dirty="0" smtClean="0"/>
              <a:t>The spontaneous emission rate</a:t>
            </a:r>
          </a:p>
          <a:p>
            <a:endParaRPr lang="en-US" sz="2400" dirty="0" smtClean="0"/>
          </a:p>
          <a:p>
            <a:endParaRPr lang="ko-KR" altLang="en-US" sz="2400" dirty="0" smtClean="0"/>
          </a:p>
          <a:p>
            <a:pPr>
              <a:buNone/>
            </a:pPr>
            <a:r>
              <a:rPr lang="en-US" sz="2400" dirty="0" smtClean="0"/>
              <a:t>	is also known as the Einstein A coefficient. The inverse of this rate is called the </a:t>
            </a:r>
            <a:r>
              <a:rPr lang="en-US" sz="2400" i="1" dirty="0" err="1" smtClean="0"/>
              <a:t>radiative</a:t>
            </a:r>
            <a:r>
              <a:rPr lang="en-US" sz="2400" i="1" dirty="0" smtClean="0"/>
              <a:t> lifetime</a:t>
            </a:r>
            <a:r>
              <a:rPr lang="en-US" sz="2400" dirty="0" smtClean="0"/>
              <a:t> of the excited state. </a:t>
            </a:r>
          </a:p>
          <a:p>
            <a:r>
              <a:rPr lang="en-US" sz="2400" dirty="0" smtClean="0"/>
              <a:t>As clearly demonstrated so far, the spontaneous emission is a true quantum mechanical effect, not explainable in the classical electromagnetism. </a:t>
            </a:r>
          </a:p>
          <a:p>
            <a:r>
              <a:rPr lang="en-US" sz="2400" dirty="0" smtClean="0"/>
              <a:t>It is remarkable that Einstein introduced the concept of spontaneous emission in his consideration of the black body radiation, solely based on the thermodynamic detailed balance argument.</a:t>
            </a:r>
            <a:endParaRPr lang="ko-KR" altLang="en-US" sz="2400" dirty="0"/>
          </a:p>
        </p:txBody>
      </p:sp>
      <p:graphicFrame>
        <p:nvGraphicFramePr>
          <p:cNvPr id="207920" name="Object 48"/>
          <p:cNvGraphicFramePr>
            <a:graphicFrameLocks noChangeAspect="1"/>
          </p:cNvGraphicFramePr>
          <p:nvPr/>
        </p:nvGraphicFramePr>
        <p:xfrm>
          <a:off x="3810000" y="1066800"/>
          <a:ext cx="1873250" cy="708025"/>
        </p:xfrm>
        <a:graphic>
          <a:graphicData uri="http://schemas.openxmlformats.org/presentationml/2006/ole">
            <p:oleObj spid="_x0000_s207920" name="Equation" r:id="rId3" imgW="1244600" imgH="4699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305800" cy="4964113"/>
          </a:xfrm>
        </p:spPr>
        <p:txBody>
          <a:bodyPr>
            <a:noAutofit/>
          </a:bodyPr>
          <a:lstStyle/>
          <a:p>
            <a:r>
              <a:rPr lang="en-US" sz="2400" dirty="0" smtClean="0"/>
              <a:t>Suppose that the level </a:t>
            </a:r>
            <a:r>
              <a:rPr lang="en-US" sz="2400" i="1" dirty="0" smtClean="0"/>
              <a:t>a</a:t>
            </a:r>
            <a:r>
              <a:rPr lang="en-US" sz="2400" dirty="0" smtClean="0"/>
              <a:t> consists of degenerate sublevels             with degeneracy                . Likewise, the level </a:t>
            </a:r>
            <a:r>
              <a:rPr lang="en-US" sz="2400" i="1" dirty="0" err="1" smtClean="0"/>
              <a:t>b</a:t>
            </a:r>
            <a:r>
              <a:rPr lang="en-US" sz="2400" dirty="0" smtClean="0"/>
              <a:t> consists of degenerate sublevels             with degeneracy                . When the sublevels of level </a:t>
            </a:r>
            <a:r>
              <a:rPr lang="en-US" sz="2400" i="1" dirty="0" smtClean="0"/>
              <a:t>a</a:t>
            </a:r>
            <a:r>
              <a:rPr lang="en-US" sz="2400" dirty="0" smtClean="0"/>
              <a:t> are equally populated initially, the absorption rate becomes</a:t>
            </a:r>
          </a:p>
          <a:p>
            <a:endParaRPr lang="en-US" altLang="ko-KR" sz="2400" dirty="0" smtClean="0"/>
          </a:p>
          <a:p>
            <a:endParaRPr lang="ko-KR" altLang="en-US" sz="2400" dirty="0" smtClean="0"/>
          </a:p>
          <a:p>
            <a:r>
              <a:rPr lang="en-US" sz="2400" dirty="0" smtClean="0"/>
              <a:t>Similarly, the emission rate becomes</a:t>
            </a:r>
          </a:p>
          <a:p>
            <a:endParaRPr lang="en-US" altLang="ko-KR" sz="2400" dirty="0" smtClean="0"/>
          </a:p>
          <a:p>
            <a:endParaRPr lang="ko-KR" altLang="en-US" sz="2400" dirty="0" smtClean="0"/>
          </a:p>
          <a:p>
            <a:pPr>
              <a:buNone/>
            </a:pPr>
            <a:r>
              <a:rPr lang="en-US" sz="2400" dirty="0" smtClean="0"/>
              <a:t>	if the sublevels of level </a:t>
            </a:r>
            <a:r>
              <a:rPr lang="en-US" sz="2400" i="1" dirty="0" err="1" smtClean="0"/>
              <a:t>b</a:t>
            </a:r>
            <a:r>
              <a:rPr lang="en-US" sz="2400" dirty="0" smtClean="0"/>
              <a:t> are equally populated initially.</a:t>
            </a:r>
            <a:r>
              <a:rPr lang="ko-KR" altLang="en-US" sz="2400" dirty="0" smtClean="0"/>
              <a:t> </a:t>
            </a:r>
            <a:endParaRPr lang="ko-KR" altLang="en-US" sz="2200" dirty="0"/>
          </a:p>
        </p:txBody>
      </p:sp>
      <p:sp>
        <p:nvSpPr>
          <p:cNvPr id="14" name="Title 1"/>
          <p:cNvSpPr>
            <a:spLocks noGrp="1"/>
          </p:cNvSpPr>
          <p:nvPr>
            <p:ph type="title"/>
          </p:nvPr>
        </p:nvSpPr>
        <p:spPr>
          <a:xfrm>
            <a:off x="457200" y="457200"/>
            <a:ext cx="7467600" cy="609600"/>
          </a:xfrm>
        </p:spPr>
        <p:txBody>
          <a:bodyPr>
            <a:noAutofit/>
          </a:bodyPr>
          <a:lstStyle/>
          <a:p>
            <a:r>
              <a:rPr lang="en-US" sz="3600" i="1" dirty="0" smtClean="0">
                <a:latin typeface="Times New Roman"/>
                <a:cs typeface="Times New Roman"/>
              </a:rPr>
              <a:t>Extension to </a:t>
            </a:r>
            <a:r>
              <a:rPr lang="en-US" sz="3600" i="1" dirty="0" err="1" smtClean="0">
                <a:latin typeface="Times New Roman"/>
                <a:cs typeface="Times New Roman"/>
              </a:rPr>
              <a:t>Multilevels</a:t>
            </a:r>
            <a:endParaRPr lang="ja-JP" altLang="en-US" sz="3600" i="1" dirty="0">
              <a:latin typeface="Times New Roman"/>
              <a:cs typeface="Times New Roman"/>
            </a:endParaRPr>
          </a:p>
        </p:txBody>
      </p:sp>
      <p:graphicFrame>
        <p:nvGraphicFramePr>
          <p:cNvPr id="251925" name="Object 21"/>
          <p:cNvGraphicFramePr>
            <a:graphicFrameLocks noChangeAspect="1"/>
          </p:cNvGraphicFramePr>
          <p:nvPr/>
        </p:nvGraphicFramePr>
        <p:xfrm>
          <a:off x="2325916" y="1770742"/>
          <a:ext cx="904875" cy="314325"/>
        </p:xfrm>
        <a:graphic>
          <a:graphicData uri="http://schemas.openxmlformats.org/presentationml/2006/ole">
            <p:oleObj spid="_x0000_s251925" name="Equation" r:id="rId3" imgW="622300" imgH="215900" progId="Equation.3">
              <p:embed/>
            </p:oleObj>
          </a:graphicData>
        </a:graphic>
      </p:graphicFrame>
      <p:graphicFrame>
        <p:nvGraphicFramePr>
          <p:cNvPr id="251926" name="Object 22"/>
          <p:cNvGraphicFramePr>
            <a:graphicFrameLocks noChangeAspect="1"/>
          </p:cNvGraphicFramePr>
          <p:nvPr/>
        </p:nvGraphicFramePr>
        <p:xfrm>
          <a:off x="5633361" y="1813604"/>
          <a:ext cx="1225550" cy="271463"/>
        </p:xfrm>
        <a:graphic>
          <a:graphicData uri="http://schemas.openxmlformats.org/presentationml/2006/ole">
            <p:oleObj spid="_x0000_s251926" name="Equation" r:id="rId4" imgW="800100" imgH="177800" progId="Equation.3">
              <p:embed/>
            </p:oleObj>
          </a:graphicData>
        </a:graphic>
      </p:graphicFrame>
      <p:graphicFrame>
        <p:nvGraphicFramePr>
          <p:cNvPr id="17" name="Object 21"/>
          <p:cNvGraphicFramePr>
            <a:graphicFrameLocks noChangeAspect="1"/>
          </p:cNvGraphicFramePr>
          <p:nvPr/>
        </p:nvGraphicFramePr>
        <p:xfrm>
          <a:off x="6983641" y="2130422"/>
          <a:ext cx="904875" cy="314325"/>
        </p:xfrm>
        <a:graphic>
          <a:graphicData uri="http://schemas.openxmlformats.org/presentationml/2006/ole">
            <p:oleObj spid="_x0000_s251927" name="Equation" r:id="rId5" imgW="622300" imgH="215900" progId="Equation.3">
              <p:embed/>
            </p:oleObj>
          </a:graphicData>
        </a:graphic>
      </p:graphicFrame>
      <p:graphicFrame>
        <p:nvGraphicFramePr>
          <p:cNvPr id="18" name="Object 22"/>
          <p:cNvGraphicFramePr>
            <a:graphicFrameLocks noChangeAspect="1"/>
          </p:cNvGraphicFramePr>
          <p:nvPr/>
        </p:nvGraphicFramePr>
        <p:xfrm>
          <a:off x="2645229" y="2532742"/>
          <a:ext cx="1225550" cy="271463"/>
        </p:xfrm>
        <a:graphic>
          <a:graphicData uri="http://schemas.openxmlformats.org/presentationml/2006/ole">
            <p:oleObj spid="_x0000_s251928" name="Equation" r:id="rId6" imgW="800100" imgH="177800" progId="Equation.3">
              <p:embed/>
            </p:oleObj>
          </a:graphicData>
        </a:graphic>
      </p:graphicFrame>
      <p:graphicFrame>
        <p:nvGraphicFramePr>
          <p:cNvPr id="251929" name="Object 25"/>
          <p:cNvGraphicFramePr>
            <a:graphicFrameLocks noChangeAspect="1"/>
          </p:cNvGraphicFramePr>
          <p:nvPr/>
        </p:nvGraphicFramePr>
        <p:xfrm>
          <a:off x="2473325" y="3292475"/>
          <a:ext cx="4289425" cy="669925"/>
        </p:xfrm>
        <a:graphic>
          <a:graphicData uri="http://schemas.openxmlformats.org/presentationml/2006/ole">
            <p:oleObj spid="_x0000_s251929" name="Equation" r:id="rId7" imgW="2844800" imgH="444500" progId="Equation.3">
              <p:embed/>
            </p:oleObj>
          </a:graphicData>
        </a:graphic>
      </p:graphicFrame>
      <p:graphicFrame>
        <p:nvGraphicFramePr>
          <p:cNvPr id="251930" name="Object 26"/>
          <p:cNvGraphicFramePr>
            <a:graphicFrameLocks noChangeAspect="1"/>
          </p:cNvGraphicFramePr>
          <p:nvPr/>
        </p:nvGraphicFramePr>
        <p:xfrm>
          <a:off x="2209800" y="4662487"/>
          <a:ext cx="4738688" cy="671513"/>
        </p:xfrm>
        <a:graphic>
          <a:graphicData uri="http://schemas.openxmlformats.org/presentationml/2006/ole">
            <p:oleObj spid="_x0000_s251930" name="Equation" r:id="rId8" imgW="3136900" imgH="444500" progId="Equation.3">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153400" cy="762000"/>
          </a:xfrm>
        </p:spPr>
        <p:txBody>
          <a:bodyPr>
            <a:noAutofit/>
          </a:bodyPr>
          <a:lstStyle/>
          <a:p>
            <a:r>
              <a:rPr lang="en-US" sz="3600" dirty="0" smtClean="0">
                <a:latin typeface="Arial"/>
                <a:cs typeface="Arial"/>
              </a:rPr>
              <a:t>3.6 Oscillator Strength and Sum Rules</a:t>
            </a:r>
            <a:endParaRPr lang="ja-JP" altLang="en-US" sz="3600" dirty="0">
              <a:latin typeface="Arial"/>
              <a:cs typeface="Arial"/>
            </a:endParaRPr>
          </a:p>
        </p:txBody>
      </p:sp>
      <p:sp>
        <p:nvSpPr>
          <p:cNvPr id="3" name="Content Placeholder 2"/>
          <p:cNvSpPr>
            <a:spLocks noGrp="1"/>
          </p:cNvSpPr>
          <p:nvPr>
            <p:ph idx="1"/>
          </p:nvPr>
        </p:nvSpPr>
        <p:spPr>
          <a:xfrm>
            <a:off x="457200" y="1371600"/>
            <a:ext cx="8305800" cy="4191000"/>
          </a:xfrm>
        </p:spPr>
        <p:txBody>
          <a:bodyPr>
            <a:noAutofit/>
          </a:bodyPr>
          <a:lstStyle/>
          <a:p>
            <a:r>
              <a:rPr lang="en-US" sz="2400" dirty="0" smtClean="0"/>
              <a:t>For two states, level </a:t>
            </a:r>
            <a:r>
              <a:rPr lang="en-US" sz="2400" i="1" dirty="0" smtClean="0"/>
              <a:t>a</a:t>
            </a:r>
            <a:r>
              <a:rPr lang="en-US" sz="2400" dirty="0" smtClean="0"/>
              <a:t> and level </a:t>
            </a:r>
            <a:r>
              <a:rPr lang="en-US" sz="2400" i="1" dirty="0" err="1" smtClean="0"/>
              <a:t>b</a:t>
            </a:r>
            <a:r>
              <a:rPr lang="en-US" sz="2400" dirty="0" smtClean="0"/>
              <a:t>, with           , the oscillator strength for </a:t>
            </a:r>
            <a:r>
              <a:rPr lang="en-US" sz="2400" i="1" dirty="0" smtClean="0"/>
              <a:t>emission</a:t>
            </a:r>
            <a:r>
              <a:rPr lang="en-US" sz="2400" dirty="0" smtClean="0"/>
              <a:t>  </a:t>
            </a:r>
            <a:r>
              <a:rPr lang="en-US" sz="2400" i="1" dirty="0" err="1" smtClean="0"/>
              <a:t>b</a:t>
            </a:r>
            <a:r>
              <a:rPr lang="ja-JP" altLang="en-US" sz="2400" dirty="0" smtClean="0">
                <a:sym typeface="Wingdings"/>
              </a:rPr>
              <a:t></a:t>
            </a:r>
            <a:r>
              <a:rPr lang="en-US" altLang="ja-JP" sz="2400" i="1" dirty="0" smtClean="0">
                <a:sym typeface="Wingdings"/>
              </a:rPr>
              <a:t>a </a:t>
            </a:r>
            <a:r>
              <a:rPr lang="en-US" sz="2400" dirty="0" smtClean="0"/>
              <a:t>is defined by</a:t>
            </a:r>
          </a:p>
          <a:p>
            <a:endParaRPr lang="en-US" altLang="ko-KR" sz="2400" dirty="0" smtClean="0"/>
          </a:p>
          <a:p>
            <a:endParaRPr lang="ko-KR" altLang="en-US" sz="2400" dirty="0" smtClean="0"/>
          </a:p>
          <a:p>
            <a:r>
              <a:rPr lang="en-US" sz="2400" dirty="0" smtClean="0"/>
              <a:t>Oscillator strength for emission is negative (          ) whereas for absorption it is positive. </a:t>
            </a:r>
          </a:p>
          <a:p>
            <a:r>
              <a:rPr lang="en-US" sz="2400" dirty="0" smtClean="0"/>
              <a:t>It satisfies the following identity.</a:t>
            </a:r>
            <a:endParaRPr lang="ko-KR" altLang="en-US" sz="2400" dirty="0" smtClean="0"/>
          </a:p>
          <a:p>
            <a:endParaRPr lang="ko-KR" altLang="en-US" sz="2400" dirty="0" smtClean="0"/>
          </a:p>
          <a:p>
            <a:r>
              <a:rPr lang="en-US" sz="2400" dirty="0" smtClean="0"/>
              <a:t>The oscillator strength is related to the emission rate as</a:t>
            </a:r>
            <a:endParaRPr lang="ko-KR" altLang="en-US" sz="2400" dirty="0"/>
          </a:p>
        </p:txBody>
      </p:sp>
      <p:graphicFrame>
        <p:nvGraphicFramePr>
          <p:cNvPr id="239637" name="Object 21"/>
          <p:cNvGraphicFramePr>
            <a:graphicFrameLocks noChangeAspect="1"/>
          </p:cNvGraphicFramePr>
          <p:nvPr/>
        </p:nvGraphicFramePr>
        <p:xfrm>
          <a:off x="6288316" y="1505858"/>
          <a:ext cx="817563" cy="273050"/>
        </p:xfrm>
        <a:graphic>
          <a:graphicData uri="http://schemas.openxmlformats.org/presentationml/2006/ole">
            <p:oleObj spid="_x0000_s239637" name="Equation" r:id="rId3" imgW="533400" imgH="177800" progId="Equation.3">
              <p:embed/>
            </p:oleObj>
          </a:graphicData>
        </a:graphic>
      </p:graphicFrame>
      <p:graphicFrame>
        <p:nvGraphicFramePr>
          <p:cNvPr id="239638" name="Object 22"/>
          <p:cNvGraphicFramePr>
            <a:graphicFrameLocks noChangeAspect="1"/>
          </p:cNvGraphicFramePr>
          <p:nvPr/>
        </p:nvGraphicFramePr>
        <p:xfrm>
          <a:off x="2743200" y="2341562"/>
          <a:ext cx="3722688" cy="630238"/>
        </p:xfrm>
        <a:graphic>
          <a:graphicData uri="http://schemas.openxmlformats.org/presentationml/2006/ole">
            <p:oleObj spid="_x0000_s239638" name="Equation" r:id="rId4" imgW="2476500" imgH="419100" progId="Equation.3">
              <p:embed/>
            </p:oleObj>
          </a:graphicData>
        </a:graphic>
      </p:graphicFrame>
      <p:graphicFrame>
        <p:nvGraphicFramePr>
          <p:cNvPr id="239639" name="Object 23"/>
          <p:cNvGraphicFramePr>
            <a:graphicFrameLocks noChangeAspect="1"/>
          </p:cNvGraphicFramePr>
          <p:nvPr/>
        </p:nvGraphicFramePr>
        <p:xfrm>
          <a:off x="6934200" y="3203575"/>
          <a:ext cx="739775" cy="273050"/>
        </p:xfrm>
        <a:graphic>
          <a:graphicData uri="http://schemas.openxmlformats.org/presentationml/2006/ole">
            <p:oleObj spid="_x0000_s239639" name="Equation" r:id="rId5" imgW="482600" imgH="177800" progId="Equation.3">
              <p:embed/>
            </p:oleObj>
          </a:graphicData>
        </a:graphic>
      </p:graphicFrame>
      <p:graphicFrame>
        <p:nvGraphicFramePr>
          <p:cNvPr id="239640" name="Object 24"/>
          <p:cNvGraphicFramePr>
            <a:graphicFrameLocks noChangeAspect="1"/>
          </p:cNvGraphicFramePr>
          <p:nvPr/>
        </p:nvGraphicFramePr>
        <p:xfrm>
          <a:off x="3962400" y="4419600"/>
          <a:ext cx="1384300" cy="268288"/>
        </p:xfrm>
        <a:graphic>
          <a:graphicData uri="http://schemas.openxmlformats.org/presentationml/2006/ole">
            <p:oleObj spid="_x0000_s239640" name="Equation" r:id="rId6" imgW="914400" imgH="177800" progId="Equation.3">
              <p:embed/>
            </p:oleObj>
          </a:graphicData>
        </a:graphic>
      </p:graphicFrame>
      <p:graphicFrame>
        <p:nvGraphicFramePr>
          <p:cNvPr id="239641" name="Object 25"/>
          <p:cNvGraphicFramePr>
            <a:graphicFrameLocks noChangeAspect="1"/>
          </p:cNvGraphicFramePr>
          <p:nvPr/>
        </p:nvGraphicFramePr>
        <p:xfrm>
          <a:off x="3733800" y="5410200"/>
          <a:ext cx="1930400" cy="573088"/>
        </p:xfrm>
        <a:graphic>
          <a:graphicData uri="http://schemas.openxmlformats.org/presentationml/2006/ole">
            <p:oleObj spid="_x0000_s239641" name="Equation" r:id="rId7" imgW="1282700" imgH="381000" progId="Equation.3">
              <p:embed/>
            </p:oleObj>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944562"/>
          </a:xfrm>
        </p:spPr>
        <p:txBody>
          <a:bodyPr>
            <a:noAutofit/>
          </a:bodyPr>
          <a:lstStyle/>
          <a:p>
            <a:r>
              <a:rPr lang="en-US" sz="4400" dirty="0" smtClean="0">
                <a:latin typeface="Arial"/>
                <a:cs typeface="Arial"/>
              </a:rPr>
              <a:t>Exercise 5</a:t>
            </a:r>
            <a:endParaRPr lang="ja-JP" altLang="en-US" sz="4400" dirty="0">
              <a:latin typeface="Arial"/>
              <a:cs typeface="Arial"/>
            </a:endParaRPr>
          </a:p>
        </p:txBody>
      </p:sp>
      <p:sp>
        <p:nvSpPr>
          <p:cNvPr id="3" name="Content Placeholder 2"/>
          <p:cNvSpPr>
            <a:spLocks noGrp="1"/>
          </p:cNvSpPr>
          <p:nvPr>
            <p:ph idx="1"/>
          </p:nvPr>
        </p:nvSpPr>
        <p:spPr>
          <a:xfrm>
            <a:off x="457200" y="1295400"/>
            <a:ext cx="8305800" cy="4038600"/>
          </a:xfrm>
        </p:spPr>
        <p:txBody>
          <a:bodyPr>
            <a:noAutofit/>
          </a:bodyPr>
          <a:lstStyle/>
          <a:p>
            <a:r>
              <a:rPr lang="en-US" sz="2400" dirty="0" smtClean="0"/>
              <a:t>Derive the </a:t>
            </a:r>
            <a:r>
              <a:rPr lang="en-US" sz="2400" dirty="0" err="1" smtClean="0"/>
              <a:t>radiative</a:t>
            </a:r>
            <a:r>
              <a:rPr lang="en-US" sz="2400" dirty="0" smtClean="0"/>
              <a:t> damping rate in the classical electrodynamics</a:t>
            </a:r>
            <a:endParaRPr lang="ko-KR" altLang="en-US" sz="2400" dirty="0" smtClean="0"/>
          </a:p>
          <a:p>
            <a:endParaRPr lang="en-US" altLang="ko-KR" sz="2400" dirty="0" smtClean="0"/>
          </a:p>
          <a:p>
            <a:endParaRPr lang="ko-KR" altLang="en-US" sz="2400" dirty="0" smtClean="0"/>
          </a:p>
          <a:p>
            <a:pPr>
              <a:buNone/>
            </a:pPr>
            <a:r>
              <a:rPr lang="en-US" sz="2400" dirty="0" smtClean="0"/>
              <a:t>	for a charge under harmonic oscillations.  Use the </a:t>
            </a:r>
            <a:r>
              <a:rPr lang="en-US" sz="2400" dirty="0" err="1" smtClean="0"/>
              <a:t>Larmor</a:t>
            </a:r>
            <a:r>
              <a:rPr lang="en-US" sz="2400" dirty="0" smtClean="0"/>
              <a:t> </a:t>
            </a:r>
            <a:r>
              <a:rPr lang="en-US" sz="2400" dirty="0" err="1" smtClean="0"/>
              <a:t>fomula</a:t>
            </a:r>
            <a:r>
              <a:rPr lang="en-US" sz="2400" dirty="0" smtClean="0"/>
              <a:t> for calculating the </a:t>
            </a:r>
            <a:r>
              <a:rPr lang="en-US" sz="2400" dirty="0" err="1" smtClean="0"/>
              <a:t>radiative</a:t>
            </a:r>
            <a:r>
              <a:rPr lang="en-US" sz="2400" dirty="0" smtClean="0"/>
              <a:t> power loss of the accelerating charge. </a:t>
            </a:r>
            <a:endParaRPr lang="ko-KR" altLang="en-US" sz="2400" dirty="0"/>
          </a:p>
        </p:txBody>
      </p:sp>
      <p:graphicFrame>
        <p:nvGraphicFramePr>
          <p:cNvPr id="258062" name="Object 14"/>
          <p:cNvGraphicFramePr>
            <a:graphicFrameLocks noChangeAspect="1"/>
          </p:cNvGraphicFramePr>
          <p:nvPr/>
        </p:nvGraphicFramePr>
        <p:xfrm>
          <a:off x="4057650" y="2286000"/>
          <a:ext cx="1250950" cy="568325"/>
        </p:xfrm>
        <a:graphic>
          <a:graphicData uri="http://schemas.openxmlformats.org/presentationml/2006/ole">
            <p:oleObj spid="_x0000_s258062" name="Equation" r:id="rId3" imgW="838200" imgH="3810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533400"/>
            <a:ext cx="8305800" cy="5791200"/>
          </a:xfrm>
        </p:spPr>
        <p:txBody>
          <a:bodyPr>
            <a:normAutofit/>
          </a:bodyPr>
          <a:lstStyle/>
          <a:p>
            <a:r>
              <a:rPr lang="en-US" sz="2400" dirty="0" smtClean="0"/>
              <a:t>The oscillator strength is dimensionless and of order of unity. Classically it is the</a:t>
            </a:r>
            <a:r>
              <a:rPr lang="en-US" sz="2400" dirty="0" smtClean="0"/>
              <a:t> number </a:t>
            </a:r>
            <a:r>
              <a:rPr lang="en-US" sz="2400" dirty="0" smtClean="0"/>
              <a:t>of electrons in an atom that are associated with electron harmonic oscillators with a particular resonance frequency    </a:t>
            </a:r>
            <a:r>
              <a:rPr lang="en-US" sz="2400" dirty="0" smtClean="0"/>
              <a:t> among </a:t>
            </a:r>
            <a:r>
              <a:rPr lang="en-US" sz="2400" dirty="0" smtClean="0"/>
              <a:t>the total of</a:t>
            </a:r>
            <a:r>
              <a:rPr lang="en-US" sz="2400" dirty="0" smtClean="0"/>
              <a:t> </a:t>
            </a:r>
            <a:r>
              <a:rPr lang="en-US" sz="2400" i="1" dirty="0" smtClean="0"/>
              <a:t>Z</a:t>
            </a:r>
            <a:r>
              <a:rPr lang="en-US" sz="2400" dirty="0" smtClean="0"/>
              <a:t> (valence) electrons</a:t>
            </a:r>
            <a:r>
              <a:rPr lang="en-US" sz="2400" dirty="0" smtClean="0"/>
              <a:t>. Therefore, the sum of all oscillator strengths equals to</a:t>
            </a:r>
            <a:r>
              <a:rPr lang="en-US" sz="2400" dirty="0" smtClean="0"/>
              <a:t> </a:t>
            </a:r>
            <a:r>
              <a:rPr lang="en-US" sz="2400" i="1" dirty="0" smtClean="0"/>
              <a:t>Z</a:t>
            </a:r>
            <a:r>
              <a:rPr lang="en-US" sz="2400" dirty="0" smtClean="0"/>
              <a:t>. </a:t>
            </a:r>
            <a:endParaRPr lang="en-US" sz="2400" dirty="0" smtClean="0"/>
          </a:p>
          <a:p>
            <a:r>
              <a:rPr lang="en-US" sz="2400" dirty="0" smtClean="0"/>
              <a:t>Quantum mechanically, we have a similar sum rule. Consider the commutation relation for</a:t>
            </a:r>
            <a:r>
              <a:rPr lang="en-US" sz="2400" dirty="0" smtClean="0"/>
              <a:t> </a:t>
            </a:r>
            <a:r>
              <a:rPr lang="en-US" sz="2400" i="1" dirty="0" smtClean="0"/>
              <a:t>N</a:t>
            </a:r>
            <a:r>
              <a:rPr lang="en-US" sz="2400" dirty="0" smtClean="0"/>
              <a:t> </a:t>
            </a:r>
            <a:r>
              <a:rPr lang="en-US" sz="2400" dirty="0" smtClean="0"/>
              <a:t>electrons.</a:t>
            </a:r>
          </a:p>
          <a:p>
            <a:endParaRPr lang="en-US" altLang="ko-KR" sz="2400" dirty="0" smtClean="0"/>
          </a:p>
          <a:p>
            <a:endParaRPr lang="ko-KR" altLang="en-US" sz="2400" dirty="0" smtClean="0"/>
          </a:p>
          <a:p>
            <a:r>
              <a:rPr lang="en-US" sz="2400" dirty="0" smtClean="0"/>
              <a:t>Recalling the relation which was derived in Sec. 3.2,</a:t>
            </a:r>
            <a:endParaRPr lang="ko-KR" altLang="en-US" sz="2400" dirty="0"/>
          </a:p>
        </p:txBody>
      </p:sp>
      <p:graphicFrame>
        <p:nvGraphicFramePr>
          <p:cNvPr id="259075" name="Object 3"/>
          <p:cNvGraphicFramePr>
            <a:graphicFrameLocks noChangeAspect="1"/>
          </p:cNvGraphicFramePr>
          <p:nvPr/>
        </p:nvGraphicFramePr>
        <p:xfrm>
          <a:off x="6076950" y="1752600"/>
          <a:ext cx="292100" cy="273050"/>
        </p:xfrm>
        <a:graphic>
          <a:graphicData uri="http://schemas.openxmlformats.org/presentationml/2006/ole">
            <p:oleObj spid="_x0000_s259075" name="Equation" r:id="rId3" imgW="190500" imgH="177800" progId="Equation.3">
              <p:embed/>
            </p:oleObj>
          </a:graphicData>
        </a:graphic>
      </p:graphicFrame>
      <p:graphicFrame>
        <p:nvGraphicFramePr>
          <p:cNvPr id="259076" name="Object 4"/>
          <p:cNvGraphicFramePr>
            <a:graphicFrameLocks noChangeAspect="1"/>
          </p:cNvGraphicFramePr>
          <p:nvPr/>
        </p:nvGraphicFramePr>
        <p:xfrm>
          <a:off x="3370263" y="3724275"/>
          <a:ext cx="2708275" cy="695325"/>
        </p:xfrm>
        <a:graphic>
          <a:graphicData uri="http://schemas.openxmlformats.org/presentationml/2006/ole">
            <p:oleObj spid="_x0000_s259076" name="Equation" r:id="rId4" imgW="1778000" imgH="457200" progId="Equation.3">
              <p:embed/>
            </p:oleObj>
          </a:graphicData>
        </a:graphic>
      </p:graphicFrame>
      <p:graphicFrame>
        <p:nvGraphicFramePr>
          <p:cNvPr id="259077" name="Object 5"/>
          <p:cNvGraphicFramePr>
            <a:graphicFrameLocks noChangeAspect="1"/>
          </p:cNvGraphicFramePr>
          <p:nvPr/>
        </p:nvGraphicFramePr>
        <p:xfrm>
          <a:off x="2743200" y="5029200"/>
          <a:ext cx="3927475" cy="411163"/>
        </p:xfrm>
        <a:graphic>
          <a:graphicData uri="http://schemas.openxmlformats.org/presentationml/2006/ole">
            <p:oleObj spid="_x0000_s259077" name="Equation" r:id="rId5" imgW="2552700" imgH="266700" progId="Equation.3">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5791200"/>
          </a:xfrm>
        </p:spPr>
        <p:txBody>
          <a:bodyPr>
            <a:normAutofit/>
          </a:bodyPr>
          <a:lstStyle/>
          <a:p>
            <a:r>
              <a:rPr lang="en-US" sz="2200" dirty="0" smtClean="0"/>
              <a:t>we get</a:t>
            </a:r>
          </a:p>
          <a:p>
            <a:endParaRPr lang="en-US" sz="2200" dirty="0" smtClean="0"/>
          </a:p>
          <a:p>
            <a:endParaRPr lang="en-US" sz="2200" dirty="0" smtClean="0"/>
          </a:p>
          <a:p>
            <a:endParaRPr lang="en-US" altLang="ko-KR" sz="2200" dirty="0" smtClean="0"/>
          </a:p>
          <a:p>
            <a:endParaRPr lang="en-US" altLang="ko-KR" sz="2200" dirty="0" smtClean="0"/>
          </a:p>
          <a:p>
            <a:endParaRPr lang="en-US" altLang="ko-KR" sz="2200" dirty="0" smtClean="0"/>
          </a:p>
          <a:p>
            <a:endParaRPr lang="ko-KR" altLang="en-US" sz="2200" dirty="0" smtClean="0"/>
          </a:p>
          <a:p>
            <a:r>
              <a:rPr lang="en-US" sz="2200" dirty="0" smtClean="0"/>
              <a:t>Including the level degeneracy,</a:t>
            </a:r>
          </a:p>
          <a:p>
            <a:endParaRPr lang="en-US" sz="2200" dirty="0" smtClean="0"/>
          </a:p>
          <a:p>
            <a:endParaRPr lang="en-US" altLang="ko-KR" sz="2200" dirty="0" smtClean="0"/>
          </a:p>
          <a:p>
            <a:endParaRPr lang="en-US" altLang="ko-KR" sz="2200" dirty="0" smtClean="0"/>
          </a:p>
          <a:p>
            <a:pPr>
              <a:buNone/>
            </a:pPr>
            <a:endParaRPr lang="ko-KR" altLang="en-US" sz="2200" dirty="0" smtClean="0"/>
          </a:p>
          <a:p>
            <a:r>
              <a:rPr lang="en-US" sz="2200" dirty="0" smtClean="0"/>
              <a:t>W</a:t>
            </a:r>
            <a:r>
              <a:rPr lang="en-US" sz="2200" dirty="0" smtClean="0"/>
              <a:t>e </a:t>
            </a:r>
            <a:r>
              <a:rPr lang="en-US" sz="2200" dirty="0" smtClean="0"/>
              <a:t>get the sum rule for the oscillator strength:</a:t>
            </a:r>
            <a:endParaRPr lang="ko-KR" altLang="en-US" sz="2200" dirty="0"/>
          </a:p>
        </p:txBody>
      </p:sp>
      <p:graphicFrame>
        <p:nvGraphicFramePr>
          <p:cNvPr id="260101" name="Object 5"/>
          <p:cNvGraphicFramePr>
            <a:graphicFrameLocks noChangeAspect="1"/>
          </p:cNvGraphicFramePr>
          <p:nvPr/>
        </p:nvGraphicFramePr>
        <p:xfrm>
          <a:off x="896938" y="976313"/>
          <a:ext cx="7377112" cy="2166937"/>
        </p:xfrm>
        <a:graphic>
          <a:graphicData uri="http://schemas.openxmlformats.org/presentationml/2006/ole">
            <p:oleObj spid="_x0000_s260101" name="Equation" r:id="rId3" imgW="4927600" imgH="1447800" progId="Equation.3">
              <p:embed/>
            </p:oleObj>
          </a:graphicData>
        </a:graphic>
      </p:graphicFrame>
      <p:graphicFrame>
        <p:nvGraphicFramePr>
          <p:cNvPr id="260102" name="Object 6"/>
          <p:cNvGraphicFramePr>
            <a:graphicFrameLocks noChangeAspect="1"/>
          </p:cNvGraphicFramePr>
          <p:nvPr/>
        </p:nvGraphicFramePr>
        <p:xfrm>
          <a:off x="762000" y="3733800"/>
          <a:ext cx="7667625" cy="1423988"/>
        </p:xfrm>
        <a:graphic>
          <a:graphicData uri="http://schemas.openxmlformats.org/presentationml/2006/ole">
            <p:oleObj spid="_x0000_s260102" name="Equation" r:id="rId4" imgW="5130800" imgH="952500" progId="Equation.3">
              <p:embed/>
            </p:oleObj>
          </a:graphicData>
        </a:graphic>
      </p:graphicFrame>
      <p:graphicFrame>
        <p:nvGraphicFramePr>
          <p:cNvPr id="260103" name="Object 7"/>
          <p:cNvGraphicFramePr>
            <a:graphicFrameLocks noChangeAspect="1"/>
          </p:cNvGraphicFramePr>
          <p:nvPr/>
        </p:nvGraphicFramePr>
        <p:xfrm>
          <a:off x="4246563" y="5791200"/>
          <a:ext cx="958850" cy="546100"/>
        </p:xfrm>
        <a:graphic>
          <a:graphicData uri="http://schemas.openxmlformats.org/presentationml/2006/ole">
            <p:oleObj spid="_x0000_s260103" name="Equation" r:id="rId5" imgW="647700" imgH="3683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6096000"/>
          </a:xfrm>
        </p:spPr>
        <p:txBody>
          <a:bodyPr>
            <a:noAutofit/>
          </a:bodyPr>
          <a:lstStyle/>
          <a:p>
            <a:r>
              <a:rPr lang="en-US" sz="2400" dirty="0" smtClean="0"/>
              <a:t>Note that the summation is over all final states, which can be the states with both lower and higher energies. Therefore, the oscillator strength entering in the sum rule can have both positive and negative signs (see </a:t>
            </a:r>
            <a:r>
              <a:rPr lang="en-US" sz="2400" b="1" dirty="0" smtClean="0"/>
              <a:t>Fig. 2</a:t>
            </a:r>
            <a:r>
              <a:rPr lang="en-US" sz="2400" dirty="0" smtClean="0"/>
              <a:t>).</a:t>
            </a:r>
            <a:r>
              <a:rPr lang="ko-KR" altLang="en-US" sz="2400" dirty="0" smtClean="0"/>
              <a:t> </a:t>
            </a:r>
            <a:r>
              <a:rPr lang="en-US" sz="2400" dirty="0" smtClean="0"/>
              <a:t> </a:t>
            </a:r>
            <a:endParaRPr lang="ko-KR" altLang="en-US" sz="2400" dirty="0" smtClean="0"/>
          </a:p>
          <a:p>
            <a:pPr>
              <a:buNone/>
            </a:pPr>
            <a:r>
              <a:rPr lang="en-US" sz="2400" dirty="0" smtClean="0"/>
              <a:t> </a:t>
            </a:r>
            <a:endParaRPr lang="ko-KR" altLang="en-US" sz="2400" dirty="0" smtClean="0"/>
          </a:p>
          <a:p>
            <a:endParaRPr lang="en-US" altLang="ko-KR" sz="2400" dirty="0" smtClean="0"/>
          </a:p>
          <a:p>
            <a:endParaRPr lang="ko-KR" altLang="en-US" sz="2400" dirty="0" smtClean="0"/>
          </a:p>
          <a:p>
            <a:pPr>
              <a:buNone/>
            </a:pPr>
            <a:endParaRPr lang="en-US" altLang="ko-KR" sz="2400" dirty="0" smtClean="0"/>
          </a:p>
          <a:p>
            <a:pPr>
              <a:buNone/>
            </a:pPr>
            <a:endParaRPr lang="en-US" altLang="ko-KR" sz="2400" dirty="0" smtClean="0"/>
          </a:p>
          <a:p>
            <a:pPr>
              <a:buNone/>
            </a:pPr>
            <a:endParaRPr lang="ko-KR" altLang="en-US" sz="2400" dirty="0" smtClean="0"/>
          </a:p>
          <a:p>
            <a:pPr>
              <a:buNone/>
            </a:pPr>
            <a:endParaRPr lang="ko-KR" altLang="en-US" sz="2400" dirty="0" smtClean="0"/>
          </a:p>
          <a:p>
            <a:pPr>
              <a:buNone/>
            </a:pPr>
            <a:endParaRPr lang="ko-KR" altLang="en-US" sz="2400" dirty="0" smtClean="0"/>
          </a:p>
          <a:p>
            <a:r>
              <a:rPr lang="en-US" sz="2400" b="1" dirty="0" smtClean="0"/>
              <a:t>Fig. 2</a:t>
            </a:r>
            <a:r>
              <a:rPr lang="en-US" sz="2400" dirty="0" smtClean="0"/>
              <a:t>. Sum rule states that , where the first three have a positive sign (absorption) and the fourth has a negative sign (emission).</a:t>
            </a:r>
            <a:endParaRPr lang="ko-KR" altLang="en-US" sz="2400" dirty="0"/>
          </a:p>
        </p:txBody>
      </p:sp>
      <p:pic>
        <p:nvPicPr>
          <p:cNvPr id="4" name="Picture 3" descr="fig2.tiff"/>
          <p:cNvPicPr>
            <a:picLocks noChangeAspect="1"/>
          </p:cNvPicPr>
          <p:nvPr/>
        </p:nvPicPr>
        <p:blipFill>
          <a:blip r:embed="rId2"/>
          <a:stretch>
            <a:fillRect/>
          </a:stretch>
        </p:blipFill>
        <p:spPr>
          <a:xfrm>
            <a:off x="1803400" y="2296054"/>
            <a:ext cx="5588000" cy="311414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228600"/>
            <a:ext cx="8305800" cy="6096000"/>
          </a:xfrm>
        </p:spPr>
        <p:txBody>
          <a:bodyPr>
            <a:noAutofit/>
          </a:bodyPr>
          <a:lstStyle/>
          <a:p>
            <a:pPr>
              <a:buNone/>
            </a:pPr>
            <a:r>
              <a:rPr lang="en-US" sz="3200" i="1" dirty="0" smtClean="0">
                <a:latin typeface="Times New Roman"/>
                <a:cs typeface="Times New Roman"/>
              </a:rPr>
              <a:t>Real World Examples – Rubidium and Barium</a:t>
            </a:r>
            <a:endParaRPr lang="ko-KR" altLang="en-US" sz="3200" i="1" dirty="0" smtClean="0">
              <a:latin typeface="Times New Roman"/>
              <a:cs typeface="Times New Roman"/>
            </a:endParaRPr>
          </a:p>
          <a:p>
            <a:pPr>
              <a:buNone/>
            </a:pPr>
            <a:endParaRPr lang="en-US" sz="1100" dirty="0" smtClean="0"/>
          </a:p>
          <a:p>
            <a:r>
              <a:rPr lang="en-US" sz="2400" dirty="0" smtClean="0"/>
              <a:t>Energy-levels and transition diagrams have been indispensable in atomic physics researches. The pioneering work by </a:t>
            </a:r>
            <a:r>
              <a:rPr lang="en-US" sz="2400" dirty="0" err="1" smtClean="0"/>
              <a:t>Grotrian</a:t>
            </a:r>
            <a:r>
              <a:rPr lang="en-US" sz="2400" dirty="0" smtClean="0"/>
              <a:t> has made his name associated with pictorial representations of electronic transitions. Here we have two real-world examples, rubidium (Fig. 3) and barium (Fig. 4). Both atoms have been widely used in atomic physic and quantum optics researches because of their simple energy level structures, strong transitions in the visible range and the absence of hyperfine structures for the most abundant isotopes (for barium). The reader may be surprised by the fact that we still do not know the oscillator strengths (or transition rate) of most of the transition lines of these popular atoms.</a:t>
            </a:r>
            <a:endParaRPr lang="ko-KR" altLang="en-US" sz="2400" dirty="0" smtClean="0"/>
          </a:p>
        </p:txBody>
      </p:sp>
      <p:sp>
        <p:nvSpPr>
          <p:cNvPr id="4" name="Rectangle 3"/>
          <p:cNvSpPr/>
          <p:nvPr/>
        </p:nvSpPr>
        <p:spPr>
          <a:xfrm>
            <a:off x="887187" y="6367046"/>
            <a:ext cx="8305800" cy="338554"/>
          </a:xfrm>
          <a:prstGeom prst="rect">
            <a:avLst/>
          </a:prstGeom>
        </p:spPr>
        <p:txBody>
          <a:bodyPr wrap="square">
            <a:spAutoFit/>
          </a:bodyPr>
          <a:lstStyle/>
          <a:p>
            <a:r>
              <a:rPr lang="en-US" sz="1600" dirty="0" smtClean="0"/>
              <a:t>W. </a:t>
            </a:r>
            <a:r>
              <a:rPr lang="en-US" sz="1600" dirty="0" err="1" smtClean="0"/>
              <a:t>Grotrian</a:t>
            </a:r>
            <a:r>
              <a:rPr lang="en-US" sz="1600" dirty="0" smtClean="0"/>
              <a:t>, “</a:t>
            </a:r>
            <a:r>
              <a:rPr lang="en-US" sz="1600" dirty="0" err="1" smtClean="0"/>
              <a:t>Graphische</a:t>
            </a:r>
            <a:r>
              <a:rPr lang="en-US" sz="1600" dirty="0" smtClean="0"/>
              <a:t> </a:t>
            </a:r>
            <a:r>
              <a:rPr lang="en-US" sz="1600" dirty="0" err="1" smtClean="0"/>
              <a:t>Darstellung</a:t>
            </a:r>
            <a:r>
              <a:rPr lang="en-US" sz="1600" dirty="0" smtClean="0"/>
              <a:t> </a:t>
            </a:r>
            <a:r>
              <a:rPr lang="en-US" sz="1600" dirty="0" err="1" smtClean="0"/>
              <a:t>der</a:t>
            </a:r>
            <a:r>
              <a:rPr lang="en-US" sz="1600" dirty="0" smtClean="0"/>
              <a:t> </a:t>
            </a:r>
            <a:r>
              <a:rPr lang="en-US" sz="1600" dirty="0" err="1" smtClean="0"/>
              <a:t>Spektren</a:t>
            </a:r>
            <a:r>
              <a:rPr lang="en-US" sz="1600" dirty="0" smtClean="0"/>
              <a:t>”, J. Springer (Berlin 1928).</a:t>
            </a:r>
            <a:endParaRPr lang="ja-JP" altLang="en-US" sz="16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6096000"/>
          </a:xfrm>
        </p:spPr>
        <p:txBody>
          <a:bodyPr>
            <a:noAutofit/>
          </a:bodyPr>
          <a:lstStyle/>
          <a:p>
            <a:pPr>
              <a:buNone/>
            </a:pPr>
            <a:r>
              <a:rPr lang="en-US" sz="4000" b="1" dirty="0" smtClean="0">
                <a:latin typeface="Arial"/>
                <a:cs typeface="Arial"/>
              </a:rPr>
              <a:t>Example 1</a:t>
            </a:r>
            <a:r>
              <a:rPr lang="en-US" sz="4000" dirty="0" smtClean="0">
                <a:latin typeface="Arial"/>
                <a:cs typeface="Arial"/>
              </a:rPr>
              <a:t> </a:t>
            </a:r>
          </a:p>
          <a:p>
            <a:endParaRPr lang="en-US" sz="1100" dirty="0" smtClean="0"/>
          </a:p>
          <a:p>
            <a:r>
              <a:rPr lang="en-US" sz="2400" dirty="0" smtClean="0"/>
              <a:t>Rubidium (</a:t>
            </a:r>
            <a:r>
              <a:rPr lang="en-US" sz="2400" i="1" dirty="0" smtClean="0"/>
              <a:t>Z</a:t>
            </a:r>
            <a:r>
              <a:rPr lang="en-US" sz="2400" dirty="0" smtClean="0"/>
              <a:t>=37) is alkali metal, having one valence electron in the 5s shell. The ground state configuration is 1</a:t>
            </a:r>
            <a:r>
              <a:rPr lang="en-US" sz="2400" i="1" dirty="0" smtClean="0"/>
              <a:t>s</a:t>
            </a:r>
            <a:r>
              <a:rPr lang="en-US" sz="2400" baseline="30000" dirty="0" smtClean="0"/>
              <a:t>2</a:t>
            </a:r>
            <a:r>
              <a:rPr lang="en-US" sz="2400" dirty="0" smtClean="0"/>
              <a:t>2</a:t>
            </a:r>
            <a:r>
              <a:rPr lang="en-US" sz="2400" i="1" dirty="0" smtClean="0"/>
              <a:t>s</a:t>
            </a:r>
            <a:r>
              <a:rPr lang="en-US" sz="2400" baseline="30000" dirty="0" smtClean="0"/>
              <a:t>2</a:t>
            </a:r>
            <a:r>
              <a:rPr lang="en-US" sz="2400" dirty="0" smtClean="0"/>
              <a:t>2</a:t>
            </a:r>
            <a:r>
              <a:rPr lang="en-US" sz="2400" i="1" dirty="0" smtClean="0"/>
              <a:t>p</a:t>
            </a:r>
            <a:r>
              <a:rPr lang="en-US" sz="2400" baseline="30000" dirty="0" smtClean="0"/>
              <a:t>6</a:t>
            </a:r>
            <a:r>
              <a:rPr lang="en-US" sz="2400" dirty="0" smtClean="0"/>
              <a:t>3</a:t>
            </a:r>
            <a:r>
              <a:rPr lang="en-US" sz="2400" i="1" dirty="0" smtClean="0"/>
              <a:t>s</a:t>
            </a:r>
            <a:r>
              <a:rPr lang="en-US" sz="2400" baseline="30000" dirty="0" smtClean="0"/>
              <a:t>2</a:t>
            </a:r>
            <a:r>
              <a:rPr lang="en-US" sz="2400" dirty="0" smtClean="0"/>
              <a:t>3</a:t>
            </a:r>
            <a:r>
              <a:rPr lang="en-US" sz="2400" i="1" dirty="0" smtClean="0"/>
              <a:t>p</a:t>
            </a:r>
            <a:r>
              <a:rPr lang="en-US" sz="2400" baseline="30000" dirty="0" smtClean="0"/>
              <a:t>6</a:t>
            </a:r>
            <a:r>
              <a:rPr lang="en-US" sz="2400" dirty="0" smtClean="0"/>
              <a:t>3</a:t>
            </a:r>
            <a:r>
              <a:rPr lang="en-US" sz="2400" i="1" dirty="0" smtClean="0"/>
              <a:t>d</a:t>
            </a:r>
            <a:r>
              <a:rPr lang="en-US" sz="2400" baseline="30000" dirty="0" smtClean="0"/>
              <a:t>10</a:t>
            </a:r>
            <a:r>
              <a:rPr lang="en-US" sz="2400" dirty="0" smtClean="0"/>
              <a:t>4</a:t>
            </a:r>
            <a:r>
              <a:rPr lang="en-US" sz="2400" i="1" dirty="0" smtClean="0"/>
              <a:t>s</a:t>
            </a:r>
            <a:r>
              <a:rPr lang="en-US" sz="2400" baseline="30000" dirty="0" smtClean="0"/>
              <a:t>2</a:t>
            </a:r>
            <a:r>
              <a:rPr lang="en-US" sz="2400" dirty="0" smtClean="0"/>
              <a:t>4</a:t>
            </a:r>
            <a:r>
              <a:rPr lang="en-US" sz="2400" i="1" dirty="0" smtClean="0"/>
              <a:t>p</a:t>
            </a:r>
            <a:r>
              <a:rPr lang="en-US" sz="2400" baseline="30000" dirty="0" smtClean="0"/>
              <a:t>6</a:t>
            </a:r>
            <a:r>
              <a:rPr lang="en-US" sz="2400" dirty="0" smtClean="0"/>
              <a:t>5</a:t>
            </a:r>
            <a:r>
              <a:rPr lang="en-US" sz="2400" i="1" dirty="0" smtClean="0"/>
              <a:t>s</a:t>
            </a:r>
            <a:r>
              <a:rPr lang="en-US" sz="2400" dirty="0" smtClean="0"/>
              <a:t>. Its term is </a:t>
            </a:r>
            <a:r>
              <a:rPr lang="en-US" sz="2400" baseline="30000" dirty="0" smtClean="0"/>
              <a:t>2</a:t>
            </a:r>
            <a:r>
              <a:rPr lang="en-US" sz="2400" i="1" dirty="0" smtClean="0"/>
              <a:t>S</a:t>
            </a:r>
            <a:r>
              <a:rPr lang="en-US" sz="2400" baseline="-25000" dirty="0" smtClean="0"/>
              <a:t>1/2</a:t>
            </a:r>
            <a:r>
              <a:rPr lang="en-US" sz="2400" dirty="0" smtClean="0"/>
              <a:t> (</a:t>
            </a:r>
            <a:r>
              <a:rPr lang="en-US" sz="2400" i="1" dirty="0" smtClean="0"/>
              <a:t>L</a:t>
            </a:r>
            <a:r>
              <a:rPr lang="en-US" sz="2400" dirty="0" smtClean="0"/>
              <a:t>=0, </a:t>
            </a:r>
            <a:r>
              <a:rPr lang="en-US" sz="2400" i="1" dirty="0" smtClean="0"/>
              <a:t>S</a:t>
            </a:r>
            <a:r>
              <a:rPr lang="en-US" sz="2400" dirty="0" smtClean="0"/>
              <a:t>=1/2, </a:t>
            </a:r>
            <a:r>
              <a:rPr lang="en-US" sz="2400" i="1" dirty="0" smtClean="0"/>
              <a:t>J</a:t>
            </a:r>
            <a:r>
              <a:rPr lang="en-US" sz="2400" dirty="0" smtClean="0"/>
              <a:t>=1/2) and thus the absorption from the ground state takes place to </a:t>
            </a:r>
            <a:r>
              <a:rPr lang="en-US" sz="2400" baseline="30000" dirty="0" smtClean="0"/>
              <a:t>2</a:t>
            </a:r>
            <a:r>
              <a:rPr lang="en-US" sz="2400" i="1" dirty="0" smtClean="0"/>
              <a:t>P</a:t>
            </a:r>
            <a:r>
              <a:rPr lang="en-US" sz="2400" baseline="-25000" dirty="0" smtClean="0"/>
              <a:t>1/2</a:t>
            </a:r>
            <a:r>
              <a:rPr lang="en-US" sz="2400" dirty="0" smtClean="0"/>
              <a:t> and </a:t>
            </a:r>
            <a:r>
              <a:rPr lang="en-US" sz="2400" baseline="30000" dirty="0" smtClean="0"/>
              <a:t>2</a:t>
            </a:r>
            <a:r>
              <a:rPr lang="en-US" sz="2400" i="1" dirty="0" smtClean="0"/>
              <a:t>P</a:t>
            </a:r>
            <a:r>
              <a:rPr lang="en-US" sz="2400" baseline="-25000" dirty="0" smtClean="0"/>
              <a:t>3/2</a:t>
            </a:r>
            <a:r>
              <a:rPr lang="en-US" sz="2400" dirty="0" smtClean="0"/>
              <a:t> (D2 and D1 lines). The sum of all oscillator strengths amounts to</a:t>
            </a:r>
            <a:endParaRPr lang="ko-KR" altLang="en-US" sz="2400" dirty="0" smtClean="0"/>
          </a:p>
          <a:p>
            <a:pPr>
              <a:buNone/>
            </a:pPr>
            <a:endParaRPr lang="en-US" altLang="ko-KR" sz="2400" dirty="0" smtClean="0"/>
          </a:p>
          <a:p>
            <a:pPr>
              <a:buNone/>
            </a:pPr>
            <a:endParaRPr lang="ko-KR" altLang="en-US" sz="2400" dirty="0" smtClean="0"/>
          </a:p>
          <a:p>
            <a:r>
              <a:rPr lang="en-US" sz="2400" dirty="0" smtClean="0"/>
              <a:t>The </a:t>
            </a:r>
            <a:r>
              <a:rPr lang="en-US" sz="2400" dirty="0" smtClean="0"/>
              <a:t>transition                   at </a:t>
            </a:r>
            <a:r>
              <a:rPr lang="en-US" sz="2400" dirty="0" smtClean="0"/>
              <a:t>780 nm is one of the most explored lines along with sodium’s 590 nm doublet lines (                  ) in atomic physics.</a:t>
            </a:r>
            <a:endParaRPr lang="ko-KR" altLang="en-US" sz="2400" dirty="0" smtClean="0"/>
          </a:p>
          <a:p>
            <a:endParaRPr lang="ko-KR" altLang="en-US" sz="2400" dirty="0"/>
          </a:p>
        </p:txBody>
      </p:sp>
      <p:graphicFrame>
        <p:nvGraphicFramePr>
          <p:cNvPr id="263170" name="Object 2"/>
          <p:cNvGraphicFramePr>
            <a:graphicFrameLocks noChangeAspect="1"/>
          </p:cNvGraphicFramePr>
          <p:nvPr/>
        </p:nvGraphicFramePr>
        <p:xfrm>
          <a:off x="1295400" y="3724729"/>
          <a:ext cx="6477000" cy="539750"/>
        </p:xfrm>
        <a:graphic>
          <a:graphicData uri="http://schemas.openxmlformats.org/presentationml/2006/ole">
            <p:oleObj spid="_x0000_s263170" name="Equation" r:id="rId3" imgW="4279900" imgH="355600" progId="Equation.3">
              <p:embed/>
            </p:oleObj>
          </a:graphicData>
        </a:graphic>
      </p:graphicFrame>
      <p:graphicFrame>
        <p:nvGraphicFramePr>
          <p:cNvPr id="263171" name="Object 3"/>
          <p:cNvGraphicFramePr>
            <a:graphicFrameLocks noChangeAspect="1"/>
          </p:cNvGraphicFramePr>
          <p:nvPr/>
        </p:nvGraphicFramePr>
        <p:xfrm>
          <a:off x="3016250" y="4519613"/>
          <a:ext cx="1212850" cy="303212"/>
        </p:xfrm>
        <a:graphic>
          <a:graphicData uri="http://schemas.openxmlformats.org/presentationml/2006/ole">
            <p:oleObj spid="_x0000_s263171" name="Equation" r:id="rId4" imgW="812800" imgH="203200" progId="Equation.3">
              <p:embed/>
            </p:oleObj>
          </a:graphicData>
        </a:graphic>
      </p:graphicFrame>
      <p:graphicFrame>
        <p:nvGraphicFramePr>
          <p:cNvPr id="263172" name="Object 4"/>
          <p:cNvGraphicFramePr>
            <a:graphicFrameLocks noChangeAspect="1"/>
          </p:cNvGraphicFramePr>
          <p:nvPr/>
        </p:nvGraphicFramePr>
        <p:xfrm>
          <a:off x="1066800" y="5255079"/>
          <a:ext cx="1485900" cy="347663"/>
        </p:xfrm>
        <a:graphic>
          <a:graphicData uri="http://schemas.openxmlformats.org/presentationml/2006/ole">
            <p:oleObj spid="_x0000_s263172" name="Equation" r:id="rId5" imgW="977900" imgH="228600" progId="Equation.3">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381000"/>
            <a:ext cx="8305800" cy="6096000"/>
          </a:xfrm>
        </p:spPr>
        <p:txBody>
          <a:bodyPr>
            <a:noAutofit/>
          </a:bodyPr>
          <a:lstStyle/>
          <a:p>
            <a:pPr>
              <a:buNone/>
            </a:pPr>
            <a:r>
              <a:rPr lang="en-US" sz="4000" b="1" dirty="0" smtClean="0">
                <a:latin typeface="Arial"/>
                <a:cs typeface="Arial"/>
              </a:rPr>
              <a:t>Example 2</a:t>
            </a:r>
            <a:endParaRPr lang="en-US" sz="4000" dirty="0" smtClean="0">
              <a:latin typeface="Arial"/>
              <a:cs typeface="Arial"/>
            </a:endParaRPr>
          </a:p>
          <a:p>
            <a:endParaRPr lang="en-US" sz="1050" dirty="0" smtClean="0"/>
          </a:p>
          <a:p>
            <a:r>
              <a:rPr lang="en-US" sz="2400" dirty="0" smtClean="0"/>
              <a:t>Barium (</a:t>
            </a:r>
            <a:r>
              <a:rPr lang="en-US" sz="2400" i="1" dirty="0" smtClean="0"/>
              <a:t>Z</a:t>
            </a:r>
            <a:r>
              <a:rPr lang="en-US" sz="2400" dirty="0" smtClean="0"/>
              <a:t>=56) is alkaline earth metal, having two valence electrons in the 6s shell. The ground state configuration is 1</a:t>
            </a:r>
            <a:r>
              <a:rPr lang="en-US" sz="2400" i="1" dirty="0" smtClean="0"/>
              <a:t>s</a:t>
            </a:r>
            <a:r>
              <a:rPr lang="en-US" sz="2400" baseline="30000" dirty="0" smtClean="0"/>
              <a:t>2</a:t>
            </a:r>
            <a:r>
              <a:rPr lang="en-US" sz="2400" dirty="0" smtClean="0"/>
              <a:t>2</a:t>
            </a:r>
            <a:r>
              <a:rPr lang="en-US" sz="2400" i="1" dirty="0" smtClean="0"/>
              <a:t>s</a:t>
            </a:r>
            <a:r>
              <a:rPr lang="en-US" sz="2400" baseline="30000" dirty="0" smtClean="0"/>
              <a:t>2</a:t>
            </a:r>
            <a:r>
              <a:rPr lang="en-US" sz="2400" dirty="0" smtClean="0"/>
              <a:t>2</a:t>
            </a:r>
            <a:r>
              <a:rPr lang="en-US" sz="2400" i="1" dirty="0" smtClean="0"/>
              <a:t>p</a:t>
            </a:r>
            <a:r>
              <a:rPr lang="en-US" sz="2400" baseline="30000" dirty="0" smtClean="0"/>
              <a:t>6</a:t>
            </a:r>
            <a:r>
              <a:rPr lang="en-US" sz="2400" dirty="0" smtClean="0"/>
              <a:t>3</a:t>
            </a:r>
            <a:r>
              <a:rPr lang="en-US" sz="2400" i="1" dirty="0" smtClean="0"/>
              <a:t>s</a:t>
            </a:r>
            <a:r>
              <a:rPr lang="en-US" sz="2400" baseline="30000" dirty="0" smtClean="0"/>
              <a:t>2</a:t>
            </a:r>
            <a:r>
              <a:rPr lang="en-US" sz="2400" dirty="0" smtClean="0"/>
              <a:t>3</a:t>
            </a:r>
            <a:r>
              <a:rPr lang="en-US" sz="2400" i="1" dirty="0" smtClean="0"/>
              <a:t>p</a:t>
            </a:r>
            <a:r>
              <a:rPr lang="en-US" sz="2400" baseline="30000" dirty="0" smtClean="0"/>
              <a:t>6</a:t>
            </a:r>
            <a:r>
              <a:rPr lang="en-US" sz="2400" dirty="0" smtClean="0"/>
              <a:t>3</a:t>
            </a:r>
            <a:r>
              <a:rPr lang="en-US" sz="2400" i="1" dirty="0" smtClean="0"/>
              <a:t>d</a:t>
            </a:r>
            <a:r>
              <a:rPr lang="en-US" sz="2400" baseline="30000" dirty="0" smtClean="0"/>
              <a:t>10</a:t>
            </a:r>
            <a:r>
              <a:rPr lang="en-US" sz="2400" dirty="0" smtClean="0"/>
              <a:t>4</a:t>
            </a:r>
            <a:r>
              <a:rPr lang="en-US" sz="2400" i="1" dirty="0" smtClean="0"/>
              <a:t>s</a:t>
            </a:r>
            <a:r>
              <a:rPr lang="en-US" sz="2400" baseline="30000" dirty="0" smtClean="0"/>
              <a:t>2</a:t>
            </a:r>
            <a:r>
              <a:rPr lang="en-US" sz="2400" dirty="0" smtClean="0"/>
              <a:t>4</a:t>
            </a:r>
            <a:r>
              <a:rPr lang="en-US" sz="2400" i="1" dirty="0" smtClean="0"/>
              <a:t>p</a:t>
            </a:r>
            <a:r>
              <a:rPr lang="en-US" sz="2400" baseline="30000" dirty="0" smtClean="0"/>
              <a:t>6</a:t>
            </a:r>
            <a:r>
              <a:rPr lang="en-US" sz="2400" dirty="0" smtClean="0"/>
              <a:t>4</a:t>
            </a:r>
            <a:r>
              <a:rPr lang="en-US" sz="2400" i="1" dirty="0" smtClean="0"/>
              <a:t>d</a:t>
            </a:r>
            <a:r>
              <a:rPr lang="en-US" sz="2400" baseline="30000" dirty="0" smtClean="0"/>
              <a:t>10</a:t>
            </a:r>
            <a:r>
              <a:rPr lang="en-US" sz="2400" dirty="0" smtClean="0"/>
              <a:t>5</a:t>
            </a:r>
            <a:r>
              <a:rPr lang="en-US" sz="2400" i="1" dirty="0" smtClean="0"/>
              <a:t>s</a:t>
            </a:r>
            <a:r>
              <a:rPr lang="en-US" sz="2400" baseline="30000" dirty="0" smtClean="0"/>
              <a:t>2</a:t>
            </a:r>
            <a:r>
              <a:rPr lang="en-US" sz="2400" dirty="0" smtClean="0"/>
              <a:t>5</a:t>
            </a:r>
            <a:r>
              <a:rPr lang="en-US" sz="2400" i="1" dirty="0" smtClean="0"/>
              <a:t>p</a:t>
            </a:r>
            <a:r>
              <a:rPr lang="en-US" sz="2400" baseline="30000" dirty="0" smtClean="0"/>
              <a:t>6</a:t>
            </a:r>
            <a:r>
              <a:rPr lang="en-US" sz="2400" dirty="0" smtClean="0"/>
              <a:t>5</a:t>
            </a:r>
            <a:r>
              <a:rPr lang="en-US" sz="2400" i="1" dirty="0" smtClean="0"/>
              <a:t>d</a:t>
            </a:r>
            <a:r>
              <a:rPr lang="en-US" sz="2400" baseline="30000" dirty="0" smtClean="0"/>
              <a:t>10</a:t>
            </a:r>
            <a:r>
              <a:rPr lang="en-US" sz="2400" dirty="0" smtClean="0"/>
              <a:t>6</a:t>
            </a:r>
            <a:r>
              <a:rPr lang="en-US" sz="2400" i="1" dirty="0" smtClean="0"/>
              <a:t>s</a:t>
            </a:r>
            <a:r>
              <a:rPr lang="en-US" sz="2400" baseline="30000" dirty="0" smtClean="0"/>
              <a:t>2</a:t>
            </a:r>
            <a:r>
              <a:rPr lang="en-US" sz="2400" dirty="0" smtClean="0"/>
              <a:t>. Its term is </a:t>
            </a:r>
            <a:r>
              <a:rPr lang="en-US" sz="2400" baseline="30000" dirty="0" smtClean="0"/>
              <a:t>1</a:t>
            </a:r>
            <a:r>
              <a:rPr lang="en-US" sz="2400" dirty="0" smtClean="0"/>
              <a:t>S</a:t>
            </a:r>
            <a:r>
              <a:rPr lang="en-US" sz="2400" baseline="-25000" dirty="0" smtClean="0"/>
              <a:t>0</a:t>
            </a:r>
            <a:r>
              <a:rPr lang="en-US" sz="2400" dirty="0" smtClean="0"/>
              <a:t> (closed shell, </a:t>
            </a:r>
            <a:r>
              <a:rPr lang="en-US" sz="2400" i="1" dirty="0" smtClean="0"/>
              <a:t>L</a:t>
            </a:r>
            <a:r>
              <a:rPr lang="en-US" sz="2400" dirty="0" smtClean="0"/>
              <a:t>=0, </a:t>
            </a:r>
            <a:r>
              <a:rPr lang="en-US" sz="2400" i="1" dirty="0" smtClean="0"/>
              <a:t>S</a:t>
            </a:r>
            <a:r>
              <a:rPr lang="en-US" sz="2400" dirty="0" smtClean="0"/>
              <a:t>=0, </a:t>
            </a:r>
            <a:r>
              <a:rPr lang="en-US" sz="2400" i="1" dirty="0" smtClean="0"/>
              <a:t>J</a:t>
            </a:r>
            <a:r>
              <a:rPr lang="en-US" sz="2400" dirty="0" smtClean="0"/>
              <a:t>=0). The spin orbit interaction allows transitions between different </a:t>
            </a:r>
            <a:r>
              <a:rPr lang="en-US" sz="2400" i="1" dirty="0" smtClean="0"/>
              <a:t>S</a:t>
            </a:r>
            <a:r>
              <a:rPr lang="en-US" sz="2400" dirty="0" smtClean="0"/>
              <a:t> values. E1 transitions can occur from </a:t>
            </a:r>
            <a:r>
              <a:rPr lang="en-US" sz="2400" baseline="30000" dirty="0" smtClean="0"/>
              <a:t>1</a:t>
            </a:r>
            <a:r>
              <a:rPr lang="en-US" sz="2400" i="1" dirty="0" smtClean="0"/>
              <a:t>S</a:t>
            </a:r>
            <a:r>
              <a:rPr lang="en-US" sz="2400" baseline="-25000" dirty="0" smtClean="0"/>
              <a:t>0</a:t>
            </a:r>
            <a:r>
              <a:rPr lang="en-US" sz="2400" dirty="0" smtClean="0"/>
              <a:t> to </a:t>
            </a:r>
            <a:r>
              <a:rPr lang="en-US" sz="2400" baseline="30000" dirty="0" smtClean="0"/>
              <a:t>1</a:t>
            </a:r>
            <a:r>
              <a:rPr lang="en-US" sz="2400" i="1" dirty="0" smtClean="0"/>
              <a:t>P</a:t>
            </a:r>
            <a:r>
              <a:rPr lang="en-US" sz="2400" baseline="-25000" dirty="0" smtClean="0"/>
              <a:t>1</a:t>
            </a:r>
            <a:r>
              <a:rPr lang="en-US" sz="2400" dirty="0" smtClean="0"/>
              <a:t> and </a:t>
            </a:r>
            <a:r>
              <a:rPr lang="en-US" sz="2400" baseline="30000" dirty="0" smtClean="0"/>
              <a:t>3</a:t>
            </a:r>
            <a:r>
              <a:rPr lang="en-US" sz="2400" i="1" dirty="0" smtClean="0"/>
              <a:t>P</a:t>
            </a:r>
            <a:r>
              <a:rPr lang="en-US" sz="2400" baseline="-25000" dirty="0" smtClean="0"/>
              <a:t>1</a:t>
            </a:r>
            <a:r>
              <a:rPr lang="en-US" sz="2400" dirty="0" smtClean="0"/>
              <a:t>. The E1 Selection rule forbids transitions to </a:t>
            </a:r>
            <a:r>
              <a:rPr lang="en-US" sz="2400" baseline="30000" dirty="0" smtClean="0"/>
              <a:t>3</a:t>
            </a:r>
            <a:r>
              <a:rPr lang="en-US" sz="2400" i="1" dirty="0" smtClean="0"/>
              <a:t>P</a:t>
            </a:r>
            <a:r>
              <a:rPr lang="en-US" sz="2400" baseline="-25000" dirty="0" smtClean="0"/>
              <a:t>0</a:t>
            </a:r>
            <a:r>
              <a:rPr lang="en-US" sz="2400" dirty="0" smtClean="0"/>
              <a:t>, </a:t>
            </a:r>
            <a:r>
              <a:rPr lang="en-US" sz="2400" baseline="30000" dirty="0" smtClean="0"/>
              <a:t>3</a:t>
            </a:r>
            <a:r>
              <a:rPr lang="en-US" sz="2400" i="1" dirty="0" smtClean="0"/>
              <a:t>P</a:t>
            </a:r>
            <a:r>
              <a:rPr lang="en-US" sz="2400" baseline="-25000" dirty="0" smtClean="0"/>
              <a:t>2</a:t>
            </a:r>
            <a:r>
              <a:rPr lang="en-US" sz="2400" dirty="0" smtClean="0"/>
              <a:t>, </a:t>
            </a:r>
            <a:r>
              <a:rPr lang="en-US" sz="2400" baseline="30000" dirty="0" smtClean="0"/>
              <a:t>1</a:t>
            </a:r>
            <a:r>
              <a:rPr lang="en-US" sz="2400" i="1" dirty="0" smtClean="0"/>
              <a:t>D</a:t>
            </a:r>
            <a:r>
              <a:rPr lang="en-US" sz="2400" dirty="0" smtClean="0"/>
              <a:t> and </a:t>
            </a:r>
            <a:r>
              <a:rPr lang="en-US" sz="2400" baseline="30000" dirty="0" smtClean="0"/>
              <a:t>3</a:t>
            </a:r>
            <a:r>
              <a:rPr lang="en-US" sz="2400" i="1" dirty="0" smtClean="0"/>
              <a:t>D</a:t>
            </a:r>
            <a:r>
              <a:rPr lang="en-US" sz="2400" dirty="0" smtClean="0"/>
              <a:t> (by parity) states. The largest oscillator strength from the ground state is 1.6, which is associated with the transition to </a:t>
            </a:r>
            <a:r>
              <a:rPr lang="en-US" sz="2400" baseline="30000" dirty="0" smtClean="0"/>
              <a:t>1</a:t>
            </a:r>
            <a:r>
              <a:rPr lang="en-US" sz="2400" i="1" dirty="0" smtClean="0"/>
              <a:t>P</a:t>
            </a:r>
            <a:r>
              <a:rPr lang="en-US" sz="2400" baseline="-25000" dirty="0" smtClean="0"/>
              <a:t>1</a:t>
            </a:r>
            <a:r>
              <a:rPr lang="en-US" sz="2400" dirty="0" smtClean="0"/>
              <a:t> (configuration 6s6p, 556 nm). The sum rule for the transitions from the ground state is</a:t>
            </a:r>
            <a:endParaRPr lang="ko-KR" altLang="en-US" sz="2400" dirty="0" smtClean="0"/>
          </a:p>
          <a:p>
            <a:endParaRPr lang="ko-KR" altLang="en-US" sz="2400" dirty="0"/>
          </a:p>
        </p:txBody>
      </p:sp>
      <p:graphicFrame>
        <p:nvGraphicFramePr>
          <p:cNvPr id="264197" name="Object 5"/>
          <p:cNvGraphicFramePr>
            <a:graphicFrameLocks noChangeAspect="1"/>
          </p:cNvGraphicFramePr>
          <p:nvPr/>
        </p:nvGraphicFramePr>
        <p:xfrm>
          <a:off x="2743200" y="5791200"/>
          <a:ext cx="3803650" cy="536575"/>
        </p:xfrm>
        <a:graphic>
          <a:graphicData uri="http://schemas.openxmlformats.org/presentationml/2006/ole">
            <p:oleObj spid="_x0000_s264197" name="Equation" r:id="rId3" imgW="2514600" imgH="355600" progId="Equation.3">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304800" y="457200"/>
            <a:ext cx="3429000" cy="5867400"/>
          </a:xfrm>
        </p:spPr>
        <p:txBody>
          <a:bodyPr>
            <a:noAutofit/>
          </a:bodyPr>
          <a:lstStyle/>
          <a:p>
            <a:pPr>
              <a:buNone/>
            </a:pPr>
            <a:r>
              <a:rPr lang="en-US" sz="2000" b="1" dirty="0" smtClean="0"/>
              <a:t>	Fig. 3</a:t>
            </a:r>
            <a:r>
              <a:rPr lang="en-US" sz="2000" dirty="0" smtClean="0"/>
              <a:t>. </a:t>
            </a:r>
            <a:r>
              <a:rPr lang="en-US" sz="2000" dirty="0" err="1" smtClean="0"/>
              <a:t>Grotrian</a:t>
            </a:r>
            <a:r>
              <a:rPr lang="en-US" sz="2000" dirty="0" smtClean="0"/>
              <a:t> diagram for rubidium. Each line is shown with its transition wavelength in Angstrom and oscillator strength in ( ). Excerpted from A. A. </a:t>
            </a:r>
            <a:r>
              <a:rPr lang="en-US" sz="2000" dirty="0" err="1" smtClean="0"/>
              <a:t>Radzig</a:t>
            </a:r>
            <a:r>
              <a:rPr lang="en-US" sz="2000" dirty="0" smtClean="0"/>
              <a:t> and B. M. Smirnov, “Reference data on atoms, molecules, and ions” (Springer-</a:t>
            </a:r>
            <a:r>
              <a:rPr lang="en-US" sz="2000" dirty="0" err="1" smtClean="0"/>
              <a:t>Verlag</a:t>
            </a:r>
            <a:r>
              <a:rPr lang="en-US" sz="2000" dirty="0" smtClean="0"/>
              <a:t>, Berlin, 1986). </a:t>
            </a:r>
            <a:endParaRPr lang="ko-KR" altLang="en-US" sz="2000" dirty="0" smtClean="0"/>
          </a:p>
          <a:p>
            <a:endParaRPr lang="ko-KR" altLang="en-US" sz="2000" dirty="0"/>
          </a:p>
        </p:txBody>
      </p:sp>
      <p:graphicFrame>
        <p:nvGraphicFramePr>
          <p:cNvPr id="265219" name="Object 3"/>
          <p:cNvGraphicFramePr>
            <a:graphicFrameLocks noChangeAspect="1"/>
          </p:cNvGraphicFramePr>
          <p:nvPr/>
        </p:nvGraphicFramePr>
        <p:xfrm>
          <a:off x="3886200" y="393890"/>
          <a:ext cx="4495799" cy="6083110"/>
        </p:xfrm>
        <a:graphic>
          <a:graphicData uri="http://schemas.openxmlformats.org/presentationml/2006/ole">
            <p:oleObj spid="_x0000_s265219" name="Document" r:id="rId3" imgW="5219700" imgH="7061200" progId="Word.Document.12">
              <p:link updateAutomatic="1"/>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971</TotalTime>
  <Words>1159</Words>
  <Application>Microsoft Macintosh PowerPoint</Application>
  <PresentationFormat>On-screen Show (4:3)</PresentationFormat>
  <Paragraphs>100</Paragraphs>
  <Slides>16</Slides>
  <Notes>1</Notes>
  <HiddenSlides>0</HiddenSlides>
  <MMClips>0</MMClips>
  <ScaleCrop>false</ScaleCrop>
  <HeadingPairs>
    <vt:vector size="8" baseType="variant">
      <vt:variant>
        <vt:lpstr>Design Template</vt:lpstr>
      </vt:variant>
      <vt:variant>
        <vt:i4>1</vt:i4>
      </vt:variant>
      <vt:variant>
        <vt:lpstr>Links</vt:lpstr>
      </vt:variant>
      <vt:variant>
        <vt:i4>1</vt:i4>
      </vt:variant>
      <vt:variant>
        <vt:lpstr>Embedded OLE Servers</vt:lpstr>
      </vt:variant>
      <vt:variant>
        <vt:i4>2</vt:i4>
      </vt:variant>
      <vt:variant>
        <vt:lpstr>Slide Titles</vt:lpstr>
      </vt:variant>
      <vt:variant>
        <vt:i4>16</vt:i4>
      </vt:variant>
    </vt:vector>
  </HeadingPairs>
  <TitlesOfParts>
    <vt:vector size="20" baseType="lpstr">
      <vt:lpstr>Technic</vt:lpstr>
      <vt:lpstr>!OLE_LINK3</vt:lpstr>
      <vt:lpstr>Equation</vt:lpstr>
      <vt:lpstr>Microsoft Equation</vt:lpstr>
      <vt:lpstr>Atomic and Molecular Physics  Lecture 21</vt:lpstr>
      <vt:lpstr>3.5 Transition Probabilities </vt:lpstr>
      <vt:lpstr>Slide 3</vt:lpstr>
      <vt:lpstr>Slide 4</vt:lpstr>
      <vt:lpstr>Slide 5</vt:lpstr>
      <vt:lpstr>Slide 6</vt:lpstr>
      <vt:lpstr>Extension to Multilevels</vt:lpstr>
      <vt:lpstr>3.6 Oscillator Strength and Sum Rules</vt:lpstr>
      <vt:lpstr>Exercise 5</vt:lpstr>
      <vt:lpstr>Slide 10</vt:lpstr>
      <vt:lpstr>Slide 11</vt:lpstr>
      <vt:lpstr>Slide 12</vt:lpstr>
      <vt:lpstr>Slide 13</vt:lpstr>
      <vt:lpstr>Slide 14</vt:lpstr>
      <vt:lpstr>Slide 15</vt:lpstr>
      <vt:lpstr>Slide 16</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AMP12</dc:title>
  <dc:creator>경원 안</dc:creator>
  <cp:keywords/>
  <cp:lastModifiedBy>Kyungwon An</cp:lastModifiedBy>
  <cp:revision>69</cp:revision>
  <dcterms:created xsi:type="dcterms:W3CDTF">2009-11-14T14:37:41Z</dcterms:created>
  <dcterms:modified xsi:type="dcterms:W3CDTF">2009-11-14T16:05:17Z</dcterms:modified>
</cp:coreProperties>
</file>