
<file path=[Content_Types].xml><?xml version="1.0" encoding="utf-8"?>
<Types xmlns="http://schemas.openxmlformats.org/package/2006/content-types">
  <Override PartName="/ppt/slides/slide14.xml" ContentType="application/vnd.openxmlformats-officedocument.presentationml.slide+xml"/>
  <Override PartName="/ppt/slideMasters/slideMaster6.xml" ContentType="application/vnd.openxmlformats-officedocument.presentationml.slideMaster+xml"/>
  <Override PartName="/ppt/slideLayouts/slideLayout8.xml" ContentType="application/vnd.openxmlformats-officedocument.presentationml.slideLayout+xml"/>
  <Default Extension="bin" ContentType="application/vnd.openxmlformats-officedocument.presentationml.printerSettings"/>
  <Override PartName="/ppt/slideLayouts/slideLayout20.xml" ContentType="application/vnd.openxmlformats-officedocument.presentationml.slideLayout+xml"/>
  <Override PartName="/ppt/slideLayouts/slideLayout17.xml" ContentType="application/vnd.openxmlformats-officedocument.presentationml.slideLayout+xml"/>
  <Override PartName="/ppt/slideLayouts/slideLayout36.xml" ContentType="application/vnd.openxmlformats-officedocument.presentationml.slideLayout+xml"/>
  <Override PartName="/ppt/slideLayouts/slideLayout55.xml" ContentType="application/vnd.openxmlformats-officedocument.presentationml.slideLayout+xml"/>
  <Override PartName="/ppt/slideLayouts/slideLayout60.xml" ContentType="application/vnd.openxmlformats-officedocument.presentationml.slideLayout+xml"/>
  <Override PartName="/ppt/notesSlides/notesSlide2.xml" ContentType="application/vnd.openxmlformats-officedocument.presentationml.notesSlide+xml"/>
  <Override PartName="/ppt/slides/slide18.xml" ContentType="application/vnd.openxmlformats-officedocument.presentationml.slide+xml"/>
  <Override PartName="/ppt/slides/slide3.xml" ContentType="application/vnd.openxmlformats-officedocument.presentationml.slide+xml"/>
  <Override PartName="/ppt/slideLayouts/slideLayout1.xml" ContentType="application/vnd.openxmlformats-officedocument.presentationml.slideLayout+xml"/>
  <Override PartName="/ppt/theme/theme1.xml" ContentType="application/vnd.openxmlformats-officedocument.theme+xml"/>
  <Override PartName="/ppt/slideLayouts/slideLayout24.xml" ContentType="application/vnd.openxmlformats-officedocument.presentationml.slideLayout+xml"/>
  <Override PartName="/ppt/slideLayouts/slideLayout43.xml" ContentType="application/vnd.openxmlformats-officedocument.presentationml.slideLayout+xml"/>
  <Override PartName="/ppt/slideLayouts/slideLayout59.xml" ContentType="application/vnd.openxmlformats-officedocument.presentationml.slideLayout+xml"/>
  <Override PartName="/ppt/slideLayouts/slideLayout10.xml" ContentType="application/vnd.openxmlformats-officedocument.presentationml.slideLayout+xml"/>
  <Override PartName="/ppt/slideLayouts/slideLayout64.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11.xml" ContentType="application/vnd.openxmlformats-officedocument.presentationml.slide+xml"/>
  <Override PartName="/ppt/slideMasters/slideMaster3.xml" ContentType="application/vnd.openxmlformats-officedocument.presentationml.slideMaster+xml"/>
  <Override PartName="/ppt/theme/theme5.xml" ContentType="application/vnd.openxmlformats-officedocument.theme+xml"/>
  <Override PartName="/ppt/slideLayouts/slideLayout28.xml" ContentType="application/vnd.openxmlformats-officedocument.presentationml.slideLayout+xml"/>
  <Override PartName="/ppt/slideLayouts/slideLayout47.xml" ContentType="application/vnd.openxmlformats-officedocument.presentationml.slideLayout+xml"/>
  <Override PartName="/ppt/slideLayouts/slideLayout66.xml" ContentType="application/vnd.openxmlformats-officedocument.presentationml.slideLayout+xml"/>
  <Override PartName="/ppt/slideLayouts/slideLayout14.xml" ContentType="application/vnd.openxmlformats-officedocument.presentationml.slideLayout+xml"/>
  <Override PartName="/ppt/slideLayouts/slideLayout33.xml" ContentType="application/vnd.openxmlformats-officedocument.presentationml.slideLayout+xml"/>
  <Override PartName="/ppt/slideLayouts/slideLayout52.xml" ContentType="application/vnd.openxmlformats-officedocument.presentationml.slideLayout+xml"/>
  <Override PartName="/ppt/slideLayouts/slideLayout9.xml" ContentType="application/vnd.openxmlformats-officedocument.presentationml.slideLayout+xml"/>
  <Override PartName="/ppt/slides/slide15.xml" ContentType="application/vnd.openxmlformats-officedocument.presentationml.slide+xml"/>
  <Override PartName="/ppt/slides/slide20.xml" ContentType="application/vnd.openxmlformats-officedocument.presentationml.slide+xml"/>
  <Override PartName="/ppt/slideLayouts/slideLayout21.xml" ContentType="application/vnd.openxmlformats-officedocument.presentationml.slideLayout+xml"/>
  <Override PartName="/ppt/slideLayouts/slideLayout40.xml" ContentType="application/vnd.openxmlformats-officedocument.presentationml.slideLayout+xml"/>
  <Override PartName="/ppt/presProps.xml" ContentType="application/vnd.openxmlformats-officedocument.presentationml.presProps+xml"/>
  <Override PartName="/ppt/slideLayouts/slideLayout56.xml" ContentType="application/vnd.openxmlformats-officedocument.presentationml.slideLayout+xml"/>
  <Override PartName="/ppt/slideLayouts/slideLayout37.xml" ContentType="application/vnd.openxmlformats-officedocument.presentationml.slideLayout+xml"/>
  <Override PartName="/ppt/slideLayouts/slideLayout18.xml" ContentType="application/vnd.openxmlformats-officedocument.presentationml.slideLayout+xml"/>
  <Override PartName="/ppt/slideLayouts/slideLayout61.xml" ContentType="application/vnd.openxmlformats-officedocument.presentationml.slideLayout+xml"/>
  <Override PartName="/ppt/notesSlides/notesSlide3.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slideLayouts/slideLayout2.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44.xml" ContentType="application/vnd.openxmlformats-officedocument.presentationml.slideLayout+xml"/>
  <Override PartName="/ppt/slideLayouts/slideLayout11.xml" ContentType="application/vnd.openxmlformats-officedocument.presentationml.slideLayout+xml"/>
  <Override PartName="/ppt/slideLayouts/slideLayout30.xml" ContentType="application/vnd.openxmlformats-officedocument.presentationml.slideLayout+xml"/>
  <Override PartName="/docProps/core.xml" ContentType="application/vnd.openxmlformats-package.core-properties+xml"/>
  <Override PartName="/ppt/notesSlides/notesSlide7.xml" ContentType="application/vnd.openxmlformats-officedocument.presentationml.notesSlide+xml"/>
  <Default Extension="jpeg" ContentType="image/jpeg"/>
  <Override PartName="/ppt/slides/slide8.xml" ContentType="application/vnd.openxmlformats-officedocument.presentationml.slide+xml"/>
  <Override PartName="/ppt/slides/slide12.xml" ContentType="application/vnd.openxmlformats-officedocument.presentationml.slide+xml"/>
  <Override PartName="/ppt/slideMasters/slideMaster4.xml" ContentType="application/vnd.openxmlformats-officedocument.presentationml.slideMaster+xml"/>
  <Override PartName="/ppt/slideLayouts/slideLayout6.xml" ContentType="application/vnd.openxmlformats-officedocument.presentationml.slideLayout+xml"/>
  <Override PartName="/ppt/theme/theme6.xml" ContentType="application/vnd.openxmlformats-officedocument.theme+xml"/>
  <Override PartName="/ppt/slideLayouts/slideLayout29.xml" ContentType="application/vnd.openxmlformats-officedocument.presentationml.slideLayout+xml"/>
  <Override PartName="/ppt/slideLayouts/slideLayout48.xml" ContentType="application/vnd.openxmlformats-officedocument.presentationml.slideLayout+xml"/>
  <Override PartName="/ppt/slideLayouts/slideLayout15.xml" ContentType="application/vnd.openxmlformats-officedocument.presentationml.slideLayout+xml"/>
  <Override PartName="/ppt/slideLayouts/slideLayout3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21.xml" ContentType="application/vnd.openxmlformats-officedocument.presentationml.slide+xml"/>
  <Override PartName="/ppt/slideLayouts/slideLayout22.xml" ContentType="application/vnd.openxmlformats-officedocument.presentationml.slideLayout+xml"/>
  <Override PartName="/ppt/slideLayouts/slideLayout41.xml" ContentType="application/vnd.openxmlformats-officedocument.presentationml.slideLayout+xml"/>
  <Override PartName="/ppt/slideLayouts/slideLayout38.xml" ContentType="application/vnd.openxmlformats-officedocument.presentationml.slideLayout+xml"/>
  <Override PartName="/ppt/slideLayouts/slideLayout57.xml" ContentType="application/vnd.openxmlformats-officedocument.presentationml.slideLayout+xml"/>
  <Override PartName="/ppt/slideLayouts/slideLayout19.xml" ContentType="application/vnd.openxmlformats-officedocument.presentationml.slideLayout+xml"/>
  <Override PartName="/ppt/slideLayouts/slideLayout62.xml" ContentType="application/vnd.openxmlformats-officedocument.presentationml.slideLayout+xml"/>
  <Override PartName="/ppt/notesSlides/notesSlide4.xml" ContentType="application/vnd.openxmlformats-officedocument.presentationml.notes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45.xml" ContentType="application/vnd.openxmlformats-officedocument.presentationml.slideLayout+xml"/>
  <Override PartName="/ppt/slideLayouts/slideLayout12.xml" ContentType="application/vnd.openxmlformats-officedocument.presentationml.slideLayout+xml"/>
  <Override PartName="/ppt/slideLayouts/slideLayout31.xml" ContentType="application/vnd.openxmlformats-officedocument.presentationml.slideLayout+xml"/>
  <Override PartName="/ppt/slideLayouts/slideLayout50.xml" ContentType="application/vnd.openxmlformats-officedocument.presentationml.slideLayout+xml"/>
  <Override PartName="/ppt/slides/slide9.xml" ContentType="application/vnd.openxmlformats-officedocument.presentationml.slide+xml"/>
  <Override PartName="/ppt/slides/slide13.xml" ContentType="application/vnd.openxmlformats-officedocument.presentationml.slide+xml"/>
  <Default Extension="xml" ContentType="application/xml"/>
  <Override PartName="/ppt/tableStyles.xml" ContentType="application/vnd.openxmlformats-officedocument.presentationml.tableStyles+xml"/>
  <Override PartName="/ppt/theme/theme7.xml" ContentType="application/vnd.openxmlformats-officedocument.theme+xml"/>
  <Override PartName="/ppt/slideMasters/slideMaster5.xml" ContentType="application/vnd.openxmlformats-officedocument.presentationml.slideMaster+xml"/>
  <Override PartName="/ppt/slideLayouts/slideLayout49.xml" ContentType="application/vnd.openxmlformats-officedocument.presentationml.slideLayout+xml"/>
  <Override PartName="/ppt/slideLayouts/slideLayout7.xml" ContentType="application/vnd.openxmlformats-officedocument.presentationml.slideLayout+xml"/>
  <Override PartName="/docProps/app.xml" ContentType="application/vnd.openxmlformats-officedocument.extended-properties+xml"/>
  <Override PartName="/ppt/viewProps.xml" ContentType="application/vnd.openxmlformats-officedocument.presentationml.viewProps+xml"/>
  <Override PartName="/ppt/slideLayouts/slideLayout16.xml" ContentType="application/vnd.openxmlformats-officedocument.presentationml.slideLayout+xml"/>
  <Override PartName="/ppt/slideLayouts/slideLayout35.xml" ContentType="application/vnd.openxmlformats-officedocument.presentationml.slideLayout+xml"/>
  <Override PartName="/ppt/slideLayouts/slideLayout54.xml" ContentType="application/vnd.openxmlformats-officedocument.presentationml.slideLayou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7.xml" ContentType="application/vnd.openxmlformats-officedocument.presentationml.slide+xml"/>
  <Override PartName="/ppt/presentation.xml" ContentType="application/vnd.openxmlformats-officedocument.presentationml.presentation.main+xml"/>
  <Override PartName="/ppt/slides/slide2.xml" ContentType="application/vnd.openxmlformats-officedocument.presentationml.slide+xml"/>
  <Override PartName="/ppt/slides/slide22.xml" ContentType="application/vnd.openxmlformats-officedocument.presentationml.slide+xml"/>
  <Override PartName="/ppt/slideLayouts/slideLayout23.xml" ContentType="application/vnd.openxmlformats-officedocument.presentationml.slideLayout+xml"/>
  <Override PartName="/ppt/slideLayouts/slideLayout42.xml" ContentType="application/vnd.openxmlformats-officedocument.presentationml.slideLayout+xml"/>
  <Override PartName="/ppt/slideLayouts/slideLayout39.xml" ContentType="application/vnd.openxmlformats-officedocument.presentationml.slideLayout+xml"/>
  <Override PartName="/ppt/slideLayouts/slideLayout58.xml" ContentType="application/vnd.openxmlformats-officedocument.presentationml.slideLayout+xml"/>
  <Override PartName="/ppt/slideLayouts/slideLayout63.xml" ContentType="application/vnd.openxmlformats-officedocument.presentationml.slideLayout+xml"/>
  <Override PartName="/ppt/notesSlides/notesSlide5.xml" ContentType="application/vnd.openxmlformats-officedocument.presentationml.notesSlide+xml"/>
  <Override PartName="/ppt/slides/slide6.xml" ContentType="application/vnd.openxmlformats-officedocument.presentationml.slide+xml"/>
  <Override PartName="/ppt/slideMasters/slideMaster2.xml" ContentType="application/vnd.openxmlformats-officedocument.presentationml.slideMaster+xml"/>
  <Override PartName="/ppt/slideLayouts/slideLayout4.xml" ContentType="application/vnd.openxmlformats-officedocument.presentationml.slideLayout+xml"/>
  <Override PartName="/ppt/slides/slide10.xml" ContentType="application/vnd.openxmlformats-officedocument.presentationml.slide+xml"/>
  <Override PartName="/ppt/theme/theme4.xml" ContentType="application/vnd.openxmlformats-officedocument.theme+xml"/>
  <Override PartName="/ppt/slideLayouts/slideLayout27.xml" ContentType="application/vnd.openxmlformats-officedocument.presentationml.slideLayout+xml"/>
  <Override PartName="/ppt/slideLayouts/slideLayout46.xml" ContentType="application/vnd.openxmlformats-officedocument.presentationml.slideLayout+xml"/>
  <Override PartName="/ppt/slideLayouts/slideLayout65.xml" ContentType="application/vnd.openxmlformats-officedocument.presentationml.slideLayout+xml"/>
  <Override PartName="/ppt/slideLayouts/slideLayout13.xml" ContentType="application/vnd.openxmlformats-officedocument.presentationml.slideLayout+xml"/>
  <Override PartName="/ppt/slideLayouts/slideLayout32.xml" ContentType="application/vnd.openxmlformats-officedocument.presentationml.slideLayout+xml"/>
  <Override PartName="/ppt/slideLayouts/slideLayout51.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trictFirstAndLastChars="0" saveSubsetFonts="1" autoCompressPictures="0">
  <p:sldMasterIdLst>
    <p:sldMasterId id="2147483648" r:id="rId1"/>
    <p:sldMasterId id="2147483649" r:id="rId2"/>
    <p:sldMasterId id="2147483650" r:id="rId3"/>
    <p:sldMasterId id="2147483651" r:id="rId4"/>
    <p:sldMasterId id="2147483652" r:id="rId5"/>
    <p:sldMasterId id="2147483653" r:id="rId6"/>
  </p:sldMasterIdLst>
  <p:notesMasterIdLst>
    <p:notesMasterId r:id="rId29"/>
  </p:notesMasterIdLst>
  <p:sldIdLst>
    <p:sldId id="256" r:id="rId7"/>
    <p:sldId id="257" r:id="rId8"/>
    <p:sldId id="258" r:id="rId9"/>
    <p:sldId id="269" r:id="rId10"/>
    <p:sldId id="260" r:id="rId11"/>
    <p:sldId id="276" r:id="rId12"/>
    <p:sldId id="277" r:id="rId13"/>
    <p:sldId id="278" r:id="rId14"/>
    <p:sldId id="264" r:id="rId15"/>
    <p:sldId id="265" r:id="rId16"/>
    <p:sldId id="279" r:id="rId17"/>
    <p:sldId id="266" r:id="rId18"/>
    <p:sldId id="267" r:id="rId19"/>
    <p:sldId id="270" r:id="rId20"/>
    <p:sldId id="273" r:id="rId21"/>
    <p:sldId id="275" r:id="rId22"/>
    <p:sldId id="271" r:id="rId23"/>
    <p:sldId id="272" r:id="rId24"/>
    <p:sldId id="261" r:id="rId25"/>
    <p:sldId id="262" r:id="rId26"/>
    <p:sldId id="268" r:id="rId27"/>
    <p:sldId id="263" r:id="rId28"/>
  </p:sldIdLst>
  <p:sldSz cx="13004800" cy="9753600"/>
  <p:notesSz cx="6858000" cy="9144000"/>
  <p:defaultTextStyle>
    <a:defPPr>
      <a:defRPr lang="en-US"/>
    </a:defPPr>
    <a:lvl1pPr algn="l" rtl="0" fontAlgn="base">
      <a:spcBef>
        <a:spcPct val="0"/>
      </a:spcBef>
      <a:spcAft>
        <a:spcPct val="0"/>
      </a:spcAft>
      <a:defRPr sz="3400" kern="1200">
        <a:solidFill>
          <a:srgbClr val="FFFFFF"/>
        </a:solidFill>
        <a:latin typeface="Arial" charset="0"/>
        <a:ea typeface="ヒラギノ角ゴ ProN W3" charset="-128"/>
        <a:cs typeface="ヒラギノ角ゴ ProN W3" charset="-128"/>
        <a:sym typeface="Arial" charset="0"/>
      </a:defRPr>
    </a:lvl1pPr>
    <a:lvl2pPr marL="457200" algn="l" rtl="0" fontAlgn="base">
      <a:spcBef>
        <a:spcPct val="0"/>
      </a:spcBef>
      <a:spcAft>
        <a:spcPct val="0"/>
      </a:spcAft>
      <a:defRPr sz="3400" kern="1200">
        <a:solidFill>
          <a:srgbClr val="FFFFFF"/>
        </a:solidFill>
        <a:latin typeface="Arial" charset="0"/>
        <a:ea typeface="ヒラギノ角ゴ ProN W3" charset="-128"/>
        <a:cs typeface="ヒラギノ角ゴ ProN W3" charset="-128"/>
        <a:sym typeface="Arial" charset="0"/>
      </a:defRPr>
    </a:lvl2pPr>
    <a:lvl3pPr marL="914400" algn="l" rtl="0" fontAlgn="base">
      <a:spcBef>
        <a:spcPct val="0"/>
      </a:spcBef>
      <a:spcAft>
        <a:spcPct val="0"/>
      </a:spcAft>
      <a:defRPr sz="3400" kern="1200">
        <a:solidFill>
          <a:srgbClr val="FFFFFF"/>
        </a:solidFill>
        <a:latin typeface="Arial" charset="0"/>
        <a:ea typeface="ヒラギノ角ゴ ProN W3" charset="-128"/>
        <a:cs typeface="ヒラギノ角ゴ ProN W3" charset="-128"/>
        <a:sym typeface="Arial" charset="0"/>
      </a:defRPr>
    </a:lvl3pPr>
    <a:lvl4pPr marL="1371600" algn="l" rtl="0" fontAlgn="base">
      <a:spcBef>
        <a:spcPct val="0"/>
      </a:spcBef>
      <a:spcAft>
        <a:spcPct val="0"/>
      </a:spcAft>
      <a:defRPr sz="3400" kern="1200">
        <a:solidFill>
          <a:srgbClr val="FFFFFF"/>
        </a:solidFill>
        <a:latin typeface="Arial" charset="0"/>
        <a:ea typeface="ヒラギノ角ゴ ProN W3" charset="-128"/>
        <a:cs typeface="ヒラギノ角ゴ ProN W3" charset="-128"/>
        <a:sym typeface="Arial" charset="0"/>
      </a:defRPr>
    </a:lvl4pPr>
    <a:lvl5pPr marL="1828800" algn="l" rtl="0" fontAlgn="base">
      <a:spcBef>
        <a:spcPct val="0"/>
      </a:spcBef>
      <a:spcAft>
        <a:spcPct val="0"/>
      </a:spcAft>
      <a:defRPr sz="3400" kern="1200">
        <a:solidFill>
          <a:srgbClr val="FFFFFF"/>
        </a:solidFill>
        <a:latin typeface="Arial" charset="0"/>
        <a:ea typeface="ヒラギノ角ゴ ProN W3" charset="-128"/>
        <a:cs typeface="ヒラギノ角ゴ ProN W3" charset="-128"/>
        <a:sym typeface="Arial" charset="0"/>
      </a:defRPr>
    </a:lvl5pPr>
    <a:lvl6pPr marL="2286000" algn="l" defTabSz="457200" rtl="0" eaLnBrk="1" latinLnBrk="0" hangingPunct="1">
      <a:defRPr sz="3400" kern="1200">
        <a:solidFill>
          <a:srgbClr val="FFFFFF"/>
        </a:solidFill>
        <a:latin typeface="Arial" charset="0"/>
        <a:ea typeface="ヒラギノ角ゴ ProN W3" charset="-128"/>
        <a:cs typeface="ヒラギノ角ゴ ProN W3" charset="-128"/>
        <a:sym typeface="Arial" charset="0"/>
      </a:defRPr>
    </a:lvl6pPr>
    <a:lvl7pPr marL="2743200" algn="l" defTabSz="457200" rtl="0" eaLnBrk="1" latinLnBrk="0" hangingPunct="1">
      <a:defRPr sz="3400" kern="1200">
        <a:solidFill>
          <a:srgbClr val="FFFFFF"/>
        </a:solidFill>
        <a:latin typeface="Arial" charset="0"/>
        <a:ea typeface="ヒラギノ角ゴ ProN W3" charset="-128"/>
        <a:cs typeface="ヒラギノ角ゴ ProN W3" charset="-128"/>
        <a:sym typeface="Arial" charset="0"/>
      </a:defRPr>
    </a:lvl7pPr>
    <a:lvl8pPr marL="3200400" algn="l" defTabSz="457200" rtl="0" eaLnBrk="1" latinLnBrk="0" hangingPunct="1">
      <a:defRPr sz="3400" kern="1200">
        <a:solidFill>
          <a:srgbClr val="FFFFFF"/>
        </a:solidFill>
        <a:latin typeface="Arial" charset="0"/>
        <a:ea typeface="ヒラギノ角ゴ ProN W3" charset="-128"/>
        <a:cs typeface="ヒラギノ角ゴ ProN W3" charset="-128"/>
        <a:sym typeface="Arial" charset="0"/>
      </a:defRPr>
    </a:lvl8pPr>
    <a:lvl9pPr marL="3657600" algn="l" defTabSz="457200" rtl="0" eaLnBrk="1" latinLnBrk="0" hangingPunct="1">
      <a:defRPr sz="3400" kern="1200">
        <a:solidFill>
          <a:srgbClr val="FFFFFF"/>
        </a:solidFill>
        <a:latin typeface="Arial" charset="0"/>
        <a:ea typeface="ヒラギノ角ゴ ProN W3" charset="-128"/>
        <a:cs typeface="ヒラギノ角ゴ ProN W3" charset="-128"/>
        <a:sym typeface="Arial" charset="0"/>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p:restoredLeft sz="15620"/>
    <p:restoredTop sz="94660"/>
  </p:normalViewPr>
  <p:slideViewPr>
    <p:cSldViewPr>
      <p:cViewPr varScale="1">
        <p:scale>
          <a:sx n="101" d="100"/>
          <a:sy n="101" d="100"/>
        </p:scale>
        <p:origin x="-1232" y="-96"/>
      </p:cViewPr>
      <p:guideLst>
        <p:guide orient="horz" pos="3072"/>
        <p:guide pos="4096"/>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30" Type="http://schemas.openxmlformats.org/officeDocument/2006/relationships/printerSettings" Target="printerSettings/printerSettings1.bin"/><Relationship Id="rId31" Type="http://schemas.openxmlformats.org/officeDocument/2006/relationships/presProps" Target="presProps.xml"/><Relationship Id="rId32" Type="http://schemas.openxmlformats.org/officeDocument/2006/relationships/viewProps" Target="viewProps.xml"/><Relationship Id="rId9" Type="http://schemas.openxmlformats.org/officeDocument/2006/relationships/slide" Target="slides/slide3.xml"/><Relationship Id="rId6" Type="http://schemas.openxmlformats.org/officeDocument/2006/relationships/slideMaster" Target="slideMasters/slideMaster6.xml"/><Relationship Id="rId7" Type="http://schemas.openxmlformats.org/officeDocument/2006/relationships/slide" Target="slides/slide1.xml"/><Relationship Id="rId8" Type="http://schemas.openxmlformats.org/officeDocument/2006/relationships/slide" Target="slides/slide2.xml"/><Relationship Id="rId33" Type="http://schemas.openxmlformats.org/officeDocument/2006/relationships/theme" Target="theme/theme1.xml"/><Relationship Id="rId34"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2289" name="Rectangle 1"/>
          <p:cNvSpPr>
            <a:spLocks noRot="1" noChangeArrowheads="1" noTextEdit="1"/>
          </p:cNvSpPr>
          <p:nvPr>
            <p:ph type="sldImg"/>
          </p:nvPr>
        </p:nvSpPr>
        <p:spPr bwMode="auto">
          <a:xfrm>
            <a:off x="1143000" y="685800"/>
            <a:ext cx="4572000" cy="3429000"/>
          </a:xfrm>
          <a:prstGeom prst="rect">
            <a:avLst/>
          </a:prstGeom>
          <a:noFill/>
          <a:ln w="9525">
            <a:solidFill>
              <a:srgbClr val="000000"/>
            </a:solidFill>
            <a:miter lim="800000"/>
            <a:headEnd/>
            <a:tailEnd/>
          </a:ln>
          <a:effectLst/>
        </p:spPr>
      </p:sp>
      <p:sp>
        <p:nvSpPr>
          <p:cNvPr id="12290" name="Rectangle 2"/>
          <p:cNvSpPr>
            <a:spLocks noGrp="1" noChangeArrowheads="1"/>
          </p:cNvSpPr>
          <p:nvPr>
            <p:ph type="body" sz="quarter" idx="1"/>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p>
        </p:txBody>
      </p:sp>
    </p:spTree>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ＭＳ Ｐゴシック" charset="-128"/>
        <a:cs typeface="+mn-cs"/>
      </a:defRPr>
    </a:lvl2pPr>
    <a:lvl3pPr marL="914400" algn="l" rtl="0" fontAlgn="base">
      <a:spcBef>
        <a:spcPct val="0"/>
      </a:spcBef>
      <a:spcAft>
        <a:spcPct val="0"/>
      </a:spcAft>
      <a:defRPr sz="1200" kern="1200">
        <a:solidFill>
          <a:schemeClr val="tx1"/>
        </a:solidFill>
        <a:latin typeface="Arial" charset="0"/>
        <a:ea typeface="ＭＳ Ｐゴシック" charset="-128"/>
        <a:cs typeface="+mn-cs"/>
      </a:defRPr>
    </a:lvl3pPr>
    <a:lvl4pPr marL="1371600" algn="l" rtl="0" fontAlgn="base">
      <a:spcBef>
        <a:spcPct val="0"/>
      </a:spcBef>
      <a:spcAft>
        <a:spcPct val="0"/>
      </a:spcAft>
      <a:defRPr sz="1200" kern="1200">
        <a:solidFill>
          <a:schemeClr val="tx1"/>
        </a:solidFill>
        <a:latin typeface="Arial" charset="0"/>
        <a:ea typeface="ＭＳ Ｐゴシック" charset="-128"/>
        <a:cs typeface="+mn-cs"/>
      </a:defRPr>
    </a:lvl4pPr>
    <a:lvl5pPr marL="1828800" algn="l" rtl="0" fontAlgn="base">
      <a:spcBef>
        <a:spcPct val="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313" name="Rectangle 1"/>
          <p:cNvSpPr>
            <a:spLocks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314" name="Rectangle 2"/>
          <p:cNvSpPr>
            <a:spLocks noChangeArrowheads="1"/>
          </p:cNvSpPr>
          <p:nvPr>
            <p:ph type="body" idx="1"/>
          </p:nvPr>
        </p:nvSpPr>
        <p:spPr bwMode="auto">
          <a:xfrm>
            <a:off x="685800" y="4343400"/>
            <a:ext cx="5486400" cy="4114800"/>
          </a:xfrm>
          <a:prstGeom prst="rect">
            <a:avLst/>
          </a:prstGeom>
          <a:noFill/>
          <a:ln>
            <a:miter lim="800000"/>
            <a:headEnd/>
            <a:tailEnd/>
          </a:ln>
        </p:spPr>
        <p:txBody>
          <a:bodyPr>
            <a:prstTxWarp prst="textNoShape">
              <a:avLst/>
            </a:prstTxWarp>
          </a:bodyPr>
          <a:lstStyle/>
          <a:p>
            <a:pPr marL="39688"/>
            <a:r>
              <a:rPr lang="en-US" altLang="ja-JP">
                <a:solidFill>
                  <a:srgbClr val="000000"/>
                </a:solidFill>
                <a:latin typeface="Lucida Grande" charset="0"/>
                <a:ea typeface="Lucida Grande" charset="0"/>
                <a:cs typeface="Lucida Grande" charset="0"/>
                <a:sym typeface="Lucida Grande" charset="0"/>
              </a:rPr>
              <a:t>In this phase 1, quantum gas laboratory has been constructed in supervision of our foreign scholar, Yong-il Shin, which is located at Bldg23 Room 104. The main lab equipments in the lab includes laser system and ultra high vacuum system.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3" name="Rectangle 1"/>
          <p:cNvSpPr>
            <a:spLocks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8434" name="Rectangle 2"/>
          <p:cNvSpPr>
            <a:spLocks noChangeArrowheads="1"/>
          </p:cNvSpPr>
          <p:nvPr>
            <p:ph type="body" idx="1"/>
          </p:nvPr>
        </p:nvSpPr>
        <p:spPr bwMode="auto">
          <a:xfrm>
            <a:off x="685800" y="4343400"/>
            <a:ext cx="5486400" cy="4114800"/>
          </a:xfrm>
          <a:prstGeom prst="rect">
            <a:avLst/>
          </a:prstGeom>
          <a:noFill/>
          <a:ln>
            <a:miter lim="800000"/>
            <a:headEnd/>
            <a:tailEnd/>
          </a:ln>
        </p:spPr>
        <p:txBody>
          <a:bodyPr>
            <a:prstTxWarp prst="textNoShape">
              <a:avLst/>
            </a:prstTxWarp>
          </a:bodyPr>
          <a:lstStyle/>
          <a:p>
            <a:pPr marL="39688"/>
            <a:r>
              <a:rPr lang="en-US" altLang="ja-JP">
                <a:solidFill>
                  <a:srgbClr val="000000"/>
                </a:solidFill>
                <a:latin typeface="Lucida Grande" charset="0"/>
                <a:ea typeface="Lucida Grande" charset="0"/>
                <a:cs typeface="Lucida Grande" charset="0"/>
                <a:sym typeface="Lucida Grande" charset="0"/>
              </a:rPr>
              <a:t>Last June, we have succeeded in observing Bose-Einstein condensation in an atomic sodium gases. This is the first BEC in korea, even though 15 years after the world-first BEC production. In our experiments, furthermore, we could produce BECs of more than 10^7 atoms in 14 s. Considering that  typically people produce a condensate of less than 10^6 within 30s, our result is superior.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3" name="Rectangle 1"/>
          <p:cNvSpPr>
            <a:spLocks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3554" name="Rectangle 2"/>
          <p:cNvSpPr>
            <a:spLocks noChangeArrowheads="1"/>
          </p:cNvSpPr>
          <p:nvPr>
            <p:ph type="body" idx="1"/>
          </p:nvPr>
        </p:nvSpPr>
        <p:spPr bwMode="auto">
          <a:xfrm>
            <a:off x="685800" y="4343400"/>
            <a:ext cx="5486400" cy="4114800"/>
          </a:xfrm>
          <a:prstGeom prst="rect">
            <a:avLst/>
          </a:prstGeom>
          <a:noFill/>
          <a:ln>
            <a:miter lim="800000"/>
            <a:headEnd/>
            <a:tailEnd/>
          </a:ln>
        </p:spPr>
        <p:txBody>
          <a:bodyPr>
            <a:prstTxWarp prst="textNoShape">
              <a:avLst/>
            </a:prstTxWarp>
          </a:bodyPr>
          <a:lstStyle/>
          <a:p>
            <a:r>
              <a:rPr lang="ja-JP" altLang="en-US">
                <a:solidFill>
                  <a:srgbClr val="000000"/>
                </a:solidFill>
                <a:latin typeface="Lucida Grande" charset="0"/>
                <a:ea typeface="AppleGothic" charset="-127"/>
                <a:cs typeface="AppleGothic" charset="-127"/>
                <a:sym typeface="Lucida Grande" charset="0"/>
              </a:rPr>
              <a:t>최초로</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보존</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교환관계를</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실험적으로</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입증함</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입력한</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양자</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상태</a:t>
            </a:r>
            <a:r>
              <a:rPr lang="en-US" altLang="ja-JP">
                <a:solidFill>
                  <a:srgbClr val="000000"/>
                </a:solidFill>
                <a:latin typeface="Lucida Grande" charset="0"/>
                <a:ea typeface="AppleGothic" charset="-127"/>
                <a:cs typeface="AppleGothic" charset="-127"/>
                <a:sym typeface="Lucida Grande" charset="0"/>
              </a:rPr>
              <a:t>(</a:t>
            </a:r>
            <a:r>
              <a:rPr lang="ja-JP" altLang="en-US">
                <a:solidFill>
                  <a:srgbClr val="000000"/>
                </a:solidFill>
                <a:latin typeface="Lucida Grande" charset="0"/>
                <a:ea typeface="AppleGothic" charset="-127"/>
                <a:cs typeface="AppleGothic" charset="-127"/>
                <a:sym typeface="Lucida Grande" charset="0"/>
              </a:rPr>
              <a:t>열상태</a:t>
            </a:r>
            <a:r>
              <a:rPr lang="en-US" altLang="ja-JP">
                <a:solidFill>
                  <a:srgbClr val="000000"/>
                </a:solidFill>
                <a:latin typeface="Lucida Grande" charset="0"/>
                <a:ea typeface="AppleGothic" charset="-127"/>
                <a:cs typeface="AppleGothic" charset="-127"/>
                <a:sym typeface="Lucida Grande" charset="0"/>
              </a:rPr>
              <a:t>)</a:t>
            </a:r>
            <a:r>
              <a:rPr lang="ja-JP" altLang="en-US">
                <a:solidFill>
                  <a:srgbClr val="000000"/>
                </a:solidFill>
                <a:latin typeface="Lucida Grande" charset="0"/>
                <a:ea typeface="AppleGothic" charset="-127"/>
                <a:cs typeface="AppleGothic" charset="-127"/>
                <a:sym typeface="Lucida Grande" charset="0"/>
              </a:rPr>
              <a:t>가</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두</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가지</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다른</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오퍼레이터들의</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중첩에</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따라</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어떻게</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다르게</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변하는지를</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보여줌</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오퍼레이터들의</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양자</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중첩을</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구현할</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수</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있어</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다양한</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양자</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제어에</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응용할</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수</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있을</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것으로</a:t>
            </a:r>
            <a:r>
              <a:rPr lang="en-US" altLang="ja-JP">
                <a:solidFill>
                  <a:srgbClr val="000000"/>
                </a:solidFill>
                <a:latin typeface="Lucida Grande" charset="0"/>
                <a:ea typeface="AppleGothic" charset="-127"/>
                <a:cs typeface="AppleGothic" charset="-127"/>
                <a:sym typeface="Lucida Grande" charset="0"/>
              </a:rPr>
              <a:t> </a:t>
            </a:r>
            <a:r>
              <a:rPr lang="ja-JP" altLang="en-US">
                <a:solidFill>
                  <a:srgbClr val="000000"/>
                </a:solidFill>
                <a:latin typeface="Lucida Grande" charset="0"/>
                <a:ea typeface="AppleGothic" charset="-127"/>
                <a:cs typeface="AppleGothic" charset="-127"/>
                <a:sym typeface="Lucida Grande" charset="0"/>
              </a:rPr>
              <a:t>기대</a:t>
            </a:r>
            <a:r>
              <a:rPr lang="en-US" altLang="ja-JP">
                <a:solidFill>
                  <a:srgbClr val="000000"/>
                </a:solidFill>
                <a:latin typeface="Lucida Grande" charset="0"/>
                <a:ea typeface="AppleGothic" charset="-127"/>
                <a:cs typeface="AppleGothic" charset="-127"/>
                <a:sym typeface="Lucida Grande" charset="0"/>
              </a:rPr>
              <a:t>.</a:t>
            </a:r>
          </a:p>
          <a:p>
            <a:endParaRPr lang="ja-JP" altLang="en-US" sz="1600">
              <a:latin typeface="Helvetica" charset="0"/>
              <a:ea typeface="Helvetica" charset="0"/>
              <a:cs typeface="Helvetica" charset="0"/>
              <a:sym typeface="Helvetica"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5" name="Rectangle 1"/>
          <p:cNvSpPr>
            <a:spLocks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6626" name="Rectangle 2"/>
          <p:cNvSpPr>
            <a:spLocks noChangeArrowheads="1"/>
          </p:cNvSpPr>
          <p:nvPr>
            <p:ph type="body" idx="1"/>
          </p:nvPr>
        </p:nvSpPr>
        <p:spPr bwMode="auto">
          <a:xfrm>
            <a:off x="685800" y="4343400"/>
            <a:ext cx="5486400" cy="4114800"/>
          </a:xfrm>
          <a:prstGeom prst="rect">
            <a:avLst/>
          </a:prstGeom>
          <a:noFill/>
          <a:ln>
            <a:miter lim="800000"/>
            <a:headEnd/>
            <a:tailEnd/>
          </a:ln>
        </p:spPr>
        <p:txBody>
          <a:bodyPr>
            <a:prstTxWarp prst="textNoShape">
              <a:avLst/>
            </a:prstTxWarp>
          </a:bodyPr>
          <a:lstStyle/>
          <a:p>
            <a:pPr marL="39688"/>
            <a:r>
              <a:rPr lang="en-US" altLang="ja-JP">
                <a:solidFill>
                  <a:srgbClr val="000000"/>
                </a:solidFill>
                <a:latin typeface="Lucida Grande" charset="0"/>
                <a:ea typeface="Lucida Grande" charset="0"/>
                <a:cs typeface="Lucida Grande" charset="0"/>
                <a:sym typeface="Lucida Grande" charset="0"/>
              </a:rPr>
              <a:t>The participating foreign scholar, Yong-il Shin gave two lectures and is advising two graduate students. They have made excellent performance in research and awarded many presentation prizes.  </a:t>
            </a:r>
          </a:p>
          <a:p>
            <a:pPr marL="39688"/>
            <a:endParaRPr lang="ja-JP" altLang="en-US">
              <a:solidFill>
                <a:srgbClr val="000000"/>
              </a:solidFill>
              <a:latin typeface="Lucida Grande" charset="0"/>
              <a:ea typeface="Lucida Grande" charset="0"/>
              <a:cs typeface="Lucida Grande" charset="0"/>
              <a:sym typeface="Lucida Grande"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3" name="Rectangle 1"/>
          <p:cNvSpPr>
            <a:spLocks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8674" name="Rectangle 2"/>
          <p:cNvSpPr>
            <a:spLocks noChangeArrowheads="1"/>
          </p:cNvSpPr>
          <p:nvPr>
            <p:ph type="body" idx="1"/>
          </p:nvPr>
        </p:nvSpPr>
        <p:spPr bwMode="auto">
          <a:xfrm>
            <a:off x="685800" y="4343400"/>
            <a:ext cx="5486400" cy="4114800"/>
          </a:xfrm>
          <a:prstGeom prst="rect">
            <a:avLst/>
          </a:prstGeom>
          <a:noFill/>
          <a:ln>
            <a:miter lim="800000"/>
            <a:headEnd/>
            <a:tailEnd/>
          </a:ln>
        </p:spPr>
        <p:txBody>
          <a:bodyPr>
            <a:prstTxWarp prst="textNoShape">
              <a:avLst/>
            </a:prstTxWarp>
          </a:bodyPr>
          <a:lstStyle/>
          <a:p>
            <a:pPr marL="39688"/>
            <a:r>
              <a:rPr lang="en-US" altLang="ja-JP">
                <a:solidFill>
                  <a:srgbClr val="000000"/>
                </a:solidFill>
                <a:latin typeface="Lucida Grande" charset="0"/>
                <a:ea typeface="Lucida Grande" charset="0"/>
                <a:cs typeface="Lucida Grande" charset="0"/>
                <a:sym typeface="Lucida Grande" charset="0"/>
              </a:rPr>
              <a:t>This is the list of numerous academic activities of Yong-il Shin.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5" name="Rectangle 1"/>
          <p:cNvSpPr>
            <a:spLocks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1746" name="Rectangle 2"/>
          <p:cNvSpPr>
            <a:spLocks noChangeArrowheads="1"/>
          </p:cNvSpPr>
          <p:nvPr>
            <p:ph type="body" idx="1"/>
          </p:nvPr>
        </p:nvSpPr>
        <p:spPr bwMode="auto">
          <a:xfrm>
            <a:off x="685800" y="4343400"/>
            <a:ext cx="5486400" cy="4114800"/>
          </a:xfrm>
          <a:prstGeom prst="rect">
            <a:avLst/>
          </a:prstGeom>
          <a:noFill/>
          <a:ln>
            <a:miter lim="800000"/>
            <a:headEnd/>
            <a:tailEnd/>
          </a:ln>
        </p:spPr>
        <p:txBody>
          <a:bodyPr>
            <a:prstTxWarp prst="textNoShape">
              <a:avLst/>
            </a:prstTxWarp>
          </a:bodyPr>
          <a:lstStyle/>
          <a:p>
            <a:pPr marL="39688"/>
            <a:r>
              <a:rPr lang="en-US" altLang="ja-JP">
                <a:solidFill>
                  <a:srgbClr val="000000"/>
                </a:solidFill>
                <a:latin typeface="Lucida Grande" charset="0"/>
                <a:ea typeface="Lucida Grande" charset="0"/>
                <a:cs typeface="Lucida Grande" charset="0"/>
                <a:sym typeface="Lucida Grande" charset="0"/>
              </a:rPr>
              <a:t>In the following program phase, we will investigate spinor physics with sodium condensates. In past decades, most of spinor physics has studied with rubidium condensates, where people observe, for example, the spontaneous magnetic domain formation and so on. Sodium condensates have different spin-exchange properties than rubidium condensates, so we expect to explore the other side of spinor physics with our BEC machine. The major topics include magnetic monopole, polar state, half quantum vortex state and so on.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3" name="Rectangle 1"/>
          <p:cNvSpPr>
            <a:spLocks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3794" name="Rectangle 2"/>
          <p:cNvSpPr>
            <a:spLocks noChangeArrowheads="1"/>
          </p:cNvSpPr>
          <p:nvPr>
            <p:ph type="body" idx="1"/>
          </p:nvPr>
        </p:nvSpPr>
        <p:spPr bwMode="auto">
          <a:xfrm>
            <a:off x="685800" y="4343400"/>
            <a:ext cx="5486400" cy="4114800"/>
          </a:xfrm>
          <a:prstGeom prst="rect">
            <a:avLst/>
          </a:prstGeom>
          <a:noFill/>
          <a:ln>
            <a:miter lim="800000"/>
            <a:headEnd/>
            <a:tailEnd/>
          </a:ln>
        </p:spPr>
        <p:txBody>
          <a:bodyPr>
            <a:prstTxWarp prst="textNoShape">
              <a:avLst/>
            </a:prstTxWarp>
          </a:bodyPr>
          <a:lstStyle/>
          <a:p>
            <a:pPr marL="39688"/>
            <a:r>
              <a:rPr lang="en-US" altLang="ja-JP">
                <a:solidFill>
                  <a:srgbClr val="000000"/>
                </a:solidFill>
                <a:latin typeface="Lucida Grande" charset="0"/>
                <a:ea typeface="Lucida Grande" charset="0"/>
                <a:cs typeface="Lucida Grande" charset="0"/>
                <a:sym typeface="Lucida Grande" charset="0"/>
              </a:rPr>
              <a:t>Another main agenda in the second phase is the study of superfluidity in strongly-interacting Fermi gases. Our apparatus will be upgraded to produce quantum degenerate gases of Li-6 atoms together with Na condensates. Using magnetically tunable Feshbach scattering resonances, one can prepare maximally interacting Fermi gases. We will explore new exotic quantum phases, for example, the FFLO state and the breached-pair state, which have been theoretically predicted to exist in this system. Ultimately, the precise quantitative understanding of this strongly interacting Fermi system will provide new insights on fermionic superfluidity, including high-Tc superconductors.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altLang="ja-JP" smtClean="0"/>
              <a:t>Click to edit Master title style</a:t>
            </a:r>
            <a:endParaRPr lang="ja-JP" alt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smtClean="0"/>
              <a:t>Click to edit Master subtitle style</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61141791-BC16-CB46-B3BE-FBB2CA4FFC54}" type="slidenum">
              <a:rPr lang="en-US" altLang="ja-JP"/>
              <a:pPr/>
              <a:t>‹#›</a:t>
            </a:fld>
            <a:endParaRPr lang="en-US" altLang="ja-JP"/>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idx="1"/>
          </p:nvPr>
        </p:nvSpPr>
        <p:spPr/>
        <p:txBody>
          <a:body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BE876EA0-41AB-014B-B86C-7162C777AD34}" type="slidenum">
              <a:rPr lang="en-US" altLang="ja-JP"/>
              <a:pPr/>
              <a:t>‹#›</a:t>
            </a:fld>
            <a:endParaRPr lang="en-US" altLang="ja-JP"/>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lstStyle>
            <a:lvl1pPr algn="l">
              <a:defRPr sz="4000" b="1" cap="all"/>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smtClean="0"/>
              <a:t>Click to edit Master text styles</a:t>
            </a:r>
          </a:p>
        </p:txBody>
      </p:sp>
      <p:sp>
        <p:nvSpPr>
          <p:cNvPr id="4" name="Slide Number Placeholder 3"/>
          <p:cNvSpPr>
            <a:spLocks noGrp="1"/>
          </p:cNvSpPr>
          <p:nvPr>
            <p:ph type="sldNum" sz="quarter" idx="10"/>
          </p:nvPr>
        </p:nvSpPr>
        <p:spPr/>
        <p:txBody>
          <a:bodyPr/>
          <a:lstStyle>
            <a:lvl1pPr>
              <a:defRPr smtClean="0"/>
            </a:lvl1pPr>
          </a:lstStyle>
          <a:p>
            <a:fld id="{F402D67D-D70E-C047-95A5-3FB4FE875011}" type="slidenum">
              <a:rPr lang="en-US" altLang="ja-JP"/>
              <a:pPr/>
              <a:t>‹#›</a:t>
            </a:fld>
            <a:endParaRPr lang="en-US" altLang="ja-JP"/>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sz="half" idx="1"/>
          </p:nvPr>
        </p:nvSpPr>
        <p:spPr>
          <a:xfrm>
            <a:off x="1406525" y="2908300"/>
            <a:ext cx="5018088"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Content Placeholder 3"/>
          <p:cNvSpPr>
            <a:spLocks noGrp="1"/>
          </p:cNvSpPr>
          <p:nvPr>
            <p:ph sz="half" idx="2"/>
          </p:nvPr>
        </p:nvSpPr>
        <p:spPr>
          <a:xfrm>
            <a:off x="6577013" y="2908300"/>
            <a:ext cx="5019675"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5" name="Slide Number Placeholder 4"/>
          <p:cNvSpPr>
            <a:spLocks noGrp="1"/>
          </p:cNvSpPr>
          <p:nvPr>
            <p:ph type="sldNum" sz="quarter" idx="10"/>
          </p:nvPr>
        </p:nvSpPr>
        <p:spPr/>
        <p:txBody>
          <a:bodyPr/>
          <a:lstStyle>
            <a:lvl1pPr>
              <a:defRPr smtClean="0"/>
            </a:lvl1pPr>
          </a:lstStyle>
          <a:p>
            <a:fld id="{014BC2CF-5CB7-7C4A-99A7-5D7671BF9E13}" type="slidenum">
              <a:rPr lang="en-US" altLang="ja-JP"/>
              <a:pPr/>
              <a:t>‹#›</a:t>
            </a:fld>
            <a:endParaRPr lang="en-US" altLang="ja-JP"/>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7" name="Slide Number Placeholder 6"/>
          <p:cNvSpPr>
            <a:spLocks noGrp="1"/>
          </p:cNvSpPr>
          <p:nvPr>
            <p:ph type="sldNum" sz="quarter" idx="10"/>
          </p:nvPr>
        </p:nvSpPr>
        <p:spPr/>
        <p:txBody>
          <a:bodyPr/>
          <a:lstStyle>
            <a:lvl1pPr>
              <a:defRPr smtClean="0"/>
            </a:lvl1pPr>
          </a:lstStyle>
          <a:p>
            <a:fld id="{B9316538-325C-B344-95EE-92B8E0355E55}" type="slidenum">
              <a:rPr lang="en-US" altLang="ja-JP"/>
              <a:pPr/>
              <a:t>‹#›</a:t>
            </a:fld>
            <a:endParaRPr lang="en-US" altLang="ja-JP"/>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Slide Number Placeholder 2"/>
          <p:cNvSpPr>
            <a:spLocks noGrp="1"/>
          </p:cNvSpPr>
          <p:nvPr>
            <p:ph type="sldNum" sz="quarter" idx="10"/>
          </p:nvPr>
        </p:nvSpPr>
        <p:spPr/>
        <p:txBody>
          <a:bodyPr/>
          <a:lstStyle>
            <a:lvl1pPr>
              <a:defRPr smtClean="0"/>
            </a:lvl1pPr>
          </a:lstStyle>
          <a:p>
            <a:fld id="{5AC36C35-070C-1145-A7AE-029CB02409CA}" type="slidenum">
              <a:rPr lang="en-US" altLang="ja-JP"/>
              <a:pPr/>
              <a:t>‹#›</a:t>
            </a:fld>
            <a:endParaRPr lang="en-US" altLang="ja-JP"/>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mtClean="0"/>
            </a:lvl1pPr>
          </a:lstStyle>
          <a:p>
            <a:fld id="{549CDB3B-51EA-CE40-9552-0EC39C566445}" type="slidenum">
              <a:rPr lang="en-US" altLang="ja-JP"/>
              <a:pPr/>
              <a:t>‹#›</a:t>
            </a:fld>
            <a:endParaRPr lang="en-US" altLang="ja-JP"/>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altLang="ja-JP" smtClean="0"/>
              <a:t>Click to edit Master title style</a:t>
            </a:r>
            <a:endParaRPr lang="ja-JP" alt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fld id="{583FA9E1-DA38-114F-A658-1110F20DC830}" type="slidenum">
              <a:rPr lang="en-US" altLang="ja-JP"/>
              <a:pPr/>
              <a:t>‹#›</a:t>
            </a:fld>
            <a:endParaRPr lang="en-US" altLang="ja-JP"/>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altLang="ja-JP" smtClean="0"/>
              <a:t>Click to edit Master title style</a:t>
            </a:r>
            <a:endParaRPr lang="ja-JP" alt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fld id="{DB44C620-D5B2-AE41-8C0E-69BA088392EB}" type="slidenum">
              <a:rPr lang="en-US" altLang="ja-JP"/>
              <a:pPr/>
              <a:t>‹#›</a:t>
            </a:fld>
            <a:endParaRPr lang="en-US" altLang="ja-JP"/>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1853B574-4ED9-4F4E-A58A-CBB02E245B30}" type="slidenum">
              <a:rPr lang="en-US" altLang="ja-JP"/>
              <a:pPr/>
              <a:t>‹#›</a:t>
            </a:fld>
            <a:endParaRPr lang="en-US" altLang="ja-JP"/>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18625" y="827088"/>
            <a:ext cx="2814638" cy="8926512"/>
          </a:xfrm>
        </p:spPr>
        <p:txBody>
          <a:bodyPr vert="eaVert"/>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a:xfrm>
            <a:off x="869950" y="827088"/>
            <a:ext cx="8296275" cy="8926512"/>
          </a:xfrm>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1F5C4D2B-177A-0F42-B5FE-6D5939209947}" type="slidenum">
              <a:rPr lang="en-US" altLang="ja-JP"/>
              <a:pPr/>
              <a:t>‹#›</a:t>
            </a:fld>
            <a:endParaRPr lang="en-US" altLang="ja-JP"/>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altLang="ja-JP" smtClean="0"/>
              <a:t>Click to edit Master title style</a:t>
            </a:r>
            <a:endParaRPr lang="ja-JP" alt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smtClean="0"/>
              <a:t>Click to edit Master subtitle style</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604D3B7D-316F-C645-8CB0-E984F6C05F35}" type="slidenum">
              <a:rPr lang="en-US" altLang="ja-JP"/>
              <a:pPr/>
              <a:t>‹#›</a:t>
            </a:fld>
            <a:endParaRPr lang="en-US" altLang="ja-JP"/>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idx="1"/>
          </p:nvPr>
        </p:nvSpPr>
        <p:spPr/>
        <p:txBody>
          <a:body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C371E001-BB88-C34E-8D85-3C71A8BD59E4}" type="slidenum">
              <a:rPr lang="en-US" altLang="ja-JP"/>
              <a:pPr/>
              <a:t>‹#›</a:t>
            </a:fld>
            <a:endParaRPr lang="en-US" altLang="ja-JP"/>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lstStyle>
            <a:lvl1pPr algn="l">
              <a:defRPr sz="4000" b="1" cap="all"/>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smtClean="0"/>
              <a:t>Click to edit Master text styles</a:t>
            </a:r>
          </a:p>
        </p:txBody>
      </p:sp>
      <p:sp>
        <p:nvSpPr>
          <p:cNvPr id="4" name="Slide Number Placeholder 3"/>
          <p:cNvSpPr>
            <a:spLocks noGrp="1"/>
          </p:cNvSpPr>
          <p:nvPr>
            <p:ph type="sldNum" sz="quarter" idx="10"/>
          </p:nvPr>
        </p:nvSpPr>
        <p:spPr/>
        <p:txBody>
          <a:bodyPr/>
          <a:lstStyle>
            <a:lvl1pPr>
              <a:defRPr smtClean="0"/>
            </a:lvl1pPr>
          </a:lstStyle>
          <a:p>
            <a:fld id="{B774DD07-A9D0-4D48-9EDC-988C1E0777C7}" type="slidenum">
              <a:rPr lang="en-US" altLang="ja-JP"/>
              <a:pPr/>
              <a:t>‹#›</a:t>
            </a:fld>
            <a:endParaRPr lang="en-US" altLang="ja-JP"/>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sz="half" idx="1"/>
          </p:nvPr>
        </p:nvSpPr>
        <p:spPr>
          <a:xfrm>
            <a:off x="1406525" y="2908300"/>
            <a:ext cx="5018088"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Content Placeholder 3"/>
          <p:cNvSpPr>
            <a:spLocks noGrp="1"/>
          </p:cNvSpPr>
          <p:nvPr>
            <p:ph sz="half" idx="2"/>
          </p:nvPr>
        </p:nvSpPr>
        <p:spPr>
          <a:xfrm>
            <a:off x="6577013" y="2908300"/>
            <a:ext cx="5019675"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5" name="Slide Number Placeholder 4"/>
          <p:cNvSpPr>
            <a:spLocks noGrp="1"/>
          </p:cNvSpPr>
          <p:nvPr>
            <p:ph type="sldNum" sz="quarter" idx="10"/>
          </p:nvPr>
        </p:nvSpPr>
        <p:spPr/>
        <p:txBody>
          <a:bodyPr/>
          <a:lstStyle>
            <a:lvl1pPr>
              <a:defRPr smtClean="0"/>
            </a:lvl1pPr>
          </a:lstStyle>
          <a:p>
            <a:fld id="{662AE365-7A42-184B-AE1C-A6E301998EDB}" type="slidenum">
              <a:rPr lang="en-US" altLang="ja-JP"/>
              <a:pPr/>
              <a:t>‹#›</a:t>
            </a:fld>
            <a:endParaRPr lang="en-US" altLang="ja-JP"/>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7" name="Slide Number Placeholder 6"/>
          <p:cNvSpPr>
            <a:spLocks noGrp="1"/>
          </p:cNvSpPr>
          <p:nvPr>
            <p:ph type="sldNum" sz="quarter" idx="10"/>
          </p:nvPr>
        </p:nvSpPr>
        <p:spPr/>
        <p:txBody>
          <a:bodyPr/>
          <a:lstStyle>
            <a:lvl1pPr>
              <a:defRPr smtClean="0"/>
            </a:lvl1pPr>
          </a:lstStyle>
          <a:p>
            <a:fld id="{378FB207-5FBF-6140-9294-5E3217A8F3D6}" type="slidenum">
              <a:rPr lang="en-US" altLang="ja-JP"/>
              <a:pPr/>
              <a:t>‹#›</a:t>
            </a:fld>
            <a:endParaRPr lang="en-US" altLang="ja-JP"/>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Slide Number Placeholder 2"/>
          <p:cNvSpPr>
            <a:spLocks noGrp="1"/>
          </p:cNvSpPr>
          <p:nvPr>
            <p:ph type="sldNum" sz="quarter" idx="10"/>
          </p:nvPr>
        </p:nvSpPr>
        <p:spPr/>
        <p:txBody>
          <a:bodyPr/>
          <a:lstStyle>
            <a:lvl1pPr>
              <a:defRPr smtClean="0"/>
            </a:lvl1pPr>
          </a:lstStyle>
          <a:p>
            <a:fld id="{83431A9C-27F1-C241-807A-62D996BE485B}" type="slidenum">
              <a:rPr lang="en-US" altLang="ja-JP"/>
              <a:pPr/>
              <a:t>‹#›</a:t>
            </a:fld>
            <a:endParaRPr lang="en-US" altLang="ja-JP"/>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mtClean="0"/>
            </a:lvl1pPr>
          </a:lstStyle>
          <a:p>
            <a:fld id="{7AB8D9E8-B888-5D42-A92A-977FAC3E8508}" type="slidenum">
              <a:rPr lang="en-US" altLang="ja-JP"/>
              <a:pPr/>
              <a:t>‹#›</a:t>
            </a:fld>
            <a:endParaRPr lang="en-US" altLang="ja-JP"/>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altLang="ja-JP" smtClean="0"/>
              <a:t>Click to edit Master title style</a:t>
            </a:r>
            <a:endParaRPr lang="ja-JP" alt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fld id="{5D88B7BC-8FF6-454F-8BF0-4A7914165562}" type="slidenum">
              <a:rPr lang="en-US" altLang="ja-JP"/>
              <a:pPr/>
              <a:t>‹#›</a:t>
            </a:fld>
            <a:endParaRPr lang="en-US" altLang="ja-JP"/>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altLang="ja-JP" smtClean="0"/>
              <a:t>Click to edit Master title style</a:t>
            </a:r>
            <a:endParaRPr lang="ja-JP" alt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fld id="{8AA7A69C-2C0B-6F4F-9407-60E9DCD52746}" type="slidenum">
              <a:rPr lang="en-US" altLang="ja-JP"/>
              <a:pPr/>
              <a:t>‹#›</a:t>
            </a:fld>
            <a:endParaRPr lang="en-US" altLang="ja-JP"/>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86705656-7896-FA4C-AECB-F6985FD0CE7D}" type="slidenum">
              <a:rPr lang="en-US" altLang="ja-JP"/>
              <a:pPr/>
              <a:t>‹#›</a:t>
            </a:fld>
            <a:endParaRPr lang="en-US" altLang="ja-JP"/>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18625" y="827088"/>
            <a:ext cx="2814638" cy="8926512"/>
          </a:xfrm>
        </p:spPr>
        <p:txBody>
          <a:bodyPr vert="eaVert"/>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a:xfrm>
            <a:off x="869950" y="827088"/>
            <a:ext cx="8296275" cy="8926512"/>
          </a:xfrm>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B43BBF20-99C9-364D-B057-60BB96360C71}" type="slidenum">
              <a:rPr lang="en-US" altLang="ja-JP"/>
              <a:pPr/>
              <a:t>‹#›</a:t>
            </a:fld>
            <a:endParaRPr lang="en-US" altLang="ja-JP"/>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altLang="ja-JP" smtClean="0"/>
              <a:t>Click to edit Master title style</a:t>
            </a:r>
            <a:endParaRPr lang="ja-JP" alt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smtClean="0"/>
              <a:t>Click to edit Master subtitle style</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C0089E5F-DC60-2042-8518-1B22548C83D4}" type="slidenum">
              <a:rPr lang="en-US" altLang="ja-JP"/>
              <a:pPr/>
              <a:t>‹#›</a:t>
            </a:fld>
            <a:endParaRPr lang="en-US" altLang="ja-JP"/>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idx="1"/>
          </p:nvPr>
        </p:nvSpPr>
        <p:spPr/>
        <p:txBody>
          <a:body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83943A9E-3472-DD43-A989-C3300ADB4836}" type="slidenum">
              <a:rPr lang="en-US" altLang="ja-JP"/>
              <a:pPr/>
              <a:t>‹#›</a:t>
            </a:fld>
            <a:endParaRPr lang="en-US" altLang="ja-JP"/>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lstStyle>
            <a:lvl1pPr algn="l">
              <a:defRPr sz="4000" b="1" cap="all"/>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smtClean="0"/>
              <a:t>Click to edit Master text styles</a:t>
            </a:r>
          </a:p>
        </p:txBody>
      </p:sp>
      <p:sp>
        <p:nvSpPr>
          <p:cNvPr id="4" name="Slide Number Placeholder 3"/>
          <p:cNvSpPr>
            <a:spLocks noGrp="1"/>
          </p:cNvSpPr>
          <p:nvPr>
            <p:ph type="sldNum" sz="quarter" idx="10"/>
          </p:nvPr>
        </p:nvSpPr>
        <p:spPr/>
        <p:txBody>
          <a:bodyPr/>
          <a:lstStyle>
            <a:lvl1pPr>
              <a:defRPr smtClean="0"/>
            </a:lvl1pPr>
          </a:lstStyle>
          <a:p>
            <a:fld id="{34BFE670-6C9E-FD4E-9845-D4DDBB1DF6FC}" type="slidenum">
              <a:rPr lang="en-US" altLang="ja-JP"/>
              <a:pPr/>
              <a:t>‹#›</a:t>
            </a:fld>
            <a:endParaRPr lang="en-US" altLang="ja-JP"/>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sz="half" idx="1"/>
          </p:nvPr>
        </p:nvSpPr>
        <p:spPr>
          <a:xfrm>
            <a:off x="1406525" y="2908300"/>
            <a:ext cx="5018088"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Content Placeholder 3"/>
          <p:cNvSpPr>
            <a:spLocks noGrp="1"/>
          </p:cNvSpPr>
          <p:nvPr>
            <p:ph sz="half" idx="2"/>
          </p:nvPr>
        </p:nvSpPr>
        <p:spPr>
          <a:xfrm>
            <a:off x="6577013" y="2908300"/>
            <a:ext cx="5019675"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5" name="Slide Number Placeholder 4"/>
          <p:cNvSpPr>
            <a:spLocks noGrp="1"/>
          </p:cNvSpPr>
          <p:nvPr>
            <p:ph type="sldNum" sz="quarter" idx="10"/>
          </p:nvPr>
        </p:nvSpPr>
        <p:spPr/>
        <p:txBody>
          <a:bodyPr/>
          <a:lstStyle>
            <a:lvl1pPr>
              <a:defRPr smtClean="0"/>
            </a:lvl1pPr>
          </a:lstStyle>
          <a:p>
            <a:fld id="{534E1B03-574D-064A-B9CB-D83D2FF6FAE8}" type="slidenum">
              <a:rPr lang="en-US" altLang="ja-JP"/>
              <a:pPr/>
              <a:t>‹#›</a:t>
            </a:fld>
            <a:endParaRPr lang="en-US" altLang="ja-JP"/>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7" name="Slide Number Placeholder 6"/>
          <p:cNvSpPr>
            <a:spLocks noGrp="1"/>
          </p:cNvSpPr>
          <p:nvPr>
            <p:ph type="sldNum" sz="quarter" idx="10"/>
          </p:nvPr>
        </p:nvSpPr>
        <p:spPr/>
        <p:txBody>
          <a:bodyPr/>
          <a:lstStyle>
            <a:lvl1pPr>
              <a:defRPr smtClean="0"/>
            </a:lvl1pPr>
          </a:lstStyle>
          <a:p>
            <a:fld id="{32F3B4D6-7A0B-7244-96A1-DE70287EEB72}" type="slidenum">
              <a:rPr lang="en-US" altLang="ja-JP"/>
              <a:pPr/>
              <a:t>‹#›</a:t>
            </a:fld>
            <a:endParaRPr lang="en-US" altLang="ja-JP"/>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Slide Number Placeholder 2"/>
          <p:cNvSpPr>
            <a:spLocks noGrp="1"/>
          </p:cNvSpPr>
          <p:nvPr>
            <p:ph type="sldNum" sz="quarter" idx="10"/>
          </p:nvPr>
        </p:nvSpPr>
        <p:spPr/>
        <p:txBody>
          <a:bodyPr/>
          <a:lstStyle>
            <a:lvl1pPr>
              <a:defRPr smtClean="0"/>
            </a:lvl1pPr>
          </a:lstStyle>
          <a:p>
            <a:fld id="{A42A9D36-AF87-0B49-BAED-A75470503890}" type="slidenum">
              <a:rPr lang="en-US" altLang="ja-JP"/>
              <a:pPr/>
              <a:t>‹#›</a:t>
            </a:fld>
            <a:endParaRPr lang="en-US" altLang="ja-JP"/>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mtClean="0"/>
            </a:lvl1pPr>
          </a:lstStyle>
          <a:p>
            <a:fld id="{E8F152EE-FD5A-5D46-8F0E-59CFB9C58A07}" type="slidenum">
              <a:rPr lang="en-US" altLang="ja-JP"/>
              <a:pPr/>
              <a:t>‹#›</a:t>
            </a:fld>
            <a:endParaRPr lang="en-US" altLang="ja-JP"/>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altLang="ja-JP" smtClean="0"/>
              <a:t>Click to edit Master title style</a:t>
            </a:r>
            <a:endParaRPr lang="ja-JP" alt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fld id="{0B9CBB6A-D3EA-A74B-8EAE-9D1F2E700CDC}" type="slidenum">
              <a:rPr lang="en-US" altLang="ja-JP"/>
              <a:pPr/>
              <a:t>‹#›</a:t>
            </a:fld>
            <a:endParaRPr lang="en-US" altLang="ja-JP"/>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altLang="ja-JP" smtClean="0"/>
              <a:t>Click to edit Master title style</a:t>
            </a:r>
            <a:endParaRPr lang="ja-JP" alt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fld id="{736CD3FE-B55B-AC41-A614-6DD888449A98}" type="slidenum">
              <a:rPr lang="en-US" altLang="ja-JP"/>
              <a:pPr/>
              <a:t>‹#›</a:t>
            </a:fld>
            <a:endParaRPr lang="en-US" altLang="ja-JP"/>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8A253D2A-3BB7-BF47-8D43-C2DA47EEE7AF}" type="slidenum">
              <a:rPr lang="en-US" altLang="ja-JP"/>
              <a:pPr/>
              <a:t>‹#›</a:t>
            </a:fld>
            <a:endParaRPr lang="en-US" altLang="ja-JP"/>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18625" y="827088"/>
            <a:ext cx="2814638" cy="8926512"/>
          </a:xfrm>
        </p:spPr>
        <p:txBody>
          <a:bodyPr vert="eaVert"/>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a:xfrm>
            <a:off x="869950" y="827088"/>
            <a:ext cx="8296275" cy="8926512"/>
          </a:xfrm>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078D1957-1839-0846-8BD3-F798EA0E5491}" type="slidenum">
              <a:rPr lang="en-US" altLang="ja-JP"/>
              <a:pPr/>
              <a:t>‹#›</a:t>
            </a:fld>
            <a:endParaRPr lang="en-US" altLang="ja-JP"/>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altLang="ja-JP" smtClean="0"/>
              <a:t>Click to edit Master title style</a:t>
            </a:r>
            <a:endParaRPr lang="ja-JP" alt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smtClean="0"/>
              <a:t>Click to edit Master subtitle style</a:t>
            </a:r>
            <a:endParaRPr lang="ja-JP" altLang="en-US"/>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idx="1"/>
          </p:nvPr>
        </p:nvSpPr>
        <p:spPr/>
        <p:txBody>
          <a:body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lstStyle>
            <a:lvl1pPr algn="l">
              <a:defRPr sz="4000" b="1" cap="all"/>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smtClean="0"/>
              <a:t>Click to edit Master text styles</a:t>
            </a: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sz="half" idx="1"/>
          </p:nvPr>
        </p:nvSpPr>
        <p:spPr>
          <a:xfrm>
            <a:off x="1406525" y="2908300"/>
            <a:ext cx="5018088"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Content Placeholder 3"/>
          <p:cNvSpPr>
            <a:spLocks noGrp="1"/>
          </p:cNvSpPr>
          <p:nvPr>
            <p:ph sz="half" idx="2"/>
          </p:nvPr>
        </p:nvSpPr>
        <p:spPr>
          <a:xfrm>
            <a:off x="6577013" y="2908300"/>
            <a:ext cx="5019675"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altLang="ja-JP" smtClean="0"/>
              <a:t>Click to edit Master title style</a:t>
            </a:r>
            <a:endParaRPr lang="ja-JP" alt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altLang="ja-JP" smtClean="0"/>
              <a:t>Click to edit Master title style</a:t>
            </a:r>
            <a:endParaRPr lang="ja-JP" alt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18625" y="827088"/>
            <a:ext cx="2814638" cy="8926512"/>
          </a:xfrm>
        </p:spPr>
        <p:txBody>
          <a:bodyPr vert="eaVert"/>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a:xfrm>
            <a:off x="869950" y="827088"/>
            <a:ext cx="8296275" cy="8926512"/>
          </a:xfrm>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altLang="ja-JP" smtClean="0"/>
              <a:t>Click to edit Master title style</a:t>
            </a:r>
            <a:endParaRPr lang="ja-JP" alt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smtClean="0"/>
              <a:t>Click to edit Master subtitle style</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31E9E5A0-3FAE-264A-A38C-9D00A8F70A4A}" type="slidenum">
              <a:rPr lang="en-US" altLang="ja-JP"/>
              <a:pPr/>
              <a:t>‹#›</a:t>
            </a:fld>
            <a:endParaRPr lang="en-US" altLang="ja-JP"/>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idx="1"/>
          </p:nvPr>
        </p:nvSpPr>
        <p:spPr/>
        <p:txBody>
          <a:body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C7087A65-743F-D047-A4B0-CCA396C876A9}" type="slidenum">
              <a:rPr lang="en-US" altLang="ja-JP"/>
              <a:pPr/>
              <a:t>‹#›</a:t>
            </a:fld>
            <a:endParaRPr lang="en-US" altLang="ja-JP"/>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lstStyle>
            <a:lvl1pPr algn="l">
              <a:defRPr sz="4000" b="1" cap="all"/>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smtClean="0"/>
              <a:t>Click to edit Master text styles</a:t>
            </a:r>
          </a:p>
        </p:txBody>
      </p:sp>
      <p:sp>
        <p:nvSpPr>
          <p:cNvPr id="4" name="Slide Number Placeholder 3"/>
          <p:cNvSpPr>
            <a:spLocks noGrp="1"/>
          </p:cNvSpPr>
          <p:nvPr>
            <p:ph type="sldNum" sz="quarter" idx="10"/>
          </p:nvPr>
        </p:nvSpPr>
        <p:spPr/>
        <p:txBody>
          <a:bodyPr/>
          <a:lstStyle>
            <a:lvl1pPr>
              <a:defRPr smtClean="0"/>
            </a:lvl1pPr>
          </a:lstStyle>
          <a:p>
            <a:fld id="{21625FB0-364C-AD40-A024-15B3585A7D19}" type="slidenum">
              <a:rPr lang="en-US" altLang="ja-JP"/>
              <a:pPr/>
              <a:t>‹#›</a:t>
            </a:fld>
            <a:endParaRPr lang="en-US" altLang="ja-JP"/>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sz="half" idx="1"/>
          </p:nvPr>
        </p:nvSpPr>
        <p:spPr>
          <a:xfrm>
            <a:off x="1406525" y="2908300"/>
            <a:ext cx="5018088"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Content Placeholder 3"/>
          <p:cNvSpPr>
            <a:spLocks noGrp="1"/>
          </p:cNvSpPr>
          <p:nvPr>
            <p:ph sz="half" idx="2"/>
          </p:nvPr>
        </p:nvSpPr>
        <p:spPr>
          <a:xfrm>
            <a:off x="6577013" y="2908300"/>
            <a:ext cx="5019675"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5" name="Slide Number Placeholder 4"/>
          <p:cNvSpPr>
            <a:spLocks noGrp="1"/>
          </p:cNvSpPr>
          <p:nvPr>
            <p:ph type="sldNum" sz="quarter" idx="10"/>
          </p:nvPr>
        </p:nvSpPr>
        <p:spPr/>
        <p:txBody>
          <a:bodyPr/>
          <a:lstStyle>
            <a:lvl1pPr>
              <a:defRPr smtClean="0"/>
            </a:lvl1pPr>
          </a:lstStyle>
          <a:p>
            <a:fld id="{2A38E19D-9C10-AF4A-ACF1-5DAFC8D14274}" type="slidenum">
              <a:rPr lang="en-US" altLang="ja-JP"/>
              <a:pPr/>
              <a:t>‹#›</a:t>
            </a:fld>
            <a:endParaRPr lang="en-US" altLang="ja-JP"/>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7" name="Slide Number Placeholder 6"/>
          <p:cNvSpPr>
            <a:spLocks noGrp="1"/>
          </p:cNvSpPr>
          <p:nvPr>
            <p:ph type="sldNum" sz="quarter" idx="10"/>
          </p:nvPr>
        </p:nvSpPr>
        <p:spPr/>
        <p:txBody>
          <a:bodyPr/>
          <a:lstStyle>
            <a:lvl1pPr>
              <a:defRPr smtClean="0"/>
            </a:lvl1pPr>
          </a:lstStyle>
          <a:p>
            <a:fld id="{33048A0E-68D6-5A49-98CD-205619F73AE7}" type="slidenum">
              <a:rPr lang="en-US" altLang="ja-JP"/>
              <a:pPr/>
              <a:t>‹#›</a:t>
            </a:fld>
            <a:endParaRPr lang="en-US" altLang="ja-JP"/>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Slide Number Placeholder 2"/>
          <p:cNvSpPr>
            <a:spLocks noGrp="1"/>
          </p:cNvSpPr>
          <p:nvPr>
            <p:ph type="sldNum" sz="quarter" idx="10"/>
          </p:nvPr>
        </p:nvSpPr>
        <p:spPr/>
        <p:txBody>
          <a:bodyPr/>
          <a:lstStyle>
            <a:lvl1pPr>
              <a:defRPr smtClean="0"/>
            </a:lvl1pPr>
          </a:lstStyle>
          <a:p>
            <a:fld id="{2E6F8BC4-F5EB-5745-8DAD-D1F5165B56BC}" type="slidenum">
              <a:rPr lang="en-US" altLang="ja-JP"/>
              <a:pPr/>
              <a:t>‹#›</a:t>
            </a:fld>
            <a:endParaRPr lang="en-US" altLang="ja-JP"/>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mtClean="0"/>
            </a:lvl1pPr>
          </a:lstStyle>
          <a:p>
            <a:fld id="{FC4FA264-390C-C542-9E84-DA277C2B0DD7}" type="slidenum">
              <a:rPr lang="en-US" altLang="ja-JP"/>
              <a:pPr/>
              <a:t>‹#›</a:t>
            </a:fld>
            <a:endParaRPr lang="en-US" altLang="ja-JP"/>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altLang="ja-JP" smtClean="0"/>
              <a:t>Click to edit Master title style</a:t>
            </a:r>
            <a:endParaRPr lang="ja-JP" alt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fld id="{81A28BAC-F9AB-B348-A588-4C65ECA6D4FF}" type="slidenum">
              <a:rPr lang="en-US" altLang="ja-JP"/>
              <a:pPr/>
              <a:t>‹#›</a:t>
            </a:fld>
            <a:endParaRPr lang="en-US" altLang="ja-JP"/>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altLang="ja-JP" smtClean="0"/>
              <a:t>Click to edit Master title style</a:t>
            </a:r>
            <a:endParaRPr lang="ja-JP" alt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fld id="{4A7DD2B9-7858-F74E-85E3-BAB16B836874}" type="slidenum">
              <a:rPr lang="en-US" altLang="ja-JP"/>
              <a:pPr/>
              <a:t>‹#›</a:t>
            </a:fld>
            <a:endParaRPr lang="en-US" altLang="ja-JP"/>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2F08FCD7-A11C-9241-BA6A-12A67B8BF5EC}" type="slidenum">
              <a:rPr lang="en-US" altLang="ja-JP"/>
              <a:pPr/>
              <a:t>‹#›</a:t>
            </a:fld>
            <a:endParaRPr lang="en-US" altLang="ja-JP"/>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18625" y="827088"/>
            <a:ext cx="2814638" cy="8926512"/>
          </a:xfrm>
        </p:spPr>
        <p:txBody>
          <a:bodyPr vert="eaVert"/>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a:xfrm>
            <a:off x="869950" y="827088"/>
            <a:ext cx="8296275" cy="8926512"/>
          </a:xfrm>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Slide Number Placeholder 3"/>
          <p:cNvSpPr>
            <a:spLocks noGrp="1"/>
          </p:cNvSpPr>
          <p:nvPr>
            <p:ph type="sldNum" sz="quarter" idx="10"/>
          </p:nvPr>
        </p:nvSpPr>
        <p:spPr/>
        <p:txBody>
          <a:bodyPr/>
          <a:lstStyle>
            <a:lvl1pPr>
              <a:defRPr smtClean="0"/>
            </a:lvl1pPr>
          </a:lstStyle>
          <a:p>
            <a:fld id="{CCD9C09B-EA89-2B45-8067-B3CB644F3DD3}" type="slidenum">
              <a:rPr lang="en-US" altLang="ja-JP"/>
              <a:pPr/>
              <a:t>‹#›</a:t>
            </a:fld>
            <a:endParaRPr lang="en-US" altLang="ja-JP"/>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altLang="ja-JP" smtClean="0"/>
              <a:t>Click to edit Master title style</a:t>
            </a:r>
            <a:endParaRPr lang="ja-JP" alt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smtClean="0"/>
              <a:t>Click to edit Master subtitle style</a:t>
            </a:r>
            <a:endParaRPr lang="ja-JP" altLang="en-US"/>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idx="1"/>
          </p:nvPr>
        </p:nvSpPr>
        <p:spPr/>
        <p:txBody>
          <a:body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lstStyle>
            <a:lvl1pPr algn="l">
              <a:defRPr sz="4000" b="1" cap="all"/>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smtClean="0"/>
              <a:t>Click to edit Master text styles</a:t>
            </a: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Content Placeholder 2"/>
          <p:cNvSpPr>
            <a:spLocks noGrp="1"/>
          </p:cNvSpPr>
          <p:nvPr>
            <p:ph sz="half" idx="1"/>
          </p:nvPr>
        </p:nvSpPr>
        <p:spPr>
          <a:xfrm>
            <a:off x="1406525" y="2908300"/>
            <a:ext cx="5018088"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Content Placeholder 3"/>
          <p:cNvSpPr>
            <a:spLocks noGrp="1"/>
          </p:cNvSpPr>
          <p:nvPr>
            <p:ph sz="half" idx="2"/>
          </p:nvPr>
        </p:nvSpPr>
        <p:spPr>
          <a:xfrm>
            <a:off x="6577013" y="2908300"/>
            <a:ext cx="5019675" cy="6845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altLang="ja-JP" smtClean="0"/>
              <a:t>Click to edit Master title style</a:t>
            </a:r>
            <a:endParaRPr lang="ja-JP" alt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altLang="ja-JP" smtClean="0"/>
              <a:t>Click to edit Master title style</a:t>
            </a:r>
            <a:endParaRPr lang="ja-JP" alt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altLang="ja-JP" smtClean="0"/>
              <a:t>Click to edit Master title style</a:t>
            </a:r>
            <a:endParaRPr lang="ja-JP" alt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smtClean="0"/>
              <a:t>Click to edit Master text styles</a:t>
            </a:r>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18625" y="827088"/>
            <a:ext cx="2814638" cy="8926512"/>
          </a:xfrm>
        </p:spPr>
        <p:txBody>
          <a:bodyPr vert="eaVert"/>
          <a:lstStyle/>
          <a:p>
            <a:r>
              <a:rPr lang="en-US" altLang="ja-JP" smtClean="0"/>
              <a:t>Click to edit Master title style</a:t>
            </a:r>
            <a:endParaRPr lang="ja-JP" altLang="en-US"/>
          </a:p>
        </p:txBody>
      </p:sp>
      <p:sp>
        <p:nvSpPr>
          <p:cNvPr id="3" name="Vertical Text Placeholder 2"/>
          <p:cNvSpPr>
            <a:spLocks noGrp="1"/>
          </p:cNvSpPr>
          <p:nvPr>
            <p:ph type="body" orient="vert" idx="1"/>
          </p:nvPr>
        </p:nvSpPr>
        <p:spPr>
          <a:xfrm>
            <a:off x="869950" y="827088"/>
            <a:ext cx="8296275" cy="8926512"/>
          </a:xfrm>
        </p:spPr>
        <p:txBody>
          <a:bodyPr vert="eaVert"/>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endParaRPr lang="ja-JP"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image" Target="../media/image1.png"/><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2" Type="http://schemas.openxmlformats.org/officeDocument/2006/relationships/theme" Target="../theme/theme3.xml"/><Relationship Id="rId13" Type="http://schemas.openxmlformats.org/officeDocument/2006/relationships/image" Target="../media/image1.png"/><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4.xml"/><Relationship Id="rId12" Type="http://schemas.openxmlformats.org/officeDocument/2006/relationships/theme" Target="../theme/theme4.xml"/><Relationship Id="rId13" Type="http://schemas.openxmlformats.org/officeDocument/2006/relationships/image" Target="../media/image1.png"/><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5.xml"/><Relationship Id="rId12" Type="http://schemas.openxmlformats.org/officeDocument/2006/relationships/theme" Target="../theme/theme5.xml"/><Relationship Id="rId13" Type="http://schemas.openxmlformats.org/officeDocument/2006/relationships/image" Target="../media/image1.png"/><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66.xml"/><Relationship Id="rId12" Type="http://schemas.openxmlformats.org/officeDocument/2006/relationships/theme" Target="../theme/theme6.xml"/><Relationship Id="rId13" Type="http://schemas.openxmlformats.org/officeDocument/2006/relationships/image" Target="../media/image1.png"/><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5" name="Rectangle 1"/>
          <p:cNvSpPr>
            <a:spLocks noChangeArrowheads="1"/>
          </p:cNvSpPr>
          <p:nvPr>
            <p:ph type="title"/>
          </p:nvPr>
        </p:nvSpPr>
        <p:spPr bwMode="auto">
          <a:xfrm>
            <a:off x="869950" y="827088"/>
            <a:ext cx="11263313" cy="2079625"/>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title style</a:t>
            </a:r>
          </a:p>
        </p:txBody>
      </p:sp>
      <p:sp>
        <p:nvSpPr>
          <p:cNvPr id="1026" name="Rectangle 2"/>
          <p:cNvSpPr>
            <a:spLocks noChangeArrowheads="1"/>
          </p:cNvSpPr>
          <p:nvPr>
            <p:ph type="body" idx="1"/>
          </p:nvPr>
        </p:nvSpPr>
        <p:spPr bwMode="auto">
          <a:xfrm>
            <a:off x="1406525" y="2908300"/>
            <a:ext cx="10190163" cy="6845300"/>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text styles</a:t>
            </a:r>
          </a:p>
          <a:p>
            <a:pPr lvl="1"/>
            <a:r>
              <a:rPr lang="en-US" altLang="ja-JP">
                <a:sym typeface="Century Gothic" charset="0"/>
              </a:rPr>
              <a:t>Second level</a:t>
            </a:r>
          </a:p>
          <a:p>
            <a:pPr lvl="2"/>
            <a:r>
              <a:rPr lang="en-US" altLang="ja-JP">
                <a:sym typeface="Century Gothic" charset="0"/>
              </a:rPr>
              <a:t>Third level</a:t>
            </a:r>
          </a:p>
          <a:p>
            <a:pPr lvl="3"/>
            <a:r>
              <a:rPr lang="en-US" altLang="ja-JP">
                <a:sym typeface="Century Gothic" charset="0"/>
              </a:rPr>
              <a:t>Fourth level</a:t>
            </a:r>
          </a:p>
          <a:p>
            <a:pPr lvl="4"/>
            <a:r>
              <a:rPr lang="en-US" altLang="ja-JP">
                <a:sym typeface="Century Gothic" charset="0"/>
              </a:rPr>
              <a:t>Fifth level</a:t>
            </a:r>
          </a:p>
        </p:txBody>
      </p:sp>
      <p:sp>
        <p:nvSpPr>
          <p:cNvPr id="1027" name="Text Box 3"/>
          <p:cNvSpPr txBox="1">
            <a:spLocks noChangeArrowheads="1"/>
          </p:cNvSpPr>
          <p:nvPr>
            <p:ph type="sldNum" sz="quarter" idx="4"/>
          </p:nvPr>
        </p:nvSpPr>
        <p:spPr bwMode="auto">
          <a:xfrm>
            <a:off x="11736388" y="8991600"/>
            <a:ext cx="368300" cy="381000"/>
          </a:xfrm>
          <a:prstGeom prst="rect">
            <a:avLst/>
          </a:prstGeom>
          <a:noFill/>
          <a:ln w="12700">
            <a:noFill/>
            <a:miter lim="800000"/>
            <a:headEnd/>
            <a:tailEnd/>
          </a:ln>
          <a:effectLst/>
        </p:spPr>
        <p:txBody>
          <a:bodyPr vert="horz" wrap="none" lIns="91440" tIns="45720" rIns="91440" bIns="45720" numCol="1" anchor="ctr" anchorCtr="0" compatLnSpc="1">
            <a:prstTxWarp prst="textNoShape">
              <a:avLst/>
            </a:prstTxWarp>
          </a:bodyPr>
          <a:lstStyle>
            <a:lvl1pPr algn="ctr">
              <a:defRPr sz="1800">
                <a:solidFill>
                  <a:srgbClr val="8D9AB3"/>
                </a:solidFill>
                <a:latin typeface="+mn-lt"/>
                <a:ea typeface="Century Gothic" charset="0"/>
                <a:cs typeface="Century Gothic" charset="0"/>
                <a:sym typeface="Century Gothic" charset="0"/>
              </a:defRPr>
            </a:lvl1pPr>
          </a:lstStyle>
          <a:p>
            <a:fld id="{9719FF54-5B85-024F-8F40-C2732061EE52}" type="slidenum">
              <a:rPr lang="en-US" altLang="ja-JP"/>
              <a:pPr/>
              <a:t>‹#›</a:t>
            </a:fld>
            <a:endParaRPr lang="en-US" altLang="ja-JP"/>
          </a:p>
        </p:txBody>
      </p:sp>
    </p:spTree>
  </p:cSld>
  <p:clrMap bg1="dk2" tx1="lt1" bg2="dk1"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ransition/>
  <p:hf hdr="0" ftr="0" dt="0"/>
  <p:txStyles>
    <p:titleStyle>
      <a:lvl1pPr marL="6350" algn="ctr" rtl="0" fontAlgn="base">
        <a:spcBef>
          <a:spcPct val="0"/>
        </a:spcBef>
        <a:spcAft>
          <a:spcPct val="0"/>
        </a:spcAft>
        <a:defRPr sz="5800">
          <a:solidFill>
            <a:srgbClr val="FFAF03"/>
          </a:solidFill>
          <a:latin typeface="+mj-lt"/>
          <a:ea typeface="+mj-ea"/>
          <a:cs typeface="+mj-cs"/>
          <a:sym typeface="Century Gothic" charset="0"/>
        </a:defRPr>
      </a:lvl1pPr>
      <a:lvl2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2pPr>
      <a:lvl3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3pPr>
      <a:lvl4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4pPr>
      <a:lvl5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5pPr>
      <a:lvl6pPr marL="4635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6pPr>
      <a:lvl7pPr marL="9207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7pPr>
      <a:lvl8pPr marL="13779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8pPr>
      <a:lvl9pPr marL="18351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9pPr>
    </p:titleStyle>
    <p:bodyStyle>
      <a:lvl1pPr marL="382588" indent="-342900" algn="l" rtl="0" fontAlgn="base">
        <a:spcBef>
          <a:spcPts val="800"/>
        </a:spcBef>
        <a:spcAft>
          <a:spcPct val="0"/>
        </a:spcAft>
        <a:buClr>
          <a:srgbClr val="54638C"/>
        </a:buClr>
        <a:buSzPct val="89000"/>
        <a:buFont typeface="Wingdings 2" charset="2"/>
        <a:buChar char="Ü"/>
        <a:defRPr sz="3000">
          <a:solidFill>
            <a:schemeClr val="tx1"/>
          </a:solidFill>
          <a:latin typeface="+mn-lt"/>
          <a:ea typeface="+mn-ea"/>
          <a:cs typeface="+mn-cs"/>
          <a:sym typeface="Century Gothic" charset="0"/>
        </a:defRPr>
      </a:lvl1pPr>
      <a:lvl2pPr marL="674688" indent="-336550" algn="l" rtl="0" fontAlgn="base">
        <a:spcBef>
          <a:spcPts val="700"/>
        </a:spcBef>
        <a:spcAft>
          <a:spcPct val="0"/>
        </a:spcAft>
        <a:buClr>
          <a:srgbClr val="949FBF"/>
        </a:buClr>
        <a:buSzPct val="89000"/>
        <a:buFont typeface="Wingdings 2" charset="2"/>
        <a:buChar char="Ü"/>
        <a:defRPr sz="2800">
          <a:solidFill>
            <a:schemeClr val="tx1"/>
          </a:solidFill>
          <a:latin typeface="+mn-lt"/>
          <a:ea typeface="+mn-ea"/>
          <a:cs typeface="+mn-cs"/>
          <a:sym typeface="Century Gothic" charset="0"/>
        </a:defRPr>
      </a:lvl2pPr>
      <a:lvl3pPr marL="10239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3pPr>
      <a:lvl4pPr marL="1360488" indent="-336550" algn="l" rtl="0" fontAlgn="base">
        <a:spcBef>
          <a:spcPts val="600"/>
        </a:spcBef>
        <a:spcAft>
          <a:spcPct val="0"/>
        </a:spcAft>
        <a:buClr>
          <a:srgbClr val="949FBF"/>
        </a:buClr>
        <a:buSzPct val="89000"/>
        <a:buFont typeface="Wingdings 2" charset="2"/>
        <a:buChar char="Ü"/>
        <a:defRPr sz="2400">
          <a:solidFill>
            <a:schemeClr val="tx1"/>
          </a:solidFill>
          <a:latin typeface="+mn-lt"/>
          <a:ea typeface="+mn-ea"/>
          <a:cs typeface="+mn-cs"/>
          <a:sym typeface="Century Gothic" charset="0"/>
        </a:defRPr>
      </a:lvl4pPr>
      <a:lvl5pPr marL="17097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5pPr>
      <a:lvl6pPr marL="21669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6pPr>
      <a:lvl7pPr marL="26241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7pPr>
      <a:lvl8pPr marL="30813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8pPr>
      <a:lvl9pPr marL="35385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49" name="Rectangle 1"/>
          <p:cNvSpPr>
            <a:spLocks noChangeArrowheads="1"/>
          </p:cNvSpPr>
          <p:nvPr>
            <p:ph type="title"/>
          </p:nvPr>
        </p:nvSpPr>
        <p:spPr bwMode="auto">
          <a:xfrm>
            <a:off x="869950" y="827088"/>
            <a:ext cx="11263313" cy="2079625"/>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title style</a:t>
            </a:r>
          </a:p>
        </p:txBody>
      </p:sp>
      <p:sp>
        <p:nvSpPr>
          <p:cNvPr id="2050" name="Rectangle 2"/>
          <p:cNvSpPr>
            <a:spLocks noChangeArrowheads="1"/>
          </p:cNvSpPr>
          <p:nvPr>
            <p:ph type="body" idx="1"/>
          </p:nvPr>
        </p:nvSpPr>
        <p:spPr bwMode="auto">
          <a:xfrm>
            <a:off x="1406525" y="2908300"/>
            <a:ext cx="10190163" cy="6845300"/>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text styles</a:t>
            </a:r>
          </a:p>
          <a:p>
            <a:pPr lvl="1"/>
            <a:r>
              <a:rPr lang="en-US" altLang="ja-JP">
                <a:sym typeface="Century Gothic" charset="0"/>
              </a:rPr>
              <a:t>Second level</a:t>
            </a:r>
          </a:p>
          <a:p>
            <a:pPr lvl="2"/>
            <a:r>
              <a:rPr lang="en-US" altLang="ja-JP">
                <a:sym typeface="Century Gothic" charset="0"/>
              </a:rPr>
              <a:t>Third level</a:t>
            </a:r>
          </a:p>
          <a:p>
            <a:pPr lvl="3"/>
            <a:r>
              <a:rPr lang="en-US" altLang="ja-JP">
                <a:sym typeface="Century Gothic" charset="0"/>
              </a:rPr>
              <a:t>Fourth level</a:t>
            </a:r>
          </a:p>
          <a:p>
            <a:pPr lvl="4"/>
            <a:r>
              <a:rPr lang="en-US" altLang="ja-JP">
                <a:sym typeface="Century Gothic" charset="0"/>
              </a:rPr>
              <a:t>Fifth level</a:t>
            </a:r>
          </a:p>
        </p:txBody>
      </p:sp>
      <p:sp>
        <p:nvSpPr>
          <p:cNvPr id="2051" name="Text Box 3"/>
          <p:cNvSpPr txBox="1">
            <a:spLocks noChangeArrowheads="1"/>
          </p:cNvSpPr>
          <p:nvPr>
            <p:ph type="sldNum" sz="quarter" idx="4"/>
          </p:nvPr>
        </p:nvSpPr>
        <p:spPr bwMode="auto">
          <a:xfrm>
            <a:off x="11736388" y="8991600"/>
            <a:ext cx="368300" cy="381000"/>
          </a:xfrm>
          <a:prstGeom prst="rect">
            <a:avLst/>
          </a:prstGeom>
          <a:noFill/>
          <a:ln w="12700">
            <a:noFill/>
            <a:miter lim="800000"/>
            <a:headEnd/>
            <a:tailEnd/>
          </a:ln>
          <a:effectLst/>
        </p:spPr>
        <p:txBody>
          <a:bodyPr vert="horz" wrap="none" lIns="91440" tIns="45720" rIns="91440" bIns="45720" numCol="1" anchor="ctr" anchorCtr="0" compatLnSpc="1">
            <a:prstTxWarp prst="textNoShape">
              <a:avLst/>
            </a:prstTxWarp>
          </a:bodyPr>
          <a:lstStyle>
            <a:lvl1pPr algn="ctr">
              <a:defRPr sz="1800">
                <a:solidFill>
                  <a:srgbClr val="8D9AB3"/>
                </a:solidFill>
                <a:latin typeface="+mn-lt"/>
                <a:ea typeface="Century Gothic" charset="0"/>
                <a:cs typeface="Century Gothic" charset="0"/>
                <a:sym typeface="Century Gothic" charset="0"/>
              </a:defRPr>
            </a:lvl1pPr>
          </a:lstStyle>
          <a:p>
            <a:fld id="{103C0874-290C-B242-BE80-8D735D043730}" type="slidenum">
              <a:rPr lang="en-US" altLang="ja-JP"/>
              <a:pPr/>
              <a:t>‹#›</a:t>
            </a:fld>
            <a:endParaRPr lang="en-US" altLang="ja-JP"/>
          </a:p>
        </p:txBody>
      </p:sp>
    </p:spTree>
  </p:cSld>
  <p:clrMap bg1="dk2" tx1="lt1" bg2="dk1"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ransition/>
  <p:hf hdr="0" ftr="0" dt="0"/>
  <p:txStyles>
    <p:titleStyle>
      <a:lvl1pPr marL="6350" algn="ctr" rtl="0" fontAlgn="base">
        <a:spcBef>
          <a:spcPct val="0"/>
        </a:spcBef>
        <a:spcAft>
          <a:spcPct val="0"/>
        </a:spcAft>
        <a:defRPr sz="5800">
          <a:solidFill>
            <a:srgbClr val="FFAF03"/>
          </a:solidFill>
          <a:latin typeface="+mj-lt"/>
          <a:ea typeface="+mj-ea"/>
          <a:cs typeface="+mj-cs"/>
          <a:sym typeface="Century Gothic" charset="0"/>
        </a:defRPr>
      </a:lvl1pPr>
      <a:lvl2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2pPr>
      <a:lvl3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3pPr>
      <a:lvl4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4pPr>
      <a:lvl5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5pPr>
      <a:lvl6pPr marL="4635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6pPr>
      <a:lvl7pPr marL="9207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7pPr>
      <a:lvl8pPr marL="13779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8pPr>
      <a:lvl9pPr marL="18351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9pPr>
    </p:titleStyle>
    <p:bodyStyle>
      <a:lvl1pPr marL="382588" indent="-342900" algn="l" rtl="0" fontAlgn="base">
        <a:spcBef>
          <a:spcPts val="800"/>
        </a:spcBef>
        <a:spcAft>
          <a:spcPct val="0"/>
        </a:spcAft>
        <a:buClr>
          <a:srgbClr val="54638C"/>
        </a:buClr>
        <a:buSzPct val="89000"/>
        <a:buFont typeface="Wingdings 2" charset="2"/>
        <a:buChar char="Ü"/>
        <a:defRPr sz="3000">
          <a:solidFill>
            <a:schemeClr val="tx1"/>
          </a:solidFill>
          <a:latin typeface="+mn-lt"/>
          <a:ea typeface="+mn-ea"/>
          <a:cs typeface="+mn-cs"/>
          <a:sym typeface="Century Gothic" charset="0"/>
        </a:defRPr>
      </a:lvl1pPr>
      <a:lvl2pPr marL="674688" indent="-336550" algn="l" rtl="0" fontAlgn="base">
        <a:spcBef>
          <a:spcPts val="700"/>
        </a:spcBef>
        <a:spcAft>
          <a:spcPct val="0"/>
        </a:spcAft>
        <a:buClr>
          <a:srgbClr val="949FBF"/>
        </a:buClr>
        <a:buSzPct val="89000"/>
        <a:buFont typeface="Wingdings 2" charset="2"/>
        <a:buChar char="Ü"/>
        <a:defRPr sz="2800">
          <a:solidFill>
            <a:schemeClr val="tx1"/>
          </a:solidFill>
          <a:latin typeface="+mn-lt"/>
          <a:ea typeface="+mn-ea"/>
          <a:cs typeface="+mn-cs"/>
          <a:sym typeface="Century Gothic" charset="0"/>
        </a:defRPr>
      </a:lvl2pPr>
      <a:lvl3pPr marL="10239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3pPr>
      <a:lvl4pPr marL="1360488" indent="-336550" algn="l" rtl="0" fontAlgn="base">
        <a:spcBef>
          <a:spcPts val="600"/>
        </a:spcBef>
        <a:spcAft>
          <a:spcPct val="0"/>
        </a:spcAft>
        <a:buClr>
          <a:srgbClr val="949FBF"/>
        </a:buClr>
        <a:buSzPct val="89000"/>
        <a:buFont typeface="Wingdings 2" charset="2"/>
        <a:buChar char="Ü"/>
        <a:defRPr sz="2400">
          <a:solidFill>
            <a:schemeClr val="tx1"/>
          </a:solidFill>
          <a:latin typeface="+mn-lt"/>
          <a:ea typeface="+mn-ea"/>
          <a:cs typeface="+mn-cs"/>
          <a:sym typeface="Century Gothic" charset="0"/>
        </a:defRPr>
      </a:lvl4pPr>
      <a:lvl5pPr marL="17097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5pPr>
      <a:lvl6pPr marL="21669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6pPr>
      <a:lvl7pPr marL="26241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7pPr>
      <a:lvl8pPr marL="30813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8pPr>
      <a:lvl9pPr marL="35385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3073" name="Rectangle 1"/>
          <p:cNvSpPr>
            <a:spLocks noChangeArrowheads="1"/>
          </p:cNvSpPr>
          <p:nvPr>
            <p:ph type="title"/>
          </p:nvPr>
        </p:nvSpPr>
        <p:spPr bwMode="auto">
          <a:xfrm>
            <a:off x="869950" y="827088"/>
            <a:ext cx="11263313" cy="2081212"/>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title style</a:t>
            </a:r>
          </a:p>
        </p:txBody>
      </p:sp>
      <p:sp>
        <p:nvSpPr>
          <p:cNvPr id="3074" name="Rectangle 2"/>
          <p:cNvSpPr>
            <a:spLocks noChangeArrowheads="1"/>
          </p:cNvSpPr>
          <p:nvPr>
            <p:ph type="body" idx="1"/>
          </p:nvPr>
        </p:nvSpPr>
        <p:spPr bwMode="auto">
          <a:xfrm>
            <a:off x="1406525" y="2908300"/>
            <a:ext cx="10190163" cy="6845300"/>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text styles</a:t>
            </a:r>
          </a:p>
          <a:p>
            <a:pPr lvl="1"/>
            <a:r>
              <a:rPr lang="en-US" altLang="ja-JP">
                <a:sym typeface="Century Gothic" charset="0"/>
              </a:rPr>
              <a:t>Second level</a:t>
            </a:r>
          </a:p>
          <a:p>
            <a:pPr lvl="2"/>
            <a:r>
              <a:rPr lang="en-US" altLang="ja-JP">
                <a:sym typeface="Century Gothic" charset="0"/>
              </a:rPr>
              <a:t>Third level</a:t>
            </a:r>
          </a:p>
          <a:p>
            <a:pPr lvl="3"/>
            <a:r>
              <a:rPr lang="en-US" altLang="ja-JP">
                <a:sym typeface="Century Gothic" charset="0"/>
              </a:rPr>
              <a:t>Fourth level</a:t>
            </a:r>
          </a:p>
          <a:p>
            <a:pPr lvl="4"/>
            <a:r>
              <a:rPr lang="en-US" altLang="ja-JP">
                <a:sym typeface="Century Gothic" charset="0"/>
              </a:rPr>
              <a:t>Fifth level</a:t>
            </a:r>
          </a:p>
        </p:txBody>
      </p:sp>
      <p:sp>
        <p:nvSpPr>
          <p:cNvPr id="3075" name="Text Box 3"/>
          <p:cNvSpPr txBox="1">
            <a:spLocks noChangeArrowheads="1"/>
          </p:cNvSpPr>
          <p:nvPr>
            <p:ph type="sldNum" sz="quarter" idx="4"/>
          </p:nvPr>
        </p:nvSpPr>
        <p:spPr bwMode="auto">
          <a:xfrm>
            <a:off x="11736388" y="8991600"/>
            <a:ext cx="366712" cy="381000"/>
          </a:xfrm>
          <a:prstGeom prst="rect">
            <a:avLst/>
          </a:prstGeom>
          <a:noFill/>
          <a:ln w="12700">
            <a:noFill/>
            <a:miter lim="800000"/>
            <a:headEnd/>
            <a:tailEnd/>
          </a:ln>
          <a:effectLst/>
        </p:spPr>
        <p:txBody>
          <a:bodyPr vert="horz" wrap="none" lIns="91440" tIns="45720" rIns="91440" bIns="45720" numCol="1" anchor="ctr" anchorCtr="0" compatLnSpc="1">
            <a:prstTxWarp prst="textNoShape">
              <a:avLst/>
            </a:prstTxWarp>
          </a:bodyPr>
          <a:lstStyle>
            <a:lvl1pPr algn="ctr">
              <a:defRPr sz="1800">
                <a:solidFill>
                  <a:srgbClr val="8D9AB3"/>
                </a:solidFill>
                <a:latin typeface="+mn-lt"/>
                <a:ea typeface="Century Gothic" charset="0"/>
                <a:cs typeface="Century Gothic" charset="0"/>
                <a:sym typeface="Century Gothic" charset="0"/>
              </a:defRPr>
            </a:lvl1pPr>
          </a:lstStyle>
          <a:p>
            <a:fld id="{59315266-3A58-B047-B972-0295A9688918}" type="slidenum">
              <a:rPr lang="en-US" altLang="ja-JP"/>
              <a:pPr/>
              <a:t>‹#›</a:t>
            </a:fld>
            <a:endParaRPr lang="en-US" altLang="ja-JP"/>
          </a:p>
        </p:txBody>
      </p:sp>
    </p:spTree>
  </p:cSld>
  <p:clrMap bg1="dk2" tx1="lt1" bg2="dk1"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ransition/>
  <p:hf hdr="0" ftr="0" dt="0"/>
  <p:txStyles>
    <p:titleStyle>
      <a:lvl1pPr algn="ctr" rtl="0" fontAlgn="base">
        <a:spcBef>
          <a:spcPct val="0"/>
        </a:spcBef>
        <a:spcAft>
          <a:spcPct val="0"/>
        </a:spcAft>
        <a:defRPr sz="5800">
          <a:solidFill>
            <a:srgbClr val="FFAF03"/>
          </a:solidFill>
          <a:latin typeface="+mj-lt"/>
          <a:ea typeface="+mj-ea"/>
          <a:cs typeface="+mj-cs"/>
          <a:sym typeface="Century Gothic" charset="0"/>
        </a:defRPr>
      </a:lvl1pPr>
      <a:lvl2pPr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2pPr>
      <a:lvl3pPr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3pPr>
      <a:lvl4pPr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4pPr>
      <a:lvl5pPr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5pPr>
      <a:lvl6pPr marL="45720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6pPr>
      <a:lvl7pPr marL="91440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7pPr>
      <a:lvl8pPr marL="137160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8pPr>
      <a:lvl9pPr marL="182880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9pPr>
    </p:titleStyle>
    <p:bodyStyle>
      <a:lvl1pPr marL="382588" indent="-342900" algn="l" rtl="0" fontAlgn="base">
        <a:spcBef>
          <a:spcPts val="800"/>
        </a:spcBef>
        <a:spcAft>
          <a:spcPct val="0"/>
        </a:spcAft>
        <a:buClr>
          <a:srgbClr val="54638C"/>
        </a:buClr>
        <a:buSzPct val="88000"/>
        <a:buFont typeface="Wingdings 2" charset="2"/>
        <a:buChar char="Ü"/>
        <a:defRPr sz="3000">
          <a:solidFill>
            <a:schemeClr val="tx1"/>
          </a:solidFill>
          <a:latin typeface="+mn-lt"/>
          <a:ea typeface="+mn-ea"/>
          <a:cs typeface="+mn-cs"/>
          <a:sym typeface="Century Gothic" charset="0"/>
        </a:defRPr>
      </a:lvl1pPr>
      <a:lvl2pPr marL="623888" indent="-336550" algn="l" rtl="0" fontAlgn="base">
        <a:spcBef>
          <a:spcPts val="700"/>
        </a:spcBef>
        <a:spcAft>
          <a:spcPct val="0"/>
        </a:spcAft>
        <a:buClr>
          <a:srgbClr val="949FBF"/>
        </a:buClr>
        <a:buSzPct val="88000"/>
        <a:buFont typeface="Wingdings 2" charset="2"/>
        <a:buChar char="Ü"/>
        <a:defRPr sz="2800">
          <a:solidFill>
            <a:schemeClr val="tx1"/>
          </a:solidFill>
          <a:latin typeface="+mn-lt"/>
          <a:ea typeface="+mn-ea"/>
          <a:cs typeface="+mn-cs"/>
          <a:sym typeface="Century Gothic" charset="0"/>
        </a:defRPr>
      </a:lvl2pPr>
      <a:lvl3pPr marL="973138" indent="-349250" algn="l" rtl="0" fontAlgn="base">
        <a:spcBef>
          <a:spcPts val="600"/>
        </a:spcBef>
        <a:spcAft>
          <a:spcPct val="0"/>
        </a:spcAft>
        <a:buClr>
          <a:srgbClr val="54638C"/>
        </a:buClr>
        <a:buSzPct val="88000"/>
        <a:buFont typeface="Wingdings 2" charset="2"/>
        <a:buChar char="Ü"/>
        <a:defRPr sz="2400">
          <a:solidFill>
            <a:schemeClr val="tx1"/>
          </a:solidFill>
          <a:latin typeface="+mn-lt"/>
          <a:ea typeface="+mn-ea"/>
          <a:cs typeface="+mn-cs"/>
          <a:sym typeface="Century Gothic" charset="0"/>
        </a:defRPr>
      </a:lvl3pPr>
      <a:lvl4pPr marL="1309688" indent="-336550" algn="l" rtl="0" fontAlgn="base">
        <a:spcBef>
          <a:spcPts val="600"/>
        </a:spcBef>
        <a:spcAft>
          <a:spcPct val="0"/>
        </a:spcAft>
        <a:buClr>
          <a:srgbClr val="949FBF"/>
        </a:buClr>
        <a:buSzPct val="88000"/>
        <a:buFont typeface="Wingdings 2" charset="2"/>
        <a:buChar char="Ü"/>
        <a:defRPr sz="2400">
          <a:solidFill>
            <a:schemeClr val="tx1"/>
          </a:solidFill>
          <a:latin typeface="+mn-lt"/>
          <a:ea typeface="+mn-ea"/>
          <a:cs typeface="+mn-cs"/>
          <a:sym typeface="Century Gothic" charset="0"/>
        </a:defRPr>
      </a:lvl4pPr>
      <a:lvl5pPr marL="1658938" indent="-349250" algn="l" rtl="0" fontAlgn="base">
        <a:spcBef>
          <a:spcPts val="600"/>
        </a:spcBef>
        <a:spcAft>
          <a:spcPct val="0"/>
        </a:spcAft>
        <a:buClr>
          <a:srgbClr val="54638C"/>
        </a:buClr>
        <a:buSzPct val="88000"/>
        <a:buFont typeface="Wingdings 2" charset="2"/>
        <a:buChar char="Ü"/>
        <a:defRPr sz="2400">
          <a:solidFill>
            <a:schemeClr val="tx1"/>
          </a:solidFill>
          <a:latin typeface="+mn-lt"/>
          <a:ea typeface="+mn-ea"/>
          <a:cs typeface="+mn-cs"/>
          <a:sym typeface="Century Gothic" charset="0"/>
        </a:defRPr>
      </a:lvl5pPr>
      <a:lvl6pPr marL="2116138" indent="-349250" algn="l" rtl="0" fontAlgn="base">
        <a:spcBef>
          <a:spcPts val="600"/>
        </a:spcBef>
        <a:spcAft>
          <a:spcPct val="0"/>
        </a:spcAft>
        <a:buClr>
          <a:srgbClr val="54638C"/>
        </a:buClr>
        <a:buSzPct val="88000"/>
        <a:buFont typeface="Wingdings 2" charset="2"/>
        <a:buChar char="Ü"/>
        <a:defRPr sz="2400">
          <a:solidFill>
            <a:schemeClr val="tx1"/>
          </a:solidFill>
          <a:latin typeface="+mn-lt"/>
          <a:ea typeface="+mn-ea"/>
          <a:cs typeface="+mn-cs"/>
          <a:sym typeface="Century Gothic" charset="0"/>
        </a:defRPr>
      </a:lvl6pPr>
      <a:lvl7pPr marL="2573338" indent="-349250" algn="l" rtl="0" fontAlgn="base">
        <a:spcBef>
          <a:spcPts val="600"/>
        </a:spcBef>
        <a:spcAft>
          <a:spcPct val="0"/>
        </a:spcAft>
        <a:buClr>
          <a:srgbClr val="54638C"/>
        </a:buClr>
        <a:buSzPct val="88000"/>
        <a:buFont typeface="Wingdings 2" charset="2"/>
        <a:buChar char="Ü"/>
        <a:defRPr sz="2400">
          <a:solidFill>
            <a:schemeClr val="tx1"/>
          </a:solidFill>
          <a:latin typeface="+mn-lt"/>
          <a:ea typeface="+mn-ea"/>
          <a:cs typeface="+mn-cs"/>
          <a:sym typeface="Century Gothic" charset="0"/>
        </a:defRPr>
      </a:lvl7pPr>
      <a:lvl8pPr marL="3030538" indent="-349250" algn="l" rtl="0" fontAlgn="base">
        <a:spcBef>
          <a:spcPts val="600"/>
        </a:spcBef>
        <a:spcAft>
          <a:spcPct val="0"/>
        </a:spcAft>
        <a:buClr>
          <a:srgbClr val="54638C"/>
        </a:buClr>
        <a:buSzPct val="88000"/>
        <a:buFont typeface="Wingdings 2" charset="2"/>
        <a:buChar char="Ü"/>
        <a:defRPr sz="2400">
          <a:solidFill>
            <a:schemeClr val="tx1"/>
          </a:solidFill>
          <a:latin typeface="+mn-lt"/>
          <a:ea typeface="+mn-ea"/>
          <a:cs typeface="+mn-cs"/>
          <a:sym typeface="Century Gothic" charset="0"/>
        </a:defRPr>
      </a:lvl8pPr>
      <a:lvl9pPr marL="3487738" indent="-349250" algn="l" rtl="0" fontAlgn="base">
        <a:spcBef>
          <a:spcPts val="600"/>
        </a:spcBef>
        <a:spcAft>
          <a:spcPct val="0"/>
        </a:spcAft>
        <a:buClr>
          <a:srgbClr val="54638C"/>
        </a:buClr>
        <a:buSzPct val="88000"/>
        <a:buFont typeface="Wingdings 2" charset="2"/>
        <a:buChar char="Ü"/>
        <a:defRPr sz="2400">
          <a:solidFill>
            <a:schemeClr val="tx1"/>
          </a:solidFill>
          <a:latin typeface="+mn-lt"/>
          <a:ea typeface="+mn-ea"/>
          <a:cs typeface="+mn-cs"/>
          <a:sym typeface="Century Gothic" charset="0"/>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4097" name="Rectangle 1"/>
          <p:cNvSpPr>
            <a:spLocks noChangeArrowheads="1"/>
          </p:cNvSpPr>
          <p:nvPr>
            <p:ph type="title"/>
          </p:nvPr>
        </p:nvSpPr>
        <p:spPr bwMode="auto">
          <a:xfrm>
            <a:off x="869950" y="827088"/>
            <a:ext cx="11263313" cy="2079625"/>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title style</a:t>
            </a:r>
          </a:p>
        </p:txBody>
      </p:sp>
      <p:sp>
        <p:nvSpPr>
          <p:cNvPr id="4098" name="Rectangle 2"/>
          <p:cNvSpPr>
            <a:spLocks noChangeArrowheads="1"/>
          </p:cNvSpPr>
          <p:nvPr>
            <p:ph type="body" idx="1"/>
          </p:nvPr>
        </p:nvSpPr>
        <p:spPr bwMode="auto">
          <a:xfrm>
            <a:off x="1406525" y="2908300"/>
            <a:ext cx="10190163" cy="6845300"/>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text styles</a:t>
            </a:r>
          </a:p>
          <a:p>
            <a:pPr lvl="1"/>
            <a:r>
              <a:rPr lang="en-US" altLang="ja-JP">
                <a:sym typeface="Century Gothic" charset="0"/>
              </a:rPr>
              <a:t>Second level</a:t>
            </a:r>
          </a:p>
          <a:p>
            <a:pPr lvl="2"/>
            <a:r>
              <a:rPr lang="en-US" altLang="ja-JP">
                <a:sym typeface="Century Gothic" charset="0"/>
              </a:rPr>
              <a:t>Third level</a:t>
            </a:r>
          </a:p>
          <a:p>
            <a:pPr lvl="3"/>
            <a:r>
              <a:rPr lang="en-US" altLang="ja-JP">
                <a:sym typeface="Century Gothic" charset="0"/>
              </a:rPr>
              <a:t>Fourth level</a:t>
            </a:r>
          </a:p>
          <a:p>
            <a:pPr lvl="4"/>
            <a:r>
              <a:rPr lang="en-US" altLang="ja-JP">
                <a:sym typeface="Century Gothic" charset="0"/>
              </a:rPr>
              <a:t>Fifth level</a:t>
            </a:r>
          </a:p>
        </p:txBody>
      </p:sp>
    </p:spTree>
  </p:cSld>
  <p:clrMap bg1="dk2" tx1="lt1" bg2="dk1"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txStyles>
    <p:titleStyle>
      <a:lvl1pPr marL="6350" algn="ctr" rtl="0" fontAlgn="base">
        <a:spcBef>
          <a:spcPct val="0"/>
        </a:spcBef>
        <a:spcAft>
          <a:spcPct val="0"/>
        </a:spcAft>
        <a:defRPr sz="5800">
          <a:solidFill>
            <a:srgbClr val="FFAF03"/>
          </a:solidFill>
          <a:latin typeface="+mj-lt"/>
          <a:ea typeface="+mj-ea"/>
          <a:cs typeface="+mj-cs"/>
          <a:sym typeface="Century Gothic" charset="0"/>
        </a:defRPr>
      </a:lvl1pPr>
      <a:lvl2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2pPr>
      <a:lvl3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3pPr>
      <a:lvl4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4pPr>
      <a:lvl5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5pPr>
      <a:lvl6pPr marL="4635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6pPr>
      <a:lvl7pPr marL="9207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7pPr>
      <a:lvl8pPr marL="13779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8pPr>
      <a:lvl9pPr marL="18351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9pPr>
    </p:titleStyle>
    <p:bodyStyle>
      <a:lvl1pPr marL="382588" indent="-342900" algn="l" rtl="0" fontAlgn="base">
        <a:spcBef>
          <a:spcPts val="800"/>
        </a:spcBef>
        <a:spcAft>
          <a:spcPct val="0"/>
        </a:spcAft>
        <a:buClr>
          <a:srgbClr val="54638C"/>
        </a:buClr>
        <a:buSzPct val="89000"/>
        <a:buFont typeface="Wingdings 2" charset="2"/>
        <a:buChar char="Ü"/>
        <a:defRPr sz="3000">
          <a:solidFill>
            <a:schemeClr val="tx1"/>
          </a:solidFill>
          <a:latin typeface="+mn-lt"/>
          <a:ea typeface="+mn-ea"/>
          <a:cs typeface="+mn-cs"/>
          <a:sym typeface="Century Gothic" charset="0"/>
        </a:defRPr>
      </a:lvl1pPr>
      <a:lvl2pPr marL="674688" indent="-336550" algn="l" rtl="0" fontAlgn="base">
        <a:spcBef>
          <a:spcPts val="700"/>
        </a:spcBef>
        <a:spcAft>
          <a:spcPct val="0"/>
        </a:spcAft>
        <a:buClr>
          <a:srgbClr val="949FBF"/>
        </a:buClr>
        <a:buSzPct val="89000"/>
        <a:buFont typeface="Wingdings 2" charset="2"/>
        <a:buChar char="Ü"/>
        <a:defRPr sz="2800">
          <a:solidFill>
            <a:schemeClr val="tx1"/>
          </a:solidFill>
          <a:latin typeface="+mn-lt"/>
          <a:ea typeface="+mn-ea"/>
          <a:cs typeface="+mn-cs"/>
          <a:sym typeface="Century Gothic" charset="0"/>
        </a:defRPr>
      </a:lvl2pPr>
      <a:lvl3pPr marL="10239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3pPr>
      <a:lvl4pPr marL="1360488" indent="-336550" algn="l" rtl="0" fontAlgn="base">
        <a:spcBef>
          <a:spcPts val="600"/>
        </a:spcBef>
        <a:spcAft>
          <a:spcPct val="0"/>
        </a:spcAft>
        <a:buClr>
          <a:srgbClr val="949FBF"/>
        </a:buClr>
        <a:buSzPct val="89000"/>
        <a:buFont typeface="Wingdings 2" charset="2"/>
        <a:buChar char="Ü"/>
        <a:defRPr sz="2400">
          <a:solidFill>
            <a:schemeClr val="tx1"/>
          </a:solidFill>
          <a:latin typeface="+mn-lt"/>
          <a:ea typeface="+mn-ea"/>
          <a:cs typeface="+mn-cs"/>
          <a:sym typeface="Century Gothic" charset="0"/>
        </a:defRPr>
      </a:lvl4pPr>
      <a:lvl5pPr marL="17097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5pPr>
      <a:lvl6pPr marL="21669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6pPr>
      <a:lvl7pPr marL="26241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7pPr>
      <a:lvl8pPr marL="30813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8pPr>
      <a:lvl9pPr marL="35385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121" name="Rectangle 1"/>
          <p:cNvSpPr>
            <a:spLocks/>
          </p:cNvSpPr>
          <p:nvPr/>
        </p:nvSpPr>
        <p:spPr bwMode="auto">
          <a:xfrm flipH="1">
            <a:off x="6503988" y="2408238"/>
            <a:ext cx="26987" cy="6242050"/>
          </a:xfrm>
          <a:prstGeom prst="rect">
            <a:avLst/>
          </a:prstGeom>
          <a:gradFill rotWithShape="0">
            <a:gsLst>
              <a:gs pos="0">
                <a:srgbClr val="607090"/>
              </a:gs>
              <a:gs pos="100000">
                <a:srgbClr val="8D9AB3"/>
              </a:gs>
            </a:gsLst>
            <a:lin ang="5400000" scaled="1"/>
          </a:gradFill>
          <a:ln w="19050" cap="flat">
            <a:noFill/>
            <a:miter lim="800000"/>
            <a:headEnd type="none" w="med" len="med"/>
            <a:tailEnd type="none" w="med" len="med"/>
          </a:ln>
        </p:spPr>
        <p:txBody>
          <a:bodyPr lIns="0" tIns="0" rIns="0" bIns="0">
            <a:prstTxWarp prst="textNoShape">
              <a:avLst/>
            </a:prstTxWarp>
          </a:bodyPr>
          <a:lstStyle/>
          <a:p>
            <a:endParaRPr lang="ja-JP" altLang="en-US"/>
          </a:p>
        </p:txBody>
      </p:sp>
      <p:sp>
        <p:nvSpPr>
          <p:cNvPr id="5122" name="Rectangle 2"/>
          <p:cNvSpPr>
            <a:spLocks/>
          </p:cNvSpPr>
          <p:nvPr/>
        </p:nvSpPr>
        <p:spPr bwMode="auto">
          <a:xfrm flipH="1">
            <a:off x="6503988" y="2408238"/>
            <a:ext cx="26987" cy="6242050"/>
          </a:xfrm>
          <a:prstGeom prst="rect">
            <a:avLst/>
          </a:prstGeom>
          <a:gradFill rotWithShape="0">
            <a:gsLst>
              <a:gs pos="0">
                <a:srgbClr val="607090"/>
              </a:gs>
              <a:gs pos="100000">
                <a:srgbClr val="8D9AB3"/>
              </a:gs>
            </a:gsLst>
            <a:lin ang="5400000" scaled="1"/>
          </a:gradFill>
          <a:ln w="19050" cap="flat">
            <a:noFill/>
            <a:miter lim="800000"/>
            <a:headEnd type="none" w="med" len="med"/>
            <a:tailEnd type="none" w="med" len="med"/>
          </a:ln>
        </p:spPr>
        <p:txBody>
          <a:bodyPr lIns="0" tIns="0" rIns="0" bIns="0">
            <a:prstTxWarp prst="textNoShape">
              <a:avLst/>
            </a:prstTxWarp>
          </a:bodyPr>
          <a:lstStyle/>
          <a:p>
            <a:endParaRPr lang="ja-JP" altLang="en-US"/>
          </a:p>
        </p:txBody>
      </p:sp>
      <p:sp>
        <p:nvSpPr>
          <p:cNvPr id="5123" name="Rectangle 3"/>
          <p:cNvSpPr>
            <a:spLocks/>
          </p:cNvSpPr>
          <p:nvPr/>
        </p:nvSpPr>
        <p:spPr bwMode="auto">
          <a:xfrm flipH="1">
            <a:off x="6503988" y="2408238"/>
            <a:ext cx="26987" cy="6242050"/>
          </a:xfrm>
          <a:prstGeom prst="rect">
            <a:avLst/>
          </a:prstGeom>
          <a:gradFill rotWithShape="0">
            <a:gsLst>
              <a:gs pos="0">
                <a:srgbClr val="607090"/>
              </a:gs>
              <a:gs pos="100000">
                <a:srgbClr val="8D9AB3"/>
              </a:gs>
            </a:gsLst>
            <a:lin ang="5400000" scaled="1"/>
          </a:gradFill>
          <a:ln w="19050" cap="flat">
            <a:noFill/>
            <a:miter lim="800000"/>
            <a:headEnd type="none" w="med" len="med"/>
            <a:tailEnd type="none" w="med" len="med"/>
          </a:ln>
        </p:spPr>
        <p:txBody>
          <a:bodyPr lIns="0" tIns="0" rIns="0" bIns="0">
            <a:prstTxWarp prst="textNoShape">
              <a:avLst/>
            </a:prstTxWarp>
          </a:bodyPr>
          <a:lstStyle/>
          <a:p>
            <a:endParaRPr lang="ja-JP" altLang="en-US"/>
          </a:p>
        </p:txBody>
      </p:sp>
      <p:sp>
        <p:nvSpPr>
          <p:cNvPr id="5124" name="Rectangle 4"/>
          <p:cNvSpPr>
            <a:spLocks/>
          </p:cNvSpPr>
          <p:nvPr/>
        </p:nvSpPr>
        <p:spPr bwMode="auto">
          <a:xfrm flipH="1">
            <a:off x="6503988" y="2408238"/>
            <a:ext cx="26987" cy="6242050"/>
          </a:xfrm>
          <a:prstGeom prst="rect">
            <a:avLst/>
          </a:prstGeom>
          <a:gradFill rotWithShape="0">
            <a:gsLst>
              <a:gs pos="0">
                <a:srgbClr val="607090"/>
              </a:gs>
              <a:gs pos="100000">
                <a:srgbClr val="8D9AB3"/>
              </a:gs>
            </a:gsLst>
            <a:lin ang="5400000" scaled="1"/>
          </a:gradFill>
          <a:ln w="19050" cap="flat">
            <a:noFill/>
            <a:miter lim="800000"/>
            <a:headEnd type="none" w="med" len="med"/>
            <a:tailEnd type="none" w="med" len="med"/>
          </a:ln>
        </p:spPr>
        <p:txBody>
          <a:bodyPr lIns="0" tIns="0" rIns="0" bIns="0">
            <a:prstTxWarp prst="textNoShape">
              <a:avLst/>
            </a:prstTxWarp>
          </a:bodyPr>
          <a:lstStyle/>
          <a:p>
            <a:endParaRPr lang="ja-JP" altLang="en-US"/>
          </a:p>
        </p:txBody>
      </p:sp>
      <p:sp>
        <p:nvSpPr>
          <p:cNvPr id="5125" name="Rectangle 5"/>
          <p:cNvSpPr>
            <a:spLocks noChangeArrowheads="1"/>
          </p:cNvSpPr>
          <p:nvPr>
            <p:ph type="title"/>
          </p:nvPr>
        </p:nvSpPr>
        <p:spPr bwMode="auto">
          <a:xfrm>
            <a:off x="869950" y="827088"/>
            <a:ext cx="11263313" cy="2079625"/>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title style</a:t>
            </a:r>
          </a:p>
        </p:txBody>
      </p:sp>
      <p:sp>
        <p:nvSpPr>
          <p:cNvPr id="5126" name="Rectangle 6"/>
          <p:cNvSpPr>
            <a:spLocks noChangeArrowheads="1"/>
          </p:cNvSpPr>
          <p:nvPr>
            <p:ph type="body" idx="1"/>
          </p:nvPr>
        </p:nvSpPr>
        <p:spPr bwMode="auto">
          <a:xfrm>
            <a:off x="1406525" y="2908300"/>
            <a:ext cx="10190163" cy="6845300"/>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text styles</a:t>
            </a:r>
          </a:p>
          <a:p>
            <a:pPr lvl="1"/>
            <a:r>
              <a:rPr lang="en-US" altLang="ja-JP">
                <a:sym typeface="Century Gothic" charset="0"/>
              </a:rPr>
              <a:t>Second level</a:t>
            </a:r>
          </a:p>
          <a:p>
            <a:pPr lvl="2"/>
            <a:r>
              <a:rPr lang="en-US" altLang="ja-JP">
                <a:sym typeface="Century Gothic" charset="0"/>
              </a:rPr>
              <a:t>Third level</a:t>
            </a:r>
          </a:p>
          <a:p>
            <a:pPr lvl="3"/>
            <a:r>
              <a:rPr lang="en-US" altLang="ja-JP">
                <a:sym typeface="Century Gothic" charset="0"/>
              </a:rPr>
              <a:t>Fourth level</a:t>
            </a:r>
          </a:p>
          <a:p>
            <a:pPr lvl="4"/>
            <a:r>
              <a:rPr lang="en-US" altLang="ja-JP">
                <a:sym typeface="Century Gothic" charset="0"/>
              </a:rPr>
              <a:t>Fifth level</a:t>
            </a:r>
          </a:p>
        </p:txBody>
      </p:sp>
      <p:sp>
        <p:nvSpPr>
          <p:cNvPr id="5127" name="Text Box 7"/>
          <p:cNvSpPr txBox="1">
            <a:spLocks noChangeArrowheads="1"/>
          </p:cNvSpPr>
          <p:nvPr>
            <p:ph type="sldNum" sz="quarter" idx="4"/>
          </p:nvPr>
        </p:nvSpPr>
        <p:spPr bwMode="auto">
          <a:xfrm>
            <a:off x="11736388" y="8991600"/>
            <a:ext cx="368300" cy="381000"/>
          </a:xfrm>
          <a:prstGeom prst="rect">
            <a:avLst/>
          </a:prstGeom>
          <a:noFill/>
          <a:ln w="12700">
            <a:noFill/>
            <a:miter lim="800000"/>
            <a:headEnd/>
            <a:tailEnd/>
          </a:ln>
          <a:effectLst/>
        </p:spPr>
        <p:txBody>
          <a:bodyPr vert="horz" wrap="none" lIns="91440" tIns="45720" rIns="91440" bIns="45720" numCol="1" anchor="ctr" anchorCtr="0" compatLnSpc="1">
            <a:prstTxWarp prst="textNoShape">
              <a:avLst/>
            </a:prstTxWarp>
          </a:bodyPr>
          <a:lstStyle>
            <a:lvl1pPr algn="ctr">
              <a:defRPr sz="1800">
                <a:solidFill>
                  <a:srgbClr val="8D9AB3"/>
                </a:solidFill>
                <a:latin typeface="+mn-lt"/>
                <a:ea typeface="Century Gothic" charset="0"/>
                <a:cs typeface="Century Gothic" charset="0"/>
                <a:sym typeface="Century Gothic" charset="0"/>
              </a:defRPr>
            </a:lvl1pPr>
          </a:lstStyle>
          <a:p>
            <a:fld id="{36C33DE0-3C5C-A643-90E1-487F242DF53F}" type="slidenum">
              <a:rPr lang="en-US" altLang="ja-JP"/>
              <a:pPr/>
              <a:t>‹#›</a:t>
            </a:fld>
            <a:endParaRPr lang="en-US" altLang="ja-JP"/>
          </a:p>
        </p:txBody>
      </p:sp>
    </p:spTree>
  </p:cSld>
  <p:clrMap bg1="dk2" tx1="lt1" bg2="dk1"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ransition/>
  <p:hf hdr="0" ftr="0" dt="0"/>
  <p:txStyles>
    <p:titleStyle>
      <a:lvl1pPr marL="6350" algn="ctr" rtl="0" fontAlgn="base">
        <a:spcBef>
          <a:spcPct val="0"/>
        </a:spcBef>
        <a:spcAft>
          <a:spcPct val="0"/>
        </a:spcAft>
        <a:defRPr sz="5800">
          <a:solidFill>
            <a:srgbClr val="FFAF03"/>
          </a:solidFill>
          <a:latin typeface="+mj-lt"/>
          <a:ea typeface="+mj-ea"/>
          <a:cs typeface="+mj-cs"/>
          <a:sym typeface="Century Gothic" charset="0"/>
        </a:defRPr>
      </a:lvl1pPr>
      <a:lvl2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2pPr>
      <a:lvl3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3pPr>
      <a:lvl4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4pPr>
      <a:lvl5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5pPr>
      <a:lvl6pPr marL="4635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6pPr>
      <a:lvl7pPr marL="9207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7pPr>
      <a:lvl8pPr marL="13779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8pPr>
      <a:lvl9pPr marL="18351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9pPr>
    </p:titleStyle>
    <p:bodyStyle>
      <a:lvl1pPr marL="382588" indent="-342900" algn="l" rtl="0" fontAlgn="base">
        <a:spcBef>
          <a:spcPts val="800"/>
        </a:spcBef>
        <a:spcAft>
          <a:spcPct val="0"/>
        </a:spcAft>
        <a:buClr>
          <a:srgbClr val="54638C"/>
        </a:buClr>
        <a:buSzPct val="89000"/>
        <a:buFont typeface="Wingdings 2" charset="2"/>
        <a:buChar char="Ü"/>
        <a:defRPr sz="3000">
          <a:solidFill>
            <a:schemeClr val="tx1"/>
          </a:solidFill>
          <a:latin typeface="+mn-lt"/>
          <a:ea typeface="+mn-ea"/>
          <a:cs typeface="+mn-cs"/>
          <a:sym typeface="Century Gothic" charset="0"/>
        </a:defRPr>
      </a:lvl1pPr>
      <a:lvl2pPr marL="674688" indent="-336550" algn="l" rtl="0" fontAlgn="base">
        <a:spcBef>
          <a:spcPts val="700"/>
        </a:spcBef>
        <a:spcAft>
          <a:spcPct val="0"/>
        </a:spcAft>
        <a:buClr>
          <a:srgbClr val="949FBF"/>
        </a:buClr>
        <a:buSzPct val="89000"/>
        <a:buFont typeface="Wingdings 2" charset="2"/>
        <a:buChar char="Ü"/>
        <a:defRPr sz="2800">
          <a:solidFill>
            <a:schemeClr val="tx1"/>
          </a:solidFill>
          <a:latin typeface="+mn-lt"/>
          <a:ea typeface="+mn-ea"/>
          <a:cs typeface="+mn-cs"/>
          <a:sym typeface="Century Gothic" charset="0"/>
        </a:defRPr>
      </a:lvl2pPr>
      <a:lvl3pPr marL="10239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3pPr>
      <a:lvl4pPr marL="1360488" indent="-336550" algn="l" rtl="0" fontAlgn="base">
        <a:spcBef>
          <a:spcPts val="600"/>
        </a:spcBef>
        <a:spcAft>
          <a:spcPct val="0"/>
        </a:spcAft>
        <a:buClr>
          <a:srgbClr val="949FBF"/>
        </a:buClr>
        <a:buSzPct val="89000"/>
        <a:buFont typeface="Wingdings 2" charset="2"/>
        <a:buChar char="Ü"/>
        <a:defRPr sz="2400">
          <a:solidFill>
            <a:schemeClr val="tx1"/>
          </a:solidFill>
          <a:latin typeface="+mn-lt"/>
          <a:ea typeface="+mn-ea"/>
          <a:cs typeface="+mn-cs"/>
          <a:sym typeface="Century Gothic" charset="0"/>
        </a:defRPr>
      </a:lvl4pPr>
      <a:lvl5pPr marL="17097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5pPr>
      <a:lvl6pPr marL="21669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6pPr>
      <a:lvl7pPr marL="26241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7pPr>
      <a:lvl8pPr marL="30813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8pPr>
      <a:lvl9pPr marL="35385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6145" name="Rectangle 1"/>
          <p:cNvSpPr>
            <a:spLocks noChangeArrowheads="1"/>
          </p:cNvSpPr>
          <p:nvPr>
            <p:ph type="title"/>
          </p:nvPr>
        </p:nvSpPr>
        <p:spPr bwMode="auto">
          <a:xfrm>
            <a:off x="869950" y="827088"/>
            <a:ext cx="11263313" cy="2079625"/>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title style</a:t>
            </a:r>
          </a:p>
        </p:txBody>
      </p:sp>
      <p:sp>
        <p:nvSpPr>
          <p:cNvPr id="6146" name="Rectangle 2"/>
          <p:cNvSpPr>
            <a:spLocks noChangeArrowheads="1"/>
          </p:cNvSpPr>
          <p:nvPr>
            <p:ph type="body" idx="1"/>
          </p:nvPr>
        </p:nvSpPr>
        <p:spPr bwMode="auto">
          <a:xfrm>
            <a:off x="1406525" y="2908300"/>
            <a:ext cx="10190163" cy="6845300"/>
          </a:xfrm>
          <a:prstGeom prst="rect">
            <a:avLst/>
          </a:prstGeom>
          <a:noFill/>
          <a:ln w="12700">
            <a:noFill/>
            <a:miter lim="800000"/>
            <a:headEnd/>
            <a:tailEnd/>
          </a:ln>
          <a:effectLst/>
        </p:spPr>
        <p:txBody>
          <a:bodyPr vert="horz" wrap="square" lIns="50800" tIns="50800" rIns="108599" bIns="50800" numCol="1" anchor="t" anchorCtr="0" compatLnSpc="1">
            <a:prstTxWarp prst="textNoShape">
              <a:avLst/>
            </a:prstTxWarp>
          </a:bodyPr>
          <a:lstStyle/>
          <a:p>
            <a:pPr lvl="0"/>
            <a:r>
              <a:rPr lang="en-US" altLang="ja-JP">
                <a:sym typeface="Century Gothic" charset="0"/>
              </a:rPr>
              <a:t>Click to edit Master text styles</a:t>
            </a:r>
          </a:p>
          <a:p>
            <a:pPr lvl="1"/>
            <a:r>
              <a:rPr lang="en-US" altLang="ja-JP">
                <a:sym typeface="Century Gothic" charset="0"/>
              </a:rPr>
              <a:t>Second level</a:t>
            </a:r>
          </a:p>
          <a:p>
            <a:pPr lvl="2"/>
            <a:r>
              <a:rPr lang="en-US" altLang="ja-JP">
                <a:sym typeface="Century Gothic" charset="0"/>
              </a:rPr>
              <a:t>Third level</a:t>
            </a:r>
          </a:p>
          <a:p>
            <a:pPr lvl="3"/>
            <a:r>
              <a:rPr lang="en-US" altLang="ja-JP">
                <a:sym typeface="Century Gothic" charset="0"/>
              </a:rPr>
              <a:t>Fourth level</a:t>
            </a:r>
          </a:p>
          <a:p>
            <a:pPr lvl="4"/>
            <a:r>
              <a:rPr lang="en-US" altLang="ja-JP">
                <a:sym typeface="Century Gothic" charset="0"/>
              </a:rPr>
              <a:t>Fifth level</a:t>
            </a:r>
          </a:p>
        </p:txBody>
      </p:sp>
    </p:spTree>
  </p:cSld>
  <p:clrMap bg1="dk2" tx1="lt1" bg2="dk1"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txStyles>
    <p:titleStyle>
      <a:lvl1pPr marL="6350" algn="ctr" rtl="0" fontAlgn="base">
        <a:spcBef>
          <a:spcPct val="0"/>
        </a:spcBef>
        <a:spcAft>
          <a:spcPct val="0"/>
        </a:spcAft>
        <a:defRPr sz="5800">
          <a:solidFill>
            <a:srgbClr val="FFAF03"/>
          </a:solidFill>
          <a:latin typeface="+mj-lt"/>
          <a:ea typeface="+mj-ea"/>
          <a:cs typeface="+mj-cs"/>
          <a:sym typeface="Century Gothic" charset="0"/>
        </a:defRPr>
      </a:lvl1pPr>
      <a:lvl2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2pPr>
      <a:lvl3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3pPr>
      <a:lvl4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4pPr>
      <a:lvl5pPr marL="63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5pPr>
      <a:lvl6pPr marL="4635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6pPr>
      <a:lvl7pPr marL="9207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7pPr>
      <a:lvl8pPr marL="13779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8pPr>
      <a:lvl9pPr marL="1835150" algn="ctr" rtl="0" fontAlgn="base">
        <a:spcBef>
          <a:spcPct val="0"/>
        </a:spcBef>
        <a:spcAft>
          <a:spcPct val="0"/>
        </a:spcAft>
        <a:defRPr sz="5800">
          <a:solidFill>
            <a:srgbClr val="FFAF03"/>
          </a:solidFill>
          <a:latin typeface="Century Gothic" charset="0"/>
          <a:ea typeface="ヒラギノ明朝 ProN W3" charset="-128"/>
          <a:cs typeface="ヒラギノ明朝 ProN W3" charset="-128"/>
          <a:sym typeface="Century Gothic" charset="0"/>
        </a:defRPr>
      </a:lvl9pPr>
    </p:titleStyle>
    <p:bodyStyle>
      <a:lvl1pPr marL="382588" indent="-342900" algn="l" rtl="0" fontAlgn="base">
        <a:spcBef>
          <a:spcPts val="800"/>
        </a:spcBef>
        <a:spcAft>
          <a:spcPct val="0"/>
        </a:spcAft>
        <a:buClr>
          <a:srgbClr val="54638C"/>
        </a:buClr>
        <a:buSzPct val="89000"/>
        <a:buFont typeface="Wingdings 2" charset="2"/>
        <a:buChar char="Ü"/>
        <a:defRPr sz="3000">
          <a:solidFill>
            <a:schemeClr val="tx1"/>
          </a:solidFill>
          <a:latin typeface="+mn-lt"/>
          <a:ea typeface="+mn-ea"/>
          <a:cs typeface="+mn-cs"/>
          <a:sym typeface="Century Gothic" charset="0"/>
        </a:defRPr>
      </a:lvl1pPr>
      <a:lvl2pPr marL="674688" indent="-336550" algn="l" rtl="0" fontAlgn="base">
        <a:spcBef>
          <a:spcPts val="700"/>
        </a:spcBef>
        <a:spcAft>
          <a:spcPct val="0"/>
        </a:spcAft>
        <a:buClr>
          <a:srgbClr val="949FBF"/>
        </a:buClr>
        <a:buSzPct val="89000"/>
        <a:buFont typeface="Wingdings 2" charset="2"/>
        <a:buChar char="Ü"/>
        <a:defRPr sz="2800">
          <a:solidFill>
            <a:schemeClr val="tx1"/>
          </a:solidFill>
          <a:latin typeface="+mn-lt"/>
          <a:ea typeface="+mn-ea"/>
          <a:cs typeface="+mn-cs"/>
          <a:sym typeface="Century Gothic" charset="0"/>
        </a:defRPr>
      </a:lvl2pPr>
      <a:lvl3pPr marL="10239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3pPr>
      <a:lvl4pPr marL="1360488" indent="-336550" algn="l" rtl="0" fontAlgn="base">
        <a:spcBef>
          <a:spcPts val="600"/>
        </a:spcBef>
        <a:spcAft>
          <a:spcPct val="0"/>
        </a:spcAft>
        <a:buClr>
          <a:srgbClr val="949FBF"/>
        </a:buClr>
        <a:buSzPct val="89000"/>
        <a:buFont typeface="Wingdings 2" charset="2"/>
        <a:buChar char="Ü"/>
        <a:defRPr sz="2400">
          <a:solidFill>
            <a:schemeClr val="tx1"/>
          </a:solidFill>
          <a:latin typeface="+mn-lt"/>
          <a:ea typeface="+mn-ea"/>
          <a:cs typeface="+mn-cs"/>
          <a:sym typeface="Century Gothic" charset="0"/>
        </a:defRPr>
      </a:lvl4pPr>
      <a:lvl5pPr marL="17097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5pPr>
      <a:lvl6pPr marL="21669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6pPr>
      <a:lvl7pPr marL="26241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7pPr>
      <a:lvl8pPr marL="30813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8pPr>
      <a:lvl9pPr marL="3538538" indent="-349250" algn="l" rtl="0" fontAlgn="base">
        <a:spcBef>
          <a:spcPts val="600"/>
        </a:spcBef>
        <a:spcAft>
          <a:spcPct val="0"/>
        </a:spcAft>
        <a:buClr>
          <a:srgbClr val="54638C"/>
        </a:buClr>
        <a:buSzPct val="89000"/>
        <a:buFont typeface="Wingdings 2" charset="2"/>
        <a:buChar char="Ü"/>
        <a:defRPr sz="2400">
          <a:solidFill>
            <a:schemeClr val="tx1"/>
          </a:solidFill>
          <a:latin typeface="+mn-lt"/>
          <a:ea typeface="+mn-ea"/>
          <a:cs typeface="+mn-cs"/>
          <a:sym typeface="Century Gothic" charset="0"/>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1" Type="http://schemas.openxmlformats.org/officeDocument/2006/relationships/slideLayout" Target="../slideLayouts/slideLayout13.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1" Type="http://schemas.openxmlformats.org/officeDocument/2006/relationships/slideLayout" Target="../slideLayouts/slideLayout24.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1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4" Type="http://schemas.openxmlformats.org/officeDocument/2006/relationships/image" Target="../media/image16.jpeg"/><Relationship Id="rId5" Type="http://schemas.openxmlformats.org/officeDocument/2006/relationships/image" Target="../media/image2.png"/><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3.png"/><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9.png"/><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29.png"/><Relationship Id="rId1" Type="http://schemas.openxmlformats.org/officeDocument/2006/relationships/slideLayout" Target="../slideLayouts/slideLayout13.xml"/><Relationship Id="rId2"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4.png"/><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69" name="Rectangle 1"/>
          <p:cNvSpPr>
            <a:spLocks noChangeArrowheads="1"/>
          </p:cNvSpPr>
          <p:nvPr>
            <p:ph type="title"/>
          </p:nvPr>
        </p:nvSpPr>
        <p:spPr>
          <a:xfrm>
            <a:off x="1079500" y="1014413"/>
            <a:ext cx="10820400" cy="2768600"/>
          </a:xfrm>
          <a:ln/>
          <a:effectLst>
            <a:outerShdw blurRad="50800" dist="38099" dir="2700000" algn="ctr" rotWithShape="0">
              <a:schemeClr val="bg2">
                <a:alpha val="42999"/>
              </a:schemeClr>
            </a:outerShdw>
          </a:effectLst>
        </p:spPr>
        <p:txBody>
          <a:bodyPr rIns="166398"/>
          <a:lstStyle/>
          <a:p>
            <a:pPr marL="57150" algn="l"/>
            <a:r>
              <a:rPr lang="en-US" altLang="ja-JP" sz="10400">
                <a:solidFill>
                  <a:srgbClr val="8D9AB3"/>
                </a:solidFill>
                <a:latin typeface="한컴돋움" charset="-127"/>
                <a:ea typeface="한컴돋움" charset="-127"/>
                <a:cs typeface="한컴돋움" charset="-127"/>
                <a:sym typeface="한컴돋움" charset="-127"/>
              </a:rPr>
              <a:t>SNU BEC </a:t>
            </a:r>
            <a:r>
              <a:rPr lang="ja-JP" altLang="en-US" sz="10400">
                <a:solidFill>
                  <a:srgbClr val="8D9AB3"/>
                </a:solidFill>
                <a:latin typeface="한컴돋움" charset="-127"/>
                <a:ea typeface="한컴돋움" charset="-127"/>
                <a:cs typeface="한컴돋움" charset="-127"/>
                <a:sym typeface="한컴돋움" charset="-127"/>
              </a:rPr>
              <a:t>사업단</a:t>
            </a:r>
            <a:r>
              <a:rPr lang="en-US" altLang="ja-JP" sz="9200" b="1">
                <a:solidFill>
                  <a:srgbClr val="8D9AB3"/>
                </a:solidFill>
                <a:latin typeface="Arial" charset="0"/>
                <a:ea typeface="Arial" charset="0"/>
                <a:cs typeface="Arial" charset="0"/>
                <a:sym typeface="Arial" charset="0"/>
              </a:rPr>
              <a:t> </a:t>
            </a:r>
            <a:r>
              <a:rPr lang="en-US" altLang="ja-JP" sz="9200" b="1">
                <a:solidFill>
                  <a:srgbClr val="8D9AB3"/>
                </a:solidFill>
                <a:latin typeface="Arial" charset="0"/>
                <a:ea typeface="ヒラギノ角ゴ ProN W6" charset="-128"/>
                <a:cs typeface="ヒラギノ角ゴ ProN W6" charset="-128"/>
                <a:sym typeface="Arial" charset="0"/>
              </a:rPr>
              <a:t/>
            </a:r>
            <a:br>
              <a:rPr lang="en-US" altLang="ja-JP" sz="9200" b="1">
                <a:solidFill>
                  <a:srgbClr val="8D9AB3"/>
                </a:solidFill>
                <a:latin typeface="Arial" charset="0"/>
                <a:ea typeface="ヒラギノ角ゴ ProN W6" charset="-128"/>
                <a:cs typeface="ヒラギノ角ゴ ProN W6" charset="-128"/>
                <a:sym typeface="Arial" charset="0"/>
              </a:rPr>
            </a:br>
            <a:r>
              <a:rPr lang="en-US" altLang="ja-JP">
                <a:solidFill>
                  <a:srgbClr val="8D9AB3"/>
                </a:solidFill>
                <a:latin typeface="한컴돋움" charset="-127"/>
                <a:ea typeface="한컴돋움" charset="-127"/>
                <a:cs typeface="한컴돋움" charset="-127"/>
                <a:sym typeface="한컴돋움" charset="-127"/>
              </a:rPr>
              <a:t>(Type 2)</a:t>
            </a:r>
          </a:p>
        </p:txBody>
      </p:sp>
      <p:pic>
        <p:nvPicPr>
          <p:cNvPr id="7170" name="Picture 2"/>
          <p:cNvPicPr>
            <a:picLocks noChangeArrowheads="1"/>
          </p:cNvPicPr>
          <p:nvPr/>
        </p:nvPicPr>
        <p:blipFill>
          <a:blip r:embed="rId2"/>
          <a:srcRect l="11588" t="18420" r="15475" b="6013"/>
          <a:stretch>
            <a:fillRect/>
          </a:stretch>
        </p:blipFill>
        <p:spPr bwMode="auto">
          <a:xfrm>
            <a:off x="2662238" y="4203700"/>
            <a:ext cx="7645400" cy="4191000"/>
          </a:xfrm>
          <a:prstGeom prst="rect">
            <a:avLst/>
          </a:prstGeom>
          <a:noFill/>
          <a:ln w="9525" cap="flat">
            <a:noFill/>
            <a:miter lim="800000"/>
            <a:headEnd/>
            <a:tailEnd/>
          </a:ln>
        </p:spPr>
      </p:pic>
      <p:sp>
        <p:nvSpPr>
          <p:cNvPr id="7171" name="Rectangle 3"/>
          <p:cNvSpPr>
            <a:spLocks/>
          </p:cNvSpPr>
          <p:nvPr/>
        </p:nvSpPr>
        <p:spPr bwMode="auto">
          <a:xfrm>
            <a:off x="4252913" y="8450263"/>
            <a:ext cx="4460875" cy="355600"/>
          </a:xfrm>
          <a:prstGeom prst="rect">
            <a:avLst/>
          </a:prstGeom>
          <a:noFill/>
          <a:ln w="9525" cap="flat">
            <a:noFill/>
            <a:miter lim="800000"/>
            <a:headEnd type="none" w="med" len="med"/>
            <a:tailEnd type="none" w="med" len="med"/>
          </a:ln>
        </p:spPr>
        <p:txBody>
          <a:bodyPr wrap="none" lIns="0" tIns="0" rIns="40639" bIns="0">
            <a:prstTxWarp prst="textNoShape">
              <a:avLst/>
            </a:prstTxWarp>
            <a:spAutoFit/>
          </a:bodyPr>
          <a:lstStyle/>
          <a:p>
            <a:pPr marL="39688" algn="ctr"/>
            <a:r>
              <a:rPr lang="en-US" altLang="ja-JP" sz="1800">
                <a:solidFill>
                  <a:srgbClr val="84DDFD"/>
                </a:solidFill>
                <a:ea typeface="Arial" charset="0"/>
                <a:cs typeface="Arial" charset="0"/>
              </a:rPr>
              <a:t>The first BEC in Korea by SNU BEC group</a:t>
            </a:r>
          </a:p>
        </p:txBody>
      </p:sp>
    </p:spTree>
  </p:cSld>
  <p:clrMapOvr>
    <a:masterClrMapping/>
  </p:clrMapOvr>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3" name="Freeform 1"/>
          <p:cNvSpPr>
            <a:spLocks/>
          </p:cNvSpPr>
          <p:nvPr/>
        </p:nvSpPr>
        <p:spPr bwMode="auto">
          <a:xfrm rot="5400000">
            <a:off x="5203031" y="4933157"/>
            <a:ext cx="2976563" cy="482600"/>
          </a:xfrm>
          <a:custGeom>
            <a:avLst/>
            <a:gdLst/>
            <a:ahLst/>
            <a:cxnLst>
              <a:cxn ang="0">
                <a:pos x="0" y="0"/>
              </a:cxn>
              <a:cxn ang="0">
                <a:pos x="15764" y="0"/>
              </a:cxn>
              <a:cxn ang="0">
                <a:pos x="15764" y="21600"/>
              </a:cxn>
              <a:cxn ang="0">
                <a:pos x="21600" y="21600"/>
              </a:cxn>
            </a:cxnLst>
            <a:rect l="0" t="0" r="r" b="b"/>
            <a:pathLst>
              <a:path w="21600" h="21600">
                <a:moveTo>
                  <a:pt x="0" y="0"/>
                </a:moveTo>
                <a:lnTo>
                  <a:pt x="15764" y="0"/>
                </a:lnTo>
                <a:lnTo>
                  <a:pt x="15764" y="21600"/>
                </a:lnTo>
                <a:lnTo>
                  <a:pt x="21600" y="21600"/>
                </a:lnTo>
              </a:path>
            </a:pathLst>
          </a:custGeom>
          <a:noFill/>
          <a:ln w="28575" cap="flat">
            <a:solidFill>
              <a:srgbClr val="9E82E7"/>
            </a:solidFill>
            <a:prstDash val="solid"/>
            <a:round/>
            <a:headEnd type="none" w="med" len="med"/>
            <a:tailEnd type="arrow" w="med" len="med"/>
          </a:ln>
        </p:spPr>
        <p:txBody>
          <a:bodyPr lIns="0" tIns="0" rIns="0" bIns="0">
            <a:prstTxWarp prst="textNoShape">
              <a:avLst/>
            </a:prstTxWarp>
          </a:bodyPr>
          <a:lstStyle/>
          <a:p>
            <a:endParaRPr lang="ja-JP" altLang="en-US"/>
          </a:p>
        </p:txBody>
      </p:sp>
      <p:sp>
        <p:nvSpPr>
          <p:cNvPr id="8194" name="Rectangle 2"/>
          <p:cNvSpPr>
            <a:spLocks noChangeArrowheads="1"/>
          </p:cNvSpPr>
          <p:nvPr>
            <p:ph type="title"/>
          </p:nvPr>
        </p:nvSpPr>
        <p:spPr>
          <a:ln/>
        </p:spPr>
        <p:txBody>
          <a:bodyPr rIns="166398"/>
          <a:lstStyle/>
          <a:p>
            <a:pPr marL="57150"/>
            <a:r>
              <a:rPr lang="en-US" altLang="ja-JP"/>
              <a:t>Members</a:t>
            </a:r>
          </a:p>
        </p:txBody>
      </p:sp>
      <p:grpSp>
        <p:nvGrpSpPr>
          <p:cNvPr id="8195" name="Group 3"/>
          <p:cNvGrpSpPr>
            <a:grpSpLocks/>
          </p:cNvGrpSpPr>
          <p:nvPr/>
        </p:nvGrpSpPr>
        <p:grpSpPr bwMode="auto">
          <a:xfrm>
            <a:off x="4664075" y="2627313"/>
            <a:ext cx="3509963" cy="1295400"/>
            <a:chOff x="0" y="0"/>
            <a:chExt cx="2211" cy="816"/>
          </a:xfrm>
        </p:grpSpPr>
        <p:pic>
          <p:nvPicPr>
            <p:cNvPr id="8196" name="Picture 4"/>
            <p:cNvPicPr>
              <a:picLocks noChangeArrowheads="1"/>
            </p:cNvPicPr>
            <p:nvPr/>
          </p:nvPicPr>
          <p:blipFill>
            <a:blip r:embed="rId2"/>
            <a:srcRect/>
            <a:stretch>
              <a:fillRect/>
            </a:stretch>
          </p:blipFill>
          <p:spPr bwMode="auto">
            <a:xfrm>
              <a:off x="0" y="0"/>
              <a:ext cx="2211" cy="816"/>
            </a:xfrm>
            <a:prstGeom prst="rect">
              <a:avLst/>
            </a:prstGeom>
            <a:noFill/>
            <a:ln w="9525" cap="flat">
              <a:noFill/>
              <a:miter lim="800000"/>
              <a:headEnd/>
              <a:tailEnd/>
            </a:ln>
          </p:spPr>
        </p:pic>
        <p:sp>
          <p:nvSpPr>
            <p:cNvPr id="8197" name="Rectangle 5"/>
            <p:cNvSpPr>
              <a:spLocks/>
            </p:cNvSpPr>
            <p:nvPr/>
          </p:nvSpPr>
          <p:spPr bwMode="auto">
            <a:xfrm>
              <a:off x="133" y="165"/>
              <a:ext cx="1992" cy="392"/>
            </a:xfrm>
            <a:prstGeom prst="rect">
              <a:avLst/>
            </a:prstGeom>
            <a:noFill/>
            <a:ln w="9525" cap="flat">
              <a:noFill/>
              <a:miter lim="800000"/>
              <a:headEnd type="none" w="med" len="med"/>
              <a:tailEnd type="none" w="med" len="med"/>
            </a:ln>
          </p:spPr>
          <p:txBody>
            <a:bodyPr lIns="0" tIns="0" rIns="57799" bIns="0" anchor="ctr">
              <a:prstTxWarp prst="textNoShape">
                <a:avLst/>
              </a:prstTxWarp>
            </a:bodyPr>
            <a:lstStyle/>
            <a:p>
              <a:pPr marL="57150" algn="ctr"/>
              <a:r>
                <a:rPr lang="en-US" altLang="ja-JP">
                  <a:solidFill>
                    <a:schemeClr val="tx1"/>
                  </a:solidFill>
                  <a:latin typeface="Century Gothic" charset="0"/>
                  <a:ea typeface="Century Gothic" charset="0"/>
                  <a:cs typeface="Century Gothic" charset="0"/>
                  <a:sym typeface="Century Gothic" charset="0"/>
                </a:rPr>
                <a:t>PI: K. An</a:t>
              </a:r>
            </a:p>
          </p:txBody>
        </p:sp>
      </p:grpSp>
      <p:grpSp>
        <p:nvGrpSpPr>
          <p:cNvPr id="8198" name="Group 6"/>
          <p:cNvGrpSpPr>
            <a:grpSpLocks/>
          </p:cNvGrpSpPr>
          <p:nvPr/>
        </p:nvGrpSpPr>
        <p:grpSpPr bwMode="auto">
          <a:xfrm>
            <a:off x="901700" y="4425950"/>
            <a:ext cx="3509963" cy="1293813"/>
            <a:chOff x="0" y="0"/>
            <a:chExt cx="2211" cy="814"/>
          </a:xfrm>
        </p:grpSpPr>
        <p:pic>
          <p:nvPicPr>
            <p:cNvPr id="8199" name="Picture 7"/>
            <p:cNvPicPr>
              <a:picLocks noChangeArrowheads="1"/>
            </p:cNvPicPr>
            <p:nvPr/>
          </p:nvPicPr>
          <p:blipFill>
            <a:blip r:embed="rId3"/>
            <a:srcRect/>
            <a:stretch>
              <a:fillRect/>
            </a:stretch>
          </p:blipFill>
          <p:spPr bwMode="auto">
            <a:xfrm>
              <a:off x="0" y="0"/>
              <a:ext cx="2211" cy="814"/>
            </a:xfrm>
            <a:prstGeom prst="rect">
              <a:avLst/>
            </a:prstGeom>
            <a:noFill/>
            <a:ln w="9525" cap="flat">
              <a:noFill/>
              <a:miter lim="800000"/>
              <a:headEnd/>
              <a:tailEnd/>
            </a:ln>
          </p:spPr>
        </p:pic>
        <p:sp>
          <p:nvSpPr>
            <p:cNvPr id="8200" name="Rectangle 8"/>
            <p:cNvSpPr>
              <a:spLocks/>
            </p:cNvSpPr>
            <p:nvPr/>
          </p:nvSpPr>
          <p:spPr bwMode="auto">
            <a:xfrm>
              <a:off x="138" y="91"/>
              <a:ext cx="1992" cy="528"/>
            </a:xfrm>
            <a:prstGeom prst="rect">
              <a:avLst/>
            </a:prstGeom>
            <a:noFill/>
            <a:ln w="9525" cap="flat">
              <a:noFill/>
              <a:miter lim="800000"/>
              <a:headEnd type="none" w="med" len="med"/>
              <a:tailEnd type="none" w="med" len="med"/>
            </a:ln>
          </p:spPr>
          <p:txBody>
            <a:bodyPr lIns="0" tIns="0" rIns="57799" bIns="0" anchor="ctr">
              <a:prstTxWarp prst="textNoShape">
                <a:avLst/>
              </a:prstTxWarp>
            </a:bodyPr>
            <a:lstStyle/>
            <a:p>
              <a:pPr marL="57150" algn="ctr"/>
              <a:r>
                <a:rPr lang="en-US" altLang="ja-JP" sz="2400">
                  <a:solidFill>
                    <a:schemeClr val="tx1"/>
                  </a:solidFill>
                  <a:latin typeface="Century Gothic" charset="0"/>
                  <a:ea typeface="Century Gothic" charset="0"/>
                  <a:cs typeface="Century Gothic" charset="0"/>
                  <a:sym typeface="Century Gothic" charset="0"/>
                </a:rPr>
                <a:t>Oversea Scholar:</a:t>
              </a:r>
            </a:p>
            <a:p>
              <a:pPr marL="57150" algn="ctr"/>
              <a:r>
                <a:rPr lang="en-US" altLang="ja-JP" sz="2400">
                  <a:solidFill>
                    <a:schemeClr val="tx1"/>
                  </a:solidFill>
                  <a:latin typeface="Century Gothic" charset="0"/>
                  <a:ea typeface="Century Gothic" charset="0"/>
                  <a:cs typeface="Century Gothic" charset="0"/>
                  <a:sym typeface="Century Gothic" charset="0"/>
                </a:rPr>
                <a:t>Y. Shin</a:t>
              </a:r>
            </a:p>
          </p:txBody>
        </p:sp>
      </p:grpSp>
      <p:grpSp>
        <p:nvGrpSpPr>
          <p:cNvPr id="8201" name="Group 9"/>
          <p:cNvGrpSpPr>
            <a:grpSpLocks/>
          </p:cNvGrpSpPr>
          <p:nvPr/>
        </p:nvGrpSpPr>
        <p:grpSpPr bwMode="auto">
          <a:xfrm>
            <a:off x="8458200" y="4416425"/>
            <a:ext cx="3556000" cy="1295400"/>
            <a:chOff x="0" y="0"/>
            <a:chExt cx="2240" cy="816"/>
          </a:xfrm>
        </p:grpSpPr>
        <p:pic>
          <p:nvPicPr>
            <p:cNvPr id="8202" name="Picture 10"/>
            <p:cNvPicPr>
              <a:picLocks noChangeArrowheads="1"/>
            </p:cNvPicPr>
            <p:nvPr/>
          </p:nvPicPr>
          <p:blipFill>
            <a:blip r:embed="rId4"/>
            <a:srcRect/>
            <a:stretch>
              <a:fillRect/>
            </a:stretch>
          </p:blipFill>
          <p:spPr bwMode="auto">
            <a:xfrm>
              <a:off x="0" y="0"/>
              <a:ext cx="2240" cy="816"/>
            </a:xfrm>
            <a:prstGeom prst="rect">
              <a:avLst/>
            </a:prstGeom>
            <a:noFill/>
            <a:ln w="9525" cap="flat">
              <a:noFill/>
              <a:miter lim="800000"/>
              <a:headEnd/>
              <a:tailEnd/>
            </a:ln>
          </p:spPr>
        </p:pic>
        <p:sp>
          <p:nvSpPr>
            <p:cNvPr id="8203" name="Rectangle 11"/>
            <p:cNvSpPr>
              <a:spLocks/>
            </p:cNvSpPr>
            <p:nvPr/>
          </p:nvSpPr>
          <p:spPr bwMode="auto">
            <a:xfrm>
              <a:off x="136" y="60"/>
              <a:ext cx="2018" cy="594"/>
            </a:xfrm>
            <a:prstGeom prst="rect">
              <a:avLst/>
            </a:prstGeom>
            <a:noFill/>
            <a:ln w="9525" cap="flat">
              <a:noFill/>
              <a:miter lim="800000"/>
              <a:headEnd type="none" w="med" len="med"/>
              <a:tailEnd type="none" w="med" len="med"/>
            </a:ln>
          </p:spPr>
          <p:txBody>
            <a:bodyPr lIns="0" tIns="0" rIns="57799" bIns="0" anchor="ctr">
              <a:prstTxWarp prst="textNoShape">
                <a:avLst/>
              </a:prstTxWarp>
            </a:bodyPr>
            <a:lstStyle/>
            <a:p>
              <a:pPr marL="57150" algn="ctr"/>
              <a:r>
                <a:rPr lang="en-US" altLang="ja-JP" sz="2400">
                  <a:solidFill>
                    <a:schemeClr val="tx1"/>
                  </a:solidFill>
                  <a:latin typeface="Century Gothic" charset="0"/>
                  <a:ea typeface="Century Gothic" charset="0"/>
                  <a:cs typeface="Century Gothic" charset="0"/>
                  <a:sym typeface="Century Gothic" charset="0"/>
                </a:rPr>
                <a:t>National Scholar: </a:t>
              </a:r>
            </a:p>
            <a:p>
              <a:pPr marL="57150" algn="ctr"/>
              <a:r>
                <a:rPr lang="en-US" altLang="ja-JP" sz="2400">
                  <a:solidFill>
                    <a:schemeClr val="tx1"/>
                  </a:solidFill>
                  <a:latin typeface="Century Gothic" charset="0"/>
                  <a:ea typeface="Century Gothic" charset="0"/>
                  <a:cs typeface="Century Gothic" charset="0"/>
                  <a:sym typeface="Century Gothic" charset="0"/>
                </a:rPr>
                <a:t>H. Jeong</a:t>
              </a:r>
            </a:p>
          </p:txBody>
        </p:sp>
      </p:grpSp>
      <p:grpSp>
        <p:nvGrpSpPr>
          <p:cNvPr id="8204" name="Group 12"/>
          <p:cNvGrpSpPr>
            <a:grpSpLocks/>
          </p:cNvGrpSpPr>
          <p:nvPr/>
        </p:nvGrpSpPr>
        <p:grpSpPr bwMode="auto">
          <a:xfrm>
            <a:off x="4664075" y="4419600"/>
            <a:ext cx="3509963" cy="1293813"/>
            <a:chOff x="0" y="0"/>
            <a:chExt cx="2211" cy="814"/>
          </a:xfrm>
        </p:grpSpPr>
        <p:pic>
          <p:nvPicPr>
            <p:cNvPr id="8205" name="Picture 13"/>
            <p:cNvPicPr>
              <a:picLocks noChangeArrowheads="1"/>
            </p:cNvPicPr>
            <p:nvPr/>
          </p:nvPicPr>
          <p:blipFill>
            <a:blip r:embed="rId5"/>
            <a:srcRect/>
            <a:stretch>
              <a:fillRect/>
            </a:stretch>
          </p:blipFill>
          <p:spPr bwMode="auto">
            <a:xfrm>
              <a:off x="0" y="0"/>
              <a:ext cx="2211" cy="814"/>
            </a:xfrm>
            <a:prstGeom prst="rect">
              <a:avLst/>
            </a:prstGeom>
            <a:noFill/>
            <a:ln w="9525" cap="flat">
              <a:noFill/>
              <a:miter lim="800000"/>
              <a:headEnd/>
              <a:tailEnd/>
            </a:ln>
          </p:spPr>
        </p:pic>
        <p:sp>
          <p:nvSpPr>
            <p:cNvPr id="8206" name="Rectangle 14"/>
            <p:cNvSpPr>
              <a:spLocks/>
            </p:cNvSpPr>
            <p:nvPr/>
          </p:nvSpPr>
          <p:spPr bwMode="auto">
            <a:xfrm>
              <a:off x="133" y="95"/>
              <a:ext cx="1992" cy="528"/>
            </a:xfrm>
            <a:prstGeom prst="rect">
              <a:avLst/>
            </a:prstGeom>
            <a:noFill/>
            <a:ln w="9525" cap="flat">
              <a:noFill/>
              <a:miter lim="800000"/>
              <a:headEnd type="none" w="med" len="med"/>
              <a:tailEnd type="none" w="med" len="med"/>
            </a:ln>
          </p:spPr>
          <p:txBody>
            <a:bodyPr lIns="0" tIns="0" rIns="57799" bIns="0" anchor="ctr">
              <a:prstTxWarp prst="textNoShape">
                <a:avLst/>
              </a:prstTxWarp>
            </a:bodyPr>
            <a:lstStyle/>
            <a:p>
              <a:pPr marL="57150" algn="ctr"/>
              <a:r>
                <a:rPr lang="en-US" altLang="ja-JP" sz="2400">
                  <a:solidFill>
                    <a:schemeClr val="tx1"/>
                  </a:solidFill>
                  <a:latin typeface="Century Gothic" charset="0"/>
                  <a:ea typeface="Century Gothic" charset="0"/>
                  <a:cs typeface="Century Gothic" charset="0"/>
                  <a:sym typeface="Century Gothic" charset="0"/>
                </a:rPr>
                <a:t>Supporting Staff:</a:t>
              </a:r>
            </a:p>
            <a:p>
              <a:pPr marL="57150" algn="ctr"/>
              <a:r>
                <a:rPr lang="en-US" altLang="ja-JP" sz="2400">
                  <a:solidFill>
                    <a:schemeClr val="tx1"/>
                  </a:solidFill>
                  <a:latin typeface="Century Gothic" charset="0"/>
                  <a:ea typeface="Century Gothic" charset="0"/>
                  <a:cs typeface="Century Gothic" charset="0"/>
                  <a:sym typeface="Century Gothic" charset="0"/>
                </a:rPr>
                <a:t>E. Noh</a:t>
              </a:r>
            </a:p>
          </p:txBody>
        </p:sp>
      </p:grpSp>
      <p:grpSp>
        <p:nvGrpSpPr>
          <p:cNvPr id="8207" name="Group 15"/>
          <p:cNvGrpSpPr>
            <a:grpSpLocks/>
          </p:cNvGrpSpPr>
          <p:nvPr/>
        </p:nvGrpSpPr>
        <p:grpSpPr bwMode="auto">
          <a:xfrm>
            <a:off x="4667250" y="6588125"/>
            <a:ext cx="3505200" cy="1752600"/>
            <a:chOff x="0" y="0"/>
            <a:chExt cx="2208" cy="1104"/>
          </a:xfrm>
        </p:grpSpPr>
        <p:pic>
          <p:nvPicPr>
            <p:cNvPr id="8208" name="Picture 16"/>
            <p:cNvPicPr>
              <a:picLocks noChangeArrowheads="1"/>
            </p:cNvPicPr>
            <p:nvPr/>
          </p:nvPicPr>
          <p:blipFill>
            <a:blip r:embed="rId6"/>
            <a:srcRect/>
            <a:stretch>
              <a:fillRect/>
            </a:stretch>
          </p:blipFill>
          <p:spPr bwMode="auto">
            <a:xfrm>
              <a:off x="0" y="0"/>
              <a:ext cx="2208" cy="1104"/>
            </a:xfrm>
            <a:prstGeom prst="rect">
              <a:avLst/>
            </a:prstGeom>
            <a:noFill/>
            <a:ln w="9525" cap="flat">
              <a:noFill/>
              <a:miter lim="800000"/>
              <a:headEnd/>
              <a:tailEnd/>
            </a:ln>
          </p:spPr>
        </p:pic>
        <p:sp>
          <p:nvSpPr>
            <p:cNvPr id="8209" name="Rectangle 17"/>
            <p:cNvSpPr>
              <a:spLocks/>
            </p:cNvSpPr>
            <p:nvPr/>
          </p:nvSpPr>
          <p:spPr bwMode="auto">
            <a:xfrm>
              <a:off x="133" y="24"/>
              <a:ext cx="1987" cy="950"/>
            </a:xfrm>
            <a:prstGeom prst="rect">
              <a:avLst/>
            </a:prstGeom>
            <a:noFill/>
            <a:ln w="9525" cap="flat">
              <a:noFill/>
              <a:miter lim="800000"/>
              <a:headEnd type="none" w="med" len="med"/>
              <a:tailEnd type="none" w="med" len="med"/>
            </a:ln>
          </p:spPr>
          <p:txBody>
            <a:bodyPr lIns="0" tIns="0" rIns="57799" bIns="0" anchor="ctr">
              <a:prstTxWarp prst="textNoShape">
                <a:avLst/>
              </a:prstTxWarp>
            </a:bodyPr>
            <a:lstStyle/>
            <a:p>
              <a:pPr marL="57150" algn="ctr"/>
              <a:r>
                <a:rPr lang="en-US" altLang="ja-JP" sz="2200">
                  <a:solidFill>
                    <a:schemeClr val="tx1"/>
                  </a:solidFill>
                  <a:latin typeface="Century Gothic" charset="0"/>
                  <a:ea typeface="Century Gothic" charset="0"/>
                  <a:cs typeface="Century Gothic" charset="0"/>
                  <a:sym typeface="Century Gothic" charset="0"/>
                </a:rPr>
                <a:t>Research Assistant: Ph.D and Master degree students (17)</a:t>
              </a:r>
            </a:p>
          </p:txBody>
        </p:sp>
      </p:grpSp>
      <p:grpSp>
        <p:nvGrpSpPr>
          <p:cNvPr id="8210" name="Group 18"/>
          <p:cNvGrpSpPr>
            <a:grpSpLocks/>
          </p:cNvGrpSpPr>
          <p:nvPr/>
        </p:nvGrpSpPr>
        <p:grpSpPr bwMode="auto">
          <a:xfrm>
            <a:off x="8547100" y="6588125"/>
            <a:ext cx="3509963" cy="1628775"/>
            <a:chOff x="0" y="0"/>
            <a:chExt cx="2211" cy="1026"/>
          </a:xfrm>
        </p:grpSpPr>
        <p:pic>
          <p:nvPicPr>
            <p:cNvPr id="8211" name="Picture 19"/>
            <p:cNvPicPr>
              <a:picLocks noChangeArrowheads="1"/>
            </p:cNvPicPr>
            <p:nvPr/>
          </p:nvPicPr>
          <p:blipFill>
            <a:blip r:embed="rId7"/>
            <a:srcRect/>
            <a:stretch>
              <a:fillRect/>
            </a:stretch>
          </p:blipFill>
          <p:spPr bwMode="auto">
            <a:xfrm>
              <a:off x="0" y="0"/>
              <a:ext cx="2211" cy="1026"/>
            </a:xfrm>
            <a:prstGeom prst="rect">
              <a:avLst/>
            </a:prstGeom>
            <a:noFill/>
            <a:ln w="9525" cap="flat">
              <a:noFill/>
              <a:miter lim="800000"/>
              <a:headEnd/>
              <a:tailEnd/>
            </a:ln>
          </p:spPr>
        </p:pic>
        <p:sp>
          <p:nvSpPr>
            <p:cNvPr id="8212" name="Rectangle 20"/>
            <p:cNvSpPr>
              <a:spLocks/>
            </p:cNvSpPr>
            <p:nvPr/>
          </p:nvSpPr>
          <p:spPr bwMode="auto">
            <a:xfrm>
              <a:off x="135" y="105"/>
              <a:ext cx="1992" cy="712"/>
            </a:xfrm>
            <a:prstGeom prst="rect">
              <a:avLst/>
            </a:prstGeom>
            <a:noFill/>
            <a:ln w="9525" cap="flat">
              <a:noFill/>
              <a:miter lim="800000"/>
              <a:headEnd type="none" w="med" len="med"/>
              <a:tailEnd type="none" w="med" len="med"/>
            </a:ln>
          </p:spPr>
          <p:txBody>
            <a:bodyPr lIns="0" tIns="0" rIns="57799" bIns="0" anchor="ctr">
              <a:prstTxWarp prst="textNoShape">
                <a:avLst/>
              </a:prstTxWarp>
            </a:bodyPr>
            <a:lstStyle/>
            <a:p>
              <a:pPr marL="57150" algn="ctr"/>
              <a:r>
                <a:rPr lang="en-US" altLang="ja-JP" sz="2200">
                  <a:solidFill>
                    <a:schemeClr val="tx1"/>
                  </a:solidFill>
                  <a:latin typeface="Century Gothic" charset="0"/>
                  <a:ea typeface="Century Gothic" charset="0"/>
                  <a:cs typeface="Century Gothic" charset="0"/>
                  <a:sym typeface="Century Gothic" charset="0"/>
                </a:rPr>
                <a:t>Research Assistant: </a:t>
              </a:r>
            </a:p>
            <a:p>
              <a:pPr marL="57150" algn="ctr"/>
              <a:r>
                <a:rPr lang="en-US" altLang="ja-JP" sz="2200">
                  <a:solidFill>
                    <a:schemeClr val="tx1"/>
                  </a:solidFill>
                  <a:latin typeface="Century Gothic" charset="0"/>
                  <a:ea typeface="Century Gothic" charset="0"/>
                  <a:cs typeface="Century Gothic" charset="0"/>
                  <a:sym typeface="Century Gothic" charset="0"/>
                </a:rPr>
                <a:t>Ph.D and Master degree students (7)</a:t>
              </a:r>
            </a:p>
          </p:txBody>
        </p:sp>
      </p:grpSp>
      <p:grpSp>
        <p:nvGrpSpPr>
          <p:cNvPr id="8213" name="Group 21"/>
          <p:cNvGrpSpPr>
            <a:grpSpLocks/>
          </p:cNvGrpSpPr>
          <p:nvPr/>
        </p:nvGrpSpPr>
        <p:grpSpPr bwMode="auto">
          <a:xfrm>
            <a:off x="887413" y="6527800"/>
            <a:ext cx="3505200" cy="1736725"/>
            <a:chOff x="0" y="0"/>
            <a:chExt cx="2208" cy="1094"/>
          </a:xfrm>
        </p:grpSpPr>
        <p:pic>
          <p:nvPicPr>
            <p:cNvPr id="8214" name="Picture 22"/>
            <p:cNvPicPr>
              <a:picLocks noChangeArrowheads="1"/>
            </p:cNvPicPr>
            <p:nvPr/>
          </p:nvPicPr>
          <p:blipFill>
            <a:blip r:embed="rId3"/>
            <a:srcRect/>
            <a:stretch>
              <a:fillRect/>
            </a:stretch>
          </p:blipFill>
          <p:spPr bwMode="auto">
            <a:xfrm>
              <a:off x="0" y="42"/>
              <a:ext cx="2208" cy="1052"/>
            </a:xfrm>
            <a:prstGeom prst="rect">
              <a:avLst/>
            </a:prstGeom>
            <a:noFill/>
            <a:ln w="9525" cap="flat">
              <a:noFill/>
              <a:miter lim="800000"/>
              <a:headEnd/>
              <a:tailEnd/>
            </a:ln>
          </p:spPr>
        </p:pic>
        <p:sp>
          <p:nvSpPr>
            <p:cNvPr id="8215" name="Rectangle 23"/>
            <p:cNvSpPr>
              <a:spLocks/>
            </p:cNvSpPr>
            <p:nvPr/>
          </p:nvSpPr>
          <p:spPr bwMode="auto">
            <a:xfrm>
              <a:off x="137" y="0"/>
              <a:ext cx="1987" cy="998"/>
            </a:xfrm>
            <a:prstGeom prst="rect">
              <a:avLst/>
            </a:prstGeom>
            <a:noFill/>
            <a:ln w="9525" cap="flat">
              <a:noFill/>
              <a:miter lim="800000"/>
              <a:headEnd type="none" w="med" len="med"/>
              <a:tailEnd type="none" w="med" len="med"/>
            </a:ln>
          </p:spPr>
          <p:txBody>
            <a:bodyPr lIns="0" tIns="0" rIns="57799" bIns="0" anchor="ctr">
              <a:prstTxWarp prst="textNoShape">
                <a:avLst/>
              </a:prstTxWarp>
            </a:bodyPr>
            <a:lstStyle/>
            <a:p>
              <a:pPr marL="57150" algn="ctr"/>
              <a:r>
                <a:rPr lang="en-US" altLang="ja-JP" sz="2200">
                  <a:solidFill>
                    <a:schemeClr val="tx1"/>
                  </a:solidFill>
                  <a:latin typeface="Century Gothic" charset="0"/>
                  <a:ea typeface="Century Gothic" charset="0"/>
                  <a:cs typeface="Century Gothic" charset="0"/>
                  <a:sym typeface="Century Gothic" charset="0"/>
                </a:rPr>
                <a:t>Research Assistant: </a:t>
              </a:r>
            </a:p>
            <a:p>
              <a:pPr marL="57150" algn="ctr"/>
              <a:r>
                <a:rPr lang="en-US" altLang="ja-JP" sz="2200">
                  <a:solidFill>
                    <a:schemeClr val="tx1"/>
                  </a:solidFill>
                  <a:latin typeface="Century Gothic" charset="0"/>
                  <a:ea typeface="Century Gothic" charset="0"/>
                  <a:cs typeface="Century Gothic" charset="0"/>
                  <a:sym typeface="Century Gothic" charset="0"/>
                </a:rPr>
                <a:t>Master degree students (2)</a:t>
              </a:r>
            </a:p>
          </p:txBody>
        </p:sp>
      </p:grpSp>
      <p:sp>
        <p:nvSpPr>
          <p:cNvPr id="8216" name="Line 24"/>
          <p:cNvSpPr>
            <a:spLocks noChangeShapeType="1"/>
          </p:cNvSpPr>
          <p:nvPr/>
        </p:nvSpPr>
        <p:spPr bwMode="auto">
          <a:xfrm flipH="1">
            <a:off x="6445250" y="3686175"/>
            <a:ext cx="4763" cy="812800"/>
          </a:xfrm>
          <a:prstGeom prst="line">
            <a:avLst/>
          </a:prstGeom>
          <a:noFill/>
          <a:ln w="19050" cap="flat">
            <a:solidFill>
              <a:srgbClr val="FFFF00"/>
            </a:solidFill>
            <a:prstDash val="solid"/>
            <a:round/>
            <a:headEnd type="arrow" w="med" len="med"/>
            <a:tailEnd type="arrow" w="med" len="med"/>
          </a:ln>
        </p:spPr>
        <p:txBody>
          <a:bodyPr lIns="0" tIns="0" rIns="0" bIns="0">
            <a:prstTxWarp prst="textNoShape">
              <a:avLst/>
            </a:prstTxWarp>
          </a:bodyPr>
          <a:lstStyle/>
          <a:p>
            <a:endParaRPr lang="ja-JP" altLang="en-US"/>
          </a:p>
        </p:txBody>
      </p:sp>
      <p:sp>
        <p:nvSpPr>
          <p:cNvPr id="8217" name="Line 25"/>
          <p:cNvSpPr>
            <a:spLocks noChangeShapeType="1"/>
          </p:cNvSpPr>
          <p:nvPr/>
        </p:nvSpPr>
        <p:spPr bwMode="auto">
          <a:xfrm rot="10800000">
            <a:off x="8013700" y="4991100"/>
            <a:ext cx="652463" cy="1588"/>
          </a:xfrm>
          <a:prstGeom prst="line">
            <a:avLst/>
          </a:prstGeom>
          <a:noFill/>
          <a:ln w="19050" cap="flat">
            <a:solidFill>
              <a:srgbClr val="FFFF00"/>
            </a:solidFill>
            <a:prstDash val="solid"/>
            <a:round/>
            <a:headEnd type="arrow" w="med" len="med"/>
            <a:tailEnd type="arrow" w="med" len="med"/>
          </a:ln>
        </p:spPr>
        <p:txBody>
          <a:bodyPr lIns="0" tIns="0" rIns="0" bIns="0">
            <a:prstTxWarp prst="textNoShape">
              <a:avLst/>
            </a:prstTxWarp>
          </a:bodyPr>
          <a:lstStyle/>
          <a:p>
            <a:endParaRPr lang="ja-JP" altLang="en-US"/>
          </a:p>
        </p:txBody>
      </p:sp>
      <p:sp>
        <p:nvSpPr>
          <p:cNvPr id="8218" name="Line 26"/>
          <p:cNvSpPr>
            <a:spLocks noChangeShapeType="1"/>
          </p:cNvSpPr>
          <p:nvPr/>
        </p:nvSpPr>
        <p:spPr bwMode="auto">
          <a:xfrm rot="10800000">
            <a:off x="4227513" y="4986338"/>
            <a:ext cx="647700" cy="3175"/>
          </a:xfrm>
          <a:prstGeom prst="line">
            <a:avLst/>
          </a:prstGeom>
          <a:noFill/>
          <a:ln w="19050" cap="flat">
            <a:solidFill>
              <a:srgbClr val="FFFF00"/>
            </a:solidFill>
            <a:prstDash val="solid"/>
            <a:round/>
            <a:headEnd type="arrow" w="med" len="med"/>
            <a:tailEnd type="arrow" w="med" len="med"/>
          </a:ln>
        </p:spPr>
        <p:txBody>
          <a:bodyPr lIns="0" tIns="0" rIns="0" bIns="0">
            <a:prstTxWarp prst="textNoShape">
              <a:avLst/>
            </a:prstTxWarp>
          </a:bodyPr>
          <a:lstStyle/>
          <a:p>
            <a:endParaRPr lang="ja-JP" altLang="en-US"/>
          </a:p>
        </p:txBody>
      </p:sp>
      <p:sp>
        <p:nvSpPr>
          <p:cNvPr id="8219" name="Freeform 27"/>
          <p:cNvSpPr>
            <a:spLocks/>
          </p:cNvSpPr>
          <p:nvPr/>
        </p:nvSpPr>
        <p:spPr bwMode="auto">
          <a:xfrm rot="5400000">
            <a:off x="2056607" y="6084094"/>
            <a:ext cx="1193800" cy="1587"/>
          </a:xfrm>
          <a:custGeom>
            <a:avLst/>
            <a:gdLst/>
            <a:ahLst/>
            <a:cxnLst>
              <a:cxn ang="0">
                <a:pos x="0" y="0"/>
              </a:cxn>
              <a:cxn ang="0">
                <a:pos x="10800" y="0"/>
              </a:cxn>
              <a:cxn ang="0">
                <a:pos x="10800" y="21600"/>
              </a:cxn>
              <a:cxn ang="0">
                <a:pos x="21600" y="21600"/>
              </a:cxn>
            </a:cxnLst>
            <a:rect l="0" t="0" r="r" b="b"/>
            <a:pathLst>
              <a:path w="21600" h="972000">
                <a:moveTo>
                  <a:pt x="0" y="0"/>
                </a:moveTo>
                <a:lnTo>
                  <a:pt x="10800" y="0"/>
                </a:lnTo>
                <a:lnTo>
                  <a:pt x="10800" y="21600"/>
                </a:lnTo>
                <a:lnTo>
                  <a:pt x="21600" y="21600"/>
                </a:lnTo>
              </a:path>
            </a:pathLst>
          </a:custGeom>
          <a:noFill/>
          <a:ln w="28575" cap="flat">
            <a:solidFill>
              <a:srgbClr val="9E82E7"/>
            </a:solidFill>
            <a:prstDash val="solid"/>
            <a:round/>
            <a:headEnd type="none" w="med" len="med"/>
            <a:tailEnd type="arrow" w="med" len="med"/>
          </a:ln>
        </p:spPr>
        <p:txBody>
          <a:bodyPr lIns="0" tIns="0" rIns="0" bIns="0">
            <a:prstTxWarp prst="textNoShape">
              <a:avLst/>
            </a:prstTxWarp>
          </a:bodyPr>
          <a:lstStyle/>
          <a:p>
            <a:endParaRPr lang="ja-JP" altLang="en-US"/>
          </a:p>
        </p:txBody>
      </p:sp>
      <p:sp>
        <p:nvSpPr>
          <p:cNvPr id="8220" name="Freeform 28"/>
          <p:cNvSpPr>
            <a:spLocks/>
          </p:cNvSpPr>
          <p:nvPr/>
        </p:nvSpPr>
        <p:spPr bwMode="auto">
          <a:xfrm rot="5400000">
            <a:off x="9702007" y="6068219"/>
            <a:ext cx="1193800" cy="1587"/>
          </a:xfrm>
          <a:custGeom>
            <a:avLst/>
            <a:gdLst/>
            <a:ahLst/>
            <a:cxnLst>
              <a:cxn ang="0">
                <a:pos x="0" y="0"/>
              </a:cxn>
              <a:cxn ang="0">
                <a:pos x="10800" y="0"/>
              </a:cxn>
              <a:cxn ang="0">
                <a:pos x="10800" y="21600"/>
              </a:cxn>
              <a:cxn ang="0">
                <a:pos x="21600" y="21600"/>
              </a:cxn>
            </a:cxnLst>
            <a:rect l="0" t="0" r="r" b="b"/>
            <a:pathLst>
              <a:path w="21600" h="972000">
                <a:moveTo>
                  <a:pt x="0" y="0"/>
                </a:moveTo>
                <a:lnTo>
                  <a:pt x="10800" y="0"/>
                </a:lnTo>
                <a:lnTo>
                  <a:pt x="10800" y="21600"/>
                </a:lnTo>
                <a:lnTo>
                  <a:pt x="21600" y="21600"/>
                </a:lnTo>
              </a:path>
            </a:pathLst>
          </a:custGeom>
          <a:noFill/>
          <a:ln w="28575" cap="flat">
            <a:solidFill>
              <a:srgbClr val="9E82E7"/>
            </a:solidFill>
            <a:prstDash val="solid"/>
            <a:round/>
            <a:headEnd type="none" w="med" len="med"/>
            <a:tailEnd type="arrow" w="med" len="med"/>
          </a:ln>
        </p:spPr>
        <p:txBody>
          <a:bodyPr lIns="0" tIns="0" rIns="0" bIns="0">
            <a:prstTxWarp prst="textNoShape">
              <a:avLst/>
            </a:prstTxWarp>
          </a:bodyPr>
          <a:lstStyle/>
          <a:p>
            <a:endParaRPr lang="ja-JP" altLang="en-US"/>
          </a:p>
        </p:txBody>
      </p:sp>
      <p:sp>
        <p:nvSpPr>
          <p:cNvPr id="8221" name="Rectangle 29"/>
          <p:cNvSpPr>
            <a:spLocks/>
          </p:cNvSpPr>
          <p:nvPr/>
        </p:nvSpPr>
        <p:spPr bwMode="auto">
          <a:xfrm>
            <a:off x="7226300" y="3378200"/>
            <a:ext cx="1854200" cy="317500"/>
          </a:xfrm>
          <a:prstGeom prst="rect">
            <a:avLst/>
          </a:prstGeom>
          <a:noFill/>
          <a:ln w="12700" cap="flat">
            <a:noFill/>
            <a:miter lim="800000"/>
            <a:headEnd type="none" w="med" len="med"/>
            <a:tailEnd type="none" w="med" len="med"/>
          </a:ln>
        </p:spPr>
        <p:txBody>
          <a:bodyPr wrap="none" lIns="0" tIns="0" rIns="57799" bIns="0">
            <a:prstTxWarp prst="textNoShape">
              <a:avLst/>
            </a:prstTxWarp>
            <a:spAutoFit/>
          </a:bodyPr>
          <a:lstStyle/>
          <a:p>
            <a:pPr marL="57150"/>
            <a:r>
              <a:rPr lang="en-US" altLang="ja-JP" sz="1600">
                <a:solidFill>
                  <a:srgbClr val="FD9A00"/>
                </a:solidFill>
                <a:ea typeface="Arial" charset="0"/>
                <a:cs typeface="Arial" charset="0"/>
              </a:rPr>
              <a:t>56-324  (room no.)</a:t>
            </a:r>
          </a:p>
        </p:txBody>
      </p:sp>
      <p:sp>
        <p:nvSpPr>
          <p:cNvPr id="8222" name="Rectangle 30"/>
          <p:cNvSpPr>
            <a:spLocks/>
          </p:cNvSpPr>
          <p:nvPr/>
        </p:nvSpPr>
        <p:spPr bwMode="auto">
          <a:xfrm>
            <a:off x="3454400" y="5181600"/>
            <a:ext cx="803275" cy="317500"/>
          </a:xfrm>
          <a:prstGeom prst="rect">
            <a:avLst/>
          </a:prstGeom>
          <a:noFill/>
          <a:ln w="12700" cap="flat">
            <a:noFill/>
            <a:miter lim="800000"/>
            <a:headEnd type="none" w="med" len="med"/>
            <a:tailEnd type="none" w="med" len="med"/>
          </a:ln>
        </p:spPr>
        <p:txBody>
          <a:bodyPr wrap="none" lIns="0" tIns="0" rIns="57799" bIns="0">
            <a:prstTxWarp prst="textNoShape">
              <a:avLst/>
            </a:prstTxWarp>
            <a:spAutoFit/>
          </a:bodyPr>
          <a:lstStyle/>
          <a:p>
            <a:pPr marL="57150"/>
            <a:r>
              <a:rPr lang="en-US" altLang="ja-JP" sz="1600">
                <a:solidFill>
                  <a:srgbClr val="FD9A00"/>
                </a:solidFill>
                <a:ea typeface="Arial" charset="0"/>
                <a:cs typeface="Arial" charset="0"/>
              </a:rPr>
              <a:t>56-410</a:t>
            </a:r>
          </a:p>
        </p:txBody>
      </p:sp>
      <p:sp>
        <p:nvSpPr>
          <p:cNvPr id="8223" name="Rectangle 31"/>
          <p:cNvSpPr>
            <a:spLocks/>
          </p:cNvSpPr>
          <p:nvPr/>
        </p:nvSpPr>
        <p:spPr bwMode="auto">
          <a:xfrm>
            <a:off x="11087100" y="5156200"/>
            <a:ext cx="803275" cy="317500"/>
          </a:xfrm>
          <a:prstGeom prst="rect">
            <a:avLst/>
          </a:prstGeom>
          <a:noFill/>
          <a:ln w="12700" cap="flat">
            <a:noFill/>
            <a:miter lim="800000"/>
            <a:headEnd type="none" w="med" len="med"/>
            <a:tailEnd type="none" w="med" len="med"/>
          </a:ln>
        </p:spPr>
        <p:txBody>
          <a:bodyPr wrap="none" lIns="0" tIns="0" rIns="57799" bIns="0">
            <a:prstTxWarp prst="textNoShape">
              <a:avLst/>
            </a:prstTxWarp>
            <a:spAutoFit/>
          </a:bodyPr>
          <a:lstStyle/>
          <a:p>
            <a:pPr marL="57150"/>
            <a:r>
              <a:rPr lang="en-US" altLang="ja-JP" sz="1600">
                <a:solidFill>
                  <a:srgbClr val="FD9A00"/>
                </a:solidFill>
                <a:ea typeface="Arial" charset="0"/>
                <a:cs typeface="Arial" charset="0"/>
              </a:rPr>
              <a:t>56-424</a:t>
            </a:r>
          </a:p>
        </p:txBody>
      </p:sp>
      <p:sp>
        <p:nvSpPr>
          <p:cNvPr id="8224" name="Rectangle 32"/>
          <p:cNvSpPr>
            <a:spLocks/>
          </p:cNvSpPr>
          <p:nvPr/>
        </p:nvSpPr>
        <p:spPr bwMode="auto">
          <a:xfrm>
            <a:off x="7213600" y="5156200"/>
            <a:ext cx="803275" cy="317500"/>
          </a:xfrm>
          <a:prstGeom prst="rect">
            <a:avLst/>
          </a:prstGeom>
          <a:noFill/>
          <a:ln w="12700" cap="flat">
            <a:noFill/>
            <a:miter lim="800000"/>
            <a:headEnd type="none" w="med" len="med"/>
            <a:tailEnd type="none" w="med" len="med"/>
          </a:ln>
        </p:spPr>
        <p:txBody>
          <a:bodyPr wrap="none" lIns="0" tIns="0" rIns="57799" bIns="0">
            <a:prstTxWarp prst="textNoShape">
              <a:avLst/>
            </a:prstTxWarp>
            <a:spAutoFit/>
          </a:bodyPr>
          <a:lstStyle/>
          <a:p>
            <a:pPr marL="57150"/>
            <a:r>
              <a:rPr lang="en-US" altLang="ja-JP" sz="1600">
                <a:solidFill>
                  <a:srgbClr val="FD9A00"/>
                </a:solidFill>
                <a:ea typeface="Arial" charset="0"/>
                <a:cs typeface="Arial" charset="0"/>
              </a:rPr>
              <a:t>56-319</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PhAnim="0">
  <p:cSld>
    <p:spTree>
      <p:nvGrpSpPr>
        <p:cNvPr id="1" name=""/>
        <p:cNvGrpSpPr/>
        <p:nvPr/>
      </p:nvGrpSpPr>
      <p:grpSpPr>
        <a:xfrm>
          <a:off x="0" y="0"/>
          <a:ext cx="0" cy="0"/>
          <a:chOff x="0" y="0"/>
          <a:chExt cx="0" cy="0"/>
        </a:xfrm>
      </p:grpSpPr>
      <p:sp>
        <p:nvSpPr>
          <p:cNvPr id="9217" name="Rectangle 1"/>
          <p:cNvSpPr>
            <a:spLocks noChangeArrowheads="1"/>
          </p:cNvSpPr>
          <p:nvPr>
            <p:ph type="title"/>
          </p:nvPr>
        </p:nvSpPr>
        <p:spPr>
          <a:xfrm>
            <a:off x="869950" y="827088"/>
            <a:ext cx="11264900" cy="1155700"/>
          </a:xfrm>
          <a:ln/>
        </p:spPr>
        <p:txBody>
          <a:bodyPr rIns="166398"/>
          <a:lstStyle/>
          <a:p>
            <a:pPr marL="57150"/>
            <a:r>
              <a:rPr lang="en-US" altLang="ja-JP"/>
              <a:t>Project Goals</a:t>
            </a:r>
          </a:p>
        </p:txBody>
      </p:sp>
      <p:sp>
        <p:nvSpPr>
          <p:cNvPr id="9218" name="Rectangle 2"/>
          <p:cNvSpPr>
            <a:spLocks noChangeArrowheads="1"/>
          </p:cNvSpPr>
          <p:nvPr>
            <p:ph type="body" idx="1"/>
          </p:nvPr>
        </p:nvSpPr>
        <p:spPr>
          <a:xfrm>
            <a:off x="1143000" y="2336800"/>
            <a:ext cx="10731500" cy="6477000"/>
          </a:xfrm>
          <a:ln/>
        </p:spPr>
        <p:txBody>
          <a:bodyPr rIns="166398"/>
          <a:lstStyle/>
          <a:p>
            <a:pPr>
              <a:spcBef>
                <a:spcPct val="0"/>
              </a:spcBef>
            </a:pPr>
            <a:r>
              <a:rPr lang="en-US" altLang="ja-JP" sz="2800"/>
              <a:t>To realize Bose-Einstein condensates by laser trapping and cooling of neutral atoms (</a:t>
            </a:r>
            <a:r>
              <a:rPr lang="en-US" altLang="ja-JP" sz="2800">
                <a:solidFill>
                  <a:srgbClr val="84DDFD"/>
                </a:solidFill>
              </a:rPr>
              <a:t>Primary goal</a:t>
            </a:r>
            <a:r>
              <a:rPr lang="en-US" altLang="ja-JP" sz="2800"/>
              <a:t> of the first phase)</a:t>
            </a:r>
          </a:p>
          <a:p>
            <a:pPr>
              <a:spcBef>
                <a:spcPts val="3100"/>
              </a:spcBef>
            </a:pPr>
            <a:r>
              <a:rPr lang="en-US" altLang="ja-JP" sz="2800"/>
              <a:t>To investigate strongly interacting fermion/boson systems with BECs</a:t>
            </a:r>
          </a:p>
          <a:p>
            <a:pPr>
              <a:spcBef>
                <a:spcPts val="3100"/>
              </a:spcBef>
            </a:pPr>
            <a:r>
              <a:rPr lang="en-US" altLang="ja-JP" sz="2800"/>
              <a:t>To study quantum chaos with ultracold atoms from a BEC</a:t>
            </a:r>
          </a:p>
          <a:p>
            <a:pPr>
              <a:spcBef>
                <a:spcPts val="3100"/>
              </a:spcBef>
            </a:pPr>
            <a:r>
              <a:rPr lang="en-US" altLang="ja-JP" sz="2800"/>
              <a:t>To realize macroscopic superposition and entanglement with BEC for advanced quantum information</a:t>
            </a:r>
          </a:p>
          <a:p>
            <a:pPr>
              <a:spcBef>
                <a:spcPts val="3100"/>
              </a:spcBef>
            </a:pPr>
            <a:r>
              <a:rPr lang="en-US" altLang="ja-JP" sz="2800"/>
              <a:t>To train graduate students for Ph.D and master degrees in the field of BEC, quantum chaos and quantum information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Effect transition="in" filter="wipe(left)">
                                      <p:cBhvr>
                                        <p:cTn id="7" dur="500"/>
                                        <p:tgtEl>
                                          <p:spTgt spid="92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8">
                                            <p:txEl>
                                              <p:pRg st="1" end="1"/>
                                            </p:txEl>
                                          </p:spTgt>
                                        </p:tgtEl>
                                        <p:attrNameLst>
                                          <p:attrName>style.visibility</p:attrName>
                                        </p:attrNameLst>
                                      </p:cBhvr>
                                      <p:to>
                                        <p:strVal val="visible"/>
                                      </p:to>
                                    </p:set>
                                    <p:animEffect transition="in" filter="wipe(left)">
                                      <p:cBhvr>
                                        <p:cTn id="12" dur="500"/>
                                        <p:tgtEl>
                                          <p:spTgt spid="92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8">
                                            <p:txEl>
                                              <p:pRg st="2" end="2"/>
                                            </p:txEl>
                                          </p:spTgt>
                                        </p:tgtEl>
                                        <p:attrNameLst>
                                          <p:attrName>style.visibility</p:attrName>
                                        </p:attrNameLst>
                                      </p:cBhvr>
                                      <p:to>
                                        <p:strVal val="visible"/>
                                      </p:to>
                                    </p:set>
                                    <p:animEffect transition="in" filter="wipe(left)">
                                      <p:cBhvr>
                                        <p:cTn id="17" dur="500"/>
                                        <p:tgtEl>
                                          <p:spTgt spid="92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18">
                                            <p:txEl>
                                              <p:pRg st="3" end="3"/>
                                            </p:txEl>
                                          </p:spTgt>
                                        </p:tgtEl>
                                        <p:attrNameLst>
                                          <p:attrName>style.visibility</p:attrName>
                                        </p:attrNameLst>
                                      </p:cBhvr>
                                      <p:to>
                                        <p:strVal val="visible"/>
                                      </p:to>
                                    </p:set>
                                    <p:animEffect transition="in" filter="wipe(left)">
                                      <p:cBhvr>
                                        <p:cTn id="22" dur="500"/>
                                        <p:tgtEl>
                                          <p:spTgt spid="92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18">
                                            <p:txEl>
                                              <p:pRg st="4" end="4"/>
                                            </p:txEl>
                                          </p:spTgt>
                                        </p:tgtEl>
                                        <p:attrNameLst>
                                          <p:attrName>style.visibility</p:attrName>
                                        </p:attrNameLst>
                                      </p:cBhvr>
                                      <p:to>
                                        <p:strVal val="visible"/>
                                      </p:to>
                                    </p:set>
                                    <p:animEffect transition="in" filter="wipe(left)">
                                      <p:cBhvr>
                                        <p:cTn id="27" dur="500"/>
                                        <p:tgtEl>
                                          <p:spTgt spid="92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bldLvl="5" autoUpdateAnimBg="0"/>
    </p:bld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1" name="Rectangle 1"/>
          <p:cNvSpPr>
            <a:spLocks/>
          </p:cNvSpPr>
          <p:nvPr/>
        </p:nvSpPr>
        <p:spPr bwMode="auto">
          <a:xfrm>
            <a:off x="1397000" y="3390900"/>
            <a:ext cx="10198100" cy="5118100"/>
          </a:xfrm>
          <a:prstGeom prst="rect">
            <a:avLst/>
          </a:prstGeom>
          <a:noFill/>
          <a:ln w="12700" cap="flat">
            <a:noFill/>
            <a:miter lim="800000"/>
            <a:headEnd type="none" w="med" len="med"/>
            <a:tailEnd type="none" w="med" len="med"/>
          </a:ln>
        </p:spPr>
        <p:txBody>
          <a:bodyPr lIns="0" tIns="0" rIns="57799" bIns="0">
            <a:prstTxWarp prst="textNoShape">
              <a:avLst/>
            </a:prstTxWarp>
          </a:bodyPr>
          <a:lstStyle/>
          <a:p>
            <a:pPr marL="520700" indent="-520700">
              <a:spcBef>
                <a:spcPts val="3100"/>
              </a:spcBef>
              <a:buClr>
                <a:srgbClr val="54638C"/>
              </a:buClr>
              <a:buSzPct val="89000"/>
              <a:buFont typeface="Wingdings 2" charset="2"/>
              <a:buChar char="Ü"/>
            </a:pPr>
            <a:r>
              <a:rPr lang="en-US" altLang="ja-JP">
                <a:solidFill>
                  <a:schemeClr val="tx1"/>
                </a:solidFill>
                <a:latin typeface="Century Gothic" charset="0"/>
                <a:ea typeface="Century Gothic" charset="0"/>
                <a:cs typeface="Century Gothic" charset="0"/>
                <a:sym typeface="Century Gothic" charset="0"/>
              </a:rPr>
              <a:t>Production of Bose-Einstein condensate (Primary goal)</a:t>
            </a:r>
          </a:p>
          <a:p>
            <a:pPr marL="520700" indent="-520700">
              <a:spcBef>
                <a:spcPts val="3100"/>
              </a:spcBef>
              <a:buClr>
                <a:srgbClr val="54638C"/>
              </a:buClr>
              <a:buSzPct val="89000"/>
              <a:buFont typeface="Wingdings 2" charset="2"/>
              <a:buChar char="Ü"/>
            </a:pPr>
            <a:r>
              <a:rPr lang="en-US" altLang="ja-JP">
                <a:solidFill>
                  <a:schemeClr val="tx1"/>
                </a:solidFill>
                <a:latin typeface="Century Gothic" charset="0"/>
                <a:ea typeface="Century Gothic" charset="0"/>
                <a:cs typeface="Century Gothic" charset="0"/>
                <a:sym typeface="Century Gothic" charset="0"/>
              </a:rPr>
              <a:t>Study of open quantum systems (exceptional points)</a:t>
            </a:r>
          </a:p>
          <a:p>
            <a:pPr marL="520700" indent="-520700">
              <a:spcBef>
                <a:spcPts val="3100"/>
              </a:spcBef>
              <a:buClr>
                <a:srgbClr val="54638C"/>
              </a:buClr>
              <a:buSzPct val="89000"/>
              <a:buFont typeface="Wingdings 2" charset="2"/>
              <a:buChar char="Ü"/>
            </a:pPr>
            <a:r>
              <a:rPr lang="en-US" altLang="ja-JP">
                <a:solidFill>
                  <a:schemeClr val="tx1"/>
                </a:solidFill>
                <a:latin typeface="Century Gothic" charset="0"/>
                <a:ea typeface="Century Gothic" charset="0"/>
                <a:cs typeface="Century Gothic" charset="0"/>
                <a:sym typeface="Century Gothic" charset="0"/>
              </a:rPr>
              <a:t>Progress in quantum chaos with a microcavity</a:t>
            </a:r>
          </a:p>
          <a:p>
            <a:pPr marL="520700" indent="-520700">
              <a:spcBef>
                <a:spcPts val="3100"/>
              </a:spcBef>
              <a:buClr>
                <a:srgbClr val="54638C"/>
              </a:buClr>
              <a:buSzPct val="89000"/>
              <a:buFont typeface="Wingdings 2" charset="2"/>
              <a:buChar char="Ü"/>
            </a:pPr>
            <a:r>
              <a:rPr lang="en-US" altLang="ja-JP">
                <a:solidFill>
                  <a:schemeClr val="tx1"/>
                </a:solidFill>
                <a:latin typeface="Century Gothic" charset="0"/>
                <a:ea typeface="Century Gothic" charset="0"/>
                <a:cs typeface="Century Gothic" charset="0"/>
                <a:sym typeface="Century Gothic" charset="0"/>
              </a:rPr>
              <a:t>Progresses in quantum optics &amp; information with single atoms and single photons</a:t>
            </a:r>
          </a:p>
        </p:txBody>
      </p:sp>
      <p:sp>
        <p:nvSpPr>
          <p:cNvPr id="10242" name="Rectangle 2"/>
          <p:cNvSpPr>
            <a:spLocks/>
          </p:cNvSpPr>
          <p:nvPr/>
        </p:nvSpPr>
        <p:spPr bwMode="auto">
          <a:xfrm>
            <a:off x="857250" y="1230313"/>
            <a:ext cx="11264900" cy="2006600"/>
          </a:xfrm>
          <a:prstGeom prst="rect">
            <a:avLst/>
          </a:prstGeom>
          <a:noFill/>
          <a:ln w="12700" cap="flat">
            <a:noFill/>
            <a:miter lim="800000"/>
            <a:headEnd type="none" w="med" len="med"/>
            <a:tailEnd type="none" w="med" len="med"/>
          </a:ln>
        </p:spPr>
        <p:txBody>
          <a:bodyPr lIns="0" tIns="0" rIns="57799" bIns="0">
            <a:prstTxWarp prst="textNoShape">
              <a:avLst/>
            </a:prstTxWarp>
          </a:bodyPr>
          <a:lstStyle/>
          <a:p>
            <a:pPr marL="57150" algn="ctr"/>
            <a:r>
              <a:rPr lang="en-US" altLang="ja-JP" sz="6400">
                <a:solidFill>
                  <a:srgbClr val="FFAF03"/>
                </a:solidFill>
                <a:latin typeface="Century Gothic" charset="0"/>
                <a:ea typeface="Century Gothic" charset="0"/>
                <a:cs typeface="Century Gothic" charset="0"/>
                <a:sym typeface="Century Gothic" charset="0"/>
              </a:rPr>
              <a:t>Results of the First Phase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1">
                                            <p:txEl>
                                              <p:pRg st="0" end="0"/>
                                            </p:txEl>
                                          </p:spTgt>
                                        </p:tgtEl>
                                        <p:attrNameLst>
                                          <p:attrName>style.visibility</p:attrName>
                                        </p:attrNameLst>
                                      </p:cBhvr>
                                      <p:to>
                                        <p:strVal val="visible"/>
                                      </p:to>
                                    </p:set>
                                    <p:animEffect transition="in" filter="wipe(left)">
                                      <p:cBhvr>
                                        <p:cTn id="7" dur="500"/>
                                        <p:tgtEl>
                                          <p:spTgt spid="102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1">
                                            <p:txEl>
                                              <p:pRg st="1" end="1"/>
                                            </p:txEl>
                                          </p:spTgt>
                                        </p:tgtEl>
                                        <p:attrNameLst>
                                          <p:attrName>style.visibility</p:attrName>
                                        </p:attrNameLst>
                                      </p:cBhvr>
                                      <p:to>
                                        <p:strVal val="visible"/>
                                      </p:to>
                                    </p:set>
                                    <p:animEffect transition="in" filter="wipe(left)">
                                      <p:cBhvr>
                                        <p:cTn id="12" dur="500"/>
                                        <p:tgtEl>
                                          <p:spTgt spid="102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1">
                                            <p:txEl>
                                              <p:pRg st="2" end="2"/>
                                            </p:txEl>
                                          </p:spTgt>
                                        </p:tgtEl>
                                        <p:attrNameLst>
                                          <p:attrName>style.visibility</p:attrName>
                                        </p:attrNameLst>
                                      </p:cBhvr>
                                      <p:to>
                                        <p:strVal val="visible"/>
                                      </p:to>
                                    </p:set>
                                    <p:animEffect transition="in" filter="wipe(left)">
                                      <p:cBhvr>
                                        <p:cTn id="17" dur="500"/>
                                        <p:tgtEl>
                                          <p:spTgt spid="102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1">
                                            <p:txEl>
                                              <p:pRg st="3" end="3"/>
                                            </p:txEl>
                                          </p:spTgt>
                                        </p:tgtEl>
                                        <p:attrNameLst>
                                          <p:attrName>style.visibility</p:attrName>
                                        </p:attrNameLst>
                                      </p:cBhvr>
                                      <p:to>
                                        <p:strVal val="visible"/>
                                      </p:to>
                                    </p:set>
                                    <p:animEffect transition="in" filter="wipe(left)">
                                      <p:cBhvr>
                                        <p:cTn id="22" dur="500"/>
                                        <p:tgtEl>
                                          <p:spTgt spid="1024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 grpId="0" build="p" autoUpdateAnimBg="0"/>
    </p:bld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265" name="Rectangle 1"/>
          <p:cNvSpPr>
            <a:spLocks noChangeArrowheads="1"/>
          </p:cNvSpPr>
          <p:nvPr>
            <p:ph type="title"/>
          </p:nvPr>
        </p:nvSpPr>
        <p:spPr>
          <a:xfrm>
            <a:off x="869950" y="574675"/>
            <a:ext cx="11263313" cy="2333625"/>
          </a:xfrm>
          <a:ln/>
        </p:spPr>
        <p:txBody>
          <a:bodyPr rIns="115597"/>
          <a:lstStyle/>
          <a:p>
            <a:pPr marL="57150"/>
            <a:r>
              <a:rPr lang="en-US" altLang="ja-JP"/>
              <a:t>Newly Built Quantum Gas Lab</a:t>
            </a:r>
          </a:p>
        </p:txBody>
      </p:sp>
      <p:pic>
        <p:nvPicPr>
          <p:cNvPr id="11266" name="Picture 2"/>
          <p:cNvPicPr>
            <a:picLocks noChangeArrowheads="1"/>
          </p:cNvPicPr>
          <p:nvPr/>
        </p:nvPicPr>
        <p:blipFill>
          <a:blip r:embed="rId3"/>
          <a:srcRect/>
          <a:stretch>
            <a:fillRect/>
          </a:stretch>
        </p:blipFill>
        <p:spPr bwMode="auto">
          <a:xfrm>
            <a:off x="741363" y="2355850"/>
            <a:ext cx="7259637" cy="5445125"/>
          </a:xfrm>
          <a:prstGeom prst="rect">
            <a:avLst/>
          </a:prstGeom>
          <a:noFill/>
          <a:ln w="9525" cap="flat">
            <a:noFill/>
            <a:miter lim="800000"/>
            <a:headEnd/>
            <a:tailEnd/>
          </a:ln>
        </p:spPr>
      </p:pic>
      <p:pic>
        <p:nvPicPr>
          <p:cNvPr id="11267" name="Picture 3"/>
          <p:cNvPicPr>
            <a:picLocks noChangeArrowheads="1"/>
          </p:cNvPicPr>
          <p:nvPr/>
        </p:nvPicPr>
        <p:blipFill>
          <a:blip r:embed="rId4"/>
          <a:srcRect/>
          <a:stretch>
            <a:fillRect/>
          </a:stretch>
        </p:blipFill>
        <p:spPr bwMode="auto">
          <a:xfrm>
            <a:off x="8261350" y="5740400"/>
            <a:ext cx="4124325" cy="3097213"/>
          </a:xfrm>
          <a:prstGeom prst="rect">
            <a:avLst/>
          </a:prstGeom>
          <a:noFill/>
          <a:ln w="9525" cap="flat">
            <a:solidFill>
              <a:srgbClr val="000000"/>
            </a:solidFill>
            <a:prstDash val="solid"/>
            <a:miter lim="800000"/>
            <a:headEnd/>
            <a:tailEnd/>
          </a:ln>
        </p:spPr>
      </p:pic>
      <p:grpSp>
        <p:nvGrpSpPr>
          <p:cNvPr id="11268" name="Group 4"/>
          <p:cNvGrpSpPr>
            <a:grpSpLocks/>
          </p:cNvGrpSpPr>
          <p:nvPr/>
        </p:nvGrpSpPr>
        <p:grpSpPr bwMode="auto">
          <a:xfrm>
            <a:off x="8302625" y="2139950"/>
            <a:ext cx="4124325" cy="3097213"/>
            <a:chOff x="0" y="0"/>
            <a:chExt cx="2598" cy="1951"/>
          </a:xfrm>
        </p:grpSpPr>
        <p:sp>
          <p:nvSpPr>
            <p:cNvPr id="11269" name="Rectangle 5"/>
            <p:cNvSpPr>
              <a:spLocks/>
            </p:cNvSpPr>
            <p:nvPr/>
          </p:nvSpPr>
          <p:spPr bwMode="auto">
            <a:xfrm>
              <a:off x="0" y="0"/>
              <a:ext cx="2598" cy="1951"/>
            </a:xfrm>
            <a:prstGeom prst="rect">
              <a:avLst/>
            </a:prstGeom>
            <a:solidFill>
              <a:srgbClr val="000000"/>
            </a:solidFill>
            <a:ln w="12700" cap="flat">
              <a:noFill/>
              <a:miter lim="800000"/>
              <a:headEnd type="none" w="med" len="med"/>
              <a:tailEnd type="none" w="med" len="med"/>
            </a:ln>
          </p:spPr>
          <p:txBody>
            <a:bodyPr lIns="0" tIns="0" rIns="0" bIns="0">
              <a:prstTxWarp prst="textNoShape">
                <a:avLst/>
              </a:prstTxWarp>
            </a:bodyPr>
            <a:lstStyle/>
            <a:p>
              <a:endParaRPr lang="ja-JP" altLang="en-US"/>
            </a:p>
          </p:txBody>
        </p:sp>
        <p:pic>
          <p:nvPicPr>
            <p:cNvPr id="11270" name="Picture 6"/>
            <p:cNvPicPr>
              <a:picLocks noChangeArrowheads="1"/>
            </p:cNvPicPr>
            <p:nvPr/>
          </p:nvPicPr>
          <p:blipFill>
            <a:blip r:embed="rId5"/>
            <a:srcRect/>
            <a:stretch>
              <a:fillRect/>
            </a:stretch>
          </p:blipFill>
          <p:spPr bwMode="auto">
            <a:xfrm>
              <a:off x="0" y="0"/>
              <a:ext cx="2598" cy="1951"/>
            </a:xfrm>
            <a:prstGeom prst="rect">
              <a:avLst/>
            </a:prstGeom>
            <a:noFill/>
            <a:ln w="9525" cap="flat">
              <a:solidFill>
                <a:srgbClr val="000000"/>
              </a:solidFill>
              <a:prstDash val="solid"/>
              <a:miter lim="800000"/>
              <a:headEnd/>
              <a:tailEnd/>
            </a:ln>
          </p:spPr>
        </p:pic>
      </p:grpSp>
      <p:sp>
        <p:nvSpPr>
          <p:cNvPr id="11271" name="Rectangle 7"/>
          <p:cNvSpPr>
            <a:spLocks/>
          </p:cNvSpPr>
          <p:nvPr/>
        </p:nvSpPr>
        <p:spPr bwMode="auto">
          <a:xfrm>
            <a:off x="1581150" y="7800975"/>
            <a:ext cx="5418138" cy="444500"/>
          </a:xfrm>
          <a:prstGeom prst="rect">
            <a:avLst/>
          </a:prstGeom>
          <a:noFill/>
          <a:ln w="38100" cap="flat">
            <a:noFill/>
            <a:miter lim="800000"/>
            <a:headEnd type="none" w="med" len="med"/>
            <a:tailEnd type="none" w="med" len="med"/>
          </a:ln>
        </p:spPr>
        <p:txBody>
          <a:bodyPr wrap="none" lIns="0" tIns="0" rIns="40639" bIns="0">
            <a:prstTxWarp prst="textNoShape">
              <a:avLst/>
            </a:prstTxWarp>
            <a:spAutoFit/>
          </a:bodyPr>
          <a:lstStyle/>
          <a:p>
            <a:pPr marL="39688" algn="ctr"/>
            <a:r>
              <a:rPr lang="en-US" altLang="ja-JP" sz="2400">
                <a:solidFill>
                  <a:schemeClr val="tx1"/>
                </a:solidFill>
                <a:ea typeface="Arial" charset="0"/>
                <a:cs typeface="Arial" charset="0"/>
              </a:rPr>
              <a:t>Quantum Gas Laboratory, SNU </a:t>
            </a:r>
            <a:r>
              <a:rPr lang="en-US" altLang="ja-JP" sz="2400">
                <a:solidFill>
                  <a:srgbClr val="FD9A00"/>
                </a:solidFill>
                <a:ea typeface="Arial" charset="0"/>
                <a:cs typeface="Arial" charset="0"/>
              </a:rPr>
              <a:t>23-104</a:t>
            </a:r>
          </a:p>
        </p:txBody>
      </p:sp>
      <p:sp>
        <p:nvSpPr>
          <p:cNvPr id="11272" name="Rectangle 8"/>
          <p:cNvSpPr>
            <a:spLocks/>
          </p:cNvSpPr>
          <p:nvPr/>
        </p:nvSpPr>
        <p:spPr bwMode="auto">
          <a:xfrm>
            <a:off x="8270875" y="4919663"/>
            <a:ext cx="4191000" cy="444500"/>
          </a:xfrm>
          <a:prstGeom prst="rect">
            <a:avLst/>
          </a:prstGeom>
          <a:solidFill>
            <a:srgbClr val="161645"/>
          </a:solidFill>
          <a:ln w="38100" cap="flat">
            <a:noFill/>
            <a:miter lim="800000"/>
            <a:headEnd type="none" w="med" len="med"/>
            <a:tailEnd type="none" w="med" len="med"/>
          </a:ln>
        </p:spPr>
        <p:txBody>
          <a:bodyPr lIns="0" tIns="0" rIns="40639" bIns="0">
            <a:prstTxWarp prst="textNoShape">
              <a:avLst/>
            </a:prstTxWarp>
          </a:bodyPr>
          <a:lstStyle/>
          <a:p>
            <a:pPr marL="39688" algn="ctr"/>
            <a:r>
              <a:rPr lang="en-US" altLang="ja-JP" sz="2400">
                <a:solidFill>
                  <a:schemeClr val="tx1"/>
                </a:solidFill>
                <a:ea typeface="Arial" charset="0"/>
                <a:cs typeface="Arial" charset="0"/>
              </a:rPr>
              <a:t>Laser System</a:t>
            </a:r>
          </a:p>
        </p:txBody>
      </p:sp>
      <p:sp>
        <p:nvSpPr>
          <p:cNvPr id="11273" name="Rectangle 9"/>
          <p:cNvSpPr>
            <a:spLocks/>
          </p:cNvSpPr>
          <p:nvPr/>
        </p:nvSpPr>
        <p:spPr bwMode="auto">
          <a:xfrm>
            <a:off x="8229600" y="8520113"/>
            <a:ext cx="4191000" cy="444500"/>
          </a:xfrm>
          <a:prstGeom prst="rect">
            <a:avLst/>
          </a:prstGeom>
          <a:solidFill>
            <a:srgbClr val="333399"/>
          </a:solidFill>
          <a:ln w="38100" cap="flat">
            <a:noFill/>
            <a:miter lim="800000"/>
            <a:headEnd type="none" w="med" len="med"/>
            <a:tailEnd type="none" w="med" len="med"/>
          </a:ln>
        </p:spPr>
        <p:txBody>
          <a:bodyPr lIns="0" tIns="0" rIns="40639" bIns="0">
            <a:prstTxWarp prst="textNoShape">
              <a:avLst/>
            </a:prstTxWarp>
          </a:bodyPr>
          <a:lstStyle/>
          <a:p>
            <a:pPr marL="39688" algn="ctr"/>
            <a:r>
              <a:rPr lang="en-US" altLang="ja-JP" sz="2400">
                <a:solidFill>
                  <a:schemeClr val="tx1"/>
                </a:solidFill>
                <a:ea typeface="Arial" charset="0"/>
                <a:cs typeface="Arial" charset="0"/>
              </a:rPr>
              <a:t>Vacuum System</a:t>
            </a: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pSp>
        <p:nvGrpSpPr>
          <p:cNvPr id="14337" name="Group 1"/>
          <p:cNvGrpSpPr>
            <a:grpSpLocks/>
          </p:cNvGrpSpPr>
          <p:nvPr/>
        </p:nvGrpSpPr>
        <p:grpSpPr bwMode="auto">
          <a:xfrm>
            <a:off x="-866775" y="-80963"/>
            <a:ext cx="15544800" cy="9894888"/>
            <a:chOff x="0" y="0"/>
            <a:chExt cx="9792" cy="6233"/>
          </a:xfrm>
        </p:grpSpPr>
        <p:sp>
          <p:nvSpPr>
            <p:cNvPr id="14338" name="Rectangle 2"/>
            <p:cNvSpPr>
              <a:spLocks/>
            </p:cNvSpPr>
            <p:nvPr/>
          </p:nvSpPr>
          <p:spPr bwMode="auto">
            <a:xfrm>
              <a:off x="12" y="0"/>
              <a:ext cx="9780" cy="5168"/>
            </a:xfrm>
            <a:prstGeom prst="rect">
              <a:avLst/>
            </a:prstGeom>
            <a:solidFill>
              <a:srgbClr val="FFFFFF"/>
            </a:solidFill>
            <a:ln w="9525" cap="flat">
              <a:noFill/>
              <a:round/>
              <a:headEnd type="none" w="med" len="med"/>
              <a:tailEnd type="none" w="med" len="med"/>
            </a:ln>
          </p:spPr>
          <p:txBody>
            <a:bodyPr lIns="0" tIns="0" rIns="0" bIns="0">
              <a:prstTxWarp prst="textNoShape">
                <a:avLst/>
              </a:prstTxWarp>
            </a:bodyPr>
            <a:lstStyle/>
            <a:p>
              <a:endParaRPr lang="ja-JP" altLang="en-US"/>
            </a:p>
          </p:txBody>
        </p:sp>
        <p:pic>
          <p:nvPicPr>
            <p:cNvPr id="14339" name="Picture 3"/>
            <p:cNvPicPr>
              <a:picLocks noChangeAspect="1" noChangeArrowheads="1"/>
            </p:cNvPicPr>
            <p:nvPr/>
          </p:nvPicPr>
          <p:blipFill>
            <a:blip r:embed="rId2"/>
            <a:srcRect/>
            <a:stretch>
              <a:fillRect/>
            </a:stretch>
          </p:blipFill>
          <p:spPr bwMode="auto">
            <a:xfrm>
              <a:off x="0" y="1220"/>
              <a:ext cx="9766" cy="5013"/>
            </a:xfrm>
            <a:prstGeom prst="rect">
              <a:avLst/>
            </a:prstGeom>
            <a:noFill/>
            <a:ln w="9525" cap="flat">
              <a:noFill/>
              <a:miter lim="800000"/>
              <a:headEnd/>
              <a:tailEnd/>
            </a:ln>
          </p:spPr>
        </p:pic>
        <p:sp>
          <p:nvSpPr>
            <p:cNvPr id="14340" name="Rectangle 4"/>
            <p:cNvSpPr>
              <a:spLocks/>
            </p:cNvSpPr>
            <p:nvPr/>
          </p:nvSpPr>
          <p:spPr bwMode="auto">
            <a:xfrm>
              <a:off x="763" y="383"/>
              <a:ext cx="1696" cy="992"/>
            </a:xfrm>
            <a:prstGeom prst="rect">
              <a:avLst/>
            </a:prstGeom>
            <a:noFill/>
            <a:ln w="9525" cap="flat">
              <a:solidFill>
                <a:schemeClr val="tx1"/>
              </a:solidFill>
              <a:prstDash val="solid"/>
              <a:miter lim="800000"/>
              <a:headEnd type="none" w="med" len="med"/>
              <a:tailEnd type="none" w="med" len="med"/>
            </a:ln>
          </p:spPr>
          <p:txBody>
            <a:bodyPr lIns="0" tIns="0" rIns="40639" bIns="0">
              <a:prstTxWarp prst="textNoShape">
                <a:avLst/>
              </a:prstTxWarp>
            </a:bodyPr>
            <a:lstStyle/>
            <a:p>
              <a:pPr marL="39688"/>
              <a:r>
                <a:rPr lang="en-US" altLang="ja-JP" sz="3100">
                  <a:solidFill>
                    <a:srgbClr val="000000"/>
                  </a:solidFill>
                  <a:ea typeface="Arial" charset="0"/>
                  <a:cs typeface="Arial" charset="0"/>
                </a:rPr>
                <a:t>Na oven</a:t>
              </a:r>
              <a:endParaRPr lang="en-US" altLang="ja-JP" sz="5100">
                <a:solidFill>
                  <a:schemeClr val="tx1"/>
                </a:solidFill>
                <a:ea typeface="Lucida Grande" charset="0"/>
                <a:cs typeface="Lucida Grande" charset="0"/>
              </a:endParaRPr>
            </a:p>
            <a:p>
              <a:pPr marL="39688"/>
              <a:r>
                <a:rPr lang="en-US" altLang="ja-JP" sz="3100">
                  <a:solidFill>
                    <a:srgbClr val="000000"/>
                  </a:solidFill>
                  <a:ea typeface="Arial" charset="0"/>
                  <a:cs typeface="Arial" charset="0"/>
                </a:rPr>
                <a:t>P~ 8</a:t>
              </a:r>
              <a:r>
                <a:rPr lang="en-US" altLang="ja-JP" sz="3100">
                  <a:solidFill>
                    <a:srgbClr val="000000"/>
                  </a:solidFill>
                  <a:latin typeface="Symbol" charset="2"/>
                  <a:ea typeface="Symbol" charset="2"/>
                  <a:cs typeface="Symbol" charset="2"/>
                  <a:sym typeface="Symbol" charset="2"/>
                </a:rPr>
                <a:t>×</a:t>
              </a:r>
              <a:r>
                <a:rPr lang="en-US" altLang="ja-JP" sz="3100">
                  <a:solidFill>
                    <a:srgbClr val="000000"/>
                  </a:solidFill>
                  <a:ea typeface="Arial" charset="0"/>
                  <a:cs typeface="Arial" charset="0"/>
                </a:rPr>
                <a:t>10</a:t>
              </a:r>
              <a:r>
                <a:rPr lang="en-US" altLang="ja-JP" sz="3100" baseline="31000">
                  <a:solidFill>
                    <a:srgbClr val="000000"/>
                  </a:solidFill>
                  <a:ea typeface="Arial" charset="0"/>
                  <a:cs typeface="Arial" charset="0"/>
                </a:rPr>
                <a:t>-9</a:t>
              </a:r>
              <a:r>
                <a:rPr lang="en-US" altLang="ja-JP" sz="3100">
                  <a:solidFill>
                    <a:srgbClr val="000000"/>
                  </a:solidFill>
                  <a:ea typeface="Arial" charset="0"/>
                  <a:cs typeface="Arial" charset="0"/>
                </a:rPr>
                <a:t> torr</a:t>
              </a:r>
              <a:endParaRPr lang="en-US" altLang="ja-JP" sz="5100">
                <a:solidFill>
                  <a:schemeClr val="tx1"/>
                </a:solidFill>
                <a:ea typeface="Lucida Grande" charset="0"/>
                <a:cs typeface="Lucida Grande" charset="0"/>
              </a:endParaRPr>
            </a:p>
            <a:p>
              <a:pPr marL="39688"/>
              <a:r>
                <a:rPr lang="en-US" altLang="ja-JP" sz="3100">
                  <a:solidFill>
                    <a:srgbClr val="000000"/>
                  </a:solidFill>
                  <a:ea typeface="Arial" charset="0"/>
                  <a:cs typeface="Arial" charset="0"/>
                </a:rPr>
                <a:t>320˚C</a:t>
              </a:r>
            </a:p>
          </p:txBody>
        </p:sp>
        <p:sp>
          <p:nvSpPr>
            <p:cNvPr id="14341" name="Rectangle 5"/>
            <p:cNvSpPr>
              <a:spLocks/>
            </p:cNvSpPr>
            <p:nvPr/>
          </p:nvSpPr>
          <p:spPr bwMode="auto">
            <a:xfrm>
              <a:off x="3355" y="989"/>
              <a:ext cx="2176" cy="1040"/>
            </a:xfrm>
            <a:prstGeom prst="rect">
              <a:avLst/>
            </a:prstGeom>
            <a:noFill/>
            <a:ln w="9525" cap="flat">
              <a:solidFill>
                <a:schemeClr val="tx1"/>
              </a:solidFill>
              <a:prstDash val="solid"/>
              <a:miter lim="800000"/>
              <a:headEnd type="none" w="med" len="med"/>
              <a:tailEnd type="none" w="med" len="med"/>
            </a:ln>
          </p:spPr>
          <p:txBody>
            <a:bodyPr lIns="0" tIns="0" rIns="40639" bIns="0">
              <a:prstTxWarp prst="textNoShape">
                <a:avLst/>
              </a:prstTxWarp>
            </a:bodyPr>
            <a:lstStyle/>
            <a:p>
              <a:pPr marL="39688"/>
              <a:r>
                <a:rPr lang="en-US" altLang="ja-JP" sz="3100">
                  <a:solidFill>
                    <a:srgbClr val="000000"/>
                  </a:solidFill>
                  <a:ea typeface="Arial" charset="0"/>
                  <a:cs typeface="Arial" charset="0"/>
                </a:rPr>
                <a:t>Zeeman slower</a:t>
              </a:r>
              <a:endParaRPr lang="en-US" altLang="ja-JP" sz="5100">
                <a:solidFill>
                  <a:schemeClr val="tx1"/>
                </a:solidFill>
                <a:ea typeface="Lucida Grande" charset="0"/>
                <a:cs typeface="Lucida Grande" charset="0"/>
              </a:endParaRPr>
            </a:p>
            <a:p>
              <a:pPr marL="39688"/>
              <a:r>
                <a:rPr lang="en-US" altLang="ja-JP" sz="3100">
                  <a:solidFill>
                    <a:srgbClr val="000000"/>
                  </a:solidFill>
                  <a:ea typeface="Arial" charset="0"/>
                  <a:cs typeface="Arial" charset="0"/>
                </a:rPr>
                <a:t>10</a:t>
              </a:r>
              <a:r>
                <a:rPr lang="en-US" altLang="ja-JP" sz="3100" baseline="31000">
                  <a:solidFill>
                    <a:srgbClr val="000000"/>
                  </a:solidFill>
                  <a:ea typeface="Arial" charset="0"/>
                  <a:cs typeface="Arial" charset="0"/>
                </a:rPr>
                <a:t>11</a:t>
              </a:r>
              <a:r>
                <a:rPr lang="en-US" altLang="ja-JP" sz="3100">
                  <a:solidFill>
                    <a:srgbClr val="000000"/>
                  </a:solidFill>
                  <a:ea typeface="Arial" charset="0"/>
                  <a:cs typeface="Arial" charset="0"/>
                </a:rPr>
                <a:t> atoms/s</a:t>
              </a:r>
              <a:endParaRPr lang="en-US" altLang="ja-JP" sz="5100">
                <a:solidFill>
                  <a:schemeClr val="tx1"/>
                </a:solidFill>
                <a:ea typeface="Lucida Grande" charset="0"/>
                <a:cs typeface="Lucida Grande" charset="0"/>
              </a:endParaRPr>
            </a:p>
            <a:p>
              <a:pPr marL="39688"/>
              <a:r>
                <a:rPr lang="en-US" altLang="ja-JP" sz="3100">
                  <a:solidFill>
                    <a:srgbClr val="000000"/>
                  </a:solidFill>
                  <a:ea typeface="Arial" charset="0"/>
                  <a:cs typeface="Arial" charset="0"/>
                </a:rPr>
                <a:t>300 m/s </a:t>
              </a:r>
              <a:r>
                <a:rPr lang="en-US" altLang="ja-JP" sz="3100">
                  <a:solidFill>
                    <a:srgbClr val="000000"/>
                  </a:solidFill>
                  <a:latin typeface="Wingdings" charset="2"/>
                  <a:ea typeface="Wingdings" charset="2"/>
                  <a:cs typeface="Wingdings" charset="2"/>
                  <a:sym typeface="Wingdings" charset="2"/>
                </a:rPr>
                <a:t></a:t>
              </a:r>
              <a:r>
                <a:rPr lang="en-US" altLang="ja-JP" sz="3100">
                  <a:solidFill>
                    <a:srgbClr val="000000"/>
                  </a:solidFill>
                  <a:ea typeface="Arial" charset="0"/>
                  <a:cs typeface="Arial" charset="0"/>
                </a:rPr>
                <a:t> 30 m/s</a:t>
              </a:r>
            </a:p>
          </p:txBody>
        </p:sp>
        <p:sp>
          <p:nvSpPr>
            <p:cNvPr id="14342" name="Rectangle 6"/>
            <p:cNvSpPr>
              <a:spLocks/>
            </p:cNvSpPr>
            <p:nvPr/>
          </p:nvSpPr>
          <p:spPr bwMode="auto">
            <a:xfrm>
              <a:off x="6125" y="772"/>
              <a:ext cx="1800" cy="728"/>
            </a:xfrm>
            <a:prstGeom prst="rect">
              <a:avLst/>
            </a:prstGeom>
            <a:noFill/>
            <a:ln w="9525" cap="flat">
              <a:solidFill>
                <a:schemeClr val="tx1"/>
              </a:solidFill>
              <a:prstDash val="solid"/>
              <a:miter lim="800000"/>
              <a:headEnd type="none" w="med" len="med"/>
              <a:tailEnd type="none" w="med" len="med"/>
            </a:ln>
          </p:spPr>
          <p:txBody>
            <a:bodyPr lIns="0" tIns="0" rIns="40639" bIns="0">
              <a:prstTxWarp prst="textNoShape">
                <a:avLst/>
              </a:prstTxWarp>
            </a:bodyPr>
            <a:lstStyle/>
            <a:p>
              <a:pPr marL="39688"/>
              <a:r>
                <a:rPr lang="en-US" altLang="ja-JP" sz="3100">
                  <a:solidFill>
                    <a:srgbClr val="000000"/>
                  </a:solidFill>
                  <a:ea typeface="Arial" charset="0"/>
                  <a:cs typeface="Arial" charset="0"/>
                </a:rPr>
                <a:t>Main chamber</a:t>
              </a:r>
              <a:endParaRPr lang="en-US" altLang="ja-JP" sz="5100">
                <a:solidFill>
                  <a:schemeClr val="tx1"/>
                </a:solidFill>
                <a:ea typeface="Lucida Grande" charset="0"/>
                <a:cs typeface="Lucida Grande" charset="0"/>
              </a:endParaRPr>
            </a:p>
            <a:p>
              <a:pPr marL="39688"/>
              <a:r>
                <a:rPr lang="en-US" altLang="ja-JP" sz="3100">
                  <a:solidFill>
                    <a:srgbClr val="000000"/>
                  </a:solidFill>
                  <a:ea typeface="Arial" charset="0"/>
                  <a:cs typeface="Arial" charset="0"/>
                </a:rPr>
                <a:t>P &lt; 10</a:t>
              </a:r>
              <a:r>
                <a:rPr lang="en-US" altLang="ja-JP" sz="3100" baseline="31000">
                  <a:solidFill>
                    <a:srgbClr val="000000"/>
                  </a:solidFill>
                  <a:ea typeface="Arial" charset="0"/>
                  <a:cs typeface="Arial" charset="0"/>
                </a:rPr>
                <a:t>-11</a:t>
              </a:r>
              <a:r>
                <a:rPr lang="en-US" altLang="ja-JP" sz="3100">
                  <a:solidFill>
                    <a:srgbClr val="000000"/>
                  </a:solidFill>
                  <a:ea typeface="Arial" charset="0"/>
                  <a:cs typeface="Arial" charset="0"/>
                </a:rPr>
                <a:t> torr</a:t>
              </a:r>
            </a:p>
          </p:txBody>
        </p:sp>
        <p:sp>
          <p:nvSpPr>
            <p:cNvPr id="14343" name="Line 7"/>
            <p:cNvSpPr>
              <a:spLocks noChangeShapeType="1"/>
            </p:cNvSpPr>
            <p:nvPr/>
          </p:nvSpPr>
          <p:spPr bwMode="auto">
            <a:xfrm>
              <a:off x="3033" y="1809"/>
              <a:ext cx="3455" cy="330"/>
            </a:xfrm>
            <a:prstGeom prst="line">
              <a:avLst/>
            </a:prstGeom>
            <a:noFill/>
            <a:ln w="9525" cap="flat">
              <a:solidFill>
                <a:schemeClr val="tx1"/>
              </a:solidFill>
              <a:prstDash val="solid"/>
              <a:round/>
              <a:headEnd type="arrow" w="med" len="med"/>
              <a:tailEnd type="arrow" w="med" len="med"/>
            </a:ln>
          </p:spPr>
          <p:txBody>
            <a:bodyPr lIns="0" tIns="0" rIns="0" bIns="0">
              <a:prstTxWarp prst="textNoShape">
                <a:avLst/>
              </a:prstTxWarp>
            </a:bodyPr>
            <a:lstStyle/>
            <a:p>
              <a:endParaRPr lang="ja-JP" altLang="en-US"/>
            </a:p>
          </p:txBody>
        </p:sp>
        <p:sp>
          <p:nvSpPr>
            <p:cNvPr id="14344" name="Rectangle 8"/>
            <p:cNvSpPr>
              <a:spLocks/>
            </p:cNvSpPr>
            <p:nvPr/>
          </p:nvSpPr>
          <p:spPr bwMode="auto">
            <a:xfrm rot="420000">
              <a:off x="3581" y="2988"/>
              <a:ext cx="776" cy="304"/>
            </a:xfrm>
            <a:prstGeom prst="rect">
              <a:avLst/>
            </a:prstGeom>
            <a:noFill/>
            <a:ln w="9525" cap="flat">
              <a:noFill/>
              <a:miter lim="800000"/>
              <a:headEnd type="none" w="med" len="med"/>
              <a:tailEnd type="none" w="med" len="med"/>
            </a:ln>
          </p:spPr>
          <p:txBody>
            <a:bodyPr lIns="0" tIns="0" rIns="40639" bIns="0">
              <a:prstTxWarp prst="textNoShape">
                <a:avLst/>
              </a:prstTxWarp>
            </a:bodyPr>
            <a:lstStyle/>
            <a:p>
              <a:pPr marL="39688"/>
              <a:r>
                <a:rPr lang="en-US" altLang="ja-JP" sz="2900">
                  <a:solidFill>
                    <a:srgbClr val="000000"/>
                  </a:solidFill>
                  <a:ea typeface="Arial" charset="0"/>
                  <a:cs typeface="Arial" charset="0"/>
                </a:rPr>
                <a:t>1.2 m</a:t>
              </a:r>
            </a:p>
          </p:txBody>
        </p:sp>
        <p:sp>
          <p:nvSpPr>
            <p:cNvPr id="14345" name="Line 9"/>
            <p:cNvSpPr>
              <a:spLocks noChangeShapeType="1"/>
            </p:cNvSpPr>
            <p:nvPr/>
          </p:nvSpPr>
          <p:spPr bwMode="auto">
            <a:xfrm>
              <a:off x="2729" y="2585"/>
              <a:ext cx="3303" cy="431"/>
            </a:xfrm>
            <a:prstGeom prst="line">
              <a:avLst/>
            </a:prstGeom>
            <a:noFill/>
            <a:ln w="9525" cap="flat">
              <a:solidFill>
                <a:srgbClr val="000000"/>
              </a:solidFill>
              <a:prstDash val="solid"/>
              <a:round/>
              <a:headEnd type="arrow" w="med" len="med"/>
              <a:tailEnd type="arrow" w="med" len="med"/>
            </a:ln>
          </p:spPr>
          <p:txBody>
            <a:bodyPr lIns="0" tIns="0" rIns="0" bIns="0">
              <a:prstTxWarp prst="textNoShape">
                <a:avLst/>
              </a:prstTxWarp>
            </a:bodyPr>
            <a:lstStyle/>
            <a:p>
              <a:endParaRPr lang="ja-JP" altLang="en-US"/>
            </a:p>
          </p:txBody>
        </p:sp>
      </p:grpSp>
      <p:sp>
        <p:nvSpPr>
          <p:cNvPr id="14346" name="Rectangle 10"/>
          <p:cNvSpPr>
            <a:spLocks/>
          </p:cNvSpPr>
          <p:nvPr/>
        </p:nvSpPr>
        <p:spPr bwMode="auto">
          <a:xfrm>
            <a:off x="215900" y="9067800"/>
            <a:ext cx="3708400" cy="444500"/>
          </a:xfrm>
          <a:prstGeom prst="rect">
            <a:avLst/>
          </a:prstGeom>
          <a:solidFill>
            <a:srgbClr val="FF9E40"/>
          </a:solidFill>
          <a:ln w="38100" cap="flat">
            <a:noFill/>
            <a:miter lim="800000"/>
            <a:headEnd type="none" w="med" len="med"/>
            <a:tailEnd type="none" w="med" len="med"/>
          </a:ln>
        </p:spPr>
        <p:txBody>
          <a:bodyPr lIns="0" tIns="0" rIns="40639" bIns="0">
            <a:prstTxWarp prst="textNoShape">
              <a:avLst/>
            </a:prstTxWarp>
          </a:bodyPr>
          <a:lstStyle/>
          <a:p>
            <a:pPr marL="39688" algn="ctr"/>
            <a:r>
              <a:rPr lang="en-US" altLang="ja-JP" sz="2400">
                <a:solidFill>
                  <a:srgbClr val="0000FF"/>
                </a:solidFill>
                <a:ea typeface="Arial" charset="0"/>
                <a:cs typeface="Arial" charset="0"/>
              </a:rPr>
              <a:t>Design of BEC machine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5361" name="Picture 1"/>
          <p:cNvPicPr>
            <a:picLocks noChangeAspect="1" noChangeArrowheads="1"/>
          </p:cNvPicPr>
          <p:nvPr/>
        </p:nvPicPr>
        <p:blipFill>
          <a:blip r:embed="rId2"/>
          <a:srcRect/>
          <a:stretch>
            <a:fillRect/>
          </a:stretch>
        </p:blipFill>
        <p:spPr bwMode="auto">
          <a:xfrm>
            <a:off x="0" y="7938"/>
            <a:ext cx="14573250" cy="9715500"/>
          </a:xfrm>
          <a:prstGeom prst="rect">
            <a:avLst/>
          </a:prstGeom>
          <a:noFill/>
          <a:ln w="9525" cap="flat">
            <a:noFill/>
            <a:miter lim="800000"/>
            <a:headEnd/>
            <a:tailEnd/>
          </a:ln>
        </p:spPr>
      </p:pic>
      <p:sp>
        <p:nvSpPr>
          <p:cNvPr id="15362" name="Rectangle 2"/>
          <p:cNvSpPr>
            <a:spLocks/>
          </p:cNvSpPr>
          <p:nvPr/>
        </p:nvSpPr>
        <p:spPr bwMode="auto">
          <a:xfrm>
            <a:off x="228600" y="9023350"/>
            <a:ext cx="4178300" cy="444500"/>
          </a:xfrm>
          <a:prstGeom prst="rect">
            <a:avLst/>
          </a:prstGeom>
          <a:solidFill>
            <a:srgbClr val="CECEEF"/>
          </a:solidFill>
          <a:ln w="38100" cap="flat">
            <a:noFill/>
            <a:miter lim="800000"/>
            <a:headEnd type="none" w="med" len="med"/>
            <a:tailEnd type="none" w="med" len="med"/>
          </a:ln>
        </p:spPr>
        <p:txBody>
          <a:bodyPr lIns="0" tIns="0" rIns="40639" bIns="0">
            <a:prstTxWarp prst="textNoShape">
              <a:avLst/>
            </a:prstTxWarp>
          </a:bodyPr>
          <a:lstStyle/>
          <a:p>
            <a:pPr marL="39688" algn="ctr"/>
            <a:r>
              <a:rPr lang="en-US" altLang="ja-JP" sz="2400">
                <a:solidFill>
                  <a:srgbClr val="0000FF"/>
                </a:solidFill>
                <a:ea typeface="Arial" charset="0"/>
                <a:cs typeface="Arial" charset="0"/>
              </a:rPr>
              <a:t>Machine Photo w/ Lasers on</a:t>
            </a:r>
          </a:p>
        </p:txBody>
      </p:sp>
    </p:spTree>
  </p:cSld>
  <p:clrMapOvr>
    <a:masterClrMapping/>
  </p:clrMapOv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6385" name="Picture 1"/>
          <p:cNvPicPr>
            <a:picLocks noChangeAspect="1" noChangeArrowheads="1"/>
          </p:cNvPicPr>
          <p:nvPr/>
        </p:nvPicPr>
        <p:blipFill>
          <a:blip r:embed="rId2"/>
          <a:srcRect/>
          <a:stretch>
            <a:fillRect/>
          </a:stretch>
        </p:blipFill>
        <p:spPr bwMode="auto">
          <a:xfrm>
            <a:off x="-623888" y="7938"/>
            <a:ext cx="14641513" cy="9720262"/>
          </a:xfrm>
          <a:prstGeom prst="rect">
            <a:avLst/>
          </a:prstGeom>
          <a:noFill/>
          <a:ln w="9525" cap="flat">
            <a:noFill/>
            <a:miter lim="800000"/>
            <a:headEnd/>
            <a:tailEnd/>
          </a:ln>
        </p:spPr>
      </p:pic>
      <p:sp>
        <p:nvSpPr>
          <p:cNvPr id="16386" name="Rectangle 2"/>
          <p:cNvSpPr>
            <a:spLocks/>
          </p:cNvSpPr>
          <p:nvPr/>
        </p:nvSpPr>
        <p:spPr bwMode="auto">
          <a:xfrm>
            <a:off x="217488" y="9007475"/>
            <a:ext cx="12052300" cy="469900"/>
          </a:xfrm>
          <a:prstGeom prst="rect">
            <a:avLst/>
          </a:prstGeom>
          <a:solidFill>
            <a:srgbClr val="C2E5A6"/>
          </a:solidFill>
          <a:ln w="38100" cap="flat">
            <a:noFill/>
            <a:miter lim="800000"/>
            <a:headEnd type="none" w="med" len="med"/>
            <a:tailEnd type="none" w="med" len="med"/>
          </a:ln>
        </p:spPr>
        <p:txBody>
          <a:bodyPr lIns="0" tIns="0" rIns="40639" bIns="0">
            <a:prstTxWarp prst="textNoShape">
              <a:avLst/>
            </a:prstTxWarp>
          </a:bodyPr>
          <a:lstStyle/>
          <a:p>
            <a:pPr marL="39688" algn="ctr"/>
            <a:r>
              <a:rPr lang="en-US" altLang="ja-JP" sz="2300">
                <a:solidFill>
                  <a:schemeClr val="tx1"/>
                </a:solidFill>
                <a:ea typeface="Zapf Dingbats" charset="2"/>
                <a:cs typeface="Zapf Dingbats" charset="2"/>
              </a:rPr>
              <a:t>➊Laser cooling from room temperature to 100 μK, ➋Evaporation cooling to 100 nK ⇒ BEC</a:t>
            </a:r>
          </a:p>
        </p:txBody>
      </p:sp>
    </p:spTree>
  </p:cSld>
  <p:clrMapOvr>
    <a:masterClrMapping/>
  </p:clrMapOv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09" name="Rectangle 1"/>
          <p:cNvSpPr>
            <a:spLocks noChangeArrowheads="1"/>
          </p:cNvSpPr>
          <p:nvPr>
            <p:ph type="title"/>
          </p:nvPr>
        </p:nvSpPr>
        <p:spPr>
          <a:xfrm>
            <a:off x="869950" y="574675"/>
            <a:ext cx="11263313" cy="1465263"/>
          </a:xfrm>
          <a:ln/>
        </p:spPr>
        <p:txBody>
          <a:bodyPr rIns="166398"/>
          <a:lstStyle/>
          <a:p>
            <a:pPr marL="57150"/>
            <a:r>
              <a:rPr lang="en-US" altLang="ja-JP"/>
              <a:t>The first BEC in Korea</a:t>
            </a:r>
          </a:p>
        </p:txBody>
      </p:sp>
      <p:sp>
        <p:nvSpPr>
          <p:cNvPr id="17410" name="Rectangle 2"/>
          <p:cNvSpPr>
            <a:spLocks/>
          </p:cNvSpPr>
          <p:nvPr/>
        </p:nvSpPr>
        <p:spPr bwMode="auto">
          <a:xfrm>
            <a:off x="744538" y="1879600"/>
            <a:ext cx="11493500" cy="2806700"/>
          </a:xfrm>
          <a:prstGeom prst="rect">
            <a:avLst/>
          </a:prstGeom>
          <a:noFill/>
          <a:ln w="12700" cap="flat">
            <a:noFill/>
            <a:miter lim="800000"/>
            <a:headEnd type="none" w="med" len="med"/>
            <a:tailEnd type="none" w="med" len="med"/>
          </a:ln>
        </p:spPr>
        <p:txBody>
          <a:bodyPr lIns="0" tIns="0" rIns="57799" bIns="0">
            <a:prstTxWarp prst="textNoShape">
              <a:avLst/>
            </a:prstTxWarp>
          </a:bodyPr>
          <a:lstStyle/>
          <a:p>
            <a:pPr marL="368300" indent="-368300">
              <a:spcBef>
                <a:spcPts val="1600"/>
              </a:spcBef>
              <a:buClr>
                <a:srgbClr val="54638C"/>
              </a:buClr>
              <a:buSzPct val="89000"/>
              <a:buFont typeface="Wingdings 2" charset="2"/>
              <a:buChar char="Ü"/>
            </a:pPr>
            <a:r>
              <a:rPr lang="en-US" altLang="ja-JP" sz="3000">
                <a:solidFill>
                  <a:schemeClr val="tx1"/>
                </a:solidFill>
                <a:ea typeface="Arial" charset="0"/>
                <a:cs typeface="Arial" charset="0"/>
              </a:rPr>
              <a:t>Produced a pure condensate of 1</a:t>
            </a:r>
            <a:r>
              <a:rPr lang="en-US" altLang="ja-JP" sz="3000">
                <a:solidFill>
                  <a:schemeClr val="tx1"/>
                </a:solidFill>
                <a:latin typeface="Symbol" charset="2"/>
                <a:ea typeface="Symbol" charset="2"/>
                <a:cs typeface="Symbol" charset="2"/>
                <a:sym typeface="Symbol" charset="2"/>
              </a:rPr>
              <a:t>×</a:t>
            </a:r>
            <a:r>
              <a:rPr lang="en-US" altLang="ja-JP" sz="3000">
                <a:solidFill>
                  <a:schemeClr val="tx1"/>
                </a:solidFill>
                <a:ea typeface="Arial" charset="0"/>
                <a:cs typeface="Arial" charset="0"/>
              </a:rPr>
              <a:t>10</a:t>
            </a:r>
            <a:r>
              <a:rPr lang="en-US" altLang="ja-JP" sz="3000" baseline="30000">
                <a:solidFill>
                  <a:schemeClr val="tx1"/>
                </a:solidFill>
                <a:ea typeface="Arial" charset="0"/>
                <a:cs typeface="Arial" charset="0"/>
              </a:rPr>
              <a:t>7</a:t>
            </a:r>
            <a:r>
              <a:rPr lang="en-US" altLang="ja-JP" sz="3000">
                <a:solidFill>
                  <a:schemeClr val="tx1"/>
                </a:solidFill>
                <a:ea typeface="Arial" charset="0"/>
                <a:cs typeface="Arial" charset="0"/>
              </a:rPr>
              <a:t> atoms in 14s evaporation (30 times better than the conventional BECs) </a:t>
            </a:r>
          </a:p>
          <a:p>
            <a:pPr marL="368300" indent="-368300">
              <a:spcBef>
                <a:spcPts val="1600"/>
              </a:spcBef>
              <a:buClr>
                <a:srgbClr val="54638C"/>
              </a:buClr>
              <a:buSzPct val="89000"/>
              <a:buFont typeface="Wingdings 2" charset="2"/>
              <a:buChar char="Ü"/>
            </a:pPr>
            <a:r>
              <a:rPr lang="en-US" altLang="ja-JP" sz="3000">
                <a:solidFill>
                  <a:schemeClr val="tx1"/>
                </a:solidFill>
                <a:latin typeface="Helvetica" charset="0"/>
                <a:ea typeface="Helvetica" charset="0"/>
                <a:cs typeface="Helvetica" charset="0"/>
                <a:sym typeface="Helvetica" charset="0"/>
              </a:rPr>
              <a:t>This achievement fully accomplishes the primary goal of the first phase (2008 - 2010), providing a solid platform for launching the second-phase program for various BEC applications</a:t>
            </a:r>
          </a:p>
        </p:txBody>
      </p:sp>
      <p:pic>
        <p:nvPicPr>
          <p:cNvPr id="17411" name="Picture 3"/>
          <p:cNvPicPr>
            <a:picLocks noChangeAspect="1" noChangeArrowheads="1"/>
          </p:cNvPicPr>
          <p:nvPr/>
        </p:nvPicPr>
        <p:blipFill>
          <a:blip r:embed="rId3"/>
          <a:srcRect/>
          <a:stretch>
            <a:fillRect/>
          </a:stretch>
        </p:blipFill>
        <p:spPr bwMode="auto">
          <a:xfrm>
            <a:off x="336550" y="4851400"/>
            <a:ext cx="5676900" cy="3024188"/>
          </a:xfrm>
          <a:prstGeom prst="rect">
            <a:avLst/>
          </a:prstGeom>
          <a:noFill/>
          <a:ln w="9525" cap="flat">
            <a:noFill/>
            <a:round/>
            <a:headEnd/>
            <a:tailEnd/>
          </a:ln>
        </p:spPr>
      </p:pic>
      <p:pic>
        <p:nvPicPr>
          <p:cNvPr id="17412" name="Picture 4"/>
          <p:cNvPicPr>
            <a:picLocks noChangeAspect="1" noChangeArrowheads="1"/>
          </p:cNvPicPr>
          <p:nvPr/>
        </p:nvPicPr>
        <p:blipFill>
          <a:blip r:embed="rId4"/>
          <a:srcRect/>
          <a:stretch>
            <a:fillRect/>
          </a:stretch>
        </p:blipFill>
        <p:spPr bwMode="auto">
          <a:xfrm>
            <a:off x="6184900" y="4848225"/>
            <a:ext cx="6502400" cy="3024188"/>
          </a:xfrm>
          <a:prstGeom prst="rect">
            <a:avLst/>
          </a:prstGeom>
          <a:noFill/>
          <a:ln w="9525" cap="flat">
            <a:noFill/>
            <a:round/>
            <a:headEnd/>
            <a:tailEnd/>
          </a:ln>
        </p:spPr>
      </p:pic>
      <p:sp>
        <p:nvSpPr>
          <p:cNvPr id="17413" name="Rectangle 5"/>
          <p:cNvSpPr>
            <a:spLocks/>
          </p:cNvSpPr>
          <p:nvPr/>
        </p:nvSpPr>
        <p:spPr bwMode="auto">
          <a:xfrm>
            <a:off x="1528763" y="7921625"/>
            <a:ext cx="9956800" cy="673100"/>
          </a:xfrm>
          <a:prstGeom prst="rect">
            <a:avLst/>
          </a:prstGeom>
          <a:noFill/>
          <a:ln w="38100" cap="flat">
            <a:noFill/>
            <a:miter lim="800000"/>
            <a:headEnd type="none" w="med" len="med"/>
            <a:tailEnd type="none" w="med" len="med"/>
          </a:ln>
        </p:spPr>
        <p:txBody>
          <a:bodyPr lIns="0" tIns="0" rIns="40639" bIns="0">
            <a:prstTxWarp prst="textNoShape">
              <a:avLst/>
            </a:prstTxWarp>
          </a:bodyPr>
          <a:lstStyle/>
          <a:p>
            <a:pPr marL="39688"/>
            <a:r>
              <a:rPr lang="en-US" altLang="ja-JP" sz="2000">
                <a:solidFill>
                  <a:schemeClr val="tx1"/>
                </a:solidFill>
                <a:latin typeface="Times New Roman" charset="0"/>
                <a:ea typeface="Times New Roman" charset="0"/>
                <a:cs typeface="Times New Roman" charset="0"/>
                <a:sym typeface="Times New Roman" charset="0"/>
              </a:rPr>
              <a:t>Myoung-Sun Heo, Jaeyoon Choi, and Yong-il Shin,  “Fast production of large 23Na BECs in an optically plugged magnetic quadrupole trap”, arXiv: 1011.1078 (2010).</a:t>
            </a:r>
          </a:p>
        </p:txBody>
      </p:sp>
      <p:pic>
        <p:nvPicPr>
          <p:cNvPr id="17414" name="Picture 6"/>
          <p:cNvPicPr>
            <a:picLocks noChangeArrowheads="1"/>
          </p:cNvPicPr>
          <p:nvPr/>
        </p:nvPicPr>
        <p:blipFill>
          <a:blip r:embed="rId5"/>
          <a:srcRect l="11588" t="18420" r="15475" b="6013"/>
          <a:stretch>
            <a:fillRect/>
          </a:stretch>
        </p:blipFill>
        <p:spPr bwMode="auto">
          <a:xfrm>
            <a:off x="338138" y="4851400"/>
            <a:ext cx="5676900" cy="3022600"/>
          </a:xfrm>
          <a:prstGeom prst="rect">
            <a:avLst/>
          </a:prstGeom>
          <a:noFill/>
          <a:ln w="9525" cap="flat">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Effect transition="in" filter="wipe(left)">
                                      <p:cBhvr>
                                        <p:cTn id="7" dur="500"/>
                                        <p:tgtEl>
                                          <p:spTgt spid="174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0">
                                            <p:txEl>
                                              <p:pRg st="1" end="1"/>
                                            </p:txEl>
                                          </p:spTgt>
                                        </p:tgtEl>
                                        <p:attrNameLst>
                                          <p:attrName>style.visibility</p:attrName>
                                        </p:attrNameLst>
                                      </p:cBhvr>
                                      <p:to>
                                        <p:strVal val="visible"/>
                                      </p:to>
                                    </p:set>
                                    <p:animEffect transition="in" filter="wipe(left)">
                                      <p:cBhvr>
                                        <p:cTn id="12" dur="500"/>
                                        <p:tgtEl>
                                          <p:spTgt spid="17410">
                                            <p:txEl>
                                              <p:pRg st="1" end="1"/>
                                            </p:txEl>
                                          </p:spTgt>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7414"/>
                                        </p:tgtEl>
                                        <p:attrNameLst>
                                          <p:attrName>style.visibility</p:attrName>
                                        </p:attrNameLst>
                                      </p:cBhvr>
                                      <p:to>
                                        <p:strVal val="visible"/>
                                      </p:to>
                                    </p:set>
                                    <p:animEffect transition="in" filter="wipe(down)">
                                      <p:cBhvr>
                                        <p:cTn id="16" dur="500"/>
                                        <p:tgtEl>
                                          <p:spTgt spid="17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autoUpdateAnimBg="0"/>
    </p:bld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PhAnim="0">
  <p:cSld>
    <p:spTree>
      <p:nvGrpSpPr>
        <p:cNvPr id="1" name=""/>
        <p:cNvGrpSpPr/>
        <p:nvPr/>
      </p:nvGrpSpPr>
      <p:grpSpPr>
        <a:xfrm>
          <a:off x="0" y="0"/>
          <a:ext cx="0" cy="0"/>
          <a:chOff x="0" y="0"/>
          <a:chExt cx="0" cy="0"/>
        </a:xfrm>
      </p:grpSpPr>
      <p:sp>
        <p:nvSpPr>
          <p:cNvPr id="19457" name="Rectangle 1"/>
          <p:cNvSpPr>
            <a:spLocks noChangeArrowheads="1"/>
          </p:cNvSpPr>
          <p:nvPr>
            <p:ph type="title"/>
          </p:nvPr>
        </p:nvSpPr>
        <p:spPr>
          <a:xfrm>
            <a:off x="869950" y="354013"/>
            <a:ext cx="11264900" cy="1371600"/>
          </a:xfrm>
          <a:ln/>
        </p:spPr>
        <p:txBody>
          <a:bodyPr rIns="166398"/>
          <a:lstStyle/>
          <a:p>
            <a:pPr marL="57150"/>
            <a:r>
              <a:rPr lang="en-US" altLang="ja-JP" sz="5400"/>
              <a:t>Study of open quantum systems</a:t>
            </a:r>
          </a:p>
        </p:txBody>
      </p:sp>
      <p:sp>
        <p:nvSpPr>
          <p:cNvPr id="19458" name="Rectangle 2"/>
          <p:cNvSpPr>
            <a:spLocks noChangeArrowheads="1"/>
          </p:cNvSpPr>
          <p:nvPr>
            <p:ph type="body" idx="1"/>
          </p:nvPr>
        </p:nvSpPr>
        <p:spPr>
          <a:xfrm>
            <a:off x="1143000" y="1622425"/>
            <a:ext cx="10820400" cy="1524000"/>
          </a:xfrm>
          <a:ln/>
        </p:spPr>
        <p:txBody>
          <a:bodyPr rIns="166398"/>
          <a:lstStyle/>
          <a:p>
            <a:pPr>
              <a:spcBef>
                <a:spcPct val="0"/>
              </a:spcBef>
            </a:pPr>
            <a:r>
              <a:rPr lang="en-US" altLang="ja-JP" sz="2800"/>
              <a:t>Exceptional points have been observed in a deformed microcavity, simulating open quantum systems </a:t>
            </a:r>
            <a:r>
              <a:rPr lang="en-US" altLang="ja-JP" sz="2800">
                <a:latin typeface="Times New Roman" charset="0"/>
                <a:ea typeface="Times New Roman" charset="0"/>
                <a:cs typeface="Times New Roman" charset="0"/>
                <a:sym typeface="Times New Roman" charset="0"/>
              </a:rPr>
              <a:t>[S. Lee </a:t>
            </a:r>
            <a:r>
              <a:rPr lang="en-US" altLang="ja-JP" sz="2800" i="1">
                <a:latin typeface="Times New Roman" charset="0"/>
                <a:ea typeface="Times New Roman" charset="0"/>
                <a:cs typeface="Times New Roman" charset="0"/>
                <a:sym typeface="Times New Roman" charset="0"/>
              </a:rPr>
              <a:t>et al</a:t>
            </a:r>
            <a:r>
              <a:rPr lang="en-US" altLang="ja-JP" sz="2800">
                <a:latin typeface="Times New Roman" charset="0"/>
                <a:ea typeface="Times New Roman" charset="0"/>
                <a:cs typeface="Times New Roman" charset="0"/>
                <a:sym typeface="Times New Roman" charset="0"/>
              </a:rPr>
              <a:t>, Phys. Rev. Lett. </a:t>
            </a:r>
            <a:r>
              <a:rPr lang="en-US" altLang="ja-JP" sz="2800" b="1">
                <a:latin typeface="Times New Roman" charset="0"/>
                <a:ea typeface="Times New Roman" charset="0"/>
                <a:cs typeface="Times New Roman" charset="0"/>
                <a:sym typeface="Times New Roman" charset="0"/>
              </a:rPr>
              <a:t>103</a:t>
            </a:r>
            <a:r>
              <a:rPr lang="en-US" altLang="ja-JP" sz="2800">
                <a:latin typeface="Times New Roman" charset="0"/>
                <a:ea typeface="Times New Roman" charset="0"/>
                <a:cs typeface="Times New Roman" charset="0"/>
                <a:sym typeface="Times New Roman" charset="0"/>
              </a:rPr>
              <a:t>, 134101 (2009)]</a:t>
            </a:r>
            <a:r>
              <a:rPr lang="en-US" altLang="ja-JP" sz="2800"/>
              <a:t>.</a:t>
            </a:r>
          </a:p>
        </p:txBody>
      </p:sp>
      <p:grpSp>
        <p:nvGrpSpPr>
          <p:cNvPr id="19459" name="Group 3"/>
          <p:cNvGrpSpPr>
            <a:grpSpLocks/>
          </p:cNvGrpSpPr>
          <p:nvPr/>
        </p:nvGrpSpPr>
        <p:grpSpPr bwMode="auto">
          <a:xfrm>
            <a:off x="1905000" y="5156200"/>
            <a:ext cx="3278188" cy="3975100"/>
            <a:chOff x="0" y="0"/>
            <a:chExt cx="2065" cy="2504"/>
          </a:xfrm>
        </p:grpSpPr>
        <p:pic>
          <p:nvPicPr>
            <p:cNvPr id="19460" name="Picture 4"/>
            <p:cNvPicPr>
              <a:picLocks noChangeAspect="1" noChangeArrowheads="1"/>
            </p:cNvPicPr>
            <p:nvPr/>
          </p:nvPicPr>
          <p:blipFill>
            <a:blip r:embed="rId2"/>
            <a:srcRect/>
            <a:stretch>
              <a:fillRect/>
            </a:stretch>
          </p:blipFill>
          <p:spPr bwMode="auto">
            <a:xfrm>
              <a:off x="0" y="0"/>
              <a:ext cx="2065" cy="2104"/>
            </a:xfrm>
            <a:prstGeom prst="rect">
              <a:avLst/>
            </a:prstGeom>
            <a:noFill/>
            <a:ln w="9525" cap="flat">
              <a:noFill/>
              <a:round/>
              <a:headEnd/>
              <a:tailEnd/>
            </a:ln>
          </p:spPr>
        </p:pic>
        <p:sp>
          <p:nvSpPr>
            <p:cNvPr id="19461" name="Rectangle 5"/>
            <p:cNvSpPr>
              <a:spLocks/>
            </p:cNvSpPr>
            <p:nvPr/>
          </p:nvSpPr>
          <p:spPr bwMode="auto">
            <a:xfrm>
              <a:off x="0" y="2112"/>
              <a:ext cx="2064" cy="392"/>
            </a:xfrm>
            <a:prstGeom prst="rect">
              <a:avLst/>
            </a:prstGeom>
            <a:noFill/>
            <a:ln w="12700" cap="flat">
              <a:noFill/>
              <a:miter lim="800000"/>
              <a:headEnd type="none" w="med" len="med"/>
              <a:tailEnd type="none" w="med" len="med"/>
            </a:ln>
          </p:spPr>
          <p:txBody>
            <a:bodyPr lIns="0" tIns="0" rIns="0" bIns="0">
              <a:prstTxWarp prst="textNoShape">
                <a:avLst/>
              </a:prstTxWarp>
            </a:bodyPr>
            <a:lstStyle/>
            <a:p>
              <a:pPr algn="just"/>
              <a:r>
                <a:rPr lang="en-US" altLang="ja-JP" sz="1800">
                  <a:solidFill>
                    <a:schemeClr val="tx1"/>
                  </a:solidFill>
                  <a:latin typeface="Times New Roman" charset="0"/>
                  <a:ea typeface="Times New Roman" charset="0"/>
                  <a:cs typeface="Times New Roman" charset="0"/>
                  <a:sym typeface="Times New Roman" charset="0"/>
                </a:rPr>
                <a:t>Exceptional point observed in a deformed microcavity laser </a:t>
              </a:r>
            </a:p>
          </p:txBody>
        </p:sp>
      </p:grpSp>
      <p:grpSp>
        <p:nvGrpSpPr>
          <p:cNvPr id="19462" name="Group 6"/>
          <p:cNvGrpSpPr>
            <a:grpSpLocks/>
          </p:cNvGrpSpPr>
          <p:nvPr/>
        </p:nvGrpSpPr>
        <p:grpSpPr bwMode="auto">
          <a:xfrm>
            <a:off x="6384925" y="5153025"/>
            <a:ext cx="4838700" cy="3965575"/>
            <a:chOff x="0" y="0"/>
            <a:chExt cx="3048" cy="2497"/>
          </a:xfrm>
        </p:grpSpPr>
        <p:pic>
          <p:nvPicPr>
            <p:cNvPr id="19463" name="Picture 7"/>
            <p:cNvPicPr>
              <a:picLocks noChangeAspect="1" noChangeArrowheads="1"/>
            </p:cNvPicPr>
            <p:nvPr/>
          </p:nvPicPr>
          <p:blipFill>
            <a:blip r:embed="rId3"/>
            <a:srcRect/>
            <a:stretch>
              <a:fillRect/>
            </a:stretch>
          </p:blipFill>
          <p:spPr bwMode="auto">
            <a:xfrm>
              <a:off x="1" y="0"/>
              <a:ext cx="3046" cy="2104"/>
            </a:xfrm>
            <a:prstGeom prst="rect">
              <a:avLst/>
            </a:prstGeom>
            <a:noFill/>
            <a:ln w="9525" cap="flat">
              <a:noFill/>
              <a:round/>
              <a:headEnd/>
              <a:tailEnd/>
            </a:ln>
          </p:spPr>
        </p:pic>
        <p:sp>
          <p:nvSpPr>
            <p:cNvPr id="19464" name="Rectangle 8"/>
            <p:cNvSpPr>
              <a:spLocks/>
            </p:cNvSpPr>
            <p:nvPr/>
          </p:nvSpPr>
          <p:spPr bwMode="auto">
            <a:xfrm>
              <a:off x="0" y="2105"/>
              <a:ext cx="3048" cy="392"/>
            </a:xfrm>
            <a:prstGeom prst="rect">
              <a:avLst/>
            </a:prstGeom>
            <a:noFill/>
            <a:ln w="12700" cap="flat">
              <a:noFill/>
              <a:miter lim="800000"/>
              <a:headEnd type="none" w="med" len="med"/>
              <a:tailEnd type="none" w="med" len="med"/>
            </a:ln>
          </p:spPr>
          <p:txBody>
            <a:bodyPr lIns="0" tIns="0" rIns="0" bIns="0">
              <a:prstTxWarp prst="textNoShape">
                <a:avLst/>
              </a:prstTxWarp>
            </a:bodyPr>
            <a:lstStyle/>
            <a:p>
              <a:pPr algn="just"/>
              <a:r>
                <a:rPr lang="en-US" altLang="ja-JP" sz="1800">
                  <a:solidFill>
                    <a:schemeClr val="tx1"/>
                  </a:solidFill>
                  <a:latin typeface="Times New Roman" charset="0"/>
                  <a:ea typeface="Times New Roman" charset="0"/>
                  <a:cs typeface="Times New Roman" charset="0"/>
                  <a:sym typeface="Times New Roman" charset="0"/>
                </a:rPr>
                <a:t>Eigenstates coalescence at the exceptional point in the atom-cavity quantum composite</a:t>
              </a:r>
            </a:p>
          </p:txBody>
        </p:sp>
      </p:grpSp>
      <p:sp>
        <p:nvSpPr>
          <p:cNvPr id="19465" name="Rectangle 9"/>
          <p:cNvSpPr>
            <a:spLocks/>
          </p:cNvSpPr>
          <p:nvPr/>
        </p:nvSpPr>
        <p:spPr bwMode="auto">
          <a:xfrm>
            <a:off x="1143000" y="3289300"/>
            <a:ext cx="10820400" cy="1524000"/>
          </a:xfrm>
          <a:prstGeom prst="rect">
            <a:avLst/>
          </a:prstGeom>
          <a:noFill/>
          <a:ln w="12700" cap="flat">
            <a:noFill/>
            <a:miter lim="800000"/>
            <a:headEnd type="none" w="med" len="med"/>
            <a:tailEnd type="none" w="med" len="med"/>
          </a:ln>
        </p:spPr>
        <p:txBody>
          <a:bodyPr lIns="0" tIns="0" rIns="57799" bIns="0">
            <a:prstTxWarp prst="textNoShape">
              <a:avLst/>
            </a:prstTxWarp>
          </a:bodyPr>
          <a:lstStyle/>
          <a:p>
            <a:pPr marL="342900" indent="-342900">
              <a:spcBef>
                <a:spcPts val="3100"/>
              </a:spcBef>
              <a:buClr>
                <a:srgbClr val="54638C"/>
              </a:buClr>
              <a:buSzPct val="89000"/>
              <a:buFont typeface="Wingdings 2" charset="2"/>
              <a:buChar char="Ü"/>
            </a:pPr>
            <a:r>
              <a:rPr lang="en-US" altLang="ja-JP" sz="2800">
                <a:solidFill>
                  <a:schemeClr val="tx1"/>
                </a:solidFill>
                <a:latin typeface="Century Gothic" charset="0"/>
                <a:ea typeface="Century Gothic" charset="0"/>
                <a:cs typeface="Century Gothic" charset="0"/>
                <a:sym typeface="Century Gothic" charset="0"/>
              </a:rPr>
              <a:t>Exceptional points have also been observed in a true quantum system, an atom-cavity coupled system in our study </a:t>
            </a:r>
            <a:r>
              <a:rPr lang="en-US" altLang="ja-JP" sz="2800">
                <a:solidFill>
                  <a:schemeClr val="tx1"/>
                </a:solidFill>
                <a:latin typeface="Times New Roman" charset="0"/>
                <a:ea typeface="Times New Roman" charset="0"/>
                <a:cs typeface="Times New Roman" charset="0"/>
                <a:sym typeface="Times New Roman" charset="0"/>
              </a:rPr>
              <a:t>[Y. Choi </a:t>
            </a:r>
            <a:r>
              <a:rPr lang="en-US" altLang="ja-JP" sz="2800" i="1">
                <a:solidFill>
                  <a:schemeClr val="tx1"/>
                </a:solidFill>
                <a:latin typeface="Times New Roman" charset="0"/>
                <a:ea typeface="Times New Roman" charset="0"/>
                <a:cs typeface="Times New Roman" charset="0"/>
                <a:sym typeface="Times New Roman" charset="0"/>
              </a:rPr>
              <a:t>et al</a:t>
            </a:r>
            <a:r>
              <a:rPr lang="en-US" altLang="ja-JP" sz="2800">
                <a:solidFill>
                  <a:schemeClr val="tx1"/>
                </a:solidFill>
                <a:latin typeface="Times New Roman" charset="0"/>
                <a:ea typeface="Times New Roman" charset="0"/>
                <a:cs typeface="Times New Roman" charset="0"/>
                <a:sym typeface="Times New Roman" charset="0"/>
              </a:rPr>
              <a:t>., Phys. Rev. Lett. </a:t>
            </a:r>
            <a:r>
              <a:rPr lang="en-US" altLang="ja-JP" sz="2800" b="1">
                <a:solidFill>
                  <a:schemeClr val="tx1"/>
                </a:solidFill>
                <a:latin typeface="Times New Roman" charset="0"/>
                <a:ea typeface="Times New Roman" charset="0"/>
                <a:cs typeface="Times New Roman" charset="0"/>
                <a:sym typeface="Times New Roman" charset="0"/>
              </a:rPr>
              <a:t>104</a:t>
            </a:r>
            <a:r>
              <a:rPr lang="en-US" altLang="ja-JP" sz="2800">
                <a:solidFill>
                  <a:schemeClr val="tx1"/>
                </a:solidFill>
                <a:latin typeface="Times New Roman" charset="0"/>
                <a:ea typeface="Times New Roman" charset="0"/>
                <a:cs typeface="Times New Roman" charset="0"/>
                <a:sym typeface="Times New Roman" charset="0"/>
              </a:rPr>
              <a:t>, 153601 (2010)]</a:t>
            </a:r>
            <a:r>
              <a:rPr lang="en-US" altLang="ja-JP" sz="2800">
                <a:solidFill>
                  <a:schemeClr val="tx1"/>
                </a:solidFill>
                <a:latin typeface="Century Gothic" charset="0"/>
                <a:ea typeface="Century Gothic" charset="0"/>
                <a:cs typeface="Century Gothic" charset="0"/>
                <a:sym typeface="Century Gothic"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wipe(left)">
                                      <p:cBhvr>
                                        <p:cTn id="7" dur="500"/>
                                        <p:tgtEl>
                                          <p:spTgt spid="1945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459"/>
                                        </p:tgtEl>
                                        <p:attrNameLst>
                                          <p:attrName>style.visibility</p:attrName>
                                        </p:attrNameLst>
                                      </p:cBhvr>
                                      <p:to>
                                        <p:strVal val="visible"/>
                                      </p:to>
                                    </p:set>
                                    <p:animEffect transition="in" filter="wipe(left)">
                                      <p:cBhvr>
                                        <p:cTn id="11" dur="500"/>
                                        <p:tgtEl>
                                          <p:spTgt spid="1945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465"/>
                                        </p:tgtEl>
                                        <p:attrNameLst>
                                          <p:attrName>style.visibility</p:attrName>
                                        </p:attrNameLst>
                                      </p:cBhvr>
                                      <p:to>
                                        <p:strVal val="visible"/>
                                      </p:to>
                                    </p:set>
                                    <p:animEffect transition="in" filter="wipe(left)">
                                      <p:cBhvr>
                                        <p:cTn id="16" dur="500"/>
                                        <p:tgtEl>
                                          <p:spTgt spid="19465"/>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9462"/>
                                        </p:tgtEl>
                                        <p:attrNameLst>
                                          <p:attrName>style.visibility</p:attrName>
                                        </p:attrNameLst>
                                      </p:cBhvr>
                                      <p:to>
                                        <p:strVal val="visible"/>
                                      </p:to>
                                    </p:set>
                                    <p:animEffect transition="in" filter="wipe(left)">
                                      <p:cBhvr>
                                        <p:cTn id="20"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utoUpdateAnimBg="0"/>
      <p:bldP spid="19465" grpId="0" autoUpdateAnimBg="0"/>
    </p:bld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0481" name="Picture 1"/>
          <p:cNvPicPr>
            <a:picLocks noChangeArrowheads="1"/>
          </p:cNvPicPr>
          <p:nvPr/>
        </p:nvPicPr>
        <p:blipFill>
          <a:blip r:embed="rId2"/>
          <a:srcRect/>
          <a:stretch>
            <a:fillRect/>
          </a:stretch>
        </p:blipFill>
        <p:spPr bwMode="auto">
          <a:xfrm>
            <a:off x="-1588" y="0"/>
            <a:ext cx="13041313" cy="9766300"/>
          </a:xfrm>
          <a:prstGeom prst="rect">
            <a:avLst/>
          </a:prstGeom>
          <a:noFill/>
          <a:ln w="9525" cap="flat">
            <a:noFill/>
            <a:round/>
            <a:headEnd/>
            <a:tailEnd/>
          </a:ln>
        </p:spPr>
      </p:pic>
      <p:sp>
        <p:nvSpPr>
          <p:cNvPr id="20482" name="Text Box 2"/>
          <p:cNvSpPr txBox="1">
            <a:spLocks noChangeArrowheads="1"/>
          </p:cNvSpPr>
          <p:nvPr/>
        </p:nvSpPr>
        <p:spPr bwMode="auto">
          <a:xfrm>
            <a:off x="11736388" y="8991600"/>
            <a:ext cx="368300" cy="381000"/>
          </a:xfrm>
          <a:prstGeom prst="rect">
            <a:avLst/>
          </a:prstGeom>
          <a:noFill/>
          <a:ln w="12700">
            <a:noFill/>
            <a:miter lim="800000"/>
            <a:headEnd/>
            <a:tailEnd/>
          </a:ln>
          <a:effectLst/>
        </p:spPr>
        <p:txBody>
          <a:bodyPr wrap="none" anchor="ctr">
            <a:prstTxWarp prst="textNoShape">
              <a:avLst/>
            </a:prstTxWarp>
          </a:bodyPr>
          <a:lstStyle/>
          <a:p>
            <a:pPr algn="ctr"/>
            <a:fld id="{17400759-4481-1946-BA70-289D9E62F96A}" type="slidenum">
              <a:rPr lang="en-US" altLang="ja-JP" sz="1800">
                <a:solidFill>
                  <a:srgbClr val="8D9AB3"/>
                </a:solidFill>
                <a:latin typeface="Century Gothic" charset="0"/>
                <a:ea typeface="Century Gothic" charset="0"/>
                <a:cs typeface="Century Gothic" charset="0"/>
                <a:sym typeface="Century Gothic" charset="0"/>
              </a:rPr>
              <a:pPr algn="ctr"/>
              <a:t>11</a:t>
            </a:fld>
            <a:endParaRPr lang="en-US" altLang="ja-JP" sz="1800">
              <a:solidFill>
                <a:srgbClr val="8D9AB3"/>
              </a:solidFill>
              <a:latin typeface="Century Gothic" charset="0"/>
              <a:ea typeface="Century Gothic" charset="0"/>
              <a:cs typeface="Century Gothic" charset="0"/>
              <a:sym typeface="Century Gothic" charset="0"/>
            </a:endParaRPr>
          </a:p>
        </p:txBody>
      </p:sp>
      <p:sp>
        <p:nvSpPr>
          <p:cNvPr id="20483" name="Freeform 3"/>
          <p:cNvSpPr>
            <a:spLocks/>
          </p:cNvSpPr>
          <p:nvPr/>
        </p:nvSpPr>
        <p:spPr bwMode="auto">
          <a:xfrm>
            <a:off x="7480300" y="3302000"/>
            <a:ext cx="3327400" cy="3771900"/>
          </a:xfrm>
          <a:custGeom>
            <a:avLst/>
            <a:gdLst/>
            <a:ahLst/>
            <a:cxnLst>
              <a:cxn ang="0">
                <a:pos x="0" y="5382"/>
              </a:cxn>
              <a:cxn ang="0">
                <a:pos x="0" y="21600"/>
              </a:cxn>
              <a:cxn ang="0">
                <a:pos x="21600" y="16218"/>
              </a:cxn>
              <a:cxn ang="0">
                <a:pos x="21600" y="0"/>
              </a:cxn>
              <a:cxn ang="0">
                <a:pos x="0" y="5382"/>
              </a:cxn>
              <a:cxn ang="0">
                <a:pos x="0" y="5382"/>
              </a:cxn>
            </a:cxnLst>
            <a:rect l="0" t="0" r="r" b="b"/>
            <a:pathLst>
              <a:path w="21600" h="21600">
                <a:moveTo>
                  <a:pt x="0" y="5382"/>
                </a:moveTo>
                <a:lnTo>
                  <a:pt x="0" y="21600"/>
                </a:lnTo>
                <a:lnTo>
                  <a:pt x="21600" y="16218"/>
                </a:lnTo>
                <a:lnTo>
                  <a:pt x="21600" y="0"/>
                </a:lnTo>
                <a:lnTo>
                  <a:pt x="0" y="5382"/>
                </a:lnTo>
                <a:close/>
                <a:moveTo>
                  <a:pt x="0" y="5382"/>
                </a:moveTo>
              </a:path>
            </a:pathLst>
          </a:custGeom>
          <a:solidFill>
            <a:srgbClr val="0044FE">
              <a:alpha val="9000"/>
            </a:srgbClr>
          </a:solidFill>
          <a:ln w="9525" cap="flat">
            <a:solidFill>
              <a:schemeClr val="tx1">
                <a:alpha val="9000"/>
              </a:schemeClr>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20484" name="Rectangle 4"/>
          <p:cNvSpPr>
            <a:spLocks/>
          </p:cNvSpPr>
          <p:nvPr/>
        </p:nvSpPr>
        <p:spPr bwMode="auto">
          <a:xfrm rot="-5400000">
            <a:off x="3394075" y="4092576"/>
            <a:ext cx="1527175" cy="381000"/>
          </a:xfrm>
          <a:prstGeom prst="rect">
            <a:avLst/>
          </a:prstGeom>
          <a:noFill/>
          <a:ln w="12700" cap="flat">
            <a:noFill/>
            <a:miter lim="800000"/>
            <a:headEnd type="none" w="med" len="med"/>
            <a:tailEnd type="none" w="med" len="med"/>
          </a:ln>
        </p:spPr>
        <p:txBody>
          <a:bodyPr wrap="none" lIns="0" tIns="0" rIns="57799" bIns="0">
            <a:prstTxWarp prst="textNoShape">
              <a:avLst/>
            </a:prstTxWarp>
            <a:spAutoFit/>
          </a:bodyPr>
          <a:lstStyle/>
          <a:p>
            <a:pPr marL="57150"/>
            <a:r>
              <a:rPr lang="en-US" altLang="ja-JP" sz="2000">
                <a:solidFill>
                  <a:srgbClr val="343434"/>
                </a:solidFill>
                <a:ea typeface="Arial" charset="0"/>
                <a:cs typeface="Arial" charset="0"/>
              </a:rPr>
              <a:t>Im[E] (MHz)</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PhAnim="0">
  <p:cSld>
    <p:spTree>
      <p:nvGrpSpPr>
        <p:cNvPr id="1" name=""/>
        <p:cNvGrpSpPr/>
        <p:nvPr/>
      </p:nvGrpSpPr>
      <p:grpSpPr>
        <a:xfrm>
          <a:off x="0" y="0"/>
          <a:ext cx="0" cy="0"/>
          <a:chOff x="0" y="0"/>
          <a:chExt cx="0" cy="0"/>
        </a:xfrm>
      </p:grpSpPr>
      <p:sp>
        <p:nvSpPr>
          <p:cNvPr id="21505" name="Rectangle 1"/>
          <p:cNvSpPr>
            <a:spLocks noChangeArrowheads="1"/>
          </p:cNvSpPr>
          <p:nvPr>
            <p:ph type="title"/>
          </p:nvPr>
        </p:nvSpPr>
        <p:spPr>
          <a:xfrm>
            <a:off x="869950" y="341313"/>
            <a:ext cx="11264900" cy="1384300"/>
          </a:xfrm>
          <a:ln/>
        </p:spPr>
        <p:txBody>
          <a:bodyPr rIns="166398"/>
          <a:lstStyle/>
          <a:p>
            <a:pPr marL="57150"/>
            <a:r>
              <a:rPr lang="en-US" altLang="ja-JP" sz="5400"/>
              <a:t>Quantum Chaos in Microcavities</a:t>
            </a:r>
          </a:p>
        </p:txBody>
      </p:sp>
      <p:sp>
        <p:nvSpPr>
          <p:cNvPr id="21506" name="Rectangle 2"/>
          <p:cNvSpPr>
            <a:spLocks noChangeArrowheads="1"/>
          </p:cNvSpPr>
          <p:nvPr>
            <p:ph type="body" idx="1"/>
          </p:nvPr>
        </p:nvSpPr>
        <p:spPr>
          <a:xfrm>
            <a:off x="1143000" y="1482725"/>
            <a:ext cx="10706100" cy="1625600"/>
          </a:xfrm>
          <a:ln/>
        </p:spPr>
        <p:txBody>
          <a:bodyPr rIns="166398"/>
          <a:lstStyle/>
          <a:p>
            <a:pPr>
              <a:spcBef>
                <a:spcPct val="0"/>
              </a:spcBef>
            </a:pPr>
            <a:r>
              <a:rPr lang="en-US" altLang="ja-JP" sz="2800"/>
              <a:t>Dynamical tunneling has been observed in a deformed microcavity laser for the first time </a:t>
            </a:r>
            <a:r>
              <a:rPr lang="en-US" altLang="ja-JP" sz="2800">
                <a:latin typeface="Times New Roman" charset="0"/>
                <a:ea typeface="Times New Roman" charset="0"/>
                <a:cs typeface="Times New Roman" charset="0"/>
                <a:sym typeface="Times New Roman" charset="0"/>
              </a:rPr>
              <a:t>[J. Yang </a:t>
            </a:r>
            <a:r>
              <a:rPr lang="en-US" altLang="ja-JP" sz="2800" i="1">
                <a:latin typeface="Times New Roman" charset="0"/>
                <a:ea typeface="Times New Roman" charset="0"/>
                <a:cs typeface="Times New Roman" charset="0"/>
                <a:sym typeface="Times New Roman" charset="0"/>
              </a:rPr>
              <a:t>et al</a:t>
            </a:r>
            <a:r>
              <a:rPr lang="en-US" altLang="ja-JP" sz="2800">
                <a:latin typeface="Times New Roman" charset="0"/>
                <a:ea typeface="Times New Roman" charset="0"/>
                <a:cs typeface="Times New Roman" charset="0"/>
                <a:sym typeface="Times New Roman" charset="0"/>
              </a:rPr>
              <a:t>., Physical Review Letters 104, 243601 (2010)].</a:t>
            </a:r>
            <a:endParaRPr lang="en-US" altLang="ja-JP" sz="2800">
              <a:latin typeface="Times New Roman" charset="0"/>
              <a:sym typeface="Times New Roman" charset="0"/>
            </a:endParaRPr>
          </a:p>
        </p:txBody>
      </p:sp>
      <p:grpSp>
        <p:nvGrpSpPr>
          <p:cNvPr id="21507" name="Group 3"/>
          <p:cNvGrpSpPr>
            <a:grpSpLocks/>
          </p:cNvGrpSpPr>
          <p:nvPr/>
        </p:nvGrpSpPr>
        <p:grpSpPr bwMode="auto">
          <a:xfrm>
            <a:off x="3581400" y="4711700"/>
            <a:ext cx="5842000" cy="4305300"/>
            <a:chOff x="0" y="0"/>
            <a:chExt cx="3680" cy="2712"/>
          </a:xfrm>
        </p:grpSpPr>
        <p:pic>
          <p:nvPicPr>
            <p:cNvPr id="21508" name="Picture 4"/>
            <p:cNvPicPr>
              <a:picLocks noChangeAspect="1" noChangeArrowheads="1"/>
            </p:cNvPicPr>
            <p:nvPr/>
          </p:nvPicPr>
          <p:blipFill>
            <a:blip r:embed="rId2"/>
            <a:srcRect/>
            <a:stretch>
              <a:fillRect/>
            </a:stretch>
          </p:blipFill>
          <p:spPr bwMode="auto">
            <a:xfrm>
              <a:off x="191" y="0"/>
              <a:ext cx="3291" cy="2272"/>
            </a:xfrm>
            <a:prstGeom prst="rect">
              <a:avLst/>
            </a:prstGeom>
            <a:noFill/>
            <a:ln w="9525" cap="flat">
              <a:noFill/>
              <a:round/>
              <a:headEnd/>
              <a:tailEnd/>
            </a:ln>
          </p:spPr>
        </p:pic>
        <p:sp>
          <p:nvSpPr>
            <p:cNvPr id="21509" name="Rectangle 5"/>
            <p:cNvSpPr>
              <a:spLocks/>
            </p:cNvSpPr>
            <p:nvPr/>
          </p:nvSpPr>
          <p:spPr bwMode="auto">
            <a:xfrm>
              <a:off x="0" y="2320"/>
              <a:ext cx="3680" cy="392"/>
            </a:xfrm>
            <a:prstGeom prst="rect">
              <a:avLst/>
            </a:prstGeom>
            <a:noFill/>
            <a:ln w="12700" cap="flat">
              <a:noFill/>
              <a:miter lim="800000"/>
              <a:headEnd type="none" w="med" len="med"/>
              <a:tailEnd type="none" w="med" len="med"/>
            </a:ln>
          </p:spPr>
          <p:txBody>
            <a:bodyPr lIns="0" tIns="0" rIns="0" bIns="0">
              <a:prstTxWarp prst="textNoShape">
                <a:avLst/>
              </a:prstTxWarp>
            </a:bodyPr>
            <a:lstStyle/>
            <a:p>
              <a:pPr algn="just"/>
              <a:r>
                <a:rPr lang="en-US" altLang="ja-JP" sz="1800">
                  <a:solidFill>
                    <a:schemeClr val="tx1"/>
                  </a:solidFill>
                  <a:latin typeface="Times New Roman" charset="0"/>
                  <a:ea typeface="Times New Roman" charset="0"/>
                  <a:cs typeface="Times New Roman" charset="0"/>
                  <a:sym typeface="Times New Roman" charset="0"/>
                </a:rPr>
                <a:t>Dynamical tunneling from chaotic modes to a regular mode in a deformed microcavity laser, represented in the phase space. </a:t>
              </a:r>
            </a:p>
          </p:txBody>
        </p:sp>
      </p:grpSp>
      <p:sp>
        <p:nvSpPr>
          <p:cNvPr id="21510" name="Rectangle 6"/>
          <p:cNvSpPr>
            <a:spLocks/>
          </p:cNvSpPr>
          <p:nvPr/>
        </p:nvSpPr>
        <p:spPr bwMode="auto">
          <a:xfrm>
            <a:off x="1155700" y="3060700"/>
            <a:ext cx="10706100" cy="1485900"/>
          </a:xfrm>
          <a:prstGeom prst="rect">
            <a:avLst/>
          </a:prstGeom>
          <a:noFill/>
          <a:ln w="12700" cap="flat">
            <a:noFill/>
            <a:miter lim="800000"/>
            <a:headEnd type="none" w="med" len="med"/>
            <a:tailEnd type="none" w="med" len="med"/>
          </a:ln>
        </p:spPr>
        <p:txBody>
          <a:bodyPr lIns="0" tIns="0" rIns="57799" bIns="0">
            <a:prstTxWarp prst="textNoShape">
              <a:avLst/>
            </a:prstTxWarp>
          </a:bodyPr>
          <a:lstStyle/>
          <a:p>
            <a:pPr marL="342900" indent="-342900">
              <a:spcBef>
                <a:spcPts val="3100"/>
              </a:spcBef>
              <a:buClr>
                <a:srgbClr val="54638C"/>
              </a:buClr>
              <a:buSzPct val="89000"/>
              <a:buFont typeface="Wingdings 2" charset="2"/>
              <a:buChar char="Ü"/>
            </a:pPr>
            <a:r>
              <a:rPr lang="en-US" altLang="ja-JP" sz="2800">
                <a:solidFill>
                  <a:schemeClr val="tx1"/>
                </a:solidFill>
                <a:latin typeface="Century Gothic" charset="0"/>
                <a:ea typeface="Century Gothic" charset="0"/>
                <a:cs typeface="Century Gothic" charset="0"/>
                <a:sym typeface="Century Gothic" charset="0"/>
              </a:rPr>
              <a:t>Important since dynamical tunneling will also play an important role in matter wave tunneling and its applications with a BEC.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wipe(left)">
                                      <p:cBhvr>
                                        <p:cTn id="7" dur="500"/>
                                        <p:tgtEl>
                                          <p:spTgt spid="2150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1507"/>
                                        </p:tgtEl>
                                        <p:attrNameLst>
                                          <p:attrName>style.visibility</p:attrName>
                                        </p:attrNameLst>
                                      </p:cBhvr>
                                      <p:to>
                                        <p:strVal val="visible"/>
                                      </p:to>
                                    </p:set>
                                    <p:animEffect transition="in" filter="wipe(left)">
                                      <p:cBhvr>
                                        <p:cTn id="11" dur="500"/>
                                        <p:tgtEl>
                                          <p:spTgt spid="2150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1510"/>
                                        </p:tgtEl>
                                        <p:attrNameLst>
                                          <p:attrName>style.visibility</p:attrName>
                                        </p:attrNameLst>
                                      </p:cBhvr>
                                      <p:to>
                                        <p:strVal val="visible"/>
                                      </p:to>
                                    </p:set>
                                    <p:animEffect transition="in" filter="wipe(left)">
                                      <p:cBhvr>
                                        <p:cTn id="16" dur="500"/>
                                        <p:tgtEl>
                                          <p:spTgt spid="21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10" grpId="0" autoUpdateAnimBg="0"/>
    </p:bld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529" name="Rectangle 1"/>
          <p:cNvSpPr>
            <a:spLocks noChangeArrowheads="1"/>
          </p:cNvSpPr>
          <p:nvPr>
            <p:ph type="title"/>
          </p:nvPr>
        </p:nvSpPr>
        <p:spPr>
          <a:xfrm>
            <a:off x="869950" y="531813"/>
            <a:ext cx="11264900" cy="1739900"/>
          </a:xfrm>
          <a:ln/>
        </p:spPr>
        <p:txBody>
          <a:bodyPr rIns="166398"/>
          <a:lstStyle/>
          <a:p>
            <a:pPr marL="57150"/>
            <a:r>
              <a:rPr lang="en-US" altLang="ja-JP" sz="5400"/>
              <a:t>Observation of bosonic commutation relation</a:t>
            </a:r>
          </a:p>
        </p:txBody>
      </p:sp>
      <p:sp>
        <p:nvSpPr>
          <p:cNvPr id="22530" name="Rectangle 2"/>
          <p:cNvSpPr>
            <a:spLocks noChangeArrowheads="1"/>
          </p:cNvSpPr>
          <p:nvPr>
            <p:ph type="body" idx="1"/>
          </p:nvPr>
        </p:nvSpPr>
        <p:spPr>
          <a:xfrm>
            <a:off x="1155700" y="2549525"/>
            <a:ext cx="10706100" cy="2628900"/>
          </a:xfrm>
          <a:ln/>
        </p:spPr>
        <p:txBody>
          <a:bodyPr rIns="166398"/>
          <a:lstStyle/>
          <a:p>
            <a:pPr>
              <a:spcBef>
                <a:spcPct val="0"/>
              </a:spcBef>
            </a:pPr>
            <a:r>
              <a:rPr lang="en-US" altLang="ja-JP" sz="2800"/>
              <a:t>Using a new macroscopic-entanglement generation scheme [</a:t>
            </a:r>
            <a:r>
              <a:rPr lang="en-US" altLang="ja-JP" sz="2800" i="1"/>
              <a:t>Phys. Rev. Lett.</a:t>
            </a:r>
            <a:r>
              <a:rPr lang="en-US" altLang="ja-JP" sz="2800"/>
              <a:t> 102, 060403 (2009)], we could demonstrat the bosonic commutation relation, aa</a:t>
            </a:r>
            <a:r>
              <a:rPr lang="en-US" altLang="ja-JP" sz="2800" baseline="32000"/>
              <a:t>+</a:t>
            </a:r>
            <a:r>
              <a:rPr lang="en-US" altLang="ja-JP" sz="2800"/>
              <a:t>-a</a:t>
            </a:r>
            <a:r>
              <a:rPr lang="en-US" altLang="ja-JP" sz="2800" baseline="32000"/>
              <a:t>+</a:t>
            </a:r>
            <a:r>
              <a:rPr lang="en-US" altLang="ja-JP" sz="2800"/>
              <a:t>a=1, for the first time [</a:t>
            </a:r>
            <a:r>
              <a:rPr lang="en-US" altLang="ja-JP" sz="2800" i="1"/>
              <a:t>Phys. Rev. Lett. </a:t>
            </a:r>
            <a:r>
              <a:rPr lang="en-US" altLang="ja-JP" sz="2800"/>
              <a:t>103, 140406 (2009)]</a:t>
            </a:r>
          </a:p>
          <a:p>
            <a:pPr>
              <a:spcBef>
                <a:spcPts val="2400"/>
              </a:spcBef>
            </a:pPr>
            <a:r>
              <a:rPr lang="en-US" altLang="ja-JP" sz="2800"/>
              <a:t>Would also be crucial for later photon-BEC entanglement. </a:t>
            </a:r>
          </a:p>
        </p:txBody>
      </p:sp>
      <p:sp>
        <p:nvSpPr>
          <p:cNvPr id="22531" name="Rectangle 3"/>
          <p:cNvSpPr>
            <a:spLocks/>
          </p:cNvSpPr>
          <p:nvPr/>
        </p:nvSpPr>
        <p:spPr bwMode="auto">
          <a:xfrm>
            <a:off x="4076700" y="8699500"/>
            <a:ext cx="4838700" cy="355600"/>
          </a:xfrm>
          <a:prstGeom prst="rect">
            <a:avLst/>
          </a:prstGeom>
          <a:noFill/>
          <a:ln w="12700" cap="flat">
            <a:noFill/>
            <a:miter lim="800000"/>
            <a:headEnd type="none" w="med" len="med"/>
            <a:tailEnd type="none" w="med" len="med"/>
          </a:ln>
        </p:spPr>
        <p:txBody>
          <a:bodyPr lIns="0" tIns="0" rIns="0" bIns="0">
            <a:prstTxWarp prst="textNoShape">
              <a:avLst/>
            </a:prstTxWarp>
          </a:bodyPr>
          <a:lstStyle/>
          <a:p>
            <a:pPr algn="just"/>
            <a:r>
              <a:rPr lang="en-US" altLang="ja-JP" sz="1800">
                <a:solidFill>
                  <a:schemeClr val="tx1"/>
                </a:solidFill>
                <a:latin typeface="Times New Roman" charset="0"/>
                <a:ea typeface="Times New Roman" charset="0"/>
                <a:cs typeface="Times New Roman" charset="0"/>
                <a:sym typeface="Times New Roman" charset="0"/>
              </a:rPr>
              <a:t>Demonstration of the bosonic commutation relation</a:t>
            </a:r>
          </a:p>
        </p:txBody>
      </p:sp>
      <p:grpSp>
        <p:nvGrpSpPr>
          <p:cNvPr id="22532" name="Group 4"/>
          <p:cNvGrpSpPr>
            <a:grpSpLocks/>
          </p:cNvGrpSpPr>
          <p:nvPr/>
        </p:nvGrpSpPr>
        <p:grpSpPr bwMode="auto">
          <a:xfrm>
            <a:off x="2319338" y="5570538"/>
            <a:ext cx="8374062" cy="3111500"/>
            <a:chOff x="0" y="0"/>
            <a:chExt cx="5275" cy="1960"/>
          </a:xfrm>
        </p:grpSpPr>
        <p:pic>
          <p:nvPicPr>
            <p:cNvPr id="22533" name="Picture 5"/>
            <p:cNvPicPr>
              <a:picLocks noChangeAspect="1" noChangeArrowheads="1"/>
            </p:cNvPicPr>
            <p:nvPr/>
          </p:nvPicPr>
          <p:blipFill>
            <a:blip r:embed="rId3"/>
            <a:srcRect/>
            <a:stretch>
              <a:fillRect/>
            </a:stretch>
          </p:blipFill>
          <p:spPr bwMode="auto">
            <a:xfrm>
              <a:off x="2731" y="3"/>
              <a:ext cx="2544" cy="1956"/>
            </a:xfrm>
            <a:prstGeom prst="rect">
              <a:avLst/>
            </a:prstGeom>
            <a:noFill/>
            <a:ln w="9525" cap="flat">
              <a:noFill/>
              <a:round/>
              <a:headEnd/>
              <a:tailEnd/>
            </a:ln>
          </p:spPr>
        </p:pic>
        <p:pic>
          <p:nvPicPr>
            <p:cNvPr id="22534" name="Picture 6"/>
            <p:cNvPicPr>
              <a:picLocks noChangeArrowheads="1"/>
            </p:cNvPicPr>
            <p:nvPr/>
          </p:nvPicPr>
          <p:blipFill>
            <a:blip r:embed="rId4"/>
            <a:srcRect/>
            <a:stretch>
              <a:fillRect/>
            </a:stretch>
          </p:blipFill>
          <p:spPr bwMode="auto">
            <a:xfrm>
              <a:off x="0" y="0"/>
              <a:ext cx="2720" cy="1960"/>
            </a:xfrm>
            <a:prstGeom prst="rect">
              <a:avLst/>
            </a:prstGeom>
            <a:noFill/>
            <a:ln w="9525" cap="flat">
              <a:noFill/>
              <a:miter lim="800000"/>
              <a:headEnd/>
              <a:tailEnd/>
            </a:ln>
          </p:spPr>
        </p:pic>
      </p:grpSp>
      <p:sp>
        <p:nvSpPr>
          <p:cNvPr id="22535" name="Rectangle 7"/>
          <p:cNvSpPr>
            <a:spLocks/>
          </p:cNvSpPr>
          <p:nvPr/>
        </p:nvSpPr>
        <p:spPr bwMode="auto">
          <a:xfrm>
            <a:off x="2374900" y="5588000"/>
            <a:ext cx="419100" cy="419100"/>
          </a:xfrm>
          <a:prstGeom prst="rect">
            <a:avLst/>
          </a:prstGeom>
          <a:noFill/>
          <a:ln w="12700" cap="flat">
            <a:noFill/>
            <a:miter lim="800000"/>
            <a:headEnd type="none" w="med" len="med"/>
            <a:tailEnd type="none" w="med" len="med"/>
          </a:ln>
        </p:spPr>
        <p:txBody>
          <a:bodyPr wrap="none" lIns="0" tIns="0" rIns="57799" bIns="0">
            <a:prstTxWarp prst="textNoShape">
              <a:avLst/>
            </a:prstTxWarp>
            <a:spAutoFit/>
          </a:bodyPr>
          <a:lstStyle/>
          <a:p>
            <a:pPr marL="57150"/>
            <a:r>
              <a:rPr lang="en-US" altLang="ja-JP" sz="2200">
                <a:solidFill>
                  <a:srgbClr val="002939"/>
                </a:solidFill>
                <a:ea typeface="Arial" charset="0"/>
                <a:cs typeface="Arial" charset="0"/>
              </a:rPr>
              <a:t>a)</a:t>
            </a: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PhAnim="0">
  <p:cSld>
    <p:spTree>
      <p:nvGrpSpPr>
        <p:cNvPr id="1" name=""/>
        <p:cNvGrpSpPr/>
        <p:nvPr/>
      </p:nvGrpSpPr>
      <p:grpSpPr>
        <a:xfrm>
          <a:off x="0" y="0"/>
          <a:ext cx="0" cy="0"/>
          <a:chOff x="0" y="0"/>
          <a:chExt cx="0" cy="0"/>
        </a:xfrm>
      </p:grpSpPr>
      <p:sp>
        <p:nvSpPr>
          <p:cNvPr id="24577" name="Rectangle 1"/>
          <p:cNvSpPr>
            <a:spLocks noChangeArrowheads="1"/>
          </p:cNvSpPr>
          <p:nvPr>
            <p:ph type="title"/>
          </p:nvPr>
        </p:nvSpPr>
        <p:spPr>
          <a:xfrm>
            <a:off x="615950" y="544513"/>
            <a:ext cx="11747500" cy="1117600"/>
          </a:xfrm>
          <a:ln/>
        </p:spPr>
        <p:txBody>
          <a:bodyPr rIns="166398"/>
          <a:lstStyle/>
          <a:p>
            <a:pPr marL="57150"/>
            <a:r>
              <a:rPr lang="en-US" altLang="ja-JP" sz="4800"/>
              <a:t>Generation of flying qubits on demand</a:t>
            </a:r>
          </a:p>
        </p:txBody>
      </p:sp>
      <p:sp>
        <p:nvSpPr>
          <p:cNvPr id="24578" name="Rectangle 2"/>
          <p:cNvSpPr>
            <a:spLocks noChangeArrowheads="1"/>
          </p:cNvSpPr>
          <p:nvPr>
            <p:ph type="body" idx="1"/>
          </p:nvPr>
        </p:nvSpPr>
        <p:spPr>
          <a:xfrm>
            <a:off x="1092200" y="1787525"/>
            <a:ext cx="10807700" cy="1816100"/>
          </a:xfrm>
          <a:ln/>
        </p:spPr>
        <p:txBody>
          <a:bodyPr rIns="166398"/>
          <a:lstStyle/>
          <a:p>
            <a:pPr>
              <a:spcBef>
                <a:spcPct val="0"/>
              </a:spcBef>
            </a:pPr>
            <a:r>
              <a:rPr lang="en-US" altLang="ja-JP" sz="2800"/>
              <a:t>Using a single atom coupled to a high-Q cavity, we could generate single photons on demand at a rapid rate and high efficiency, so the figure of merit was 10 MHz x 20%, which is </a:t>
            </a:r>
            <a:r>
              <a:rPr lang="en-US" altLang="ja-JP" sz="2800">
                <a:solidFill>
                  <a:srgbClr val="84DDFD"/>
                </a:solidFill>
              </a:rPr>
              <a:t>the highest</a:t>
            </a:r>
            <a:r>
              <a:rPr lang="en-US" altLang="ja-JP" sz="2800"/>
              <a:t> so far in the atom-cavity system.</a:t>
            </a:r>
          </a:p>
        </p:txBody>
      </p:sp>
      <p:grpSp>
        <p:nvGrpSpPr>
          <p:cNvPr id="24579" name="Group 3"/>
          <p:cNvGrpSpPr>
            <a:grpSpLocks/>
          </p:cNvGrpSpPr>
          <p:nvPr/>
        </p:nvGrpSpPr>
        <p:grpSpPr bwMode="auto">
          <a:xfrm>
            <a:off x="1281113" y="4516438"/>
            <a:ext cx="10650537" cy="4741862"/>
            <a:chOff x="0" y="0"/>
            <a:chExt cx="6708" cy="2986"/>
          </a:xfrm>
        </p:grpSpPr>
        <p:grpSp>
          <p:nvGrpSpPr>
            <p:cNvPr id="24580" name="Group 4"/>
            <p:cNvGrpSpPr>
              <a:grpSpLocks/>
            </p:cNvGrpSpPr>
            <p:nvPr/>
          </p:nvGrpSpPr>
          <p:grpSpPr bwMode="auto">
            <a:xfrm>
              <a:off x="0" y="164"/>
              <a:ext cx="3218" cy="2544"/>
              <a:chOff x="0" y="0"/>
              <a:chExt cx="3218" cy="2544"/>
            </a:xfrm>
          </p:grpSpPr>
          <p:sp>
            <p:nvSpPr>
              <p:cNvPr id="24581" name="Rectangle 5"/>
              <p:cNvSpPr>
                <a:spLocks/>
              </p:cNvSpPr>
              <p:nvPr/>
            </p:nvSpPr>
            <p:spPr bwMode="auto">
              <a:xfrm>
                <a:off x="103" y="135"/>
                <a:ext cx="2984" cy="2283"/>
              </a:xfrm>
              <a:prstGeom prst="rect">
                <a:avLst/>
              </a:prstGeom>
              <a:solidFill>
                <a:srgbClr val="FFFFFF"/>
              </a:solidFill>
              <a:ln w="9525" cap="flat">
                <a:solidFill>
                  <a:schemeClr val="tx1"/>
                </a:solidFill>
                <a:prstDash val="solid"/>
                <a:round/>
                <a:headEnd type="none" w="med" len="med"/>
                <a:tailEnd type="none" w="med" len="med"/>
              </a:ln>
            </p:spPr>
            <p:txBody>
              <a:bodyPr lIns="0" tIns="0" rIns="0" bIns="0">
                <a:prstTxWarp prst="textNoShape">
                  <a:avLst/>
                </a:prstTxWarp>
              </a:bodyPr>
              <a:lstStyle/>
              <a:p>
                <a:endParaRPr lang="ja-JP" altLang="en-US"/>
              </a:p>
            </p:txBody>
          </p:sp>
          <p:pic>
            <p:nvPicPr>
              <p:cNvPr id="24582" name="Picture 6"/>
              <p:cNvPicPr>
                <a:picLocks noChangeAspect="1" noChangeArrowheads="1"/>
              </p:cNvPicPr>
              <p:nvPr/>
            </p:nvPicPr>
            <p:blipFill>
              <a:blip r:embed="rId2"/>
              <a:srcRect/>
              <a:stretch>
                <a:fillRect/>
              </a:stretch>
            </p:blipFill>
            <p:spPr bwMode="auto">
              <a:xfrm>
                <a:off x="0" y="0"/>
                <a:ext cx="3218" cy="2544"/>
              </a:xfrm>
              <a:prstGeom prst="rect">
                <a:avLst/>
              </a:prstGeom>
              <a:noFill/>
              <a:ln w="9525" cap="flat">
                <a:noFill/>
                <a:round/>
                <a:headEnd/>
                <a:tailEnd/>
              </a:ln>
            </p:spPr>
          </p:pic>
        </p:grpSp>
        <p:grpSp>
          <p:nvGrpSpPr>
            <p:cNvPr id="24583" name="Group 7"/>
            <p:cNvGrpSpPr>
              <a:grpSpLocks/>
            </p:cNvGrpSpPr>
            <p:nvPr/>
          </p:nvGrpSpPr>
          <p:grpSpPr bwMode="auto">
            <a:xfrm>
              <a:off x="3339" y="0"/>
              <a:ext cx="3369" cy="2688"/>
              <a:chOff x="0" y="0"/>
              <a:chExt cx="3369" cy="2688"/>
            </a:xfrm>
          </p:grpSpPr>
          <p:sp>
            <p:nvSpPr>
              <p:cNvPr id="24584" name="Rectangle 8"/>
              <p:cNvSpPr>
                <a:spLocks/>
              </p:cNvSpPr>
              <p:nvPr/>
            </p:nvSpPr>
            <p:spPr bwMode="auto">
              <a:xfrm>
                <a:off x="145" y="296"/>
                <a:ext cx="2983" cy="2294"/>
              </a:xfrm>
              <a:prstGeom prst="rect">
                <a:avLst/>
              </a:prstGeom>
              <a:solidFill>
                <a:srgbClr val="FFFFFF"/>
              </a:solidFill>
              <a:ln w="9525" cap="flat">
                <a:solidFill>
                  <a:schemeClr val="tx1"/>
                </a:solidFill>
                <a:prstDash val="solid"/>
                <a:round/>
                <a:headEnd type="none" w="med" len="med"/>
                <a:tailEnd type="none" w="med" len="med"/>
              </a:ln>
            </p:spPr>
            <p:txBody>
              <a:bodyPr lIns="0" tIns="0" rIns="0" bIns="0">
                <a:prstTxWarp prst="textNoShape">
                  <a:avLst/>
                </a:prstTxWarp>
              </a:bodyPr>
              <a:lstStyle/>
              <a:p>
                <a:endParaRPr lang="ja-JP" altLang="en-US"/>
              </a:p>
            </p:txBody>
          </p:sp>
          <p:pic>
            <p:nvPicPr>
              <p:cNvPr id="24585" name="Picture 9"/>
              <p:cNvPicPr>
                <a:picLocks noChangeAspect="1" noChangeArrowheads="1"/>
              </p:cNvPicPr>
              <p:nvPr/>
            </p:nvPicPr>
            <p:blipFill>
              <a:blip r:embed="rId3"/>
              <a:srcRect/>
              <a:stretch>
                <a:fillRect/>
              </a:stretch>
            </p:blipFill>
            <p:spPr bwMode="auto">
              <a:xfrm>
                <a:off x="0" y="0"/>
                <a:ext cx="3369" cy="2688"/>
              </a:xfrm>
              <a:prstGeom prst="rect">
                <a:avLst/>
              </a:prstGeom>
              <a:noFill/>
              <a:ln w="9525" cap="flat">
                <a:noFill/>
                <a:round/>
                <a:headEnd/>
                <a:tailEnd/>
              </a:ln>
            </p:spPr>
          </p:pic>
        </p:grpSp>
        <p:sp>
          <p:nvSpPr>
            <p:cNvPr id="24586" name="Rectangle 10"/>
            <p:cNvSpPr>
              <a:spLocks/>
            </p:cNvSpPr>
            <p:nvPr/>
          </p:nvSpPr>
          <p:spPr bwMode="auto">
            <a:xfrm>
              <a:off x="776" y="2594"/>
              <a:ext cx="1660" cy="224"/>
            </a:xfrm>
            <a:prstGeom prst="rect">
              <a:avLst/>
            </a:prstGeom>
            <a:noFill/>
            <a:ln w="12700" cap="flat">
              <a:noFill/>
              <a:miter lim="800000"/>
              <a:headEnd type="none" w="med" len="med"/>
              <a:tailEnd type="none" w="med" len="med"/>
            </a:ln>
          </p:spPr>
          <p:txBody>
            <a:bodyPr wrap="none" lIns="0" tIns="0" rIns="57799" bIns="0">
              <a:prstTxWarp prst="textNoShape">
                <a:avLst/>
              </a:prstTxWarp>
              <a:spAutoFit/>
            </a:bodyPr>
            <a:lstStyle/>
            <a:p>
              <a:pPr marL="57150"/>
              <a:r>
                <a:rPr lang="en-US" altLang="ja-JP" sz="1800">
                  <a:solidFill>
                    <a:schemeClr val="tx1"/>
                  </a:solidFill>
                  <a:latin typeface="Times New Roman" charset="0"/>
                  <a:ea typeface="Times New Roman" charset="0"/>
                  <a:cs typeface="Times New Roman" charset="0"/>
                  <a:sym typeface="Times New Roman" charset="0"/>
                </a:rPr>
                <a:t>single-photon pulse profile</a:t>
              </a:r>
            </a:p>
          </p:txBody>
        </p:sp>
        <p:sp>
          <p:nvSpPr>
            <p:cNvPr id="24587" name="Rectangle 11"/>
            <p:cNvSpPr>
              <a:spLocks/>
            </p:cNvSpPr>
            <p:nvPr/>
          </p:nvSpPr>
          <p:spPr bwMode="auto">
            <a:xfrm>
              <a:off x="3552" y="2594"/>
              <a:ext cx="2936" cy="392"/>
            </a:xfrm>
            <a:prstGeom prst="rect">
              <a:avLst/>
            </a:prstGeom>
            <a:noFill/>
            <a:ln w="12700" cap="flat">
              <a:noFill/>
              <a:miter lim="800000"/>
              <a:headEnd type="none" w="med" len="med"/>
              <a:tailEnd type="none" w="med" len="med"/>
            </a:ln>
          </p:spPr>
          <p:txBody>
            <a:bodyPr lIns="0" tIns="0" rIns="57799" bIns="0">
              <a:prstTxWarp prst="textNoShape">
                <a:avLst/>
              </a:prstTxWarp>
            </a:bodyPr>
            <a:lstStyle/>
            <a:p>
              <a:pPr marL="57150"/>
              <a:r>
                <a:rPr lang="en-US" altLang="ja-JP" sz="1800">
                  <a:solidFill>
                    <a:schemeClr val="tx1"/>
                  </a:solidFill>
                  <a:latin typeface="Times New Roman" charset="0"/>
                  <a:ea typeface="Times New Roman" charset="0"/>
                  <a:cs typeface="Times New Roman" charset="0"/>
                  <a:sym typeface="Times New Roman" charset="0"/>
                </a:rPr>
                <a:t>Two-photon coincidence measurement showing negligible multi-photon events</a:t>
              </a:r>
            </a:p>
          </p:txBody>
        </p:sp>
      </p:grpSp>
      <p:sp>
        <p:nvSpPr>
          <p:cNvPr id="24588" name="Rectangle 12"/>
          <p:cNvSpPr>
            <a:spLocks/>
          </p:cNvSpPr>
          <p:nvPr/>
        </p:nvSpPr>
        <p:spPr bwMode="auto">
          <a:xfrm>
            <a:off x="1117600" y="3784600"/>
            <a:ext cx="10807700" cy="558800"/>
          </a:xfrm>
          <a:prstGeom prst="rect">
            <a:avLst/>
          </a:prstGeom>
          <a:noFill/>
          <a:ln w="12700" cap="flat">
            <a:noFill/>
            <a:miter lim="800000"/>
            <a:headEnd type="none" w="med" len="med"/>
            <a:tailEnd type="none" w="med" len="med"/>
          </a:ln>
        </p:spPr>
        <p:txBody>
          <a:bodyPr lIns="0" tIns="0" rIns="57799" bIns="0">
            <a:prstTxWarp prst="textNoShape">
              <a:avLst/>
            </a:prstTxWarp>
          </a:bodyPr>
          <a:lstStyle/>
          <a:p>
            <a:pPr marL="342900" indent="-342900">
              <a:spcBef>
                <a:spcPts val="3100"/>
              </a:spcBef>
              <a:buClr>
                <a:srgbClr val="54638C"/>
              </a:buClr>
              <a:buSzPct val="89000"/>
              <a:buFont typeface="Wingdings 2" charset="2"/>
              <a:buChar char="Ü"/>
            </a:pPr>
            <a:r>
              <a:rPr lang="en-US" altLang="ja-JP" sz="2800">
                <a:solidFill>
                  <a:schemeClr val="tx1"/>
                </a:solidFill>
                <a:latin typeface="Century Gothic" charset="0"/>
                <a:ea typeface="Century Gothic" charset="0"/>
                <a:cs typeface="Century Gothic" charset="0"/>
                <a:sym typeface="Century Gothic" charset="0"/>
              </a:rPr>
              <a:t>A BEC will be used instead for advanced qubit generation.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wipe(left)">
                                      <p:cBhvr>
                                        <p:cTn id="7" dur="500"/>
                                        <p:tgtEl>
                                          <p:spTgt spid="2457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579"/>
                                        </p:tgtEl>
                                        <p:attrNameLst>
                                          <p:attrName>style.visibility</p:attrName>
                                        </p:attrNameLst>
                                      </p:cBhvr>
                                      <p:to>
                                        <p:strVal val="visible"/>
                                      </p:to>
                                    </p:set>
                                    <p:animEffect transition="in" filter="wipe(left)">
                                      <p:cBhvr>
                                        <p:cTn id="11" dur="500"/>
                                        <p:tgtEl>
                                          <p:spTgt spid="2457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4588"/>
                                        </p:tgtEl>
                                        <p:attrNameLst>
                                          <p:attrName>style.visibility</p:attrName>
                                        </p:attrNameLst>
                                      </p:cBhvr>
                                      <p:to>
                                        <p:strVal val="visible"/>
                                      </p:to>
                                    </p:set>
                                    <p:animEffect transition="in" filter="wipe(left)">
                                      <p:cBhvr>
                                        <p:cTn id="16" dur="500"/>
                                        <p:tgtEl>
                                          <p:spTgt spid="24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88" grpId="0" autoUpdateAnimBg="0"/>
    </p:bld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PhAnim="0">
  <p:cSld>
    <p:spTree>
      <p:nvGrpSpPr>
        <p:cNvPr id="1" name=""/>
        <p:cNvGrpSpPr/>
        <p:nvPr/>
      </p:nvGrpSpPr>
      <p:grpSpPr>
        <a:xfrm>
          <a:off x="0" y="0"/>
          <a:ext cx="0" cy="0"/>
          <a:chOff x="0" y="0"/>
          <a:chExt cx="0" cy="0"/>
        </a:xfrm>
      </p:grpSpPr>
      <p:pic>
        <p:nvPicPr>
          <p:cNvPr id="25601" name="Picture 1"/>
          <p:cNvPicPr>
            <a:picLocks noChangeAspect="1" noChangeArrowheads="1"/>
          </p:cNvPicPr>
          <p:nvPr/>
        </p:nvPicPr>
        <p:blipFill>
          <a:blip r:embed="rId3"/>
          <a:srcRect l="4141" t="49455" r="2202" b="7391"/>
          <a:stretch>
            <a:fillRect/>
          </a:stretch>
        </p:blipFill>
        <p:spPr bwMode="auto">
          <a:xfrm>
            <a:off x="1425575" y="5599113"/>
            <a:ext cx="10175875" cy="3479800"/>
          </a:xfrm>
          <a:prstGeom prst="rect">
            <a:avLst/>
          </a:prstGeom>
          <a:noFill/>
          <a:ln w="9525" cap="flat">
            <a:noFill/>
            <a:round/>
            <a:headEnd/>
            <a:tailEnd/>
          </a:ln>
        </p:spPr>
      </p:pic>
      <p:sp>
        <p:nvSpPr>
          <p:cNvPr id="25602" name="Rectangle 2"/>
          <p:cNvSpPr>
            <a:spLocks noChangeArrowheads="1"/>
          </p:cNvSpPr>
          <p:nvPr>
            <p:ph type="title"/>
          </p:nvPr>
        </p:nvSpPr>
        <p:spPr>
          <a:xfrm>
            <a:off x="869950" y="366713"/>
            <a:ext cx="11264900" cy="1193800"/>
          </a:xfrm>
          <a:ln/>
        </p:spPr>
        <p:txBody>
          <a:bodyPr rIns="166398"/>
          <a:lstStyle/>
          <a:p>
            <a:pPr marL="57150"/>
            <a:r>
              <a:rPr lang="en-US" altLang="ja-JP" sz="5400"/>
              <a:t>Education</a:t>
            </a:r>
          </a:p>
        </p:txBody>
      </p:sp>
      <p:sp>
        <p:nvSpPr>
          <p:cNvPr id="25603" name="Rectangle 3"/>
          <p:cNvSpPr>
            <a:spLocks noChangeArrowheads="1"/>
          </p:cNvSpPr>
          <p:nvPr>
            <p:ph type="body" idx="1"/>
          </p:nvPr>
        </p:nvSpPr>
        <p:spPr>
          <a:xfrm>
            <a:off x="965200" y="1558925"/>
            <a:ext cx="11353800" cy="3632200"/>
          </a:xfrm>
          <a:ln/>
        </p:spPr>
        <p:txBody>
          <a:bodyPr rIns="166398"/>
          <a:lstStyle/>
          <a:p>
            <a:pPr>
              <a:spcBef>
                <a:spcPct val="0"/>
              </a:spcBef>
            </a:pPr>
            <a:r>
              <a:rPr lang="en-US" altLang="ja-JP" sz="2400"/>
              <a:t>Two classes (AMP, Sp. Seminar on BEC) taught by Y. Shin (foreign scholar) in English in 2009 and 2010.</a:t>
            </a:r>
          </a:p>
          <a:p>
            <a:pPr>
              <a:spcBef>
                <a:spcPts val="1000"/>
              </a:spcBef>
            </a:pPr>
            <a:r>
              <a:rPr lang="en-US" altLang="ja-JP" sz="2400"/>
              <a:t>Six classes (AMP, Physics 1(x2), QM 1(x2), 2) were taught by the two Korean scholars in the first phase.</a:t>
            </a:r>
          </a:p>
          <a:p>
            <a:pPr>
              <a:spcBef>
                <a:spcPts val="1000"/>
              </a:spcBef>
            </a:pPr>
            <a:r>
              <a:rPr lang="en-US" altLang="ja-JP" sz="2400"/>
              <a:t>Three OCW’s (AMP, QM, BEC) have been developed and registered.</a:t>
            </a:r>
          </a:p>
          <a:p>
            <a:pPr>
              <a:spcBef>
                <a:spcPts val="1000"/>
              </a:spcBef>
            </a:pPr>
            <a:r>
              <a:rPr lang="en-US" altLang="ja-JP" sz="2400"/>
              <a:t>Total of 26 graduate students (mostly Ph.D students) have been trained.</a:t>
            </a:r>
          </a:p>
          <a:p>
            <a:pPr>
              <a:spcBef>
                <a:spcPts val="1000"/>
              </a:spcBef>
            </a:pPr>
            <a:r>
              <a:rPr lang="en-US" altLang="ja-JP" sz="2400"/>
              <a:t>Three Ph.D’s have been produced in the first phase (W. Choi, C.-W. Lee, J. Yang).</a:t>
            </a:r>
          </a:p>
        </p:txBody>
      </p:sp>
      <p:sp>
        <p:nvSpPr>
          <p:cNvPr id="25604" name="Oval 4"/>
          <p:cNvSpPr>
            <a:spLocks/>
          </p:cNvSpPr>
          <p:nvPr/>
        </p:nvSpPr>
        <p:spPr bwMode="auto">
          <a:xfrm>
            <a:off x="4597400" y="6197600"/>
            <a:ext cx="469900" cy="495300"/>
          </a:xfrm>
          <a:prstGeom prst="ellipse">
            <a:avLst/>
          </a:prstGeom>
          <a:noFill/>
          <a:ln w="19050" cap="flat">
            <a:solidFill>
              <a:srgbClr val="FF5308"/>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25605" name="Oval 5"/>
          <p:cNvSpPr>
            <a:spLocks/>
          </p:cNvSpPr>
          <p:nvPr/>
        </p:nvSpPr>
        <p:spPr bwMode="auto">
          <a:xfrm>
            <a:off x="5295900" y="6146800"/>
            <a:ext cx="469900" cy="495300"/>
          </a:xfrm>
          <a:prstGeom prst="ellipse">
            <a:avLst/>
          </a:prstGeom>
          <a:noFill/>
          <a:ln w="19050" cap="flat">
            <a:solidFill>
              <a:srgbClr val="FF5308"/>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25606" name="Oval 6"/>
          <p:cNvSpPr>
            <a:spLocks/>
          </p:cNvSpPr>
          <p:nvPr/>
        </p:nvSpPr>
        <p:spPr bwMode="auto">
          <a:xfrm>
            <a:off x="6565900" y="6311900"/>
            <a:ext cx="469900" cy="495300"/>
          </a:xfrm>
          <a:prstGeom prst="ellipse">
            <a:avLst/>
          </a:prstGeom>
          <a:noFill/>
          <a:ln w="19050" cap="flat">
            <a:solidFill>
              <a:srgbClr val="FF5308"/>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25607" name="Rectangle 7"/>
          <p:cNvSpPr>
            <a:spLocks/>
          </p:cNvSpPr>
          <p:nvPr/>
        </p:nvSpPr>
        <p:spPr bwMode="auto">
          <a:xfrm>
            <a:off x="4419600" y="6781800"/>
            <a:ext cx="722313" cy="304800"/>
          </a:xfrm>
          <a:prstGeom prst="rect">
            <a:avLst/>
          </a:prstGeom>
          <a:noFill/>
          <a:ln w="12700" cap="flat">
            <a:noFill/>
            <a:miter lim="800000"/>
            <a:headEnd type="none" w="med" len="med"/>
            <a:tailEnd type="none" w="med" len="med"/>
          </a:ln>
          <a:effectLst>
            <a:outerShdw blurRad="127000" dist="76199" dir="2700000" algn="ctr" rotWithShape="0">
              <a:schemeClr val="bg2">
                <a:alpha val="75000"/>
              </a:schemeClr>
            </a:outerShdw>
          </a:effectLst>
        </p:spPr>
        <p:txBody>
          <a:bodyPr wrap="none" lIns="0" tIns="0" rIns="57799" bIns="0">
            <a:prstTxWarp prst="textNoShape">
              <a:avLst/>
            </a:prstTxWarp>
            <a:spAutoFit/>
          </a:bodyPr>
          <a:lstStyle/>
          <a:p>
            <a:pPr marL="57150"/>
            <a:r>
              <a:rPr lang="en-US" altLang="ja-JP" sz="1400">
                <a:solidFill>
                  <a:schemeClr val="tx1"/>
                </a:solidFill>
                <a:ea typeface="Arial" charset="0"/>
                <a:cs typeface="Arial" charset="0"/>
              </a:rPr>
              <a:t>Y. Shin</a:t>
            </a:r>
          </a:p>
        </p:txBody>
      </p:sp>
      <p:sp>
        <p:nvSpPr>
          <p:cNvPr id="25608" name="Rectangle 8"/>
          <p:cNvSpPr>
            <a:spLocks/>
          </p:cNvSpPr>
          <p:nvPr/>
        </p:nvSpPr>
        <p:spPr bwMode="auto">
          <a:xfrm>
            <a:off x="5219700" y="6781800"/>
            <a:ext cx="596900" cy="304800"/>
          </a:xfrm>
          <a:prstGeom prst="rect">
            <a:avLst/>
          </a:prstGeom>
          <a:noFill/>
          <a:ln w="12700" cap="flat">
            <a:noFill/>
            <a:miter lim="800000"/>
            <a:headEnd type="none" w="med" len="med"/>
            <a:tailEnd type="none" w="med" len="med"/>
          </a:ln>
          <a:effectLst>
            <a:outerShdw blurRad="127000" dist="76199" dir="2700000" algn="ctr" rotWithShape="0">
              <a:schemeClr val="bg2">
                <a:alpha val="75000"/>
              </a:schemeClr>
            </a:outerShdw>
          </a:effectLst>
        </p:spPr>
        <p:txBody>
          <a:bodyPr wrap="none" lIns="0" tIns="0" rIns="57799" bIns="0">
            <a:prstTxWarp prst="textNoShape">
              <a:avLst/>
            </a:prstTxWarp>
            <a:spAutoFit/>
          </a:bodyPr>
          <a:lstStyle/>
          <a:p>
            <a:pPr marL="57150"/>
            <a:r>
              <a:rPr lang="en-US" altLang="ja-JP" sz="1400">
                <a:solidFill>
                  <a:schemeClr val="tx1"/>
                </a:solidFill>
                <a:ea typeface="Arial" charset="0"/>
                <a:cs typeface="Arial" charset="0"/>
              </a:rPr>
              <a:t>K. An</a:t>
            </a:r>
          </a:p>
        </p:txBody>
      </p:sp>
      <p:sp>
        <p:nvSpPr>
          <p:cNvPr id="25609" name="Rectangle 9"/>
          <p:cNvSpPr>
            <a:spLocks/>
          </p:cNvSpPr>
          <p:nvPr/>
        </p:nvSpPr>
        <p:spPr bwMode="auto">
          <a:xfrm>
            <a:off x="6324600" y="6781800"/>
            <a:ext cx="882650" cy="304800"/>
          </a:xfrm>
          <a:prstGeom prst="rect">
            <a:avLst/>
          </a:prstGeom>
          <a:noFill/>
          <a:ln w="12700" cap="flat">
            <a:noFill/>
            <a:miter lim="800000"/>
            <a:headEnd type="none" w="med" len="med"/>
            <a:tailEnd type="none" w="med" len="med"/>
          </a:ln>
          <a:effectLst>
            <a:outerShdw blurRad="127000" dist="76199" dir="2700000" algn="ctr" rotWithShape="0">
              <a:schemeClr val="bg2">
                <a:alpha val="75000"/>
              </a:schemeClr>
            </a:outerShdw>
          </a:effectLst>
        </p:spPr>
        <p:txBody>
          <a:bodyPr wrap="none" lIns="0" tIns="0" rIns="57799" bIns="0">
            <a:prstTxWarp prst="textNoShape">
              <a:avLst/>
            </a:prstTxWarp>
            <a:spAutoFit/>
          </a:bodyPr>
          <a:lstStyle/>
          <a:p>
            <a:pPr marL="57150"/>
            <a:r>
              <a:rPr lang="en-US" altLang="ja-JP" sz="1400">
                <a:solidFill>
                  <a:schemeClr val="tx1"/>
                </a:solidFill>
                <a:ea typeface="Arial" charset="0"/>
                <a:cs typeface="Arial" charset="0"/>
              </a:rPr>
              <a:t>H. Jeong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wipe(left)">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wipe(left)">
                                      <p:cBhvr>
                                        <p:cTn id="12" dur="5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wipe(left)">
                                      <p:cBhvr>
                                        <p:cTn id="17" dur="5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wipe(left)">
                                      <p:cBhvr>
                                        <p:cTn id="22" dur="500"/>
                                        <p:tgtEl>
                                          <p:spTgt spid="25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Effect transition="in" filter="wipe(left)">
                                      <p:cBhvr>
                                        <p:cTn id="27" dur="5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bldLvl="5" autoUpdateAnimBg="0"/>
    </p:bld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7649" name="Picture 1"/>
          <p:cNvPicPr>
            <a:picLocks noChangeAspect="1" noChangeArrowheads="1"/>
          </p:cNvPicPr>
          <p:nvPr/>
        </p:nvPicPr>
        <p:blipFill>
          <a:blip r:embed="rId3">
            <a:alphaModFix amt="64000"/>
          </a:blip>
          <a:srcRect/>
          <a:stretch>
            <a:fillRect/>
          </a:stretch>
        </p:blipFill>
        <p:spPr bwMode="auto">
          <a:xfrm>
            <a:off x="7048500" y="46038"/>
            <a:ext cx="5943600" cy="9669462"/>
          </a:xfrm>
          <a:prstGeom prst="rect">
            <a:avLst/>
          </a:prstGeom>
          <a:noFill/>
          <a:ln w="9525" cap="flat">
            <a:noFill/>
            <a:round/>
            <a:headEnd/>
            <a:tailEnd/>
          </a:ln>
        </p:spPr>
      </p:pic>
      <p:sp>
        <p:nvSpPr>
          <p:cNvPr id="27650" name="Text Box 2"/>
          <p:cNvSpPr txBox="1">
            <a:spLocks noChangeArrowheads="1"/>
          </p:cNvSpPr>
          <p:nvPr/>
        </p:nvSpPr>
        <p:spPr bwMode="auto">
          <a:xfrm>
            <a:off x="11736388" y="8991600"/>
            <a:ext cx="366712" cy="381000"/>
          </a:xfrm>
          <a:prstGeom prst="rect">
            <a:avLst/>
          </a:prstGeom>
          <a:noFill/>
          <a:ln w="12700">
            <a:noFill/>
            <a:miter lim="800000"/>
            <a:headEnd/>
            <a:tailEnd/>
          </a:ln>
          <a:effectLst/>
        </p:spPr>
        <p:txBody>
          <a:bodyPr wrap="none" anchor="ctr">
            <a:prstTxWarp prst="textNoShape">
              <a:avLst/>
            </a:prstTxWarp>
          </a:bodyPr>
          <a:lstStyle/>
          <a:p>
            <a:pPr algn="ctr"/>
            <a:fld id="{4156339D-4C19-9A48-B0AE-E9911798F837}" type="slidenum">
              <a:rPr lang="en-US" altLang="ja-JP" sz="1800">
                <a:solidFill>
                  <a:srgbClr val="8D9AB3"/>
                </a:solidFill>
                <a:latin typeface="Century Gothic" charset="0"/>
                <a:ea typeface="Century Gothic" charset="0"/>
                <a:cs typeface="Century Gothic" charset="0"/>
                <a:sym typeface="Century Gothic" charset="0"/>
              </a:rPr>
              <a:pPr algn="ctr"/>
              <a:t>16</a:t>
            </a:fld>
            <a:endParaRPr lang="en-US" altLang="ja-JP" sz="1800">
              <a:solidFill>
                <a:srgbClr val="8D9AB3"/>
              </a:solidFill>
              <a:latin typeface="Century Gothic" charset="0"/>
              <a:ea typeface="Century Gothic" charset="0"/>
              <a:cs typeface="Century Gothic" charset="0"/>
              <a:sym typeface="Century Gothic" charset="0"/>
            </a:endParaRPr>
          </a:p>
        </p:txBody>
      </p:sp>
      <p:sp>
        <p:nvSpPr>
          <p:cNvPr id="27651" name="Rectangle 3"/>
          <p:cNvSpPr>
            <a:spLocks noChangeArrowheads="1"/>
          </p:cNvSpPr>
          <p:nvPr>
            <p:ph type="title"/>
          </p:nvPr>
        </p:nvSpPr>
        <p:spPr>
          <a:xfrm>
            <a:off x="868363" y="358775"/>
            <a:ext cx="11264900" cy="1295400"/>
          </a:xfrm>
          <a:ln/>
        </p:spPr>
        <p:txBody>
          <a:bodyPr rIns="115597"/>
          <a:lstStyle/>
          <a:p>
            <a:pPr marL="57150"/>
            <a:r>
              <a:rPr lang="en-US" altLang="ja-JP"/>
              <a:t>Talks by Oversea Scholar</a:t>
            </a:r>
          </a:p>
        </p:txBody>
      </p:sp>
      <p:sp>
        <p:nvSpPr>
          <p:cNvPr id="27652" name="Rectangle 4"/>
          <p:cNvSpPr>
            <a:spLocks/>
          </p:cNvSpPr>
          <p:nvPr/>
        </p:nvSpPr>
        <p:spPr bwMode="auto">
          <a:xfrm>
            <a:off x="1101725" y="1606550"/>
            <a:ext cx="10998200" cy="3251200"/>
          </a:xfrm>
          <a:prstGeom prst="rect">
            <a:avLst/>
          </a:prstGeom>
          <a:noFill/>
          <a:ln w="9525" cap="flat">
            <a:noFill/>
            <a:miter lim="800000"/>
            <a:headEnd type="none" w="med" len="med"/>
            <a:tailEnd type="none" w="med" len="med"/>
          </a:ln>
        </p:spPr>
        <p:txBody>
          <a:bodyPr lIns="0" tIns="0" rIns="40639" bIns="0">
            <a:prstTxWarp prst="textNoShape">
              <a:avLst/>
            </a:prstTxWarp>
          </a:bodyPr>
          <a:lstStyle/>
          <a:p>
            <a:pPr marL="39688"/>
            <a:r>
              <a:rPr lang="en-US" altLang="ja-JP">
                <a:solidFill>
                  <a:srgbClr val="84DDFD"/>
                </a:solidFill>
                <a:ea typeface="Arial" charset="0"/>
                <a:cs typeface="Arial" charset="0"/>
              </a:rPr>
              <a:t>Invited Conference Presentations</a:t>
            </a:r>
          </a:p>
          <a:p>
            <a:pPr marL="39688">
              <a:buFontTx/>
              <a:buAutoNum type="arabicPeriod"/>
            </a:pPr>
            <a:r>
              <a:rPr lang="en-US" altLang="ja-JP" sz="1800" i="1">
                <a:solidFill>
                  <a:schemeClr val="tx1"/>
                </a:solidFill>
                <a:ea typeface="Arial" charset="0"/>
                <a:cs typeface="Arial" charset="0"/>
              </a:rPr>
              <a:t>Ultracold atom gases: Bose vs Fermi</a:t>
            </a:r>
            <a:r>
              <a:rPr lang="en-US" altLang="ja-JP" sz="1800">
                <a:solidFill>
                  <a:schemeClr val="tx1"/>
                </a:solidFill>
                <a:ea typeface="Arial" charset="0"/>
                <a:cs typeface="Arial" charset="0"/>
              </a:rPr>
              <a:t>, The Optical Society of Korea Meeting, </a:t>
            </a:r>
            <a:r>
              <a:rPr lang="en-US" altLang="ja-JP" sz="1800">
                <a:solidFill>
                  <a:srgbClr val="84DDFD"/>
                </a:solidFill>
                <a:ea typeface="Arial" charset="0"/>
                <a:cs typeface="Arial" charset="0"/>
              </a:rPr>
              <a:t>Busan</a:t>
            </a:r>
            <a:r>
              <a:rPr lang="en-US" altLang="ja-JP" sz="1800">
                <a:solidFill>
                  <a:schemeClr val="tx1"/>
                </a:solidFill>
                <a:ea typeface="Arial" charset="0"/>
                <a:cs typeface="Arial" charset="0"/>
              </a:rPr>
              <a:t>, Korea (6/15/2010).</a:t>
            </a:r>
          </a:p>
          <a:p>
            <a:pPr marL="39688">
              <a:buFontTx/>
              <a:buAutoNum type="arabicPeriod"/>
            </a:pPr>
            <a:r>
              <a:rPr lang="en-US" altLang="ja-JP" sz="1800" i="1">
                <a:solidFill>
                  <a:schemeClr val="tx1"/>
                </a:solidFill>
                <a:ea typeface="Arial" charset="0"/>
                <a:cs typeface="Arial" charset="0"/>
              </a:rPr>
              <a:t>Bose-Einstein condensation of sodium atoms</a:t>
            </a:r>
            <a:r>
              <a:rPr lang="en-US" altLang="ja-JP" sz="1800">
                <a:solidFill>
                  <a:schemeClr val="tx1"/>
                </a:solidFill>
                <a:ea typeface="Arial" charset="0"/>
                <a:cs typeface="Arial" charset="0"/>
              </a:rPr>
              <a:t>, the Atomic Molecular Physics Workshop, Muju resort, </a:t>
            </a:r>
            <a:r>
              <a:rPr lang="en-US" altLang="ja-JP" sz="1800">
                <a:solidFill>
                  <a:srgbClr val="84DDFD"/>
                </a:solidFill>
                <a:ea typeface="Arial" charset="0"/>
                <a:cs typeface="Arial" charset="0"/>
              </a:rPr>
              <a:t>Mooan</a:t>
            </a:r>
            <a:r>
              <a:rPr lang="en-US" altLang="ja-JP" sz="1800">
                <a:solidFill>
                  <a:schemeClr val="tx1"/>
                </a:solidFill>
                <a:ea typeface="Arial" charset="0"/>
                <a:cs typeface="Arial" charset="0"/>
              </a:rPr>
              <a:t>, Korea (6/25/2010)</a:t>
            </a:r>
          </a:p>
          <a:p>
            <a:pPr marL="39688">
              <a:buFontTx/>
              <a:buAutoNum type="arabicPeriod"/>
            </a:pPr>
            <a:r>
              <a:rPr lang="en-US" altLang="ja-JP" sz="1800" i="1">
                <a:solidFill>
                  <a:schemeClr val="tx1"/>
                </a:solidFill>
                <a:ea typeface="Arial" charset="0"/>
                <a:cs typeface="Arial" charset="0"/>
              </a:rPr>
              <a:t>Strongly interacting Fermi gas</a:t>
            </a:r>
            <a:r>
              <a:rPr lang="en-US" altLang="ja-JP" sz="1800">
                <a:solidFill>
                  <a:schemeClr val="tx1"/>
                </a:solidFill>
                <a:ea typeface="Arial" charset="0"/>
                <a:cs typeface="Arial" charset="0"/>
              </a:rPr>
              <a:t>, The APCTP-KIAS workshop on Quantum entanglement and dynamics in correlated many-body system, </a:t>
            </a:r>
            <a:r>
              <a:rPr lang="en-US" altLang="ja-JP" sz="1800">
                <a:solidFill>
                  <a:srgbClr val="84DDFD"/>
                </a:solidFill>
                <a:ea typeface="Arial" charset="0"/>
                <a:cs typeface="Arial" charset="0"/>
              </a:rPr>
              <a:t>Pohang</a:t>
            </a:r>
            <a:r>
              <a:rPr lang="en-US" altLang="ja-JP" sz="1800">
                <a:solidFill>
                  <a:schemeClr val="tx1"/>
                </a:solidFill>
                <a:ea typeface="Arial" charset="0"/>
                <a:cs typeface="Arial" charset="0"/>
              </a:rPr>
              <a:t>, Korea (5/20/2010).</a:t>
            </a:r>
          </a:p>
          <a:p>
            <a:pPr marL="39688">
              <a:buFontTx/>
              <a:buAutoNum type="arabicPeriod"/>
            </a:pPr>
            <a:r>
              <a:rPr lang="en-US" altLang="ja-JP" sz="1800" i="1">
                <a:solidFill>
                  <a:schemeClr val="tx1"/>
                </a:solidFill>
                <a:ea typeface="Arial" charset="0"/>
                <a:cs typeface="Arial" charset="0"/>
              </a:rPr>
              <a:t>Determination of the fermion pair size and the superfluid gap in a unitary Fermi gas</a:t>
            </a:r>
            <a:r>
              <a:rPr lang="en-US" altLang="ja-JP" sz="1800">
                <a:solidFill>
                  <a:schemeClr val="tx1"/>
                </a:solidFill>
                <a:ea typeface="Arial" charset="0"/>
                <a:cs typeface="Arial" charset="0"/>
              </a:rPr>
              <a:t>, The 16th International Symposium on Laser Spectroscopy, Korea Atomic Energy Research Institute, </a:t>
            </a:r>
            <a:r>
              <a:rPr lang="en-US" altLang="ja-JP" sz="1800">
                <a:solidFill>
                  <a:srgbClr val="84DDFD"/>
                </a:solidFill>
                <a:ea typeface="Arial" charset="0"/>
                <a:cs typeface="Arial" charset="0"/>
              </a:rPr>
              <a:t>Daejeon</a:t>
            </a:r>
            <a:r>
              <a:rPr lang="en-US" altLang="ja-JP" sz="1800">
                <a:solidFill>
                  <a:schemeClr val="tx1"/>
                </a:solidFill>
                <a:ea typeface="Arial" charset="0"/>
                <a:cs typeface="Arial" charset="0"/>
              </a:rPr>
              <a:t>, Korea (11/12/2009).</a:t>
            </a:r>
          </a:p>
          <a:p>
            <a:pPr marL="39688">
              <a:buFontTx/>
              <a:buAutoNum type="arabicPeriod"/>
            </a:pPr>
            <a:r>
              <a:rPr lang="en-US" altLang="ja-JP" sz="1800" i="1">
                <a:solidFill>
                  <a:schemeClr val="tx1"/>
                </a:solidFill>
                <a:ea typeface="Arial" charset="0"/>
                <a:cs typeface="Arial" charset="0"/>
              </a:rPr>
              <a:t>RF spectroscopy of a polarized Fermi gas</a:t>
            </a:r>
            <a:r>
              <a:rPr lang="en-US" altLang="ja-JP" sz="1800">
                <a:solidFill>
                  <a:schemeClr val="tx1"/>
                </a:solidFill>
                <a:ea typeface="Arial" charset="0"/>
                <a:cs typeface="Arial" charset="0"/>
              </a:rPr>
              <a:t>, The Optical Society of Korea 20th Anniversary Special Meeting, </a:t>
            </a:r>
            <a:r>
              <a:rPr lang="en-US" altLang="ja-JP" sz="1800">
                <a:solidFill>
                  <a:srgbClr val="84DDFD"/>
                </a:solidFill>
                <a:ea typeface="Arial" charset="0"/>
                <a:cs typeface="Arial" charset="0"/>
              </a:rPr>
              <a:t>Gwangju</a:t>
            </a:r>
            <a:r>
              <a:rPr lang="en-US" altLang="ja-JP" sz="1800">
                <a:solidFill>
                  <a:schemeClr val="tx1"/>
                </a:solidFill>
                <a:ea typeface="Arial" charset="0"/>
                <a:cs typeface="Arial" charset="0"/>
              </a:rPr>
              <a:t>, Korea (10/20/2009).</a:t>
            </a:r>
          </a:p>
        </p:txBody>
      </p:sp>
      <p:sp>
        <p:nvSpPr>
          <p:cNvPr id="27653" name="Rectangle 5"/>
          <p:cNvSpPr>
            <a:spLocks/>
          </p:cNvSpPr>
          <p:nvPr/>
        </p:nvSpPr>
        <p:spPr bwMode="auto">
          <a:xfrm>
            <a:off x="1101725" y="5138738"/>
            <a:ext cx="10998200" cy="4051300"/>
          </a:xfrm>
          <a:prstGeom prst="rect">
            <a:avLst/>
          </a:prstGeom>
          <a:noFill/>
          <a:ln w="9525" cap="flat">
            <a:noFill/>
            <a:miter lim="800000"/>
            <a:headEnd type="none" w="med" len="med"/>
            <a:tailEnd type="none" w="med" len="med"/>
          </a:ln>
        </p:spPr>
        <p:txBody>
          <a:bodyPr lIns="0" tIns="0" rIns="40639" bIns="0">
            <a:prstTxWarp prst="textNoShape">
              <a:avLst/>
            </a:prstTxWarp>
          </a:bodyPr>
          <a:lstStyle/>
          <a:p>
            <a:pPr marL="39688"/>
            <a:r>
              <a:rPr lang="en-US" altLang="ja-JP">
                <a:solidFill>
                  <a:srgbClr val="84DDFD"/>
                </a:solidFill>
                <a:ea typeface="Arial" charset="0"/>
                <a:cs typeface="Arial" charset="0"/>
              </a:rPr>
              <a:t>Invited Colloquiums, Lectures and Seminars</a:t>
            </a:r>
          </a:p>
          <a:p>
            <a:pPr marL="39688">
              <a:buFontTx/>
              <a:buAutoNum type="arabicPeriod"/>
            </a:pPr>
            <a:r>
              <a:rPr lang="en-US" altLang="ja-JP" sz="1800" i="1">
                <a:solidFill>
                  <a:schemeClr val="tx1"/>
                </a:solidFill>
                <a:ea typeface="Arial" charset="0"/>
                <a:cs typeface="Arial" charset="0"/>
              </a:rPr>
              <a:t>Supercold Atomic Gases: a New Quantum System</a:t>
            </a:r>
            <a:r>
              <a:rPr lang="en-US" altLang="ja-JP" sz="1800">
                <a:solidFill>
                  <a:schemeClr val="tx1"/>
                </a:solidFill>
                <a:ea typeface="Arial" charset="0"/>
                <a:cs typeface="Arial" charset="0"/>
              </a:rPr>
              <a:t>, WCU-Distinguished Lecture Series, Seoul National University, </a:t>
            </a:r>
            <a:r>
              <a:rPr lang="en-US" altLang="ja-JP" sz="1800">
                <a:solidFill>
                  <a:srgbClr val="84DDFD"/>
                </a:solidFill>
                <a:ea typeface="Arial" charset="0"/>
                <a:cs typeface="Arial" charset="0"/>
              </a:rPr>
              <a:t>Seoul</a:t>
            </a:r>
            <a:r>
              <a:rPr lang="en-US" altLang="ja-JP" sz="1800">
                <a:solidFill>
                  <a:schemeClr val="tx1"/>
                </a:solidFill>
                <a:ea typeface="Arial" charset="0"/>
                <a:cs typeface="Arial" charset="0"/>
              </a:rPr>
              <a:t>, Korea (10/20/2010).</a:t>
            </a:r>
          </a:p>
          <a:p>
            <a:pPr marL="39688">
              <a:buFontTx/>
              <a:buAutoNum type="arabicPeriod"/>
            </a:pPr>
            <a:r>
              <a:rPr lang="en-US" altLang="ja-JP" sz="1800" i="1">
                <a:solidFill>
                  <a:schemeClr val="tx1"/>
                </a:solidFill>
                <a:ea typeface="Arial" charset="0"/>
                <a:cs typeface="Arial" charset="0"/>
              </a:rPr>
              <a:t>Polarized Fermi Gas and 2D Bose Gas</a:t>
            </a:r>
            <a:r>
              <a:rPr lang="en-US" altLang="ja-JP" sz="1800">
                <a:solidFill>
                  <a:schemeClr val="tx1"/>
                </a:solidFill>
                <a:ea typeface="Arial" charset="0"/>
                <a:cs typeface="Arial" charset="0"/>
              </a:rPr>
              <a:t>, SCES, Seoul National University, </a:t>
            </a:r>
            <a:r>
              <a:rPr lang="en-US" altLang="ja-JP" sz="1800">
                <a:solidFill>
                  <a:srgbClr val="84DDFD"/>
                </a:solidFill>
                <a:ea typeface="Arial" charset="0"/>
                <a:cs typeface="Arial" charset="0"/>
              </a:rPr>
              <a:t>Seoul</a:t>
            </a:r>
            <a:r>
              <a:rPr lang="en-US" altLang="ja-JP" sz="1800">
                <a:solidFill>
                  <a:schemeClr val="tx1"/>
                </a:solidFill>
                <a:ea typeface="Arial" charset="0"/>
                <a:cs typeface="Arial" charset="0"/>
              </a:rPr>
              <a:t>, Korea (10/8/2010).</a:t>
            </a:r>
          </a:p>
          <a:p>
            <a:pPr marL="39688">
              <a:buFontTx/>
              <a:buAutoNum type="arabicPeriod"/>
            </a:pPr>
            <a:r>
              <a:rPr lang="en-US" altLang="ja-JP" sz="1800" i="1">
                <a:solidFill>
                  <a:schemeClr val="tx1"/>
                </a:solidFill>
                <a:ea typeface="Arial" charset="0"/>
                <a:cs typeface="Arial" charset="0"/>
              </a:rPr>
              <a:t>Fast production of BECs in a plugged quadrupole magnetic trap</a:t>
            </a:r>
            <a:r>
              <a:rPr lang="en-US" altLang="ja-JP" sz="1800">
                <a:solidFill>
                  <a:schemeClr val="tx1"/>
                </a:solidFill>
                <a:ea typeface="Arial" charset="0"/>
                <a:cs typeface="Arial" charset="0"/>
              </a:rPr>
              <a:t>, KRISS, </a:t>
            </a:r>
            <a:r>
              <a:rPr lang="en-US" altLang="ja-JP" sz="1800">
                <a:solidFill>
                  <a:srgbClr val="84DDFD"/>
                </a:solidFill>
                <a:ea typeface="Arial" charset="0"/>
                <a:cs typeface="Arial" charset="0"/>
              </a:rPr>
              <a:t>Deajeon</a:t>
            </a:r>
            <a:r>
              <a:rPr lang="en-US" altLang="ja-JP" sz="1800">
                <a:solidFill>
                  <a:schemeClr val="tx1"/>
                </a:solidFill>
                <a:ea typeface="Arial" charset="0"/>
                <a:cs typeface="Arial" charset="0"/>
              </a:rPr>
              <a:t>, Korea (6/26/2010).</a:t>
            </a:r>
          </a:p>
          <a:p>
            <a:pPr marL="39688">
              <a:buFontTx/>
              <a:buAutoNum type="arabicPeriod"/>
            </a:pPr>
            <a:r>
              <a:rPr lang="en-US" altLang="ja-JP" sz="1800" i="1">
                <a:solidFill>
                  <a:schemeClr val="tx1"/>
                </a:solidFill>
                <a:ea typeface="Arial" charset="0"/>
                <a:cs typeface="Arial" charset="0"/>
              </a:rPr>
              <a:t>Strongly Interacting Fermi Gases</a:t>
            </a:r>
            <a:r>
              <a:rPr lang="en-US" altLang="ja-JP" sz="1800">
                <a:solidFill>
                  <a:schemeClr val="tx1"/>
                </a:solidFill>
                <a:ea typeface="Arial" charset="0"/>
                <a:cs typeface="Arial" charset="0"/>
              </a:rPr>
              <a:t>, KIAS, </a:t>
            </a:r>
            <a:r>
              <a:rPr lang="en-US" altLang="ja-JP" sz="1800">
                <a:solidFill>
                  <a:srgbClr val="84DDFD"/>
                </a:solidFill>
                <a:ea typeface="Arial" charset="0"/>
                <a:cs typeface="Arial" charset="0"/>
              </a:rPr>
              <a:t>Seoul</a:t>
            </a:r>
            <a:r>
              <a:rPr lang="en-US" altLang="ja-JP" sz="1800">
                <a:solidFill>
                  <a:schemeClr val="tx1"/>
                </a:solidFill>
                <a:ea typeface="Arial" charset="0"/>
                <a:cs typeface="Arial" charset="0"/>
              </a:rPr>
              <a:t>, Korea (6/15/2010).</a:t>
            </a:r>
          </a:p>
          <a:p>
            <a:pPr marL="39688">
              <a:buFontTx/>
              <a:buAutoNum type="arabicPeriod"/>
            </a:pPr>
            <a:r>
              <a:rPr lang="en-US" altLang="ja-JP" sz="1800" i="1">
                <a:solidFill>
                  <a:schemeClr val="tx1"/>
                </a:solidFill>
                <a:ea typeface="Arial" charset="0"/>
                <a:cs typeface="Arial" charset="0"/>
              </a:rPr>
              <a:t>Strongly Interacting Fermi Gases</a:t>
            </a:r>
            <a:r>
              <a:rPr lang="en-US" altLang="ja-JP" sz="1800">
                <a:solidFill>
                  <a:schemeClr val="tx1"/>
                </a:solidFill>
                <a:ea typeface="Arial" charset="0"/>
                <a:cs typeface="Arial" charset="0"/>
              </a:rPr>
              <a:t>, Physics Colloquium, Sogang University, </a:t>
            </a:r>
            <a:r>
              <a:rPr lang="en-US" altLang="ja-JP" sz="1800">
                <a:solidFill>
                  <a:srgbClr val="84DDFD"/>
                </a:solidFill>
                <a:ea typeface="Arial" charset="0"/>
                <a:cs typeface="Arial" charset="0"/>
              </a:rPr>
              <a:t>Seoul</a:t>
            </a:r>
            <a:r>
              <a:rPr lang="en-US" altLang="ja-JP" sz="1800">
                <a:solidFill>
                  <a:schemeClr val="tx1"/>
                </a:solidFill>
                <a:ea typeface="Arial" charset="0"/>
                <a:cs typeface="Arial" charset="0"/>
              </a:rPr>
              <a:t>, Korea (5/25/2010).</a:t>
            </a:r>
          </a:p>
          <a:p>
            <a:pPr marL="39688">
              <a:buFontTx/>
              <a:buAutoNum type="arabicPeriod"/>
            </a:pPr>
            <a:r>
              <a:rPr lang="en-US" altLang="ja-JP" sz="1800" i="1">
                <a:solidFill>
                  <a:schemeClr val="tx1"/>
                </a:solidFill>
                <a:ea typeface="Arial" charset="0"/>
                <a:cs typeface="Arial" charset="0"/>
              </a:rPr>
              <a:t>Bose-Einstein condensation</a:t>
            </a:r>
            <a:r>
              <a:rPr lang="en-US" altLang="ja-JP" sz="1800">
                <a:solidFill>
                  <a:schemeClr val="tx1"/>
                </a:solidFill>
                <a:ea typeface="Arial" charset="0"/>
                <a:cs typeface="Arial" charset="0"/>
              </a:rPr>
              <a:t>, KIAS-SNU winter camp, KIAS, </a:t>
            </a:r>
            <a:r>
              <a:rPr lang="en-US" altLang="ja-JP" sz="1800">
                <a:solidFill>
                  <a:srgbClr val="84DDFD"/>
                </a:solidFill>
                <a:ea typeface="Arial" charset="0"/>
                <a:cs typeface="Arial" charset="0"/>
              </a:rPr>
              <a:t>Seoul</a:t>
            </a:r>
            <a:r>
              <a:rPr lang="en-US" altLang="ja-JP" sz="1800">
                <a:solidFill>
                  <a:schemeClr val="tx1"/>
                </a:solidFill>
                <a:ea typeface="Arial" charset="0"/>
                <a:cs typeface="Arial" charset="0"/>
              </a:rPr>
              <a:t> (2/5,6/2010).</a:t>
            </a:r>
          </a:p>
          <a:p>
            <a:pPr marL="39688">
              <a:buFontTx/>
              <a:buAutoNum type="arabicPeriod"/>
            </a:pPr>
            <a:r>
              <a:rPr lang="en-US" altLang="ja-JP" sz="1800" i="1">
                <a:solidFill>
                  <a:schemeClr val="tx1"/>
                </a:solidFill>
                <a:ea typeface="Arial" charset="0"/>
                <a:cs typeface="Arial" charset="0"/>
              </a:rPr>
              <a:t>Nanokelvin BEC bouncing off a room-temperature solid wall</a:t>
            </a:r>
            <a:r>
              <a:rPr lang="en-US" altLang="ja-JP" sz="1800">
                <a:solidFill>
                  <a:schemeClr val="tx1"/>
                </a:solidFill>
                <a:ea typeface="Arial" charset="0"/>
                <a:cs typeface="Arial" charset="0"/>
              </a:rPr>
              <a:t>, Physics Colloquium, Konkuk University, </a:t>
            </a:r>
            <a:r>
              <a:rPr lang="en-US" altLang="ja-JP" sz="1800">
                <a:solidFill>
                  <a:srgbClr val="84DDFD"/>
                </a:solidFill>
                <a:ea typeface="Arial" charset="0"/>
                <a:cs typeface="Arial" charset="0"/>
              </a:rPr>
              <a:t>Seoul</a:t>
            </a:r>
            <a:r>
              <a:rPr lang="en-US" altLang="ja-JP" sz="1800">
                <a:solidFill>
                  <a:schemeClr val="tx1"/>
                </a:solidFill>
                <a:ea typeface="Arial" charset="0"/>
                <a:cs typeface="Arial" charset="0"/>
              </a:rPr>
              <a:t>, Korea (12/2/2009).</a:t>
            </a:r>
          </a:p>
          <a:p>
            <a:pPr marL="39688">
              <a:buFontTx/>
              <a:buAutoNum type="arabicPeriod"/>
            </a:pPr>
            <a:r>
              <a:rPr lang="en-US" altLang="ja-JP" sz="1800" i="1">
                <a:solidFill>
                  <a:schemeClr val="tx1"/>
                </a:solidFill>
                <a:ea typeface="Arial" charset="0"/>
                <a:cs typeface="Arial" charset="0"/>
              </a:rPr>
              <a:t>Nanokelvin BEC bouncing off a room-temperature solid wal</a:t>
            </a:r>
            <a:r>
              <a:rPr lang="en-US" altLang="ja-JP" sz="1800">
                <a:solidFill>
                  <a:schemeClr val="tx1"/>
                </a:solidFill>
                <a:ea typeface="Arial" charset="0"/>
                <a:cs typeface="Arial" charset="0"/>
              </a:rPr>
              <a:t>l, Mechanical Engineering Department, KAIST,</a:t>
            </a:r>
            <a:r>
              <a:rPr lang="en-US" altLang="ja-JP" sz="1800">
                <a:solidFill>
                  <a:srgbClr val="84DDFD"/>
                </a:solidFill>
                <a:ea typeface="Arial" charset="0"/>
                <a:cs typeface="Arial" charset="0"/>
              </a:rPr>
              <a:t> Daejeon</a:t>
            </a:r>
            <a:r>
              <a:rPr lang="en-US" altLang="ja-JP" sz="1800">
                <a:solidFill>
                  <a:schemeClr val="tx1"/>
                </a:solidFill>
                <a:ea typeface="Arial" charset="0"/>
                <a:cs typeface="Arial" charset="0"/>
              </a:rPr>
              <a:t>, Korea (11/19/2009).</a:t>
            </a:r>
          </a:p>
          <a:p>
            <a:pPr marL="39688">
              <a:buFontTx/>
              <a:buAutoNum type="arabicPeriod"/>
            </a:pPr>
            <a:r>
              <a:rPr lang="en-US" altLang="ja-JP" sz="1800" i="1">
                <a:solidFill>
                  <a:schemeClr val="tx1"/>
                </a:solidFill>
                <a:ea typeface="Arial" charset="0"/>
                <a:cs typeface="Arial" charset="0"/>
              </a:rPr>
              <a:t>Controlling and measuring the relative phase of two spatially separate BECs</a:t>
            </a:r>
            <a:r>
              <a:rPr lang="en-US" altLang="ja-JP" sz="1800">
                <a:solidFill>
                  <a:schemeClr val="tx1"/>
                </a:solidFill>
                <a:ea typeface="Arial" charset="0"/>
                <a:cs typeface="Arial" charset="0"/>
              </a:rPr>
              <a:t>, Physics seminar, Pusan National University, </a:t>
            </a:r>
            <a:r>
              <a:rPr lang="en-US" altLang="ja-JP" sz="1800">
                <a:solidFill>
                  <a:srgbClr val="84DDFD"/>
                </a:solidFill>
                <a:ea typeface="Arial" charset="0"/>
                <a:cs typeface="Arial" charset="0"/>
              </a:rPr>
              <a:t>Pusan</a:t>
            </a:r>
            <a:r>
              <a:rPr lang="en-US" altLang="ja-JP" sz="1800">
                <a:solidFill>
                  <a:schemeClr val="tx1"/>
                </a:solidFill>
                <a:ea typeface="Arial" charset="0"/>
                <a:cs typeface="Arial" charset="0"/>
              </a:rPr>
              <a:t>, Korea (8/21/2009).</a:t>
            </a:r>
          </a:p>
        </p:txBody>
      </p:sp>
      <p:sp>
        <p:nvSpPr>
          <p:cNvPr id="27654" name="Freeform 6"/>
          <p:cNvSpPr>
            <a:spLocks/>
          </p:cNvSpPr>
          <p:nvPr/>
        </p:nvSpPr>
        <p:spPr bwMode="auto">
          <a:xfrm>
            <a:off x="8305800" y="2082800"/>
            <a:ext cx="4102100" cy="4470400"/>
          </a:xfrm>
          <a:custGeom>
            <a:avLst/>
            <a:gdLst/>
            <a:ahLst/>
            <a:cxnLst>
              <a:cxn ang="0">
                <a:pos x="3812" y="0"/>
              </a:cxn>
              <a:cxn ang="0">
                <a:pos x="19460" y="20189"/>
              </a:cxn>
              <a:cxn ang="0">
                <a:pos x="0" y="21600"/>
              </a:cxn>
              <a:cxn ang="0">
                <a:pos x="21600" y="13193"/>
              </a:cxn>
              <a:cxn ang="0">
                <a:pos x="6955" y="10432"/>
              </a:cxn>
              <a:cxn ang="0">
                <a:pos x="3009" y="20005"/>
              </a:cxn>
              <a:cxn ang="0">
                <a:pos x="3812" y="0"/>
              </a:cxn>
              <a:cxn ang="0">
                <a:pos x="3812" y="0"/>
              </a:cxn>
            </a:cxnLst>
            <a:rect l="0" t="0" r="r" b="b"/>
            <a:pathLst>
              <a:path w="21600" h="21600">
                <a:moveTo>
                  <a:pt x="3812" y="0"/>
                </a:moveTo>
                <a:lnTo>
                  <a:pt x="19460" y="20189"/>
                </a:lnTo>
                <a:lnTo>
                  <a:pt x="0" y="21600"/>
                </a:lnTo>
                <a:lnTo>
                  <a:pt x="21600" y="13193"/>
                </a:lnTo>
                <a:lnTo>
                  <a:pt x="6955" y="10432"/>
                </a:lnTo>
                <a:lnTo>
                  <a:pt x="3009" y="20005"/>
                </a:lnTo>
                <a:lnTo>
                  <a:pt x="3812" y="0"/>
                </a:lnTo>
                <a:close/>
                <a:moveTo>
                  <a:pt x="3812" y="0"/>
                </a:moveTo>
              </a:path>
            </a:pathLst>
          </a:custGeom>
          <a:noFill/>
          <a:ln w="9525" cap="flat">
            <a:solidFill>
              <a:schemeClr val="tx1">
                <a:alpha val="34999"/>
              </a:schemeClr>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27655" name="Freeform 7"/>
          <p:cNvSpPr>
            <a:spLocks/>
          </p:cNvSpPr>
          <p:nvPr/>
        </p:nvSpPr>
        <p:spPr bwMode="auto">
          <a:xfrm>
            <a:off x="8902700" y="2082800"/>
            <a:ext cx="3098800" cy="4165600"/>
          </a:xfrm>
          <a:custGeom>
            <a:avLst/>
            <a:gdLst/>
            <a:ahLst/>
            <a:cxnLst>
              <a:cxn ang="0">
                <a:pos x="885" y="0"/>
              </a:cxn>
              <a:cxn ang="0">
                <a:pos x="5046" y="11063"/>
              </a:cxn>
              <a:cxn ang="0">
                <a:pos x="21600" y="21600"/>
              </a:cxn>
              <a:cxn ang="0">
                <a:pos x="0" y="21600"/>
              </a:cxn>
              <a:cxn ang="0">
                <a:pos x="885" y="0"/>
              </a:cxn>
              <a:cxn ang="0">
                <a:pos x="885" y="0"/>
              </a:cxn>
            </a:cxnLst>
            <a:rect l="0" t="0" r="r" b="b"/>
            <a:pathLst>
              <a:path w="21600" h="21600">
                <a:moveTo>
                  <a:pt x="885" y="0"/>
                </a:moveTo>
                <a:lnTo>
                  <a:pt x="5046" y="11063"/>
                </a:lnTo>
                <a:lnTo>
                  <a:pt x="21600" y="21600"/>
                </a:lnTo>
                <a:lnTo>
                  <a:pt x="0" y="21600"/>
                </a:lnTo>
                <a:lnTo>
                  <a:pt x="885" y="0"/>
                </a:lnTo>
                <a:close/>
                <a:moveTo>
                  <a:pt x="885" y="0"/>
                </a:moveTo>
              </a:path>
            </a:pathLst>
          </a:custGeom>
          <a:noFill/>
          <a:ln w="9525" cap="flat">
            <a:solidFill>
              <a:schemeClr val="tx1">
                <a:alpha val="53999"/>
              </a:schemeClr>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27656" name="Line 8"/>
          <p:cNvSpPr>
            <a:spLocks noChangeShapeType="1"/>
          </p:cNvSpPr>
          <p:nvPr/>
        </p:nvSpPr>
        <p:spPr bwMode="auto">
          <a:xfrm flipH="1">
            <a:off x="8470900" y="2070100"/>
            <a:ext cx="569913" cy="7480300"/>
          </a:xfrm>
          <a:prstGeom prst="line">
            <a:avLst/>
          </a:prstGeom>
          <a:noFill/>
          <a:ln w="9525" cap="flat">
            <a:solidFill>
              <a:schemeClr val="tx1">
                <a:alpha val="51999"/>
              </a:schemeClr>
            </a:solidFill>
            <a:prstDash val="solid"/>
            <a:round/>
            <a:headEnd type="none" w="med" len="med"/>
            <a:tailEnd type="none" w="med" len="med"/>
          </a:ln>
        </p:spPr>
        <p:txBody>
          <a:bodyPr lIns="0" tIns="0" rIns="0" bIns="0">
            <a:prstTxWarp prst="textNoShape">
              <a:avLst/>
            </a:prstTxWarp>
          </a:bodyPr>
          <a:lstStyle/>
          <a:p>
            <a:endParaRPr lang="ja-JP" altLang="en-US"/>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7" name="Rectangle 1"/>
          <p:cNvSpPr>
            <a:spLocks/>
          </p:cNvSpPr>
          <p:nvPr/>
        </p:nvSpPr>
        <p:spPr bwMode="auto">
          <a:xfrm>
            <a:off x="1397000" y="4191000"/>
            <a:ext cx="10198100" cy="4356100"/>
          </a:xfrm>
          <a:prstGeom prst="rect">
            <a:avLst/>
          </a:prstGeom>
          <a:noFill/>
          <a:ln w="12700" cap="flat">
            <a:noFill/>
            <a:miter lim="800000"/>
            <a:headEnd type="none" w="med" len="med"/>
            <a:tailEnd type="none" w="med" len="med"/>
          </a:ln>
        </p:spPr>
        <p:txBody>
          <a:bodyPr lIns="0" tIns="0" rIns="57799" bIns="0">
            <a:prstTxWarp prst="textNoShape">
              <a:avLst/>
            </a:prstTxWarp>
          </a:bodyPr>
          <a:lstStyle/>
          <a:p>
            <a:pPr marL="520700" indent="-520700">
              <a:spcBef>
                <a:spcPts val="3100"/>
              </a:spcBef>
              <a:buClr>
                <a:srgbClr val="54638C"/>
              </a:buClr>
              <a:buSzPct val="89000"/>
              <a:buFont typeface="Wingdings 2" charset="2"/>
              <a:buChar char="Ü"/>
            </a:pPr>
            <a:r>
              <a:rPr lang="en-US" altLang="ja-JP" sz="3600">
                <a:solidFill>
                  <a:schemeClr val="tx1"/>
                </a:solidFill>
                <a:latin typeface="Century Gothic" charset="0"/>
                <a:ea typeface="Century Gothic" charset="0"/>
                <a:cs typeface="Century Gothic" charset="0"/>
                <a:sym typeface="Century Gothic" charset="0"/>
              </a:rPr>
              <a:t>Generation of Fermi gases</a:t>
            </a:r>
          </a:p>
          <a:p>
            <a:pPr marL="520700" indent="-520700">
              <a:spcBef>
                <a:spcPts val="3100"/>
              </a:spcBef>
              <a:buClr>
                <a:srgbClr val="54638C"/>
              </a:buClr>
              <a:buSzPct val="89000"/>
              <a:buFont typeface="Wingdings 2" charset="2"/>
              <a:buChar char="Ü"/>
            </a:pPr>
            <a:r>
              <a:rPr lang="en-US" altLang="ja-JP" sz="3600">
                <a:solidFill>
                  <a:schemeClr val="tx1"/>
                </a:solidFill>
                <a:latin typeface="Century Gothic" charset="0"/>
                <a:ea typeface="Century Gothic" charset="0"/>
                <a:cs typeface="Century Gothic" charset="0"/>
                <a:sym typeface="Century Gothic" charset="0"/>
              </a:rPr>
              <a:t>Study of strongly correlated systems </a:t>
            </a:r>
          </a:p>
          <a:p>
            <a:pPr marL="520700" indent="-520700">
              <a:spcBef>
                <a:spcPts val="3100"/>
              </a:spcBef>
              <a:buClr>
                <a:srgbClr val="54638C"/>
              </a:buClr>
              <a:buSzPct val="89000"/>
              <a:buFont typeface="Wingdings 2" charset="2"/>
              <a:buChar char="Ü"/>
            </a:pPr>
            <a:r>
              <a:rPr lang="en-US" altLang="ja-JP" sz="3600">
                <a:solidFill>
                  <a:schemeClr val="tx1"/>
                </a:solidFill>
                <a:latin typeface="Century Gothic" charset="0"/>
                <a:ea typeface="Century Gothic" charset="0"/>
                <a:cs typeface="Century Gothic" charset="0"/>
                <a:sym typeface="Century Gothic" charset="0"/>
              </a:rPr>
              <a:t>Application of BEC to quantum chaos</a:t>
            </a:r>
          </a:p>
          <a:p>
            <a:pPr marL="520700" indent="-520700">
              <a:spcBef>
                <a:spcPts val="3100"/>
              </a:spcBef>
              <a:buClr>
                <a:srgbClr val="54638C"/>
              </a:buClr>
              <a:buSzPct val="89000"/>
              <a:buFont typeface="Wingdings 2" charset="2"/>
              <a:buChar char="Ü"/>
            </a:pPr>
            <a:r>
              <a:rPr lang="en-US" altLang="ja-JP" sz="3600">
                <a:solidFill>
                  <a:schemeClr val="tx1"/>
                </a:solidFill>
                <a:latin typeface="Century Gothic" charset="0"/>
                <a:ea typeface="Century Gothic" charset="0"/>
                <a:cs typeface="Century Gothic" charset="0"/>
                <a:sym typeface="Century Gothic" charset="0"/>
              </a:rPr>
              <a:t>Application of BEC to quantum information </a:t>
            </a:r>
          </a:p>
        </p:txBody>
      </p:sp>
      <p:sp>
        <p:nvSpPr>
          <p:cNvPr id="29698" name="Rectangle 2"/>
          <p:cNvSpPr>
            <a:spLocks/>
          </p:cNvSpPr>
          <p:nvPr/>
        </p:nvSpPr>
        <p:spPr bwMode="auto">
          <a:xfrm>
            <a:off x="857250" y="1497013"/>
            <a:ext cx="11264900" cy="1739900"/>
          </a:xfrm>
          <a:prstGeom prst="rect">
            <a:avLst/>
          </a:prstGeom>
          <a:noFill/>
          <a:ln w="12700" cap="flat">
            <a:noFill/>
            <a:miter lim="800000"/>
            <a:headEnd type="none" w="med" len="med"/>
            <a:tailEnd type="none" w="med" len="med"/>
          </a:ln>
        </p:spPr>
        <p:txBody>
          <a:bodyPr lIns="0" tIns="0" rIns="57799" bIns="0">
            <a:prstTxWarp prst="textNoShape">
              <a:avLst/>
            </a:prstTxWarp>
          </a:bodyPr>
          <a:lstStyle/>
          <a:p>
            <a:pPr marL="57150" algn="ctr"/>
            <a:r>
              <a:rPr lang="en-US" altLang="ja-JP" sz="6400">
                <a:solidFill>
                  <a:srgbClr val="FFAF03"/>
                </a:solidFill>
                <a:latin typeface="Century Gothic" charset="0"/>
                <a:ea typeface="Century Gothic" charset="0"/>
                <a:cs typeface="Century Gothic" charset="0"/>
                <a:sym typeface="Century Gothic" charset="0"/>
              </a:rPr>
              <a:t>Plan for the Second Phase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7">
                                            <p:txEl>
                                              <p:pRg st="0" end="0"/>
                                            </p:txEl>
                                          </p:spTgt>
                                        </p:tgtEl>
                                        <p:attrNameLst>
                                          <p:attrName>style.visibility</p:attrName>
                                        </p:attrNameLst>
                                      </p:cBhvr>
                                      <p:to>
                                        <p:strVal val="visible"/>
                                      </p:to>
                                    </p:set>
                                    <p:animEffect transition="in" filter="wipe(left)">
                                      <p:cBhvr>
                                        <p:cTn id="7" dur="500"/>
                                        <p:tgtEl>
                                          <p:spTgt spid="296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697">
                                            <p:txEl>
                                              <p:pRg st="1" end="1"/>
                                            </p:txEl>
                                          </p:spTgt>
                                        </p:tgtEl>
                                        <p:attrNameLst>
                                          <p:attrName>style.visibility</p:attrName>
                                        </p:attrNameLst>
                                      </p:cBhvr>
                                      <p:to>
                                        <p:strVal val="visible"/>
                                      </p:to>
                                    </p:set>
                                    <p:animEffect transition="in" filter="wipe(left)">
                                      <p:cBhvr>
                                        <p:cTn id="12" dur="500"/>
                                        <p:tgtEl>
                                          <p:spTgt spid="296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697">
                                            <p:txEl>
                                              <p:pRg st="2" end="2"/>
                                            </p:txEl>
                                          </p:spTgt>
                                        </p:tgtEl>
                                        <p:attrNameLst>
                                          <p:attrName>style.visibility</p:attrName>
                                        </p:attrNameLst>
                                      </p:cBhvr>
                                      <p:to>
                                        <p:strVal val="visible"/>
                                      </p:to>
                                    </p:set>
                                    <p:animEffect transition="in" filter="wipe(left)">
                                      <p:cBhvr>
                                        <p:cTn id="17" dur="500"/>
                                        <p:tgtEl>
                                          <p:spTgt spid="2969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697">
                                            <p:txEl>
                                              <p:pRg st="3" end="3"/>
                                            </p:txEl>
                                          </p:spTgt>
                                        </p:tgtEl>
                                        <p:attrNameLst>
                                          <p:attrName>style.visibility</p:attrName>
                                        </p:attrNameLst>
                                      </p:cBhvr>
                                      <p:to>
                                        <p:strVal val="visible"/>
                                      </p:to>
                                    </p:set>
                                    <p:animEffect transition="in" filter="wipe(left)">
                                      <p:cBhvr>
                                        <p:cTn id="22" dur="500"/>
                                        <p:tgtEl>
                                          <p:spTgt spid="296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7" grpId="0" build="p" autoUpdateAnimBg="0"/>
    </p:bld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1" name="Rectangle 1"/>
          <p:cNvSpPr>
            <a:spLocks noChangeArrowheads="1"/>
          </p:cNvSpPr>
          <p:nvPr>
            <p:ph type="title"/>
          </p:nvPr>
        </p:nvSpPr>
        <p:spPr>
          <a:xfrm>
            <a:off x="869950" y="574675"/>
            <a:ext cx="11263313" cy="1230313"/>
          </a:xfrm>
          <a:ln/>
        </p:spPr>
        <p:txBody>
          <a:bodyPr rIns="166398"/>
          <a:lstStyle/>
          <a:p>
            <a:pPr marL="57150"/>
            <a:r>
              <a:rPr lang="en-US" altLang="ja-JP" sz="5600"/>
              <a:t>Antiferromagnetic Condensate</a:t>
            </a:r>
          </a:p>
        </p:txBody>
      </p:sp>
      <p:sp>
        <p:nvSpPr>
          <p:cNvPr id="30722" name="Rectangle 2"/>
          <p:cNvSpPr>
            <a:spLocks noChangeArrowheads="1"/>
          </p:cNvSpPr>
          <p:nvPr>
            <p:ph type="body" idx="1"/>
          </p:nvPr>
        </p:nvSpPr>
        <p:spPr>
          <a:xfrm>
            <a:off x="1146175" y="1803400"/>
            <a:ext cx="10706100" cy="3314700"/>
          </a:xfrm>
          <a:ln/>
        </p:spPr>
        <p:txBody>
          <a:bodyPr rIns="166398"/>
          <a:lstStyle/>
          <a:p>
            <a:pPr>
              <a:lnSpc>
                <a:spcPct val="90000"/>
              </a:lnSpc>
              <a:spcBef>
                <a:spcPct val="0"/>
              </a:spcBef>
            </a:pPr>
            <a:r>
              <a:rPr lang="en-US" altLang="ja-JP" sz="2800"/>
              <a:t>Ferromagnetic spinor condensate, Rb-87, F=1, so far</a:t>
            </a:r>
          </a:p>
          <a:p>
            <a:pPr>
              <a:lnSpc>
                <a:spcPct val="90000"/>
              </a:lnSpc>
              <a:spcBef>
                <a:spcPts val="3100"/>
              </a:spcBef>
            </a:pPr>
            <a:r>
              <a:rPr lang="en-US" altLang="ja-JP" sz="2800"/>
              <a:t>We will make </a:t>
            </a:r>
            <a:r>
              <a:rPr lang="en-US" altLang="ja-JP" sz="2800" i="1">
                <a:solidFill>
                  <a:srgbClr val="84DDFD"/>
                </a:solidFill>
              </a:rPr>
              <a:t>Antiferromagnetic</a:t>
            </a:r>
            <a:r>
              <a:rPr lang="en-US" altLang="ja-JP" sz="2800"/>
              <a:t> spinor condensate, Na-23, F=1.</a:t>
            </a:r>
          </a:p>
          <a:p>
            <a:pPr>
              <a:lnSpc>
                <a:spcPct val="90000"/>
              </a:lnSpc>
              <a:spcBef>
                <a:spcPts val="3100"/>
              </a:spcBef>
            </a:pPr>
            <a:r>
              <a:rPr lang="en-US" altLang="ja-JP" sz="2800"/>
              <a:t>With the Na-23 condensate we should be able to study new spinor physics such as magnetic monopole, polar state, half quantum vortex state, etc.</a:t>
            </a:r>
          </a:p>
        </p:txBody>
      </p:sp>
      <p:pic>
        <p:nvPicPr>
          <p:cNvPr id="30723" name="Picture 3"/>
          <p:cNvPicPr>
            <a:picLocks noChangeAspect="1" noChangeArrowheads="1"/>
          </p:cNvPicPr>
          <p:nvPr/>
        </p:nvPicPr>
        <p:blipFill>
          <a:blip r:embed="rId3"/>
          <a:srcRect/>
          <a:stretch>
            <a:fillRect/>
          </a:stretch>
        </p:blipFill>
        <p:spPr bwMode="auto">
          <a:xfrm>
            <a:off x="2514600" y="5435600"/>
            <a:ext cx="3114675" cy="3670300"/>
          </a:xfrm>
          <a:prstGeom prst="rect">
            <a:avLst/>
          </a:prstGeom>
          <a:noFill/>
          <a:ln w="9525" cap="flat">
            <a:noFill/>
            <a:miter lim="800000"/>
            <a:headEnd/>
            <a:tailEnd/>
          </a:ln>
        </p:spPr>
      </p:pic>
      <p:sp>
        <p:nvSpPr>
          <p:cNvPr id="30724" name="Rectangle 4"/>
          <p:cNvSpPr>
            <a:spLocks/>
          </p:cNvSpPr>
          <p:nvPr/>
        </p:nvSpPr>
        <p:spPr bwMode="auto">
          <a:xfrm>
            <a:off x="5915025" y="6323013"/>
            <a:ext cx="5207000" cy="1511300"/>
          </a:xfrm>
          <a:prstGeom prst="rect">
            <a:avLst/>
          </a:prstGeom>
          <a:noFill/>
          <a:ln w="9525" cap="flat">
            <a:noFill/>
            <a:miter lim="800000"/>
            <a:headEnd type="none" w="med" len="med"/>
            <a:tailEnd type="none" w="med" len="med"/>
          </a:ln>
        </p:spPr>
        <p:txBody>
          <a:bodyPr lIns="0" tIns="0" rIns="57799" bIns="0">
            <a:prstTxWarp prst="textNoShape">
              <a:avLst/>
            </a:prstTxWarp>
          </a:bodyPr>
          <a:lstStyle/>
          <a:p>
            <a:pPr marL="57150"/>
            <a:r>
              <a:rPr lang="en-US" altLang="ja-JP" sz="2400">
                <a:solidFill>
                  <a:schemeClr val="tx1"/>
                </a:solidFill>
                <a:ea typeface="Arial" charset="0"/>
                <a:cs typeface="Arial" charset="0"/>
              </a:rPr>
              <a:t>Spontaneous symmetry breaking in a quenched ferromagnetic spinor Bose-Einstein condensate: L.E. Sadler et al., </a:t>
            </a:r>
            <a:r>
              <a:rPr lang="en-US" altLang="ja-JP" sz="2400" i="1">
                <a:solidFill>
                  <a:schemeClr val="tx1"/>
                </a:solidFill>
                <a:ea typeface="Arial" charset="0"/>
                <a:cs typeface="Arial" charset="0"/>
              </a:rPr>
              <a:t>Nature</a:t>
            </a:r>
            <a:r>
              <a:rPr lang="en-US" altLang="ja-JP" sz="2400">
                <a:solidFill>
                  <a:schemeClr val="tx1"/>
                </a:solidFill>
                <a:ea typeface="Arial" charset="0"/>
                <a:cs typeface="Arial" charset="0"/>
              </a:rPr>
              <a:t> </a:t>
            </a:r>
            <a:r>
              <a:rPr lang="en-US" altLang="ja-JP" sz="2400" b="1">
                <a:solidFill>
                  <a:schemeClr val="tx1"/>
                </a:solidFill>
                <a:ea typeface="Arial" charset="0"/>
                <a:cs typeface="Arial" charset="0"/>
              </a:rPr>
              <a:t>443</a:t>
            </a:r>
            <a:r>
              <a:rPr lang="en-US" altLang="ja-JP" sz="2400">
                <a:solidFill>
                  <a:schemeClr val="tx1"/>
                </a:solidFill>
                <a:ea typeface="Arial" charset="0"/>
                <a:cs typeface="Arial" charset="0"/>
              </a:rPr>
              <a:t> (2006)</a:t>
            </a: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69" name="Rectangle 1"/>
          <p:cNvSpPr>
            <a:spLocks noChangeArrowheads="1"/>
          </p:cNvSpPr>
          <p:nvPr>
            <p:ph type="title"/>
          </p:nvPr>
        </p:nvSpPr>
        <p:spPr>
          <a:xfrm>
            <a:off x="869950" y="555625"/>
            <a:ext cx="11264900" cy="1358900"/>
          </a:xfrm>
          <a:ln/>
        </p:spPr>
        <p:txBody>
          <a:bodyPr rIns="166398"/>
          <a:lstStyle/>
          <a:p>
            <a:pPr marL="57150"/>
            <a:r>
              <a:rPr lang="en-US" altLang="ja-JP" sz="5600"/>
              <a:t>BEC-BCS Phase Transition</a:t>
            </a:r>
          </a:p>
        </p:txBody>
      </p:sp>
      <p:sp>
        <p:nvSpPr>
          <p:cNvPr id="32770" name="Rectangle 2"/>
          <p:cNvSpPr>
            <a:spLocks noChangeArrowheads="1"/>
          </p:cNvSpPr>
          <p:nvPr>
            <p:ph type="body" idx="1"/>
          </p:nvPr>
        </p:nvSpPr>
        <p:spPr>
          <a:xfrm>
            <a:off x="1181100" y="1816100"/>
            <a:ext cx="10655300" cy="3009900"/>
          </a:xfrm>
          <a:ln/>
        </p:spPr>
        <p:txBody>
          <a:bodyPr rIns="166398"/>
          <a:lstStyle/>
          <a:p>
            <a:pPr>
              <a:spcBef>
                <a:spcPct val="0"/>
              </a:spcBef>
            </a:pPr>
            <a:r>
              <a:rPr lang="en-US" altLang="ja-JP" sz="2600"/>
              <a:t>Ultracold Li-6 atoms near Feshbach resonances</a:t>
            </a:r>
          </a:p>
          <a:p>
            <a:pPr>
              <a:spcBef>
                <a:spcPts val="2400"/>
              </a:spcBef>
            </a:pPr>
            <a:r>
              <a:rPr lang="en-US" altLang="ja-JP" sz="2600"/>
              <a:t>System parameters are tunable, so thus BEC-BCS crossover and new quantum pairing states may be realized.</a:t>
            </a:r>
          </a:p>
          <a:p>
            <a:pPr>
              <a:spcBef>
                <a:spcPts val="2400"/>
              </a:spcBef>
            </a:pPr>
            <a:r>
              <a:rPr lang="en-US" altLang="ja-JP" sz="2600"/>
              <a:t>New insights on fermionic superfluidity and high-Tc superconductivity</a:t>
            </a:r>
          </a:p>
        </p:txBody>
      </p:sp>
      <p:pic>
        <p:nvPicPr>
          <p:cNvPr id="32771" name="Picture 3"/>
          <p:cNvPicPr>
            <a:picLocks noChangeAspect="1" noChangeArrowheads="1"/>
          </p:cNvPicPr>
          <p:nvPr/>
        </p:nvPicPr>
        <p:blipFill>
          <a:blip r:embed="rId3"/>
          <a:srcRect/>
          <a:stretch>
            <a:fillRect/>
          </a:stretch>
        </p:blipFill>
        <p:spPr bwMode="auto">
          <a:xfrm>
            <a:off x="2976563" y="4962525"/>
            <a:ext cx="7061200" cy="3940175"/>
          </a:xfrm>
          <a:prstGeom prst="rect">
            <a:avLst/>
          </a:prstGeom>
          <a:noFill/>
          <a:ln w="9525" cap="flat">
            <a:noFill/>
            <a:miter lim="800000"/>
            <a:headEnd/>
            <a:tailEnd/>
          </a:ln>
        </p:spPr>
      </p:pic>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7" name="Rectangle 1"/>
          <p:cNvSpPr>
            <a:spLocks noChangeArrowheads="1"/>
          </p:cNvSpPr>
          <p:nvPr>
            <p:ph type="title"/>
          </p:nvPr>
        </p:nvSpPr>
        <p:spPr>
          <a:xfrm>
            <a:off x="869950" y="673100"/>
            <a:ext cx="11264900" cy="1346200"/>
          </a:xfrm>
          <a:ln/>
        </p:spPr>
        <p:txBody>
          <a:bodyPr rIns="166398"/>
          <a:lstStyle/>
          <a:p>
            <a:pPr marL="57150"/>
            <a:r>
              <a:rPr lang="en-US" altLang="ja-JP"/>
              <a:t>Quantum Chaos with a BEC</a:t>
            </a:r>
          </a:p>
        </p:txBody>
      </p:sp>
      <p:sp>
        <p:nvSpPr>
          <p:cNvPr id="34818" name="Rectangle 2"/>
          <p:cNvSpPr>
            <a:spLocks noChangeArrowheads="1"/>
          </p:cNvSpPr>
          <p:nvPr>
            <p:ph type="body" idx="1"/>
          </p:nvPr>
        </p:nvSpPr>
        <p:spPr>
          <a:xfrm>
            <a:off x="1219200" y="2143125"/>
            <a:ext cx="10680700" cy="3251200"/>
          </a:xfrm>
          <a:ln/>
        </p:spPr>
        <p:txBody>
          <a:bodyPr rIns="166398"/>
          <a:lstStyle/>
          <a:p>
            <a:pPr>
              <a:lnSpc>
                <a:spcPct val="90000"/>
              </a:lnSpc>
              <a:spcBef>
                <a:spcPct val="0"/>
              </a:spcBef>
            </a:pPr>
            <a:r>
              <a:rPr lang="en-US" altLang="ja-JP" sz="2800"/>
              <a:t>Big question: How is chaotic trajectory of a particle related to quasi-eigenmodes of a matter wave?</a:t>
            </a:r>
          </a:p>
          <a:p>
            <a:pPr>
              <a:lnSpc>
                <a:spcPct val="90000"/>
              </a:lnSpc>
              <a:spcBef>
                <a:spcPts val="2400"/>
              </a:spcBef>
            </a:pPr>
            <a:r>
              <a:rPr lang="en-US" altLang="ja-JP" sz="2800"/>
              <a:t>Setting: Matter wave (BEC) enclosed in a potential well by light force</a:t>
            </a:r>
          </a:p>
          <a:p>
            <a:pPr>
              <a:lnSpc>
                <a:spcPct val="90000"/>
              </a:lnSpc>
              <a:spcBef>
                <a:spcPts val="2400"/>
              </a:spcBef>
            </a:pPr>
            <a:r>
              <a:rPr lang="en-US" altLang="ja-JP" sz="2800"/>
              <a:t>Mode pattern can be easily imaged, facilitating quantum chaos studies greatly.</a:t>
            </a:r>
          </a:p>
        </p:txBody>
      </p:sp>
      <p:pic>
        <p:nvPicPr>
          <p:cNvPr id="34819" name="Picture 3"/>
          <p:cNvPicPr>
            <a:picLocks noChangeArrowheads="1"/>
          </p:cNvPicPr>
          <p:nvPr/>
        </p:nvPicPr>
        <p:blipFill>
          <a:blip r:embed="rId2"/>
          <a:srcRect/>
          <a:stretch>
            <a:fillRect/>
          </a:stretch>
        </p:blipFill>
        <p:spPr bwMode="auto">
          <a:xfrm>
            <a:off x="4621213" y="4465638"/>
            <a:ext cx="1587" cy="1587"/>
          </a:xfrm>
          <a:prstGeom prst="rect">
            <a:avLst/>
          </a:prstGeom>
          <a:noFill/>
          <a:ln w="9525" cap="flat">
            <a:noFill/>
            <a:miter lim="800000"/>
            <a:headEnd/>
            <a:tailEnd/>
          </a:ln>
        </p:spPr>
      </p:pic>
      <p:grpSp>
        <p:nvGrpSpPr>
          <p:cNvPr id="34820" name="Group 4"/>
          <p:cNvGrpSpPr>
            <a:grpSpLocks/>
          </p:cNvGrpSpPr>
          <p:nvPr/>
        </p:nvGrpSpPr>
        <p:grpSpPr bwMode="auto">
          <a:xfrm>
            <a:off x="2374900" y="5692775"/>
            <a:ext cx="3586163" cy="3235325"/>
            <a:chOff x="0" y="0"/>
            <a:chExt cx="2259" cy="2037"/>
          </a:xfrm>
        </p:grpSpPr>
        <p:grpSp>
          <p:nvGrpSpPr>
            <p:cNvPr id="34821" name="Group 5"/>
            <p:cNvGrpSpPr>
              <a:grpSpLocks/>
            </p:cNvGrpSpPr>
            <p:nvPr/>
          </p:nvGrpSpPr>
          <p:grpSpPr bwMode="auto">
            <a:xfrm>
              <a:off x="0" y="0"/>
              <a:ext cx="2259" cy="1749"/>
              <a:chOff x="0" y="0"/>
              <a:chExt cx="2259" cy="1749"/>
            </a:xfrm>
          </p:grpSpPr>
          <p:grpSp>
            <p:nvGrpSpPr>
              <p:cNvPr id="34822" name="Group 6"/>
              <p:cNvGrpSpPr>
                <a:grpSpLocks/>
              </p:cNvGrpSpPr>
              <p:nvPr/>
            </p:nvGrpSpPr>
            <p:grpSpPr bwMode="auto">
              <a:xfrm>
                <a:off x="0" y="0"/>
                <a:ext cx="2259" cy="1749"/>
                <a:chOff x="0" y="0"/>
                <a:chExt cx="2259" cy="1749"/>
              </a:xfrm>
            </p:grpSpPr>
            <p:sp>
              <p:nvSpPr>
                <p:cNvPr id="34823" name="Rectangle 7"/>
                <p:cNvSpPr>
                  <a:spLocks/>
                </p:cNvSpPr>
                <p:nvPr/>
              </p:nvSpPr>
              <p:spPr bwMode="auto">
                <a:xfrm>
                  <a:off x="0" y="0"/>
                  <a:ext cx="2259" cy="1749"/>
                </a:xfrm>
                <a:prstGeom prst="rect">
                  <a:avLst/>
                </a:prstGeom>
                <a:solidFill>
                  <a:srgbClr val="FFFFFF"/>
                </a:solidFill>
                <a:ln w="19050" cap="flat">
                  <a:noFill/>
                  <a:miter lim="800000"/>
                  <a:headEnd type="none" w="med" len="med"/>
                  <a:tailEnd type="none" w="med" len="med"/>
                </a:ln>
              </p:spPr>
              <p:txBody>
                <a:bodyPr lIns="0" tIns="0" rIns="0" bIns="0">
                  <a:prstTxWarp prst="textNoShape">
                    <a:avLst/>
                  </a:prstTxWarp>
                </a:bodyPr>
                <a:lstStyle/>
                <a:p>
                  <a:endParaRPr lang="ja-JP" altLang="en-US"/>
                </a:p>
              </p:txBody>
            </p:sp>
            <p:pic>
              <p:nvPicPr>
                <p:cNvPr id="34824" name="Picture 8"/>
                <p:cNvPicPr>
                  <a:picLocks noChangeArrowheads="1"/>
                </p:cNvPicPr>
                <p:nvPr/>
              </p:nvPicPr>
              <p:blipFill>
                <a:blip r:embed="rId2"/>
                <a:srcRect t="14847"/>
                <a:stretch>
                  <a:fillRect/>
                </a:stretch>
              </p:blipFill>
              <p:spPr bwMode="auto">
                <a:xfrm>
                  <a:off x="346" y="284"/>
                  <a:ext cx="1604" cy="1205"/>
                </a:xfrm>
                <a:prstGeom prst="rect">
                  <a:avLst/>
                </a:prstGeom>
                <a:noFill/>
                <a:ln w="9525" cap="flat">
                  <a:noFill/>
                  <a:miter lim="800000"/>
                  <a:headEnd/>
                  <a:tailEnd/>
                </a:ln>
              </p:spPr>
            </p:pic>
          </p:grpSp>
          <p:sp>
            <p:nvSpPr>
              <p:cNvPr id="34825" name="Line 9"/>
              <p:cNvSpPr>
                <a:spLocks noChangeShapeType="1"/>
              </p:cNvSpPr>
              <p:nvPr/>
            </p:nvSpPr>
            <p:spPr bwMode="auto">
              <a:xfrm>
                <a:off x="1864" y="634"/>
                <a:ext cx="27" cy="412"/>
              </a:xfrm>
              <a:prstGeom prst="line">
                <a:avLst/>
              </a:prstGeom>
              <a:noFill/>
              <a:ln w="19050" cap="flat">
                <a:solidFill>
                  <a:srgbClr val="FFAF03"/>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26" name="Line 10"/>
              <p:cNvSpPr>
                <a:spLocks noChangeShapeType="1"/>
              </p:cNvSpPr>
              <p:nvPr/>
            </p:nvSpPr>
            <p:spPr bwMode="auto">
              <a:xfrm flipH="1">
                <a:off x="1640" y="1043"/>
                <a:ext cx="254" cy="299"/>
              </a:xfrm>
              <a:prstGeom prst="line">
                <a:avLst/>
              </a:prstGeom>
              <a:noFill/>
              <a:ln w="19050" cap="flat">
                <a:solidFill>
                  <a:srgbClr val="FFAF03"/>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27" name="Line 11"/>
              <p:cNvSpPr>
                <a:spLocks noChangeShapeType="1"/>
              </p:cNvSpPr>
              <p:nvPr/>
            </p:nvSpPr>
            <p:spPr bwMode="auto">
              <a:xfrm rot="10800000" flipH="1">
                <a:off x="1040" y="1333"/>
                <a:ext cx="607" cy="95"/>
              </a:xfrm>
              <a:prstGeom prst="line">
                <a:avLst/>
              </a:prstGeom>
              <a:noFill/>
              <a:ln w="19050" cap="flat">
                <a:solidFill>
                  <a:srgbClr val="FFAF03"/>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28" name="Line 12"/>
              <p:cNvSpPr>
                <a:spLocks noChangeShapeType="1"/>
              </p:cNvSpPr>
              <p:nvPr/>
            </p:nvSpPr>
            <p:spPr bwMode="auto">
              <a:xfrm>
                <a:off x="634" y="1331"/>
                <a:ext cx="407" cy="99"/>
              </a:xfrm>
              <a:prstGeom prst="line">
                <a:avLst/>
              </a:prstGeom>
              <a:noFill/>
              <a:ln w="19050" cap="flat">
                <a:solidFill>
                  <a:srgbClr val="FFAF03"/>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29" name="Line 13"/>
              <p:cNvSpPr>
                <a:spLocks noChangeShapeType="1"/>
              </p:cNvSpPr>
              <p:nvPr/>
            </p:nvSpPr>
            <p:spPr bwMode="auto">
              <a:xfrm>
                <a:off x="1507" y="364"/>
                <a:ext cx="352" cy="266"/>
              </a:xfrm>
              <a:prstGeom prst="line">
                <a:avLst/>
              </a:prstGeom>
              <a:noFill/>
              <a:ln w="19050" cap="flat">
                <a:solidFill>
                  <a:srgbClr val="FF66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30" name="Line 14"/>
              <p:cNvSpPr>
                <a:spLocks noChangeShapeType="1"/>
              </p:cNvSpPr>
              <p:nvPr/>
            </p:nvSpPr>
            <p:spPr bwMode="auto">
              <a:xfrm rot="10800000" flipH="1">
                <a:off x="714" y="375"/>
                <a:ext cx="800" cy="16"/>
              </a:xfrm>
              <a:prstGeom prst="line">
                <a:avLst/>
              </a:prstGeom>
              <a:noFill/>
              <a:ln w="19050" cap="flat">
                <a:solidFill>
                  <a:srgbClr val="FF66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31" name="Line 15"/>
              <p:cNvSpPr>
                <a:spLocks noChangeShapeType="1"/>
              </p:cNvSpPr>
              <p:nvPr/>
            </p:nvSpPr>
            <p:spPr bwMode="auto">
              <a:xfrm rot="10800000" flipH="1">
                <a:off x="404" y="389"/>
                <a:ext cx="304" cy="320"/>
              </a:xfrm>
              <a:prstGeom prst="line">
                <a:avLst/>
              </a:prstGeom>
              <a:noFill/>
              <a:ln w="19050" cap="flat">
                <a:solidFill>
                  <a:srgbClr val="FF66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32" name="Line 16"/>
              <p:cNvSpPr>
                <a:spLocks noChangeShapeType="1"/>
              </p:cNvSpPr>
              <p:nvPr/>
            </p:nvSpPr>
            <p:spPr bwMode="auto">
              <a:xfrm>
                <a:off x="404" y="705"/>
                <a:ext cx="25" cy="407"/>
              </a:xfrm>
              <a:prstGeom prst="line">
                <a:avLst/>
              </a:prstGeom>
              <a:noFill/>
              <a:ln w="19050" cap="flat">
                <a:solidFill>
                  <a:srgbClr val="FF66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33" name="Line 17"/>
              <p:cNvSpPr>
                <a:spLocks noChangeShapeType="1"/>
              </p:cNvSpPr>
              <p:nvPr/>
            </p:nvSpPr>
            <p:spPr bwMode="auto">
              <a:xfrm rot="10800000">
                <a:off x="429" y="1109"/>
                <a:ext cx="346" cy="289"/>
              </a:xfrm>
              <a:prstGeom prst="line">
                <a:avLst/>
              </a:prstGeom>
              <a:noFill/>
              <a:ln w="19050" cap="flat">
                <a:solidFill>
                  <a:srgbClr val="FF66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34" name="Line 18"/>
              <p:cNvSpPr>
                <a:spLocks noChangeShapeType="1"/>
              </p:cNvSpPr>
              <p:nvPr/>
            </p:nvSpPr>
            <p:spPr bwMode="auto">
              <a:xfrm flipH="1">
                <a:off x="756" y="1333"/>
                <a:ext cx="896" cy="61"/>
              </a:xfrm>
              <a:prstGeom prst="line">
                <a:avLst/>
              </a:prstGeom>
              <a:noFill/>
              <a:ln w="19050" cap="flat">
                <a:solidFill>
                  <a:srgbClr val="FF66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35" name="Line 19"/>
              <p:cNvSpPr>
                <a:spLocks noChangeShapeType="1"/>
              </p:cNvSpPr>
              <p:nvPr/>
            </p:nvSpPr>
            <p:spPr bwMode="auto">
              <a:xfrm flipH="1">
                <a:off x="1647" y="964"/>
                <a:ext cx="266" cy="371"/>
              </a:xfrm>
              <a:prstGeom prst="line">
                <a:avLst/>
              </a:prstGeom>
              <a:noFill/>
              <a:ln w="19050" cap="flat">
                <a:solidFill>
                  <a:srgbClr val="FF66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36" name="Line 20"/>
              <p:cNvSpPr>
                <a:spLocks noChangeShapeType="1"/>
              </p:cNvSpPr>
              <p:nvPr/>
            </p:nvSpPr>
            <p:spPr bwMode="auto">
              <a:xfrm>
                <a:off x="1780" y="525"/>
                <a:ext cx="133" cy="432"/>
              </a:xfrm>
              <a:prstGeom prst="line">
                <a:avLst/>
              </a:prstGeom>
              <a:noFill/>
              <a:ln w="19050" cap="flat">
                <a:solidFill>
                  <a:srgbClr val="FF00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37" name="Line 21"/>
              <p:cNvSpPr>
                <a:spLocks noChangeShapeType="1"/>
              </p:cNvSpPr>
              <p:nvPr/>
            </p:nvSpPr>
            <p:spPr bwMode="auto">
              <a:xfrm>
                <a:off x="1240" y="333"/>
                <a:ext cx="536" cy="189"/>
              </a:xfrm>
              <a:prstGeom prst="line">
                <a:avLst/>
              </a:prstGeom>
              <a:noFill/>
              <a:ln w="19050" cap="flat">
                <a:solidFill>
                  <a:srgbClr val="FF00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38" name="Line 22"/>
              <p:cNvSpPr>
                <a:spLocks noChangeShapeType="1"/>
              </p:cNvSpPr>
              <p:nvPr/>
            </p:nvSpPr>
            <p:spPr bwMode="auto">
              <a:xfrm rot="10800000" flipH="1">
                <a:off x="506" y="333"/>
                <a:ext cx="728" cy="212"/>
              </a:xfrm>
              <a:prstGeom prst="line">
                <a:avLst/>
              </a:prstGeom>
              <a:noFill/>
              <a:ln w="19050" cap="flat">
                <a:solidFill>
                  <a:srgbClr val="FF00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39" name="Line 23"/>
              <p:cNvSpPr>
                <a:spLocks noChangeShapeType="1"/>
              </p:cNvSpPr>
              <p:nvPr/>
            </p:nvSpPr>
            <p:spPr bwMode="auto">
              <a:xfrm rot="10800000" flipH="1">
                <a:off x="408" y="541"/>
                <a:ext cx="95" cy="525"/>
              </a:xfrm>
              <a:prstGeom prst="line">
                <a:avLst/>
              </a:prstGeom>
              <a:noFill/>
              <a:ln w="19050" cap="flat">
                <a:solidFill>
                  <a:srgbClr val="FF00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40" name="Line 24"/>
              <p:cNvSpPr>
                <a:spLocks noChangeShapeType="1"/>
              </p:cNvSpPr>
              <p:nvPr/>
            </p:nvSpPr>
            <p:spPr bwMode="auto">
              <a:xfrm rot="10800000">
                <a:off x="404" y="1058"/>
                <a:ext cx="480" cy="361"/>
              </a:xfrm>
              <a:prstGeom prst="line">
                <a:avLst/>
              </a:prstGeom>
              <a:noFill/>
              <a:ln w="19050" cap="flat">
                <a:solidFill>
                  <a:srgbClr val="FF00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41" name="Line 25"/>
              <p:cNvSpPr>
                <a:spLocks noChangeShapeType="1"/>
              </p:cNvSpPr>
              <p:nvPr/>
            </p:nvSpPr>
            <p:spPr bwMode="auto">
              <a:xfrm flipH="1">
                <a:off x="893" y="1109"/>
                <a:ext cx="981" cy="304"/>
              </a:xfrm>
              <a:prstGeom prst="line">
                <a:avLst/>
              </a:prstGeom>
              <a:noFill/>
              <a:ln w="19050" cap="flat">
                <a:solidFill>
                  <a:srgbClr val="FF0000"/>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4842" name="Line 26"/>
              <p:cNvSpPr>
                <a:spLocks noChangeShapeType="1"/>
              </p:cNvSpPr>
              <p:nvPr/>
            </p:nvSpPr>
            <p:spPr bwMode="auto">
              <a:xfrm rot="10800000" flipH="1">
                <a:off x="1874" y="757"/>
                <a:ext cx="312" cy="352"/>
              </a:xfrm>
              <a:prstGeom prst="line">
                <a:avLst/>
              </a:prstGeom>
              <a:noFill/>
              <a:ln w="19050" cap="flat">
                <a:solidFill>
                  <a:srgbClr val="FF0000"/>
                </a:solidFill>
                <a:prstDash val="solid"/>
                <a:round/>
                <a:headEnd type="none" w="med" len="med"/>
                <a:tailEnd type="arrow" w="med" len="med"/>
              </a:ln>
            </p:spPr>
            <p:txBody>
              <a:bodyPr lIns="0" tIns="0" rIns="0" bIns="0">
                <a:prstTxWarp prst="textNoShape">
                  <a:avLst/>
                </a:prstTxWarp>
              </a:bodyPr>
              <a:lstStyle/>
              <a:p>
                <a:endParaRPr lang="ja-JP" altLang="en-US"/>
              </a:p>
            </p:txBody>
          </p:sp>
        </p:grpSp>
        <p:sp>
          <p:nvSpPr>
            <p:cNvPr id="34843" name="Rectangle 27"/>
            <p:cNvSpPr>
              <a:spLocks/>
            </p:cNvSpPr>
            <p:nvPr/>
          </p:nvSpPr>
          <p:spPr bwMode="auto">
            <a:xfrm>
              <a:off x="232" y="1741"/>
              <a:ext cx="1780" cy="296"/>
            </a:xfrm>
            <a:prstGeom prst="rect">
              <a:avLst/>
            </a:prstGeom>
            <a:noFill/>
            <a:ln w="9525" cap="flat">
              <a:noFill/>
              <a:miter lim="800000"/>
              <a:headEnd type="none" w="med" len="med"/>
              <a:tailEnd type="none" w="med" len="med"/>
            </a:ln>
          </p:spPr>
          <p:txBody>
            <a:bodyPr wrap="none" lIns="0" tIns="0" rIns="57799" bIns="0">
              <a:prstTxWarp prst="textNoShape">
                <a:avLst/>
              </a:prstTxWarp>
              <a:spAutoFit/>
            </a:bodyPr>
            <a:lstStyle/>
            <a:p>
              <a:pPr marL="57150"/>
              <a:r>
                <a:rPr lang="en-US" altLang="ja-JP" sz="2400">
                  <a:solidFill>
                    <a:schemeClr val="tx1"/>
                  </a:solidFill>
                  <a:latin typeface="Century Gothic" charset="0"/>
                  <a:ea typeface="Century Gothic" charset="0"/>
                  <a:cs typeface="Century Gothic" charset="0"/>
                  <a:sym typeface="Century Gothic" charset="0"/>
                </a:rPr>
                <a:t>chaotic trajectory</a:t>
              </a:r>
            </a:p>
          </p:txBody>
        </p:sp>
      </p:grpSp>
      <p:grpSp>
        <p:nvGrpSpPr>
          <p:cNvPr id="34844" name="Group 28"/>
          <p:cNvGrpSpPr>
            <a:grpSpLocks/>
          </p:cNvGrpSpPr>
          <p:nvPr/>
        </p:nvGrpSpPr>
        <p:grpSpPr bwMode="auto">
          <a:xfrm>
            <a:off x="6878638" y="5676900"/>
            <a:ext cx="4584700" cy="3243263"/>
            <a:chOff x="0" y="0"/>
            <a:chExt cx="2888" cy="2043"/>
          </a:xfrm>
        </p:grpSpPr>
        <p:pic>
          <p:nvPicPr>
            <p:cNvPr id="34845" name="Picture 29"/>
            <p:cNvPicPr>
              <a:picLocks noChangeArrowheads="1"/>
            </p:cNvPicPr>
            <p:nvPr/>
          </p:nvPicPr>
          <p:blipFill>
            <a:blip r:embed="rId3"/>
            <a:srcRect/>
            <a:stretch>
              <a:fillRect/>
            </a:stretch>
          </p:blipFill>
          <p:spPr bwMode="auto">
            <a:xfrm>
              <a:off x="84" y="0"/>
              <a:ext cx="2259" cy="1748"/>
            </a:xfrm>
            <a:prstGeom prst="rect">
              <a:avLst/>
            </a:prstGeom>
            <a:noFill/>
            <a:ln w="9525" cap="flat">
              <a:noFill/>
              <a:miter lim="800000"/>
              <a:headEnd/>
              <a:tailEnd/>
            </a:ln>
          </p:spPr>
        </p:pic>
        <p:sp>
          <p:nvSpPr>
            <p:cNvPr id="34846" name="Rectangle 30"/>
            <p:cNvSpPr>
              <a:spLocks/>
            </p:cNvSpPr>
            <p:nvPr/>
          </p:nvSpPr>
          <p:spPr bwMode="auto">
            <a:xfrm>
              <a:off x="0" y="1747"/>
              <a:ext cx="2888" cy="296"/>
            </a:xfrm>
            <a:prstGeom prst="rect">
              <a:avLst/>
            </a:prstGeom>
            <a:noFill/>
            <a:ln w="9525" cap="flat">
              <a:noFill/>
              <a:miter lim="800000"/>
              <a:headEnd type="none" w="med" len="med"/>
              <a:tailEnd type="none" w="med" len="med"/>
            </a:ln>
          </p:spPr>
          <p:txBody>
            <a:bodyPr lIns="0" tIns="0" rIns="57799" bIns="0">
              <a:prstTxWarp prst="textNoShape">
                <a:avLst/>
              </a:prstTxWarp>
            </a:bodyPr>
            <a:lstStyle/>
            <a:p>
              <a:pPr marL="57150"/>
              <a:r>
                <a:rPr lang="en-US" altLang="ja-JP" sz="2400">
                  <a:solidFill>
                    <a:schemeClr val="tx1"/>
                  </a:solidFill>
                  <a:latin typeface="Century Gothic" charset="0"/>
                  <a:ea typeface="Century Gothic" charset="0"/>
                  <a:cs typeface="Century Gothic" charset="0"/>
                  <a:sym typeface="Century Gothic" charset="0"/>
                </a:rPr>
                <a:t>existence  of scar modes</a:t>
              </a:r>
            </a:p>
          </p:txBody>
        </p:sp>
      </p:grpSp>
    </p:spTree>
  </p:cSld>
  <p:clrMapOvr>
    <a:masterClrMapping/>
  </p:clrMapOvr>
  <mc:AlternateContent>
    <mc:Choice xmlns:mp="http://schemas.microsoft.com/office/mac/powerpoint/2008/main" Requires="mp">
      <mp:transition spd="med">
        <mp:flip dir="r"/>
      </mp:transition>
    </mc:Choice>
    <mc:Fallback>
      <p:transition spd="med">
        <p:newsflash/>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1" name="Rectangle 1"/>
          <p:cNvSpPr>
            <a:spLocks noChangeArrowheads="1"/>
          </p:cNvSpPr>
          <p:nvPr>
            <p:ph type="title"/>
          </p:nvPr>
        </p:nvSpPr>
        <p:spPr>
          <a:xfrm>
            <a:off x="869950" y="533400"/>
            <a:ext cx="11264900" cy="1346200"/>
          </a:xfrm>
          <a:ln/>
        </p:spPr>
        <p:txBody>
          <a:bodyPr rIns="166398"/>
          <a:lstStyle/>
          <a:p>
            <a:pPr marL="57150"/>
            <a:r>
              <a:rPr lang="en-US" altLang="ja-JP"/>
              <a:t>Atomic Whispering Gallery</a:t>
            </a:r>
          </a:p>
        </p:txBody>
      </p:sp>
      <p:sp>
        <p:nvSpPr>
          <p:cNvPr id="35842" name="Rectangle 2"/>
          <p:cNvSpPr>
            <a:spLocks noChangeArrowheads="1"/>
          </p:cNvSpPr>
          <p:nvPr>
            <p:ph type="body" idx="1"/>
          </p:nvPr>
        </p:nvSpPr>
        <p:spPr>
          <a:xfrm>
            <a:off x="1130300" y="1876425"/>
            <a:ext cx="10858500" cy="3048000"/>
          </a:xfrm>
          <a:ln/>
        </p:spPr>
        <p:txBody>
          <a:bodyPr rIns="166398"/>
          <a:lstStyle/>
          <a:p>
            <a:pPr>
              <a:lnSpc>
                <a:spcPct val="90000"/>
              </a:lnSpc>
              <a:spcBef>
                <a:spcPct val="0"/>
              </a:spcBef>
            </a:pPr>
            <a:r>
              <a:rPr lang="en-US" altLang="ja-JP" sz="2800"/>
              <a:t>Ultracold atoms, bounced off a circular potential well, will form a whispering-gallery-mode pattern in a steady state.</a:t>
            </a:r>
          </a:p>
          <a:p>
            <a:pPr>
              <a:lnSpc>
                <a:spcPct val="90000"/>
              </a:lnSpc>
              <a:spcBef>
                <a:spcPts val="2000"/>
              </a:spcBef>
            </a:pPr>
            <a:r>
              <a:rPr lang="en-US" altLang="ja-JP" sz="2800"/>
              <a:t>Ideal quantum billiard (particle vs. wave) for quantum chaos studies</a:t>
            </a:r>
          </a:p>
          <a:p>
            <a:pPr>
              <a:lnSpc>
                <a:spcPct val="90000"/>
              </a:lnSpc>
              <a:spcBef>
                <a:spcPts val="2000"/>
              </a:spcBef>
            </a:pPr>
            <a:r>
              <a:rPr lang="en-US" altLang="ja-JP" sz="2800"/>
              <a:t>Enables the study of open quantum system due to matter-wave tunneling</a:t>
            </a:r>
          </a:p>
        </p:txBody>
      </p:sp>
      <p:grpSp>
        <p:nvGrpSpPr>
          <p:cNvPr id="35843" name="Group 3"/>
          <p:cNvGrpSpPr>
            <a:grpSpLocks/>
          </p:cNvGrpSpPr>
          <p:nvPr/>
        </p:nvGrpSpPr>
        <p:grpSpPr bwMode="auto">
          <a:xfrm>
            <a:off x="5948363" y="5867400"/>
            <a:ext cx="5791200" cy="2400300"/>
            <a:chOff x="0" y="0"/>
            <a:chExt cx="3647" cy="1512"/>
          </a:xfrm>
        </p:grpSpPr>
        <p:pic>
          <p:nvPicPr>
            <p:cNvPr id="35844" name="Picture 4"/>
            <p:cNvPicPr>
              <a:picLocks noChangeAspect="1" noChangeArrowheads="1"/>
            </p:cNvPicPr>
            <p:nvPr/>
          </p:nvPicPr>
          <p:blipFill>
            <a:blip r:embed="rId2"/>
            <a:srcRect/>
            <a:stretch>
              <a:fillRect/>
            </a:stretch>
          </p:blipFill>
          <p:spPr bwMode="auto">
            <a:xfrm>
              <a:off x="0" y="0"/>
              <a:ext cx="1224" cy="1512"/>
            </a:xfrm>
            <a:prstGeom prst="rect">
              <a:avLst/>
            </a:prstGeom>
            <a:noFill/>
            <a:ln w="9525" cap="flat">
              <a:noFill/>
              <a:round/>
              <a:headEnd/>
              <a:tailEnd/>
            </a:ln>
          </p:spPr>
        </p:pic>
        <p:pic>
          <p:nvPicPr>
            <p:cNvPr id="35845" name="Picture 5"/>
            <p:cNvPicPr>
              <a:picLocks noChangeAspect="1" noChangeArrowheads="1"/>
            </p:cNvPicPr>
            <p:nvPr/>
          </p:nvPicPr>
          <p:blipFill>
            <a:blip r:embed="rId3"/>
            <a:srcRect/>
            <a:stretch>
              <a:fillRect/>
            </a:stretch>
          </p:blipFill>
          <p:spPr bwMode="auto">
            <a:xfrm>
              <a:off x="1212" y="0"/>
              <a:ext cx="2435" cy="1512"/>
            </a:xfrm>
            <a:prstGeom prst="rect">
              <a:avLst/>
            </a:prstGeom>
            <a:noFill/>
            <a:ln w="9525" cap="flat">
              <a:noFill/>
              <a:round/>
              <a:headEnd/>
              <a:tailEnd/>
            </a:ln>
          </p:spPr>
        </p:pic>
      </p:grpSp>
      <p:pic>
        <p:nvPicPr>
          <p:cNvPr id="35846" name="Picture 6"/>
          <p:cNvPicPr>
            <a:picLocks noChangeAspect="1" noChangeArrowheads="1"/>
          </p:cNvPicPr>
          <p:nvPr/>
        </p:nvPicPr>
        <p:blipFill>
          <a:blip r:embed="rId4"/>
          <a:srcRect/>
          <a:stretch>
            <a:fillRect/>
          </a:stretch>
        </p:blipFill>
        <p:spPr bwMode="auto">
          <a:xfrm>
            <a:off x="1381125" y="5254625"/>
            <a:ext cx="3800475" cy="3606800"/>
          </a:xfrm>
          <a:prstGeom prst="rect">
            <a:avLst/>
          </a:prstGeom>
          <a:noFill/>
          <a:ln w="9525" cap="flat">
            <a:noFill/>
            <a:miter lim="800000"/>
            <a:headEnd/>
            <a:tailEnd/>
          </a:ln>
        </p:spPr>
      </p:pic>
      <p:pic>
        <p:nvPicPr>
          <p:cNvPr id="35847" name="Picture 7"/>
          <p:cNvPicPr>
            <a:picLocks noChangeArrowheads="1"/>
          </p:cNvPicPr>
          <p:nvPr/>
        </p:nvPicPr>
        <p:blipFill>
          <a:blip r:embed="rId5"/>
          <a:srcRect/>
          <a:stretch>
            <a:fillRect/>
          </a:stretch>
        </p:blipFill>
        <p:spPr bwMode="auto">
          <a:xfrm>
            <a:off x="4621213" y="4465638"/>
            <a:ext cx="1587" cy="1587"/>
          </a:xfrm>
          <a:prstGeom prst="rect">
            <a:avLst/>
          </a:prstGeom>
          <a:noFill/>
          <a:ln w="9525" cap="flat">
            <a:noFill/>
            <a:miter lim="800000"/>
            <a:headEnd/>
            <a:tailEnd/>
          </a:ln>
        </p:spPr>
      </p:pic>
      <p:sp>
        <p:nvSpPr>
          <p:cNvPr id="35848" name="Freeform 8"/>
          <p:cNvSpPr>
            <a:spLocks/>
          </p:cNvSpPr>
          <p:nvPr/>
        </p:nvSpPr>
        <p:spPr bwMode="auto">
          <a:xfrm>
            <a:off x="10248900" y="6673850"/>
            <a:ext cx="596900" cy="514350"/>
          </a:xfrm>
          <a:custGeom>
            <a:avLst/>
            <a:gdLst/>
            <a:ahLst/>
            <a:cxnLst>
              <a:cxn ang="0">
                <a:pos x="11719" y="0"/>
              </a:cxn>
              <a:cxn ang="0">
                <a:pos x="3906" y="2933"/>
              </a:cxn>
              <a:cxn ang="0">
                <a:pos x="3447" y="9867"/>
              </a:cxn>
              <a:cxn ang="0">
                <a:pos x="0" y="11733"/>
              </a:cxn>
              <a:cxn ang="0">
                <a:pos x="0" y="16800"/>
              </a:cxn>
              <a:cxn ang="0">
                <a:pos x="6204" y="21600"/>
              </a:cxn>
              <a:cxn ang="0">
                <a:pos x="19991" y="18133"/>
              </a:cxn>
              <a:cxn ang="0">
                <a:pos x="19991" y="13600"/>
              </a:cxn>
              <a:cxn ang="0">
                <a:pos x="21140" y="13067"/>
              </a:cxn>
              <a:cxn ang="0">
                <a:pos x="21600" y="6400"/>
              </a:cxn>
              <a:cxn ang="0">
                <a:pos x="11719" y="0"/>
              </a:cxn>
              <a:cxn ang="0">
                <a:pos x="11719" y="0"/>
              </a:cxn>
            </a:cxnLst>
            <a:rect l="0" t="0" r="r" b="b"/>
            <a:pathLst>
              <a:path w="21600" h="21600">
                <a:moveTo>
                  <a:pt x="11719" y="0"/>
                </a:moveTo>
                <a:lnTo>
                  <a:pt x="3906" y="2933"/>
                </a:lnTo>
                <a:lnTo>
                  <a:pt x="3447" y="9867"/>
                </a:lnTo>
                <a:lnTo>
                  <a:pt x="0" y="11733"/>
                </a:lnTo>
                <a:lnTo>
                  <a:pt x="0" y="16800"/>
                </a:lnTo>
                <a:lnTo>
                  <a:pt x="6204" y="21600"/>
                </a:lnTo>
                <a:lnTo>
                  <a:pt x="19991" y="18133"/>
                </a:lnTo>
                <a:lnTo>
                  <a:pt x="19991" y="13600"/>
                </a:lnTo>
                <a:lnTo>
                  <a:pt x="21140" y="13067"/>
                </a:lnTo>
                <a:lnTo>
                  <a:pt x="21600" y="6400"/>
                </a:lnTo>
                <a:lnTo>
                  <a:pt x="11719" y="0"/>
                </a:lnTo>
                <a:close/>
                <a:moveTo>
                  <a:pt x="11719" y="0"/>
                </a:moveTo>
              </a:path>
            </a:pathLst>
          </a:custGeom>
          <a:solidFill>
            <a:srgbClr val="FCBD00">
              <a:alpha val="50000"/>
            </a:srgbClr>
          </a:solidFill>
          <a:ln w="9525" cap="flat">
            <a:solidFill>
              <a:srgbClr val="FD9A00">
                <a:alpha val="50000"/>
              </a:srgbClr>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5849" name="Freeform 9"/>
          <p:cNvSpPr>
            <a:spLocks/>
          </p:cNvSpPr>
          <p:nvPr/>
        </p:nvSpPr>
        <p:spPr bwMode="auto">
          <a:xfrm>
            <a:off x="9982200" y="7518400"/>
            <a:ext cx="1358900" cy="685800"/>
          </a:xfrm>
          <a:custGeom>
            <a:avLst/>
            <a:gdLst/>
            <a:ahLst/>
            <a:cxnLst>
              <a:cxn ang="0">
                <a:pos x="11406" y="0"/>
              </a:cxn>
              <a:cxn ang="0">
                <a:pos x="21600" y="8100"/>
              </a:cxn>
              <a:cxn ang="0">
                <a:pos x="9791" y="21600"/>
              </a:cxn>
              <a:cxn ang="0">
                <a:pos x="0" y="9346"/>
              </a:cxn>
              <a:cxn ang="0">
                <a:pos x="11406" y="0"/>
              </a:cxn>
              <a:cxn ang="0">
                <a:pos x="11406" y="0"/>
              </a:cxn>
            </a:cxnLst>
            <a:rect l="0" t="0" r="r" b="b"/>
            <a:pathLst>
              <a:path w="21600" h="21600">
                <a:moveTo>
                  <a:pt x="11406" y="0"/>
                </a:moveTo>
                <a:lnTo>
                  <a:pt x="21600" y="8100"/>
                </a:lnTo>
                <a:lnTo>
                  <a:pt x="9791" y="21600"/>
                </a:lnTo>
                <a:lnTo>
                  <a:pt x="0" y="9346"/>
                </a:lnTo>
                <a:lnTo>
                  <a:pt x="11406" y="0"/>
                </a:lnTo>
                <a:close/>
                <a:moveTo>
                  <a:pt x="11406" y="0"/>
                </a:moveTo>
              </a:path>
            </a:pathLst>
          </a:custGeom>
          <a:solidFill>
            <a:srgbClr val="C0EDFE">
              <a:alpha val="50000"/>
            </a:srgbClr>
          </a:solidFill>
          <a:ln w="9525" cap="flat">
            <a:solidFill>
              <a:srgbClr val="000000">
                <a:alpha val="0"/>
              </a:srgbClr>
            </a:solidFill>
            <a:prstDash val="solid"/>
            <a:round/>
            <a:headEnd type="none" w="med" len="med"/>
            <a:tailEnd type="none" w="med" len="med"/>
          </a:ln>
        </p:spPr>
        <p:txBody>
          <a:bodyPr lIns="0" tIns="0" rIns="0" bIns="0">
            <a:prstTxWarp prst="textNoShape">
              <a:avLst/>
            </a:prstTxWarp>
          </a:bodyPr>
          <a:lstStyle/>
          <a:p>
            <a:endParaRPr lang="ja-JP" altLang="en-US"/>
          </a:p>
        </p:txBody>
      </p:sp>
      <p:sp>
        <p:nvSpPr>
          <p:cNvPr id="35850" name="Freeform 10"/>
          <p:cNvSpPr>
            <a:spLocks/>
          </p:cNvSpPr>
          <p:nvPr/>
        </p:nvSpPr>
        <p:spPr bwMode="auto">
          <a:xfrm>
            <a:off x="9023350" y="6146800"/>
            <a:ext cx="1676400" cy="1689100"/>
          </a:xfrm>
          <a:custGeom>
            <a:avLst/>
            <a:gdLst/>
            <a:ahLst/>
            <a:cxnLst>
              <a:cxn ang="0">
                <a:pos x="0" y="8689"/>
              </a:cxn>
              <a:cxn ang="0">
                <a:pos x="2782" y="7389"/>
              </a:cxn>
              <a:cxn ang="0">
                <a:pos x="4582" y="7308"/>
              </a:cxn>
              <a:cxn ang="0">
                <a:pos x="4664" y="6902"/>
              </a:cxn>
              <a:cxn ang="0">
                <a:pos x="7364" y="5765"/>
              </a:cxn>
              <a:cxn ang="0">
                <a:pos x="10473" y="4304"/>
              </a:cxn>
              <a:cxn ang="0">
                <a:pos x="13827" y="2761"/>
              </a:cxn>
              <a:cxn ang="0">
                <a:pos x="15055" y="2842"/>
              </a:cxn>
              <a:cxn ang="0">
                <a:pos x="15464" y="2274"/>
              </a:cxn>
              <a:cxn ang="0">
                <a:pos x="20536" y="0"/>
              </a:cxn>
              <a:cxn ang="0">
                <a:pos x="20700" y="8202"/>
              </a:cxn>
              <a:cxn ang="0">
                <a:pos x="20700" y="12911"/>
              </a:cxn>
              <a:cxn ang="0">
                <a:pos x="21600" y="21600"/>
              </a:cxn>
            </a:cxnLst>
            <a:rect l="0" t="0" r="r" b="b"/>
            <a:pathLst>
              <a:path w="21600" h="21600">
                <a:moveTo>
                  <a:pt x="0" y="8689"/>
                </a:moveTo>
                <a:lnTo>
                  <a:pt x="2782" y="7389"/>
                </a:lnTo>
                <a:lnTo>
                  <a:pt x="4582" y="7308"/>
                </a:lnTo>
                <a:lnTo>
                  <a:pt x="4664" y="6902"/>
                </a:lnTo>
                <a:lnTo>
                  <a:pt x="7364" y="5765"/>
                </a:lnTo>
                <a:lnTo>
                  <a:pt x="10473" y="4304"/>
                </a:lnTo>
                <a:lnTo>
                  <a:pt x="13827" y="2761"/>
                </a:lnTo>
                <a:lnTo>
                  <a:pt x="15055" y="2842"/>
                </a:lnTo>
                <a:lnTo>
                  <a:pt x="15464" y="2274"/>
                </a:lnTo>
                <a:lnTo>
                  <a:pt x="20536" y="0"/>
                </a:lnTo>
                <a:lnTo>
                  <a:pt x="20700" y="8202"/>
                </a:lnTo>
                <a:lnTo>
                  <a:pt x="20700" y="12911"/>
                </a:lnTo>
                <a:lnTo>
                  <a:pt x="21600" y="21600"/>
                </a:lnTo>
              </a:path>
            </a:pathLst>
          </a:custGeom>
          <a:noFill/>
          <a:ln w="12700" cap="flat">
            <a:solidFill>
              <a:srgbClr val="FF2712"/>
            </a:solidFill>
            <a:prstDash val="solid"/>
            <a:round/>
            <a:headEnd type="none" w="med" len="med"/>
            <a:tailEnd type="none" w="med" len="med"/>
          </a:ln>
        </p:spPr>
        <p:txBody>
          <a:bodyPr lIns="0" tIns="0" rIns="0" bIns="0">
            <a:prstTxWarp prst="textNoShape">
              <a:avLst/>
            </a:prstTxWarp>
          </a:bodyPr>
          <a:lstStyle/>
          <a:p>
            <a:endParaRPr lang="ja-JP" altLang="en-US"/>
          </a:p>
        </p:txBody>
      </p:sp>
    </p:spTree>
  </p:cSld>
  <p:clrMapOvr>
    <a:masterClrMapping/>
  </p:clrMapOvr>
  <p:transition spd="slow">
    <p:dissolv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865" name="Rectangle 1"/>
          <p:cNvSpPr>
            <a:spLocks noChangeArrowheads="1"/>
          </p:cNvSpPr>
          <p:nvPr>
            <p:ph type="title"/>
          </p:nvPr>
        </p:nvSpPr>
        <p:spPr>
          <a:xfrm>
            <a:off x="869950" y="569913"/>
            <a:ext cx="11264900" cy="1155700"/>
          </a:xfrm>
          <a:ln/>
        </p:spPr>
        <p:txBody>
          <a:bodyPr rIns="166398"/>
          <a:lstStyle/>
          <a:p>
            <a:pPr marL="57150"/>
            <a:r>
              <a:rPr lang="en-US" altLang="ja-JP" sz="5400"/>
              <a:t>Quantum Information with a BEC</a:t>
            </a:r>
          </a:p>
        </p:txBody>
      </p:sp>
      <p:sp>
        <p:nvSpPr>
          <p:cNvPr id="36866" name="Rectangle 2"/>
          <p:cNvSpPr>
            <a:spLocks noChangeArrowheads="1"/>
          </p:cNvSpPr>
          <p:nvPr>
            <p:ph type="body" idx="1"/>
          </p:nvPr>
        </p:nvSpPr>
        <p:spPr>
          <a:xfrm>
            <a:off x="1143000" y="1851025"/>
            <a:ext cx="10706100" cy="3136900"/>
          </a:xfrm>
          <a:ln/>
        </p:spPr>
        <p:txBody>
          <a:bodyPr rIns="166398"/>
          <a:lstStyle/>
          <a:p>
            <a:pPr>
              <a:spcBef>
                <a:spcPct val="0"/>
              </a:spcBef>
            </a:pPr>
            <a:r>
              <a:rPr lang="en-US" altLang="ja-JP" sz="2800"/>
              <a:t>To place a BEC in a high-Q microcavity and create BEC-cavity entanglement</a:t>
            </a:r>
          </a:p>
          <a:p>
            <a:pPr>
              <a:spcBef>
                <a:spcPts val="2400"/>
              </a:spcBef>
            </a:pPr>
            <a:r>
              <a:rPr lang="en-US" altLang="ja-JP" sz="2800"/>
              <a:t>Advanced flying qubit generation</a:t>
            </a:r>
          </a:p>
          <a:p>
            <a:pPr>
              <a:spcBef>
                <a:spcPts val="2400"/>
              </a:spcBef>
            </a:pPr>
            <a:r>
              <a:rPr lang="en-US" altLang="ja-JP" sz="2800"/>
              <a:t>To use a BEC as a Bragg mirror and create BEC-photon entanglement and a Schrödinger cat state</a:t>
            </a:r>
          </a:p>
        </p:txBody>
      </p:sp>
      <p:pic>
        <p:nvPicPr>
          <p:cNvPr id="36867" name="Picture 3"/>
          <p:cNvPicPr>
            <a:picLocks noChangeArrowheads="1"/>
          </p:cNvPicPr>
          <p:nvPr/>
        </p:nvPicPr>
        <p:blipFill>
          <a:blip r:embed="rId2"/>
          <a:srcRect/>
          <a:stretch>
            <a:fillRect/>
          </a:stretch>
        </p:blipFill>
        <p:spPr bwMode="auto">
          <a:xfrm>
            <a:off x="1179513" y="5491163"/>
            <a:ext cx="5207000" cy="3136900"/>
          </a:xfrm>
          <a:prstGeom prst="rect">
            <a:avLst/>
          </a:prstGeom>
          <a:noFill/>
          <a:ln w="9525" cap="flat">
            <a:noFill/>
            <a:miter lim="800000"/>
            <a:headEnd/>
            <a:tailEnd/>
          </a:ln>
        </p:spPr>
      </p:pic>
      <p:pic>
        <p:nvPicPr>
          <p:cNvPr id="36868" name="Picture 4"/>
          <p:cNvPicPr>
            <a:picLocks noChangeAspect="1" noChangeArrowheads="1"/>
          </p:cNvPicPr>
          <p:nvPr/>
        </p:nvPicPr>
        <p:blipFill>
          <a:blip r:embed="rId3"/>
          <a:srcRect/>
          <a:stretch>
            <a:fillRect/>
          </a:stretch>
        </p:blipFill>
        <p:spPr bwMode="auto">
          <a:xfrm>
            <a:off x="7581900" y="5133975"/>
            <a:ext cx="4025900" cy="3849688"/>
          </a:xfrm>
          <a:prstGeom prst="rect">
            <a:avLst/>
          </a:prstGeom>
          <a:noFill/>
          <a:ln w="9525" cap="flat">
            <a:noFill/>
            <a:miter lim="800000"/>
            <a:headEnd/>
            <a:tailEnd/>
          </a:ln>
        </p:spPr>
      </p:pic>
    </p:spTree>
  </p:cSld>
  <p:clrMapOvr>
    <a:masterClrMapping/>
  </p:clrMapOvr>
  <mc:AlternateContent>
    <mc:Choice xmlns:mp="http://schemas.microsoft.com/office/mac/powerpoint/2008/main" Requires="mp">
      <mp:transition spd="med">
        <mp:flip/>
      </mp:transition>
    </mc:Choice>
    <mc:Fallback>
      <p:transition spd="med">
        <p:newsflash/>
      </p:transition>
    </mc:Fallback>
  </mc:AlternateContent>
</p:sld>
</file>

<file path=ppt/theme/theme1.xml><?xml version="1.0" encoding="utf-8"?>
<a:theme xmlns:a="http://schemas.openxmlformats.org/drawingml/2006/main" name="1_Twilight">
  <a:themeElements>
    <a:clrScheme name="">
      <a:dk1>
        <a:srgbClr val="000000"/>
      </a:dk1>
      <a:lt1>
        <a:srgbClr val="FFFFFF"/>
      </a:lt1>
      <a:dk2>
        <a:srgbClr val="000000"/>
      </a:dk2>
      <a:lt2>
        <a:srgbClr val="000000"/>
      </a:lt2>
      <a:accent1>
        <a:srgbClr val="FFAF03"/>
      </a:accent1>
      <a:accent2>
        <a:srgbClr val="333399"/>
      </a:accent2>
      <a:accent3>
        <a:srgbClr val="AAAAAA"/>
      </a:accent3>
      <a:accent4>
        <a:srgbClr val="DADADA"/>
      </a:accent4>
      <a:accent5>
        <a:srgbClr val="FFD4AA"/>
      </a:accent5>
      <a:accent6>
        <a:srgbClr val="2D2D8A"/>
      </a:accent6>
      <a:hlink>
        <a:srgbClr val="009999"/>
      </a:hlink>
      <a:folHlink>
        <a:srgbClr val="99CC00"/>
      </a:folHlink>
    </a:clrScheme>
    <a:fontScheme name="1_Twilight">
      <a:majorFont>
        <a:latin typeface="Century Gothic"/>
        <a:ea typeface="ヒラギノ明朝 ProN W3"/>
        <a:cs typeface="ヒラギノ明朝 ProN W3"/>
      </a:majorFont>
      <a:minorFont>
        <a:latin typeface="Century Gothic"/>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spDef>
    <a:ln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lnDef>
  </a:objectDefaults>
  <a:extraClrSchemeLst>
    <a:extraClrScheme>
      <a:clrScheme name="1_Twiligh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wilight">
  <a:themeElements>
    <a:clrScheme name="">
      <a:dk1>
        <a:srgbClr val="000000"/>
      </a:dk1>
      <a:lt1>
        <a:srgbClr val="FFFFFF"/>
      </a:lt1>
      <a:dk2>
        <a:srgbClr val="000000"/>
      </a:dk2>
      <a:lt2>
        <a:srgbClr val="000000"/>
      </a:lt2>
      <a:accent1>
        <a:srgbClr val="FFAF03"/>
      </a:accent1>
      <a:accent2>
        <a:srgbClr val="333399"/>
      </a:accent2>
      <a:accent3>
        <a:srgbClr val="AAAAAA"/>
      </a:accent3>
      <a:accent4>
        <a:srgbClr val="DADADA"/>
      </a:accent4>
      <a:accent5>
        <a:srgbClr val="FFD4AA"/>
      </a:accent5>
      <a:accent6>
        <a:srgbClr val="2D2D8A"/>
      </a:accent6>
      <a:hlink>
        <a:srgbClr val="009999"/>
      </a:hlink>
      <a:folHlink>
        <a:srgbClr val="99CC00"/>
      </a:folHlink>
    </a:clrScheme>
    <a:fontScheme name="Twilight">
      <a:majorFont>
        <a:latin typeface="Century Gothic"/>
        <a:ea typeface="ヒラギノ明朝 ProN W3"/>
        <a:cs typeface="ヒラギノ明朝 ProN W3"/>
      </a:majorFont>
      <a:minorFont>
        <a:latin typeface="Century Gothic"/>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spDef>
    <a:ln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lnDef>
  </a:objectDefaults>
  <a:extraClrSchemeLst>
    <a:extraClrScheme>
      <a:clrScheme name="Twiligh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wilight">
  <a:themeElements>
    <a:clrScheme name="">
      <a:dk1>
        <a:srgbClr val="808080"/>
      </a:dk1>
      <a:lt1>
        <a:srgbClr val="FFFFFF"/>
      </a:lt1>
      <a:dk2>
        <a:srgbClr val="000000"/>
      </a:dk2>
      <a:lt2>
        <a:srgbClr val="000000"/>
      </a:lt2>
      <a:accent1>
        <a:srgbClr val="FFAF03"/>
      </a:accent1>
      <a:accent2>
        <a:srgbClr val="333399"/>
      </a:accent2>
      <a:accent3>
        <a:srgbClr val="AAAAAA"/>
      </a:accent3>
      <a:accent4>
        <a:srgbClr val="DADADA"/>
      </a:accent4>
      <a:accent5>
        <a:srgbClr val="FFD4AA"/>
      </a:accent5>
      <a:accent6>
        <a:srgbClr val="2D2D8A"/>
      </a:accent6>
      <a:hlink>
        <a:srgbClr val="009999"/>
      </a:hlink>
      <a:folHlink>
        <a:srgbClr val="99CC00"/>
      </a:folHlink>
    </a:clrScheme>
    <a:fontScheme name="Twilight">
      <a:majorFont>
        <a:latin typeface="Century Gothic"/>
        <a:ea typeface="ヒラギノ明朝 ProN W3"/>
        <a:cs typeface="ヒラギノ明朝 ProN W3"/>
      </a:majorFont>
      <a:minorFont>
        <a:latin typeface="Century Gothic"/>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spDef>
    <a:ln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lnDef>
  </a:objectDefaults>
  <a:extraClrSchemeLst>
    <a:extraClrScheme>
      <a:clrScheme name="Twiligh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Twilight">
  <a:themeElements>
    <a:clrScheme name="">
      <a:dk1>
        <a:srgbClr val="808080"/>
      </a:dk1>
      <a:lt1>
        <a:srgbClr val="FFFFFF"/>
      </a:lt1>
      <a:dk2>
        <a:srgbClr val="000000"/>
      </a:dk2>
      <a:lt2>
        <a:srgbClr val="000000"/>
      </a:lt2>
      <a:accent1>
        <a:srgbClr val="FFAF03"/>
      </a:accent1>
      <a:accent2>
        <a:srgbClr val="333399"/>
      </a:accent2>
      <a:accent3>
        <a:srgbClr val="AAAAAA"/>
      </a:accent3>
      <a:accent4>
        <a:srgbClr val="DADADA"/>
      </a:accent4>
      <a:accent5>
        <a:srgbClr val="FFD4AA"/>
      </a:accent5>
      <a:accent6>
        <a:srgbClr val="2D2D8A"/>
      </a:accent6>
      <a:hlink>
        <a:srgbClr val="009999"/>
      </a:hlink>
      <a:folHlink>
        <a:srgbClr val="99CC00"/>
      </a:folHlink>
    </a:clrScheme>
    <a:fontScheme name="3_Twilight">
      <a:majorFont>
        <a:latin typeface="Century Gothic"/>
        <a:ea typeface="ヒラギノ明朝 ProN W3"/>
        <a:cs typeface="ヒラギノ明朝 ProN W3"/>
      </a:majorFont>
      <a:minorFont>
        <a:latin typeface="Century Gothic"/>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spDef>
    <a:ln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lnDef>
  </a:objectDefaults>
  <a:extraClrSchemeLst>
    <a:extraClrScheme>
      <a:clrScheme name="3_Twiligh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Twilight">
  <a:themeElements>
    <a:clrScheme name="">
      <a:dk1>
        <a:srgbClr val="808080"/>
      </a:dk1>
      <a:lt1>
        <a:srgbClr val="FFFFFF"/>
      </a:lt1>
      <a:dk2>
        <a:srgbClr val="000000"/>
      </a:dk2>
      <a:lt2>
        <a:srgbClr val="000000"/>
      </a:lt2>
      <a:accent1>
        <a:srgbClr val="FFAF03"/>
      </a:accent1>
      <a:accent2>
        <a:srgbClr val="333399"/>
      </a:accent2>
      <a:accent3>
        <a:srgbClr val="AAAAAA"/>
      </a:accent3>
      <a:accent4>
        <a:srgbClr val="DADADA"/>
      </a:accent4>
      <a:accent5>
        <a:srgbClr val="FFD4AA"/>
      </a:accent5>
      <a:accent6>
        <a:srgbClr val="2D2D8A"/>
      </a:accent6>
      <a:hlink>
        <a:srgbClr val="009999"/>
      </a:hlink>
      <a:folHlink>
        <a:srgbClr val="99CC00"/>
      </a:folHlink>
    </a:clrScheme>
    <a:fontScheme name="4_Twilight">
      <a:majorFont>
        <a:latin typeface="Century Gothic"/>
        <a:ea typeface="ヒラギノ明朝 ProN W3"/>
        <a:cs typeface="ヒラギノ明朝 ProN W3"/>
      </a:majorFont>
      <a:minorFont>
        <a:latin typeface="Century Gothic"/>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spDef>
    <a:ln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lnDef>
  </a:objectDefaults>
  <a:extraClrSchemeLst>
    <a:extraClrScheme>
      <a:clrScheme name="4_Twiligh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Twilight">
  <a:themeElements>
    <a:clrScheme name="">
      <a:dk1>
        <a:srgbClr val="808080"/>
      </a:dk1>
      <a:lt1>
        <a:srgbClr val="FFFFFF"/>
      </a:lt1>
      <a:dk2>
        <a:srgbClr val="000000"/>
      </a:dk2>
      <a:lt2>
        <a:srgbClr val="000000"/>
      </a:lt2>
      <a:accent1>
        <a:srgbClr val="FFAF03"/>
      </a:accent1>
      <a:accent2>
        <a:srgbClr val="333399"/>
      </a:accent2>
      <a:accent3>
        <a:srgbClr val="AAAAAA"/>
      </a:accent3>
      <a:accent4>
        <a:srgbClr val="DADADA"/>
      </a:accent4>
      <a:accent5>
        <a:srgbClr val="FFD4AA"/>
      </a:accent5>
      <a:accent6>
        <a:srgbClr val="2D2D8A"/>
      </a:accent6>
      <a:hlink>
        <a:srgbClr val="009999"/>
      </a:hlink>
      <a:folHlink>
        <a:srgbClr val="99CC00"/>
      </a:folHlink>
    </a:clrScheme>
    <a:fontScheme name="2_Twilight">
      <a:majorFont>
        <a:latin typeface="Century Gothic"/>
        <a:ea typeface="ヒラギノ明朝 ProN W3"/>
        <a:cs typeface="ヒラギノ明朝 ProN W3"/>
      </a:majorFont>
      <a:minorFont>
        <a:latin typeface="Century Gothic"/>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spDef>
    <a:lnDef>
      <a:spPr bwMode="auto">
        <a:xfrm>
          <a:off x="0" y="0"/>
          <a:ext cx="1" cy="1"/>
        </a:xfrm>
        <a:custGeom>
          <a:avLst/>
          <a:gdLst/>
          <a:ahLst/>
          <a:cxnLst/>
          <a:rect l="0" t="0" r="0" b="0"/>
          <a:pathLst/>
        </a:custGeom>
        <a:solidFill>
          <a:srgbClr val="FFAF03"/>
        </a:solidFill>
        <a:ln w="9525" cap="flat" cmpd="sng" algn="ctr">
          <a:solidFill>
            <a:srgbClr val="FF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FFFFFF"/>
            </a:solidFill>
            <a:effectLst/>
            <a:latin typeface="Arial" charset="0"/>
            <a:ea typeface="ヒラギノ角ゴ ProN W3" charset="-128"/>
            <a:cs typeface="ヒラギノ角ゴ ProN W3" charset="-128"/>
            <a:sym typeface="Arial" charset="0"/>
          </a:defRPr>
        </a:defPPr>
      </a:lstStyle>
    </a:lnDef>
  </a:objectDefaults>
  <a:extraClrSchemeLst>
    <a:extraClrScheme>
      <a:clrScheme name="2_Twiligh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Pages>0</Pages>
  <Words>1990</Words>
  <Characters>0</Characters>
  <Application>Microsoft Macintosh PowerPoint</Application>
  <PresentationFormat>Custom</PresentationFormat>
  <Lines>0</Lines>
  <Paragraphs>133</Paragraphs>
  <Slides>22</Slides>
  <Notes>7</Notes>
  <HiddenSlides>0</HiddenSlides>
  <MMClips>0</MMClips>
  <ScaleCrop>false</ScaleCrop>
  <HeadingPairs>
    <vt:vector size="6" baseType="variant">
      <vt:variant>
        <vt:lpstr>Fonts Used</vt:lpstr>
      </vt:variant>
      <vt:variant>
        <vt:i4>14</vt:i4>
      </vt:variant>
      <vt:variant>
        <vt:lpstr>Design Template</vt:lpstr>
      </vt:variant>
      <vt:variant>
        <vt:i4>6</vt:i4>
      </vt:variant>
      <vt:variant>
        <vt:lpstr>Slide Titles</vt:lpstr>
      </vt:variant>
      <vt:variant>
        <vt:i4>22</vt:i4>
      </vt:variant>
    </vt:vector>
  </HeadingPairs>
  <TitlesOfParts>
    <vt:vector size="42" baseType="lpstr">
      <vt:lpstr>Arial</vt:lpstr>
      <vt:lpstr>ヒラギノ角ゴ ProN W3</vt:lpstr>
      <vt:lpstr>Century Gothic</vt:lpstr>
      <vt:lpstr>ヒラギノ明朝 ProN W3</vt:lpstr>
      <vt:lpstr>Wingdings 2</vt:lpstr>
      <vt:lpstr>한컴돋움</vt:lpstr>
      <vt:lpstr>ヒラギノ角ゴ ProN W6</vt:lpstr>
      <vt:lpstr>Lucida Grande</vt:lpstr>
      <vt:lpstr>Symbol</vt:lpstr>
      <vt:lpstr>Wingdings</vt:lpstr>
      <vt:lpstr>Zapf Dingbats</vt:lpstr>
      <vt:lpstr>Helvetica</vt:lpstr>
      <vt:lpstr>Times New Roman</vt:lpstr>
      <vt:lpstr>AppleGothic</vt:lpstr>
      <vt:lpstr>1_Twilight</vt:lpstr>
      <vt:lpstr>Twilight</vt:lpstr>
      <vt:lpstr>Twilight</vt:lpstr>
      <vt:lpstr>3_Twilight</vt:lpstr>
      <vt:lpstr>4_Twilight</vt:lpstr>
      <vt:lpstr>2_Twilight</vt:lpstr>
      <vt:lpstr>SNU BEC 사업단  (Type 2)</vt:lpstr>
      <vt:lpstr>Members</vt:lpstr>
      <vt:lpstr>Project Goals</vt:lpstr>
      <vt:lpstr>Slide 4</vt:lpstr>
      <vt:lpstr>Newly Built Quantum Gas Lab</vt:lpstr>
      <vt:lpstr>Slide 6</vt:lpstr>
      <vt:lpstr>Slide 7</vt:lpstr>
      <vt:lpstr>Slide 8</vt:lpstr>
      <vt:lpstr>The first BEC in Korea</vt:lpstr>
      <vt:lpstr>Study of open quantum systems</vt:lpstr>
      <vt:lpstr>Slide 11</vt:lpstr>
      <vt:lpstr>Quantum Chaos in Microcavities</vt:lpstr>
      <vt:lpstr>Observation of bosonic commutation relation</vt:lpstr>
      <vt:lpstr>Generation of flying qubits on demand</vt:lpstr>
      <vt:lpstr>Education</vt:lpstr>
      <vt:lpstr>Talks by Oversea Scholar</vt:lpstr>
      <vt:lpstr>Slide 17</vt:lpstr>
      <vt:lpstr>Antiferromagnetic Condensate</vt:lpstr>
      <vt:lpstr>BEC-BCS Phase Transition</vt:lpstr>
      <vt:lpstr>Quantum Chaos with a BEC</vt:lpstr>
      <vt:lpstr>Atomic Whispering Gallery</vt:lpstr>
      <vt:lpstr>Quantum Information with a BEC</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SNU BEC 사업단  (Type 2)</dc:title>
  <dc:subject/>
  <dc:creator>경원 안</dc:creator>
  <cp:keywords/>
  <dc:description/>
  <cp:lastModifiedBy>Kyungwon An</cp:lastModifiedBy>
  <cp:revision>3</cp:revision>
  <dcterms:created xsi:type="dcterms:W3CDTF">2010-11-16T11:51:39Z</dcterms:created>
  <dcterms:modified xsi:type="dcterms:W3CDTF">2010-11-16T11:53:38Z</dcterms:modified>
</cp:coreProperties>
</file>