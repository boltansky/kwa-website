
<file path=[Content_Types].xml><?xml version="1.0" encoding="utf-8"?>
<Types xmlns="http://schemas.openxmlformats.org/package/2006/content-types">
  <Override PartName="/ppt/theme/theme35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69.xml" ContentType="application/vnd.openxmlformats-officedocument.presentationml.slideLayout+xml"/>
  <Override PartName="/ppt/theme/theme25.xml" ContentType="application/vnd.openxmlformats-officedocument.theme+xml"/>
  <Override PartName="/ppt/slides/slide3.xml" ContentType="application/vnd.openxmlformats-officedocument.presentationml.slide+xml"/>
  <Override PartName="/ppt/slideLayouts/slideLayout101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Masters/slideMaster17.xml" ContentType="application/vnd.openxmlformats-officedocument.presentationml.slideMaster+xml"/>
  <Override PartName="/ppt/slideLayouts/slideLayout360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29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3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6.xml" ContentType="application/vnd.openxmlformats-officedocument.presentationml.slideLayout+xml"/>
  <Default Extension="xml" ContentType="application/xml"/>
  <Override PartName="/ppt/theme/theme21.xml" ContentType="application/vnd.openxmlformats-officedocument.theme+xml"/>
  <Override PartName="/ppt/slideLayouts/slideLayout196.xml" ContentType="application/vnd.openxmlformats-officedocument.presentationml.slideLayout+xml"/>
  <Override PartName="/docProps/app.xml" ContentType="application/vnd.openxmlformats-officedocument.extended-properties+xml"/>
  <Override PartName="/ppt/slideLayouts/slideLayout21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307.xml" ContentType="application/vnd.openxmlformats-officedocument.presentationml.slideLayout+xml"/>
  <Default Extension="png" ContentType="image/png"/>
  <Override PartName="/ppt/slideLayouts/slideLayout3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18.xml" ContentType="application/vnd.openxmlformats-officedocument.theme+xml"/>
  <Override PartName="/ppt/slideLayouts/slideLayout295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224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Masters/slideMaster27.xml" ContentType="application/vnd.openxmlformats-officedocument.presentationml.slideMaster+xml"/>
  <Override PartName="/ppt/slideLayouts/slideLayout4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23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Masters/slideMaster33.xml" ContentType="application/vnd.openxmlformats-officedocument.presentationml.slideMaster+xml"/>
  <Override PartName="/ppt/slideLayouts/slideLayout19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258.xml" ContentType="application/vnd.openxmlformats-officedocument.presentationml.slideLayout+xml"/>
  <Override PartName="/ppt/theme/theme14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118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254.xml" ContentType="application/vnd.openxmlformats-officedocument.presentationml.slideLayout+xml"/>
  <Override PartName="/ppt/theme/theme10.xml" ContentType="application/vnd.openxmlformats-officedocument.theme+xml"/>
  <Override PartName="/ppt/slideLayouts/slideLayout18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14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60.xml" ContentType="application/vnd.openxmlformats-officedocument.presentationml.slideLayout+xml"/>
  <Override PartName="/ppt/slideLayouts/slideLayout244.xml" ContentType="application/vnd.openxmlformats-officedocument.presentationml.slideLayout+xml"/>
  <Default Extension="bin" ContentType="application/vnd.openxmlformats-officedocument.presentationml.printerSettings"/>
  <Override PartName="/ppt/slideLayouts/slideLayout82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8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25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8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34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8.xml" ContentType="application/vnd.openxmlformats-officedocument.presentationml.slideLayout+xml"/>
  <Override PartName="/ppt/theme/theme24.xml" ContentType="application/vnd.openxmlformats-officedocument.theme+xml"/>
  <Override PartName="/ppt/slideLayouts/slideLayout199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13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Masters/slideMaster16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theme/theme30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0.xml" ContentType="application/vnd.openxmlformats-officedocument.theme+xml"/>
  <Default Extension="jpeg" ContentType="image/jpeg"/>
  <Override PartName="/ppt/slideLayouts/slideLayout195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Masters/slideMaster12.xml" ContentType="application/vnd.openxmlformats-officedocument.presentationml.slideMaster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63.xml" ContentType="application/vnd.openxmlformats-officedocument.presentationml.slideLayout+xml"/>
  <Override PartName="/ppt/theme/theme17.xml" ContentType="application/vnd.openxmlformats-officedocument.theme+xml"/>
  <Override PartName="/ppt/slideLayouts/slideLayout294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Layouts/slideLayout223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Masters/slideMaster32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257.xml" ContentType="application/vnd.openxmlformats-officedocument.presentationml.slideLayout+xml"/>
  <Override PartName="/ppt/theme/theme13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117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63.xml" ContentType="application/vnd.openxmlformats-officedocument.presentationml.slideLayout+xml"/>
  <Override PartName="/ppt/slideMasters/slideMaster22.xml" ContentType="application/vnd.openxmlformats-officedocument.presentationml.slideMaster+xml"/>
  <Override PartName="/ppt/slideLayouts/slideLayout15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6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2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253.xml" ContentType="application/vnd.openxmlformats-officedocument.presentationml.slideLayout+xml"/>
  <Override PartName="/ppt/slideLayouts/slideLayout322.xml" ContentType="application/vnd.openxmlformats-officedocument.presentationml.slideLayout+xml"/>
  <Default Extension="rels" ContentType="application/vnd.openxmlformats-package.relationships+xml"/>
  <Override PartName="/ppt/slideLayouts/slideLayout18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7.xml" ContentType="application/vnd.openxmlformats-officedocument.theme+xml"/>
  <Override PartName="/ppt/slides/slide5.xml" ContentType="application/vnd.openxmlformats-officedocument.presentationml.slide+xml"/>
  <Override PartName="/ppt/slideLayouts/slideLayout10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18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77.xml" ContentType="application/vnd.openxmlformats-officedocument.presentationml.slideLayout+xml"/>
  <Override PartName="/ppt/theme/theme33.xml" ContentType="application/vnd.openxmlformats-officedocument.theme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23.xml" ContentType="application/vnd.openxmlformats-officedocument.theme+xml"/>
  <Override PartName="/ppt/slideLayouts/slideLayout19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21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Layouts/slideLayout30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30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36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6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Masters/slideMaster29.xml" ContentType="application/vnd.openxmlformats-officedocument.presentationml.slideMaster+xml"/>
  <Override PartName="/ppt/slideLayouts/slideLayout190.xml" ContentType="application/vnd.openxmlformats-officedocument.presentationml.slideLayout+xml"/>
  <Override PartName="/ppt/slideLayouts/slideLayout48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30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362.xml" ContentType="application/vnd.openxmlformats-officedocument.presentationml.slideLayout+xml"/>
  <Override PartName="/ppt/theme/theme16.xml" ContentType="application/vnd.openxmlformats-officedocument.theme+xml"/>
  <Override PartName="/ppt/slideLayouts/slideLayout293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222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Masters/slideMaster25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88.xml" ContentType="application/vnd.openxmlformats-officedocument.presentationml.slideLayout+xml"/>
  <Override PartName="/docProps/core.xml" ContentType="application/vnd.openxmlformats-package.core-properties+xml"/>
  <Override PartName="/ppt/slideMasters/slideMaster3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s/slide16.xml" ContentType="application/vnd.openxmlformats-officedocument.presentationml.slide+xml"/>
  <Override PartName="/ppt/theme/theme12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116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62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252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321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26.xml" ContentType="application/vnd.openxmlformats-officedocument.theme+xml"/>
  <Override PartName="/ppt/slides/slide4.xml" ContentType="application/vnd.openxmlformats-officedocument.presentationml.slide+xml"/>
  <Override PartName="/ppt/slideLayouts/slideLayout215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Layouts/slideLayout37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76.xml" ContentType="application/vnd.openxmlformats-officedocument.presentationml.slideLayout+xml"/>
  <Override PartName="/ppt/theme/theme32.xml" ContentType="application/vnd.openxmlformats-officedocument.them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2.xml" ContentType="application/vnd.openxmlformats-officedocument.theme+xml"/>
  <Override PartName="/ppt/slideLayouts/slideLayout197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30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30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9.xml" ContentType="application/vnd.openxmlformats-officedocument.theme+xml"/>
  <Override PartName="/ppt/slideLayouts/slideLayout296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Layouts/slideLayout47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32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259.xml" ContentType="application/vnd.openxmlformats-officedocument.presentationml.slideLayout+xml"/>
  <Override PartName="/ppt/theme/theme15.xml" ContentType="application/vnd.openxmlformats-officedocument.theme+xml"/>
  <Override PartName="/ppt/slideLayouts/slideLayout292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9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Layouts/slideLayout15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Masters/slideMaster30.xml" ContentType="application/vnd.openxmlformats-officedocument.presentationml.slideMaster+xml"/>
  <Override PartName="/ppt/slideLayouts/slideLayout1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255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11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15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61.xml" ContentType="application/vnd.openxmlformats-officedocument.presentationml.slideLayout+xml"/>
  <Override PartName="/ppt/slideMasters/slideMaster20.xml" ContentType="application/vnd.openxmlformats-officedocument.presentationml.slideMaster+xml"/>
  <Override PartName="/ppt/slideLayouts/slideLayout245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9.xml" ContentType="application/vnd.openxmlformats-officedocument.theme+xml"/>
  <Override PartName="/ppt/slideLayouts/slideLayout12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0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251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27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  <p:sldMasterId id="2147483664" r:id="rId17"/>
    <p:sldMasterId id="2147483665" r:id="rId18"/>
    <p:sldMasterId id="2147483666" r:id="rId19"/>
    <p:sldMasterId id="2147483667" r:id="rId20"/>
    <p:sldMasterId id="2147483668" r:id="rId21"/>
    <p:sldMasterId id="2147483669" r:id="rId22"/>
    <p:sldMasterId id="2147483670" r:id="rId23"/>
    <p:sldMasterId id="2147483671" r:id="rId24"/>
    <p:sldMasterId id="2147483672" r:id="rId25"/>
    <p:sldMasterId id="2147483673" r:id="rId26"/>
    <p:sldMasterId id="2147483674" r:id="rId27"/>
    <p:sldMasterId id="2147483675" r:id="rId28"/>
    <p:sldMasterId id="2147483676" r:id="rId29"/>
    <p:sldMasterId id="2147483677" r:id="rId30"/>
    <p:sldMasterId id="2147483678" r:id="rId31"/>
    <p:sldMasterId id="2147483679" r:id="rId32"/>
    <p:sldMasterId id="2147483680" r:id="rId33"/>
  </p:sldMasterIdLst>
  <p:notesMasterIdLst>
    <p:notesMasterId r:id="rId57"/>
  </p:notesMasterIdLst>
  <p:handoutMasterIdLst>
    <p:handoutMasterId r:id="rId58"/>
  </p:handoutMasterIdLst>
  <p:sldIdLst>
    <p:sldId id="256" r:id="rId34"/>
    <p:sldId id="257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9" r:id="rId46"/>
    <p:sldId id="268" r:id="rId47"/>
    <p:sldId id="270" r:id="rId48"/>
    <p:sldId id="271" r:id="rId49"/>
    <p:sldId id="272" r:id="rId50"/>
    <p:sldId id="273" r:id="rId51"/>
    <p:sldId id="274" r:id="rId52"/>
    <p:sldId id="275" r:id="rId53"/>
    <p:sldId id="276" r:id="rId54"/>
    <p:sldId id="278" r:id="rId55"/>
    <p:sldId id="279" r:id="rId56"/>
  </p:sldIdLst>
  <p:sldSz cx="13004800" cy="9753600"/>
  <p:notesSz cx="6858000" cy="914400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1pPr>
    <a:lvl2pPr marL="457200" algn="l" rtl="0" fontAlgn="base" latinLnBrk="1">
      <a:spcBef>
        <a:spcPct val="0"/>
      </a:spcBef>
      <a:spcAft>
        <a:spcPct val="0"/>
      </a:spcAft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2pPr>
    <a:lvl3pPr marL="914400" algn="l" rtl="0" fontAlgn="base" latinLnBrk="1">
      <a:spcBef>
        <a:spcPct val="0"/>
      </a:spcBef>
      <a:spcAft>
        <a:spcPct val="0"/>
      </a:spcAft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3pPr>
    <a:lvl4pPr marL="1371600" algn="l" rtl="0" fontAlgn="base" latinLnBrk="1">
      <a:spcBef>
        <a:spcPct val="0"/>
      </a:spcBef>
      <a:spcAft>
        <a:spcPct val="0"/>
      </a:spcAft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4pPr>
    <a:lvl5pPr marL="1828800" algn="l" rtl="0" fontAlgn="base" latinLnBrk="1">
      <a:spcBef>
        <a:spcPct val="0"/>
      </a:spcBef>
      <a:spcAft>
        <a:spcPct val="0"/>
      </a:spcAft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5pPr>
    <a:lvl6pPr marL="2286000" algn="l" defTabSz="457200" rtl="0" eaLnBrk="1" latinLnBrk="0" hangingPunct="1"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6pPr>
    <a:lvl7pPr marL="2743200" algn="l" defTabSz="457200" rtl="0" eaLnBrk="1" latinLnBrk="0" hangingPunct="1"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7pPr>
    <a:lvl8pPr marL="3200400" algn="l" defTabSz="457200" rtl="0" eaLnBrk="1" latinLnBrk="0" hangingPunct="1"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8pPr>
    <a:lvl9pPr marL="3657600" algn="l" defTabSz="457200" rtl="0" eaLnBrk="1" latinLnBrk="0" hangingPunct="1">
      <a:defRPr kumimoji="1" sz="4200" kern="1200">
        <a:solidFill>
          <a:srgbClr val="414141"/>
        </a:solidFill>
        <a:latin typeface="Gill Sans Light" pitchFamily="-1" charset="0"/>
        <a:ea typeface="ヒラギノ角ゴ ProN W3" pitchFamily="-1" charset="-128"/>
        <a:cs typeface="ヒラギノ角ゴ ProN W3" pitchFamily="-1" charset="-128"/>
        <a:sym typeface="Gill Sans Light" pitchFamily="-1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1336" y="-96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63" Type="http://schemas.openxmlformats.org/officeDocument/2006/relationships/tableStyles" Target="tableStyles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22.xml"/><Relationship Id="rId56" Type="http://schemas.openxmlformats.org/officeDocument/2006/relationships/slide" Target="slides/slide23.xml"/><Relationship Id="rId57" Type="http://schemas.openxmlformats.org/officeDocument/2006/relationships/notesMaster" Target="notesMasters/notesMaster1.xml"/><Relationship Id="rId58" Type="http://schemas.openxmlformats.org/officeDocument/2006/relationships/handoutMaster" Target="handoutMasters/handoutMaster1.xml"/><Relationship Id="rId59" Type="http://schemas.openxmlformats.org/officeDocument/2006/relationships/printerSettings" Target="printerSettings/printerSettings1.bin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30" Type="http://schemas.openxmlformats.org/officeDocument/2006/relationships/slideMaster" Target="slideMasters/slideMaster30.xml"/><Relationship Id="rId31" Type="http://schemas.openxmlformats.org/officeDocument/2006/relationships/slideMaster" Target="slideMasters/slideMaster31.xml"/><Relationship Id="rId32" Type="http://schemas.openxmlformats.org/officeDocument/2006/relationships/slideMaster" Target="slideMasters/slideMaster32.xml"/><Relationship Id="rId33" Type="http://schemas.openxmlformats.org/officeDocument/2006/relationships/slideMaster" Target="slideMasters/slideMaster33.xml"/><Relationship Id="rId34" Type="http://schemas.openxmlformats.org/officeDocument/2006/relationships/slide" Target="slides/slide1.xml"/><Relationship Id="rId35" Type="http://schemas.openxmlformats.org/officeDocument/2006/relationships/slide" Target="slides/slide2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54079-0C92-4B47-AF10-2C6E9A2AEA54}" type="datetimeFigureOut">
              <a:t>11.9.19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8E3AA-9C49-8C4A-82CB-87C1EF80C084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C8A5C-DF16-9A41-96D7-7F51DD5ADD32}" type="datetimeFigureOut">
              <a:t>11.9.19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736B6-77B7-224C-BD70-0D9367D41FF5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187700"/>
            <a:ext cx="259715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5350" y="3187700"/>
            <a:ext cx="259715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4876800"/>
            <a:ext cx="28702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8200" y="4876800"/>
            <a:ext cx="28702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75200" y="1384300"/>
            <a:ext cx="1473200" cy="47879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1384300"/>
            <a:ext cx="4267200" cy="47879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4876800"/>
            <a:ext cx="28702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8200" y="4876800"/>
            <a:ext cx="28702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75200" y="1384300"/>
            <a:ext cx="1473200" cy="47879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1384300"/>
            <a:ext cx="4267200" cy="47879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276475"/>
            <a:ext cx="3073400" cy="64357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76475"/>
            <a:ext cx="906780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276475"/>
            <a:ext cx="3073400" cy="64357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76475"/>
            <a:ext cx="906780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276475"/>
            <a:ext cx="3073400" cy="64357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76475"/>
            <a:ext cx="906780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8077200"/>
            <a:ext cx="6070600" cy="120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8077200"/>
            <a:ext cx="6070600" cy="120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6832600"/>
            <a:ext cx="3073400" cy="24511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6832600"/>
            <a:ext cx="9067800" cy="24511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8077200"/>
            <a:ext cx="6070600" cy="120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8077200"/>
            <a:ext cx="6070600" cy="120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6832600"/>
            <a:ext cx="3073400" cy="24511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6832600"/>
            <a:ext cx="9067800" cy="24511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564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790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3187700"/>
            <a:ext cx="60706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3187700"/>
            <a:ext cx="60706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82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78200" y="3187700"/>
            <a:ext cx="28702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5270500"/>
            <a:ext cx="60706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270500"/>
            <a:ext cx="6070600" cy="129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044700"/>
            <a:ext cx="3073400" cy="4521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044700"/>
            <a:ext cx="9067800" cy="45212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254000"/>
            <a:ext cx="6070600" cy="923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4000"/>
            <a:ext cx="6070600" cy="9232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9232900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92329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458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458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3187700"/>
            <a:ext cx="60706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3187700"/>
            <a:ext cx="6070600" cy="584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54000"/>
            <a:ext cx="3073400" cy="87757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54000"/>
            <a:ext cx="9067800" cy="87757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9022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9022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524000"/>
            <a:ext cx="1466850" cy="6680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524000"/>
            <a:ext cx="4248150" cy="66802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9022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9022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524000"/>
            <a:ext cx="1466850" cy="6680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524000"/>
            <a:ext cx="4248150" cy="66802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Layouts/slideLayout3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99.xml"/><Relationship Id="rId12" Type="http://schemas.openxmlformats.org/officeDocument/2006/relationships/theme" Target="../theme/theme9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0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21.xml"/><Relationship Id="rId12" Type="http://schemas.openxmlformats.org/officeDocument/2006/relationships/theme" Target="../theme/theme11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/Relationships>
</file>

<file path=ppt/slideMasters/_rels/slideMaster1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32.xml"/><Relationship Id="rId12" Type="http://schemas.openxmlformats.org/officeDocument/2006/relationships/theme" Target="../theme/theme12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1.xml"/></Relationships>
</file>

<file path=ppt/slideMasters/_rels/slideMaster1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43.xml"/><Relationship Id="rId12" Type="http://schemas.openxmlformats.org/officeDocument/2006/relationships/theme" Target="../theme/theme13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2.xml"/></Relationships>
</file>

<file path=ppt/slideMasters/_rels/slideMaster1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54.xml"/><Relationship Id="rId12" Type="http://schemas.openxmlformats.org/officeDocument/2006/relationships/theme" Target="../theme/theme14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/Relationships>
</file>

<file path=ppt/slideMasters/_rels/slideMaster1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65.xml"/><Relationship Id="rId12" Type="http://schemas.openxmlformats.org/officeDocument/2006/relationships/theme" Target="../theme/theme15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/Relationships>
</file>

<file path=ppt/slideMasters/_rels/slideMaster1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76.xml"/><Relationship Id="rId12" Type="http://schemas.openxmlformats.org/officeDocument/2006/relationships/theme" Target="../theme/theme16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75.xml"/></Relationships>
</file>

<file path=ppt/slideMasters/_rels/slideMaster1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87.xml"/><Relationship Id="rId12" Type="http://schemas.openxmlformats.org/officeDocument/2006/relationships/theme" Target="../theme/theme17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78.xml"/><Relationship Id="rId3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3.xml"/><Relationship Id="rId8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86.xml"/></Relationships>
</file>

<file path=ppt/slideMasters/_rels/slideMaster1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98.xml"/><Relationship Id="rId12" Type="http://schemas.openxmlformats.org/officeDocument/2006/relationships/theme" Target="../theme/theme18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/Relationships>
</file>

<file path=ppt/slideMasters/_rels/slideMaster1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09.xml"/><Relationship Id="rId12" Type="http://schemas.openxmlformats.org/officeDocument/2006/relationships/theme" Target="../theme/theme19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199.xml"/><Relationship Id="rId2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8.xml"/></Relationships>
</file>

<file path=ppt/slideMasters/_rels/slideMaster2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0.xml"/><Relationship Id="rId12" Type="http://schemas.openxmlformats.org/officeDocument/2006/relationships/theme" Target="../theme/theme20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5.xml"/><Relationship Id="rId7" Type="http://schemas.openxmlformats.org/officeDocument/2006/relationships/slideLayout" Target="../slideLayouts/slideLayout216.xml"/><Relationship Id="rId8" Type="http://schemas.openxmlformats.org/officeDocument/2006/relationships/slideLayout" Target="../slideLayouts/slideLayout217.xml"/><Relationship Id="rId9" Type="http://schemas.openxmlformats.org/officeDocument/2006/relationships/slideLayout" Target="../slideLayouts/slideLayout218.xml"/><Relationship Id="rId10" Type="http://schemas.openxmlformats.org/officeDocument/2006/relationships/slideLayout" Target="../slideLayouts/slideLayout219.xml"/></Relationships>
</file>

<file path=ppt/slideMasters/_rels/slideMaster2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1.xml"/><Relationship Id="rId12" Type="http://schemas.openxmlformats.org/officeDocument/2006/relationships/theme" Target="../theme/theme2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27.xml"/><Relationship Id="rId8" Type="http://schemas.openxmlformats.org/officeDocument/2006/relationships/slideLayout" Target="../slideLayouts/slideLayout228.xml"/><Relationship Id="rId9" Type="http://schemas.openxmlformats.org/officeDocument/2006/relationships/slideLayout" Target="../slideLayouts/slideLayout229.xml"/><Relationship Id="rId10" Type="http://schemas.openxmlformats.org/officeDocument/2006/relationships/slideLayout" Target="../slideLayouts/slideLayout230.xml"/></Relationships>
</file>

<file path=ppt/slideMasters/_rels/slideMaster2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2.xml"/><Relationship Id="rId12" Type="http://schemas.openxmlformats.org/officeDocument/2006/relationships/theme" Target="../theme/theme22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32.xml"/><Relationship Id="rId2" Type="http://schemas.openxmlformats.org/officeDocument/2006/relationships/slideLayout" Target="../slideLayouts/slideLayout233.xml"/><Relationship Id="rId3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38.xml"/><Relationship Id="rId8" Type="http://schemas.openxmlformats.org/officeDocument/2006/relationships/slideLayout" Target="../slideLayouts/slideLayout239.xml"/><Relationship Id="rId9" Type="http://schemas.openxmlformats.org/officeDocument/2006/relationships/slideLayout" Target="../slideLayouts/slideLayout240.xml"/><Relationship Id="rId10" Type="http://schemas.openxmlformats.org/officeDocument/2006/relationships/slideLayout" Target="../slideLayouts/slideLayout241.xml"/></Relationships>
</file>

<file path=ppt/slideMasters/_rels/slideMaster2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53.xml"/><Relationship Id="rId12" Type="http://schemas.openxmlformats.org/officeDocument/2006/relationships/theme" Target="../theme/theme23.xml"/><Relationship Id="rId13" Type="http://schemas.openxmlformats.org/officeDocument/2006/relationships/image" Target="../media/image2.jpeg"/><Relationship Id="rId1" Type="http://schemas.openxmlformats.org/officeDocument/2006/relationships/slideLayout" Target="../slideLayouts/slideLayout243.xml"/><Relationship Id="rId2" Type="http://schemas.openxmlformats.org/officeDocument/2006/relationships/slideLayout" Target="../slideLayouts/slideLayout244.xml"/><Relationship Id="rId3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49.xml"/><Relationship Id="rId8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1.xml"/><Relationship Id="rId10" Type="http://schemas.openxmlformats.org/officeDocument/2006/relationships/slideLayout" Target="../slideLayouts/slideLayout252.xml"/></Relationships>
</file>

<file path=ppt/slideMasters/_rels/slideMaster2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4.xml"/><Relationship Id="rId12" Type="http://schemas.openxmlformats.org/officeDocument/2006/relationships/theme" Target="../theme/theme24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54.xml"/><Relationship Id="rId2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61.xml"/><Relationship Id="rId9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3.xml"/></Relationships>
</file>

<file path=ppt/slideMasters/_rels/slideMaster2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5.xml"/><Relationship Id="rId12" Type="http://schemas.openxmlformats.org/officeDocument/2006/relationships/theme" Target="../theme/theme25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65.xml"/><Relationship Id="rId2" Type="http://schemas.openxmlformats.org/officeDocument/2006/relationships/slideLayout" Target="../slideLayouts/slideLayout266.xml"/><Relationship Id="rId3" Type="http://schemas.openxmlformats.org/officeDocument/2006/relationships/slideLayout" Target="../slideLayouts/slideLayout267.xml"/><Relationship Id="rId4" Type="http://schemas.openxmlformats.org/officeDocument/2006/relationships/slideLayout" Target="../slideLayouts/slideLayout268.xml"/><Relationship Id="rId5" Type="http://schemas.openxmlformats.org/officeDocument/2006/relationships/slideLayout" Target="../slideLayouts/slideLayout269.xml"/><Relationship Id="rId6" Type="http://schemas.openxmlformats.org/officeDocument/2006/relationships/slideLayout" Target="../slideLayouts/slideLayout270.xml"/><Relationship Id="rId7" Type="http://schemas.openxmlformats.org/officeDocument/2006/relationships/slideLayout" Target="../slideLayouts/slideLayout271.xml"/><Relationship Id="rId8" Type="http://schemas.openxmlformats.org/officeDocument/2006/relationships/slideLayout" Target="../slideLayouts/slideLayout272.xml"/><Relationship Id="rId9" Type="http://schemas.openxmlformats.org/officeDocument/2006/relationships/slideLayout" Target="../slideLayouts/slideLayout273.xml"/><Relationship Id="rId10" Type="http://schemas.openxmlformats.org/officeDocument/2006/relationships/slideLayout" Target="../slideLayouts/slideLayout274.xml"/></Relationships>
</file>

<file path=ppt/slideMasters/_rels/slideMaster2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6.xml"/><Relationship Id="rId12" Type="http://schemas.openxmlformats.org/officeDocument/2006/relationships/theme" Target="../theme/theme26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76.xml"/><Relationship Id="rId2" Type="http://schemas.openxmlformats.org/officeDocument/2006/relationships/slideLayout" Target="../slideLayouts/slideLayout277.xml"/><Relationship Id="rId3" Type="http://schemas.openxmlformats.org/officeDocument/2006/relationships/slideLayout" Target="../slideLayouts/slideLayout278.xml"/><Relationship Id="rId4" Type="http://schemas.openxmlformats.org/officeDocument/2006/relationships/slideLayout" Target="../slideLayouts/slideLayout279.xml"/><Relationship Id="rId5" Type="http://schemas.openxmlformats.org/officeDocument/2006/relationships/slideLayout" Target="../slideLayouts/slideLayout280.xml"/><Relationship Id="rId6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2.xml"/><Relationship Id="rId8" Type="http://schemas.openxmlformats.org/officeDocument/2006/relationships/slideLayout" Target="../slideLayouts/slideLayout283.xml"/><Relationship Id="rId9" Type="http://schemas.openxmlformats.org/officeDocument/2006/relationships/slideLayout" Target="../slideLayouts/slideLayout284.xml"/><Relationship Id="rId10" Type="http://schemas.openxmlformats.org/officeDocument/2006/relationships/slideLayout" Target="../slideLayouts/slideLayout285.xml"/></Relationships>
</file>

<file path=ppt/slideMasters/_rels/slideMaster2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97.xml"/><Relationship Id="rId12" Type="http://schemas.openxmlformats.org/officeDocument/2006/relationships/theme" Target="../theme/theme27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89.xml"/><Relationship Id="rId4" Type="http://schemas.openxmlformats.org/officeDocument/2006/relationships/slideLayout" Target="../slideLayouts/slideLayout290.xml"/><Relationship Id="rId5" Type="http://schemas.openxmlformats.org/officeDocument/2006/relationships/slideLayout" Target="../slideLayouts/slideLayout291.xml"/><Relationship Id="rId6" Type="http://schemas.openxmlformats.org/officeDocument/2006/relationships/slideLayout" Target="../slideLayouts/slideLayout292.xml"/><Relationship Id="rId7" Type="http://schemas.openxmlformats.org/officeDocument/2006/relationships/slideLayout" Target="../slideLayouts/slideLayout293.xml"/><Relationship Id="rId8" Type="http://schemas.openxmlformats.org/officeDocument/2006/relationships/slideLayout" Target="../slideLayouts/slideLayout294.xml"/><Relationship Id="rId9" Type="http://schemas.openxmlformats.org/officeDocument/2006/relationships/slideLayout" Target="../slideLayouts/slideLayout295.xml"/><Relationship Id="rId10" Type="http://schemas.openxmlformats.org/officeDocument/2006/relationships/slideLayout" Target="../slideLayouts/slideLayout296.xml"/></Relationships>
</file>

<file path=ppt/slideMasters/_rels/slideMaster2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08.xml"/><Relationship Id="rId12" Type="http://schemas.openxmlformats.org/officeDocument/2006/relationships/theme" Target="../theme/theme28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98.xml"/><Relationship Id="rId2" Type="http://schemas.openxmlformats.org/officeDocument/2006/relationships/slideLayout" Target="../slideLayouts/slideLayout299.xml"/><Relationship Id="rId3" Type="http://schemas.openxmlformats.org/officeDocument/2006/relationships/slideLayout" Target="../slideLayouts/slideLayout300.xml"/><Relationship Id="rId4" Type="http://schemas.openxmlformats.org/officeDocument/2006/relationships/slideLayout" Target="../slideLayouts/slideLayout301.xml"/><Relationship Id="rId5" Type="http://schemas.openxmlformats.org/officeDocument/2006/relationships/slideLayout" Target="../slideLayouts/slideLayout302.xml"/><Relationship Id="rId6" Type="http://schemas.openxmlformats.org/officeDocument/2006/relationships/slideLayout" Target="../slideLayouts/slideLayout303.xml"/><Relationship Id="rId7" Type="http://schemas.openxmlformats.org/officeDocument/2006/relationships/slideLayout" Target="../slideLayouts/slideLayout304.xml"/><Relationship Id="rId8" Type="http://schemas.openxmlformats.org/officeDocument/2006/relationships/slideLayout" Target="../slideLayouts/slideLayout305.xml"/><Relationship Id="rId9" Type="http://schemas.openxmlformats.org/officeDocument/2006/relationships/slideLayout" Target="../slideLayouts/slideLayout306.xml"/><Relationship Id="rId10" Type="http://schemas.openxmlformats.org/officeDocument/2006/relationships/slideLayout" Target="../slideLayouts/slideLayout307.xml"/></Relationships>
</file>

<file path=ppt/slideMasters/_rels/slideMaster2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19.xml"/><Relationship Id="rId12" Type="http://schemas.openxmlformats.org/officeDocument/2006/relationships/theme" Target="../theme/theme29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6.xml"/><Relationship Id="rId9" Type="http://schemas.openxmlformats.org/officeDocument/2006/relationships/slideLayout" Target="../slideLayouts/slideLayout317.xml"/><Relationship Id="rId10" Type="http://schemas.openxmlformats.org/officeDocument/2006/relationships/slideLayout" Target="../slideLayouts/slideLayout318.xml"/></Relationships>
</file>

<file path=ppt/slideMasters/_rels/slideMaster3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0.xml"/><Relationship Id="rId12" Type="http://schemas.openxmlformats.org/officeDocument/2006/relationships/theme" Target="../theme/theme30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320.xml"/><Relationship Id="rId2" Type="http://schemas.openxmlformats.org/officeDocument/2006/relationships/slideLayout" Target="../slideLayouts/slideLayout321.xml"/><Relationship Id="rId3" Type="http://schemas.openxmlformats.org/officeDocument/2006/relationships/slideLayout" Target="../slideLayouts/slideLayout322.xml"/><Relationship Id="rId4" Type="http://schemas.openxmlformats.org/officeDocument/2006/relationships/slideLayout" Target="../slideLayouts/slideLayout323.xml"/><Relationship Id="rId5" Type="http://schemas.openxmlformats.org/officeDocument/2006/relationships/slideLayout" Target="../slideLayouts/slideLayout324.xml"/><Relationship Id="rId6" Type="http://schemas.openxmlformats.org/officeDocument/2006/relationships/slideLayout" Target="../slideLayouts/slideLayout325.xml"/><Relationship Id="rId7" Type="http://schemas.openxmlformats.org/officeDocument/2006/relationships/slideLayout" Target="../slideLayouts/slideLayout326.xml"/><Relationship Id="rId8" Type="http://schemas.openxmlformats.org/officeDocument/2006/relationships/slideLayout" Target="../slideLayouts/slideLayout327.xml"/><Relationship Id="rId9" Type="http://schemas.openxmlformats.org/officeDocument/2006/relationships/slideLayout" Target="../slideLayouts/slideLayout328.xml"/><Relationship Id="rId10" Type="http://schemas.openxmlformats.org/officeDocument/2006/relationships/slideLayout" Target="../slideLayouts/slideLayout329.xml"/></Relationships>
</file>

<file path=ppt/slideMasters/_rels/slideMaster3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41.xml"/><Relationship Id="rId12" Type="http://schemas.openxmlformats.org/officeDocument/2006/relationships/theme" Target="../theme/theme3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32.xml"/><Relationship Id="rId3" Type="http://schemas.openxmlformats.org/officeDocument/2006/relationships/slideLayout" Target="../slideLayouts/slideLayout333.xml"/><Relationship Id="rId4" Type="http://schemas.openxmlformats.org/officeDocument/2006/relationships/slideLayout" Target="../slideLayouts/slideLayout334.xml"/><Relationship Id="rId5" Type="http://schemas.openxmlformats.org/officeDocument/2006/relationships/slideLayout" Target="../slideLayouts/slideLayout335.xml"/><Relationship Id="rId6" Type="http://schemas.openxmlformats.org/officeDocument/2006/relationships/slideLayout" Target="../slideLayouts/slideLayout336.xml"/><Relationship Id="rId7" Type="http://schemas.openxmlformats.org/officeDocument/2006/relationships/slideLayout" Target="../slideLayouts/slideLayout337.xml"/><Relationship Id="rId8" Type="http://schemas.openxmlformats.org/officeDocument/2006/relationships/slideLayout" Target="../slideLayouts/slideLayout338.xml"/><Relationship Id="rId9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40.xml"/></Relationships>
</file>

<file path=ppt/slideMasters/_rels/slideMaster3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52.xml"/><Relationship Id="rId12" Type="http://schemas.openxmlformats.org/officeDocument/2006/relationships/theme" Target="../theme/theme32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342.xml"/><Relationship Id="rId2" Type="http://schemas.openxmlformats.org/officeDocument/2006/relationships/slideLayout" Target="../slideLayouts/slideLayout343.xml"/><Relationship Id="rId3" Type="http://schemas.openxmlformats.org/officeDocument/2006/relationships/slideLayout" Target="../slideLayouts/slideLayout344.xml"/><Relationship Id="rId4" Type="http://schemas.openxmlformats.org/officeDocument/2006/relationships/slideLayout" Target="../slideLayouts/slideLayout345.xml"/><Relationship Id="rId5" Type="http://schemas.openxmlformats.org/officeDocument/2006/relationships/slideLayout" Target="../slideLayouts/slideLayout346.xml"/><Relationship Id="rId6" Type="http://schemas.openxmlformats.org/officeDocument/2006/relationships/slideLayout" Target="../slideLayouts/slideLayout347.xml"/><Relationship Id="rId7" Type="http://schemas.openxmlformats.org/officeDocument/2006/relationships/slideLayout" Target="../slideLayouts/slideLayout348.xml"/><Relationship Id="rId8" Type="http://schemas.openxmlformats.org/officeDocument/2006/relationships/slideLayout" Target="../slideLayouts/slideLayout349.xml"/><Relationship Id="rId9" Type="http://schemas.openxmlformats.org/officeDocument/2006/relationships/slideLayout" Target="../slideLayouts/slideLayout350.xml"/><Relationship Id="rId10" Type="http://schemas.openxmlformats.org/officeDocument/2006/relationships/slideLayout" Target="../slideLayouts/slideLayout351.xml"/></Relationships>
</file>

<file path=ppt/slideMasters/_rels/slideMaster3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63.xml"/><Relationship Id="rId12" Type="http://schemas.openxmlformats.org/officeDocument/2006/relationships/theme" Target="../theme/theme33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353.xml"/><Relationship Id="rId2" Type="http://schemas.openxmlformats.org/officeDocument/2006/relationships/slideLayout" Target="../slideLayouts/slideLayout354.xml"/><Relationship Id="rId3" Type="http://schemas.openxmlformats.org/officeDocument/2006/relationships/slideLayout" Target="../slideLayouts/slideLayout355.xml"/><Relationship Id="rId4" Type="http://schemas.openxmlformats.org/officeDocument/2006/relationships/slideLayout" Target="../slideLayouts/slideLayout356.xml"/><Relationship Id="rId5" Type="http://schemas.openxmlformats.org/officeDocument/2006/relationships/slideLayout" Target="../slideLayouts/slideLayout357.xml"/><Relationship Id="rId6" Type="http://schemas.openxmlformats.org/officeDocument/2006/relationships/slideLayout" Target="../slideLayouts/slideLayout358.xml"/><Relationship Id="rId7" Type="http://schemas.openxmlformats.org/officeDocument/2006/relationships/slideLayout" Target="../slideLayouts/slideLayout359.xml"/><Relationship Id="rId8" Type="http://schemas.openxmlformats.org/officeDocument/2006/relationships/slideLayout" Target="../slideLayouts/slideLayout360.xml"/><Relationship Id="rId9" Type="http://schemas.openxmlformats.org/officeDocument/2006/relationships/slideLayout" Target="../slideLayouts/slideLayout361.xml"/><Relationship Id="rId10" Type="http://schemas.openxmlformats.org/officeDocument/2006/relationships/slideLayout" Target="../slideLayouts/slideLayout3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187700"/>
            <a:ext cx="53467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5" autoUpdateAnimBg="0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1384300"/>
            <a:ext cx="5892800" cy="350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4876800"/>
            <a:ext cx="58928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1384300"/>
            <a:ext cx="5892800" cy="350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4876800"/>
            <a:ext cx="58928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3225800"/>
            <a:ext cx="122936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6832600"/>
            <a:ext cx="12293600" cy="125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8077200"/>
            <a:ext cx="12293600" cy="1206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6832600"/>
            <a:ext cx="12293600" cy="125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8077200"/>
            <a:ext cx="12293600" cy="1206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56400" y="3187700"/>
            <a:ext cx="58928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3187700"/>
            <a:ext cx="122936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3187700"/>
            <a:ext cx="58928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14848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3187700"/>
            <a:ext cx="58928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044700"/>
            <a:ext cx="12293600" cy="323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5270500"/>
            <a:ext cx="122936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254000"/>
            <a:ext cx="12293600" cy="923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rgbClr val="404140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rgbClr val="404140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85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66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447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828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860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7432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2004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576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85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66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447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828800" indent="-304800" algn="l" rtl="0" eaLnBrk="0" fontAlgn="base" hangingPunct="0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860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7432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2004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57600" indent="-304800" algn="l" rtl="0" fontAlgn="base">
        <a:lnSpc>
          <a:spcPct val="120000"/>
        </a:lnSpc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46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85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66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447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828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860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743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200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57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85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66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447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828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860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743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200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57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30734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fontAlgn="base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24678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3073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254000"/>
            <a:ext cx="122936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title style</a:t>
            </a:r>
          </a:p>
        </p:txBody>
      </p:sp>
      <p:sp>
        <p:nvSpPr>
          <p:cNvPr id="27136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3187700"/>
            <a:ext cx="12293600" cy="584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 Light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 Light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 Light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 Light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 Light" pitchFamily="-1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+mj-lt"/>
          <a:ea typeface="+mj-ea"/>
          <a:cs typeface="+mj-cs"/>
          <a:sym typeface="Gill Sans Light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Gill Sans Light" charset="0"/>
          <a:ea typeface="ヒラギノ角ゴ ProN W3" charset="0"/>
          <a:cs typeface="ヒラギノ角ゴ ProN W3" charset="0"/>
          <a:sym typeface="Gill Sans Light" charset="0"/>
        </a:defRPr>
      </a:lvl9pPr>
    </p:titleStyle>
    <p:bodyStyle>
      <a:lvl1pPr marL="3048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1pPr>
      <a:lvl2pPr marL="635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2pPr>
      <a:lvl3pPr marL="1016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3pPr>
      <a:lvl4pPr marL="1397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4pPr>
      <a:lvl5pPr marL="1778000" indent="-304800" algn="l" rtl="0" eaLnBrk="0" fontAlgn="base" hangingPunct="0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pitchFamily="-1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pitchFamily="-1" charset="0"/>
        </a:defRPr>
      </a:lvl5pPr>
      <a:lvl6pPr marL="22352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6pPr>
      <a:lvl7pPr marL="26924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7pPr>
      <a:lvl8pPr marL="31496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8pPr>
      <a:lvl9pPr marL="3606800" indent="-304800" algn="l" rtl="0" fontAlgn="base">
        <a:spcBef>
          <a:spcPts val="3800"/>
        </a:spcBef>
        <a:spcAft>
          <a:spcPct val="0"/>
        </a:spcAft>
        <a:buClr>
          <a:srgbClr val="414141"/>
        </a:buClr>
        <a:buSzPct val="81000"/>
        <a:buFont typeface="Gill Sans Light" charset="0"/>
        <a:buChar char="•"/>
        <a:defRPr sz="3800">
          <a:solidFill>
            <a:schemeClr val="tx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5240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082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9022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5240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205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9022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31242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 pitchFamily="-1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31242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fontAlgn="base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5737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696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8195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title style</a:t>
            </a:r>
          </a:p>
        </p:txBody>
      </p:sp>
      <p:sp>
        <p:nvSpPr>
          <p:cNvPr id="394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>
                <a:sym typeface="Gill Sans" pitchFamily="-1" charset="0"/>
              </a:rPr>
              <a:t>Click to edit Master text styles</a:t>
            </a:r>
          </a:p>
          <a:p>
            <a:pPr lvl="1"/>
            <a:r>
              <a:rPr lang="en-US" altLang="ko-KR">
                <a:sym typeface="Gill Sans" pitchFamily="-1" charset="0"/>
              </a:rPr>
              <a:t>Second level</a:t>
            </a:r>
          </a:p>
          <a:p>
            <a:pPr lvl="2"/>
            <a:r>
              <a:rPr lang="en-US" altLang="ko-KR">
                <a:sym typeface="Gill Sans" pitchFamily="-1" charset="0"/>
              </a:rPr>
              <a:t>Third level</a:t>
            </a:r>
          </a:p>
          <a:p>
            <a:pPr lvl="3"/>
            <a:r>
              <a:rPr lang="en-US" altLang="ko-KR">
                <a:sym typeface="Gill Sans" pitchFamily="-1" charset="0"/>
              </a:rPr>
              <a:t>Fourth level</a:t>
            </a:r>
          </a:p>
          <a:p>
            <a:pPr lvl="4"/>
            <a:r>
              <a:rPr lang="en-US" altLang="ko-KR">
                <a:sym typeface="Gill Sans" pitchFamily="-1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 pitchFamily="-1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itchFamily="-1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 pitchFamily="-1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pitchFamily="-1" charset="0"/>
        </a:defRPr>
      </a:lvl5pPr>
      <a:lvl6pPr marL="29956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fontAlgn="base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jpeg"/><Relationship Id="rId3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4" Type="http://schemas.openxmlformats.org/officeDocument/2006/relationships/image" Target="../media/image30.jpeg"/><Relationship Id="rId5" Type="http://schemas.openxmlformats.org/officeDocument/2006/relationships/image" Target="../media/image31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1.png"/><Relationship Id="rId3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1866900"/>
            <a:ext cx="12293600" cy="32385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빛이 바꾸는 세상</a:t>
            </a:r>
          </a:p>
        </p:txBody>
      </p:sp>
      <p:sp>
        <p:nvSpPr>
          <p:cNvPr id="406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5397500"/>
            <a:ext cx="12293600" cy="1295400"/>
          </a:xfrm>
        </p:spPr>
        <p:txBody>
          <a:bodyPr/>
          <a:lstStyle/>
          <a:p>
            <a:pPr marL="0" indent="0"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서울대학교 물리천문학부 안경원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빛의 성질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2628900"/>
            <a:ext cx="4787900" cy="52705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빛은 전자기파 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(electromagnetic wave)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빛의 속도는 일정 </a:t>
            </a:r>
            <a:r>
              <a:rPr lang="en-US" altLang="ko-KR" i="1">
                <a:latin typeface="Arial" pitchFamily="-1" charset="0"/>
                <a:ea typeface="Arial" pitchFamily="-1" charset="0"/>
                <a:cs typeface="Arial" pitchFamily="-1" charset="0"/>
                <a:sym typeface="Times New Roman" pitchFamily="-1" charset="0"/>
              </a:rPr>
              <a:t>c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  <a:sym typeface="Times New Roman" pitchFamily="-1" charset="0"/>
              </a:rPr>
              <a:t>=299,792,458 m/s</a:t>
            </a:r>
            <a:endParaRPr lang="en-US" altLang="ko-KR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빛의 파장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  <a:sym typeface="Times New Roman" pitchFamily="-1" charset="0"/>
              </a:rPr>
              <a:t>λ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)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과 진동수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</a:t>
            </a:r>
            <a:r>
              <a:rPr lang="en-US" altLang="ko-KR" i="1">
                <a:latin typeface="Arial" pitchFamily="-1" charset="0"/>
                <a:ea typeface="Arial" pitchFamily="-1" charset="0"/>
                <a:cs typeface="Arial" pitchFamily="-1" charset="0"/>
                <a:sym typeface="Times" pitchFamily="-1" charset="0"/>
              </a:rPr>
              <a:t>f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)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를 가짐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                </a:t>
            </a:r>
            <a:r>
              <a:rPr lang="en-US" altLang="ko-KR" i="1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c = f λ</a:t>
            </a:r>
          </a:p>
        </p:txBody>
      </p:sp>
      <p:pic>
        <p:nvPicPr>
          <p:cNvPr id="407556" name="Picture 3" descr="스크린샷 2011-09-19 오전 11.38.3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5213" y="3376613"/>
            <a:ext cx="6002337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5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578" name="Picture 1"/>
          <p:cNvPicPr>
            <a:picLocks noChangeAspect="1" noChangeArrowheads="1"/>
          </p:cNvPicPr>
          <p:nvPr/>
        </p:nvPicPr>
        <p:blipFill>
          <a:blip r:embed="rId2"/>
          <a:srcRect l="169"/>
          <a:stretch>
            <a:fillRect/>
          </a:stretch>
        </p:blipFill>
        <p:spPr bwMode="auto">
          <a:xfrm>
            <a:off x="5321300" y="2616200"/>
            <a:ext cx="7427913" cy="6589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08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635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가장 오래된 빛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2997200"/>
            <a:ext cx="4343400" cy="49403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우리 우주는 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137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억년전 대폭발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(Big Bang)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로부터 시작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우주가 팽창하면서 초기 빛의 파장이 길어짐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현재 마이크로파로 우주공간을 채우고 있음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bldLvl="5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02" name="Picture 1"/>
          <p:cNvPicPr>
            <a:picLocks noChangeAspect="1" noChangeArrowheads="1"/>
          </p:cNvPicPr>
          <p:nvPr/>
        </p:nvPicPr>
        <p:blipFill>
          <a:blip r:embed="rId2"/>
          <a:srcRect t="192"/>
          <a:stretch>
            <a:fillRect/>
          </a:stretch>
        </p:blipFill>
        <p:spPr bwMode="auto">
          <a:xfrm>
            <a:off x="6370638" y="5918200"/>
            <a:ext cx="6426200" cy="3206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09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635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빅뱅의 잔해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2705100"/>
            <a:ext cx="5892800" cy="5842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1960</a:t>
            </a:r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년대 무선통신의 고민 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- </a:t>
            </a:r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없어지지 않는 잡음</a:t>
            </a:r>
          </a:p>
          <a:p>
            <a:pPr eaLnBrk="1" hangingPunct="1"/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하늘 어디에서도 마이크로 웨이브 잡음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(~200GHz)</a:t>
            </a:r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이 관측</a:t>
            </a:r>
          </a:p>
          <a:p>
            <a:pPr eaLnBrk="1" hangingPunct="1"/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존재발견 → 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1978 </a:t>
            </a:r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노벨상 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Arno Penzias &amp; Robert Wilson</a:t>
            </a:r>
          </a:p>
          <a:p>
            <a:pPr eaLnBrk="1" hangingPunct="1"/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구조 이미징 → 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2006 </a:t>
            </a:r>
            <a:r>
              <a:rPr lang="ko-KR" altLang="en-US">
                <a:solidFill>
                  <a:srgbClr val="000000"/>
                </a:solidFill>
                <a:latin typeface="Times New Roman" pitchFamily="-1" charset="0"/>
                <a:ea typeface="한컴돋움" pitchFamily="-1" charset="-127"/>
              </a:rPr>
              <a:t>노벨상 </a:t>
            </a:r>
            <a:r>
              <a:rPr lang="en-US" altLang="ko-KR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John Mather &amp; George Smoot</a:t>
            </a:r>
          </a:p>
        </p:txBody>
      </p:sp>
      <p:pic>
        <p:nvPicPr>
          <p:cNvPr id="40960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40600" y="2027238"/>
            <a:ext cx="4495800" cy="35353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bldLvl="5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26" name="Picture 1"/>
          <p:cNvPicPr>
            <a:picLocks noChangeAspect="1" noChangeArrowheads="1"/>
          </p:cNvPicPr>
          <p:nvPr/>
        </p:nvPicPr>
        <p:blipFill>
          <a:blip r:embed="rId2"/>
          <a:srcRect l="681" r="1758"/>
          <a:stretch>
            <a:fillRect/>
          </a:stretch>
        </p:blipFill>
        <p:spPr bwMode="auto">
          <a:xfrm>
            <a:off x="6264275" y="3084513"/>
            <a:ext cx="6604000" cy="5703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0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빛의 스펙트럼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933700"/>
            <a:ext cx="5346700" cy="58420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파장의 길이에 따라 분류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감마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(g)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선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</a:p>
          <a:p>
            <a:pPr eaLnBrk="1" hangingPunct="1">
              <a:lnSpc>
                <a:spcPct val="20000"/>
              </a:lnSpc>
            </a:pP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x 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선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>
                <a:latin typeface="Arial" pitchFamily="-1" charset="0"/>
                <a:ea typeface="한컴돋움" pitchFamily="-1" charset="-127"/>
              </a:rPr>
              <a:t>자외선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(UV),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 u="sng">
                <a:latin typeface="Arial" pitchFamily="-1" charset="0"/>
                <a:ea typeface="한컴돋움" pitchFamily="-1" charset="-127"/>
              </a:rPr>
              <a:t>가시광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>
                <a:latin typeface="Arial" pitchFamily="-1" charset="0"/>
                <a:ea typeface="한컴돋움" pitchFamily="-1" charset="-127"/>
              </a:rPr>
              <a:t>적외선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(IR),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>
                <a:latin typeface="Arial" pitchFamily="-1" charset="0"/>
                <a:ea typeface="한컴돋움" pitchFamily="-1" charset="-127"/>
              </a:rPr>
              <a:t>테라파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>
                <a:latin typeface="Arial" pitchFamily="-1" charset="0"/>
                <a:ea typeface="한컴돋움" pitchFamily="-1" charset="-127"/>
              </a:rPr>
              <a:t>마이크로파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>
                <a:latin typeface="Arial" pitchFamily="-1" charset="0"/>
                <a:ea typeface="한컴돋움" pitchFamily="-1" charset="-127"/>
              </a:rPr>
              <a:t>라디오파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...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5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650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3363" y="3900488"/>
            <a:ext cx="6234112" cy="4400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1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우리는 어떤 빛을 볼 수 있나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?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984500"/>
            <a:ext cx="5346700" cy="58420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물의 흡수 스펙트럼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가시광을 제외하고는 모두 흡수됨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모든 생명체의 성분은 물이 대부분 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(70% 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이상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)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우리 눈도 물이 대부분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가시광 만이 흡수되지 않음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bldLvl="5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왜 생물은 물이 대부분인가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?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400300"/>
            <a:ext cx="5765800" cy="68326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화학물질이 물에 잘 용해됨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태초의 지구에 물이 많았고 복잡한 화합물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아미노산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)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이 물속에서 생성됨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자기복제의 기능을 가진 분자 발생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(DNA)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생명체가 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DNA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를 더 잘 보전하므로 계속 살아남아 진화를 계속하여 오늘에 이름</a:t>
            </a:r>
          </a:p>
        </p:txBody>
      </p:sp>
      <p:pic>
        <p:nvPicPr>
          <p:cNvPr id="412676" name="Picture 4" descr="스크린샷 2011-09-19 오전 11.38.48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9713" y="2447925"/>
            <a:ext cx="3814762" cy="651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bldLvl="5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698" name="Picture 1"/>
          <p:cNvPicPr>
            <a:picLocks noChangeAspect="1" noChangeArrowheads="1"/>
          </p:cNvPicPr>
          <p:nvPr/>
        </p:nvPicPr>
        <p:blipFill>
          <a:blip r:embed="rId2"/>
          <a:srcRect t="5923" b="16611"/>
          <a:stretch>
            <a:fillRect/>
          </a:stretch>
        </p:blipFill>
        <p:spPr bwMode="auto">
          <a:xfrm>
            <a:off x="7223125" y="2838450"/>
            <a:ext cx="4602163" cy="279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3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빛의 이중성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187700"/>
            <a:ext cx="5346700" cy="15367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파동으로서의 빛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- 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간섭현상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, 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애돌이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(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회절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)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현상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6300" y="5824538"/>
            <a:ext cx="4597400" cy="2874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989" name="Rectangle 5"/>
          <p:cNvSpPr>
            <a:spLocks/>
          </p:cNvSpPr>
          <p:nvPr/>
        </p:nvSpPr>
        <p:spPr bwMode="auto">
          <a:xfrm>
            <a:off x="685800" y="4673600"/>
            <a:ext cx="53467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 indent="-304800" latinLnBrk="0">
              <a:spcBef>
                <a:spcPts val="3800"/>
              </a:spcBef>
              <a:buClr>
                <a:srgbClr val="414141"/>
              </a:buClr>
              <a:buSzPct val="81000"/>
              <a:buFont typeface="Gill Sans Light" pitchFamily="-1" charset="0"/>
              <a:buChar char="•"/>
            </a:pPr>
            <a:r>
              <a:rPr kumimoji="0" lang="ko-KR" altLang="en-US" sz="28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입자로서의 빛 </a:t>
            </a:r>
            <a:r>
              <a:rPr kumimoji="0" lang="en-US" altLang="ko-KR" sz="28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- </a:t>
            </a:r>
            <a:r>
              <a:rPr kumimoji="0" lang="ko-KR" altLang="en-US" sz="28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광전효과</a:t>
            </a:r>
          </a:p>
          <a:p>
            <a:pPr marL="304800" indent="-304800" latinLnBrk="0">
              <a:spcBef>
                <a:spcPts val="3800"/>
              </a:spcBef>
              <a:buClr>
                <a:srgbClr val="414141"/>
              </a:buClr>
              <a:buSzPct val="81000"/>
              <a:buFont typeface="Gill Sans Light" pitchFamily="-1" charset="0"/>
              <a:buChar char="•"/>
            </a:pPr>
            <a:r>
              <a:rPr kumimoji="0" lang="ko-KR" altLang="en-US" sz="28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관측조건에 따라 파동 혹은 입자처럼 행동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bldLvl="5" autoUpdateAnimBg="0"/>
      <p:bldP spid="41989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아인슈타인과 빛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187700"/>
            <a:ext cx="5346700" cy="4584700"/>
          </a:xfrm>
        </p:spPr>
        <p:txBody>
          <a:bodyPr/>
          <a:lstStyle/>
          <a:p>
            <a:pPr eaLnBrk="1" hangingPunct="1"/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1917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년에 “빛의 양자이론에 대하여” 라는 논문을 씀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자발방출과 유도방출의 개념을 도입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현대 레이저의 원리가 됨</a:t>
            </a:r>
          </a:p>
        </p:txBody>
      </p:sp>
      <p:pic>
        <p:nvPicPr>
          <p:cNvPr id="41472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97650" y="3759200"/>
            <a:ext cx="5019675" cy="4864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147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88600" y="2908300"/>
            <a:ext cx="2057400" cy="288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 bldLvl="5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746" name="Picture 1"/>
          <p:cNvPicPr>
            <a:picLocks noChangeAspect="1" noChangeArrowheads="1"/>
          </p:cNvPicPr>
          <p:nvPr/>
        </p:nvPicPr>
        <p:blipFill>
          <a:blip r:embed="rId2"/>
          <a:srcRect l="26448"/>
          <a:stretch>
            <a:fillRect/>
          </a:stretch>
        </p:blipFill>
        <p:spPr bwMode="auto">
          <a:xfrm>
            <a:off x="7146925" y="2455863"/>
            <a:ext cx="5103813" cy="3470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5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889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레이저의 원리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2425700"/>
            <a:ext cx="6273800" cy="64389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여기된 원자는 스스로 빛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광자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)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을 냄 →자발방출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같은 성질의 광자 </a:t>
            </a:r>
            <a:r>
              <a:rPr lang="en-US" altLang="ko-KR" i="1" smtClean="0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n </a:t>
            </a:r>
            <a:r>
              <a:rPr lang="ko-KR" altLang="en-US" smtClean="0">
                <a:latin typeface="Times New Roman" pitchFamily="-1" charset="0"/>
                <a:ea typeface="한컴돋움" pitchFamily="-1" charset="-127"/>
              </a:rPr>
              <a:t>개가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이미 있으면 비례하여 더 잘 방출함 → 유도방출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따라서 광자를 방출하는 확률은</a:t>
            </a:r>
            <a:r>
              <a:rPr lang="ko-KR" altLang="en-US" smtClean="0">
                <a:latin typeface="Times New Roman" pitchFamily="-1" charset="0"/>
                <a:ea typeface="한컴돋움" pitchFamily="-1" charset="-127"/>
                <a:sym typeface="Times New Roman" pitchFamily="-1" charset="0"/>
              </a:rPr>
              <a:t> </a:t>
            </a:r>
            <a:r>
              <a:rPr lang="en-US" altLang="ko-KR" smtClean="0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      (</a:t>
            </a:r>
            <a:r>
              <a:rPr lang="en-US" altLang="ko-KR" i="1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n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+1)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에 비례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두개의 거울로 광자를 가두어 유도 방출을 촉진시킴 → 레이저 발진</a:t>
            </a:r>
          </a:p>
        </p:txBody>
      </p:sp>
      <p:pic>
        <p:nvPicPr>
          <p:cNvPr id="41574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29500" y="6332538"/>
            <a:ext cx="4546600" cy="3217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bldLvl="5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1143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내가 처음 만든 레이저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6400" y="2400300"/>
            <a:ext cx="3390900" cy="6248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1984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년 서울대에서 석사학위를 하면서 색소 레이저를 만듬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총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500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만원의 연구비 소요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레이저와의 인연이 시작됨</a:t>
            </a:r>
          </a:p>
        </p:txBody>
      </p:sp>
      <p:pic>
        <p:nvPicPr>
          <p:cNvPr id="416772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1063" y="2986088"/>
            <a:ext cx="4114800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773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6100" y="2986088"/>
            <a:ext cx="3851275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774" name="Picture 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00550" y="5889625"/>
            <a:ext cx="3741738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6775" name="Picture 6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28050" y="5889625"/>
            <a:ext cx="4048125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p" bldLvl="5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4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2451100"/>
            <a:ext cx="5489575" cy="659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17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889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박사학위 과정때 만든 레이저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2463800"/>
            <a:ext cx="5892800" cy="5880100"/>
          </a:xfrm>
        </p:spPr>
        <p:txBody>
          <a:bodyPr/>
          <a:lstStyle/>
          <a:p>
            <a:pPr eaLnBrk="1" hangingPunct="1"/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MIT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에서 박사학위를 하면서 만든 레이저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원자 한개로 발진하는 레이저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최초의 단원자 레이저</a:t>
            </a:r>
          </a:p>
        </p:txBody>
      </p:sp>
      <p:sp>
        <p:nvSpPr>
          <p:cNvPr id="417797" name="Rectangle 4"/>
          <p:cNvSpPr>
            <a:spLocks/>
          </p:cNvSpPr>
          <p:nvPr/>
        </p:nvSpPr>
        <p:spPr bwMode="auto">
          <a:xfrm>
            <a:off x="6743700" y="8701088"/>
            <a:ext cx="3454400" cy="279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ctr" latinLnBrk="0"/>
            <a:r>
              <a:rPr kumimoji="0" lang="en-US" altLang="ko-KR" sz="1400" b="1">
                <a:solidFill>
                  <a:srgbClr val="000000"/>
                </a:solidFill>
                <a:latin typeface="Times New Roman" pitchFamily="-1" charset="0"/>
                <a:ea typeface="Times New Roman" pitchFamily="-1" charset="0"/>
                <a:cs typeface="Times New Roman" pitchFamily="-1" charset="0"/>
                <a:sym typeface="Arial" pitchFamily="-1" charset="0"/>
              </a:rPr>
              <a:t>PRL 1994, Scientific American 1998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bldLvl="5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-508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서울대에 있는 단원자 레이저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2882900"/>
            <a:ext cx="3898900" cy="4572000"/>
          </a:xfrm>
        </p:spPr>
        <p:txBody>
          <a:bodyPr/>
          <a:lstStyle/>
          <a:p>
            <a:pPr eaLnBrk="1" hangingPunct="1"/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1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호기는 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MIT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에서 가져온 것</a:t>
            </a:r>
          </a:p>
          <a:p>
            <a:pPr eaLnBrk="1" hangingPunct="1"/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2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호기는 차세대형으로 서울대에서 제작</a:t>
            </a:r>
          </a:p>
        </p:txBody>
      </p:sp>
      <p:pic>
        <p:nvPicPr>
          <p:cNvPr id="418820" name="Picture 3"/>
          <p:cNvPicPr>
            <a:picLocks noChangeArrowheads="1"/>
          </p:cNvPicPr>
          <p:nvPr/>
        </p:nvPicPr>
        <p:blipFill>
          <a:blip r:embed="rId2"/>
          <a:srcRect l="33919" t="5345" r="12157" b="12892"/>
          <a:stretch>
            <a:fillRect/>
          </a:stretch>
        </p:blipFill>
        <p:spPr bwMode="auto">
          <a:xfrm>
            <a:off x="5778500" y="2006600"/>
            <a:ext cx="6553200" cy="330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8821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4850" y="5535613"/>
            <a:ext cx="65532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 bldLvl="5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단원자 레이저가 일반 레이저와 다른 이유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3900" y="3124200"/>
            <a:ext cx="5511800" cy="56515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원자와 광자가 결맞은 상호작용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광자가 빠져나가면 빠르게 보충하는 방식으로 작동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일반 레이저에는 광자가 무작위로 방출됨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단원자 레이저에서는 광자가 일정 간격으로 방출되려는 경향성 가짐 </a:t>
            </a:r>
          </a:p>
        </p:txBody>
      </p:sp>
      <p:pic>
        <p:nvPicPr>
          <p:cNvPr id="41984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3538" y="5816600"/>
            <a:ext cx="5014912" cy="3962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41984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5613" y="3324225"/>
            <a:ext cx="5194300" cy="2379663"/>
          </a:xfrm>
          <a:prstGeom prst="rect">
            <a:avLst/>
          </a:prstGeom>
          <a:noFill/>
          <a:ln w="12700" cap="rnd">
            <a:noFill/>
            <a:round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508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광통신의 원리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2984500"/>
            <a:ext cx="5346700" cy="58420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일반 광통신에서는 반도체 레이저 빛을 사용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디지털 전기신호를 빛의 신호로 바꿔서 광섬유를 통해 전송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펄스당 평균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20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개의 광자를 사용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잡음의 크기는 √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20~4.5 →  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신호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/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잡음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=20÷√20~4.5</a:t>
            </a:r>
          </a:p>
        </p:txBody>
      </p:sp>
      <p:pic>
        <p:nvPicPr>
          <p:cNvPr id="42086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9613" y="2730500"/>
            <a:ext cx="6669087" cy="2552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2086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16600" y="5751513"/>
            <a:ext cx="2768600" cy="29606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0870" name="Freeform 5"/>
          <p:cNvSpPr>
            <a:spLocks/>
          </p:cNvSpPr>
          <p:nvPr/>
        </p:nvSpPr>
        <p:spPr bwMode="auto">
          <a:xfrm>
            <a:off x="9423400" y="6642100"/>
            <a:ext cx="2717800" cy="558800"/>
          </a:xfrm>
          <a:custGeom>
            <a:avLst/>
            <a:gdLst>
              <a:gd name="T0" fmla="*/ 0 w 21600"/>
              <a:gd name="T1" fmla="*/ 546098 h 21600"/>
              <a:gd name="T2" fmla="*/ 380995 w 21600"/>
              <a:gd name="T3" fmla="*/ 546098 h 21600"/>
              <a:gd name="T4" fmla="*/ 380995 w 21600"/>
              <a:gd name="T5" fmla="*/ 0 h 21600"/>
              <a:gd name="T6" fmla="*/ 1130278 w 21600"/>
              <a:gd name="T7" fmla="*/ 0 h 21600"/>
              <a:gd name="T8" fmla="*/ 1130278 w 21600"/>
              <a:gd name="T9" fmla="*/ 558800 h 21600"/>
              <a:gd name="T10" fmla="*/ 1574814 w 21600"/>
              <a:gd name="T11" fmla="*/ 558800 h 21600"/>
              <a:gd name="T12" fmla="*/ 1968518 w 21600"/>
              <a:gd name="T13" fmla="*/ 558800 h 21600"/>
              <a:gd name="T14" fmla="*/ 1968518 w 21600"/>
              <a:gd name="T15" fmla="*/ 0 h 21600"/>
              <a:gd name="T16" fmla="*/ 2362221 w 21600"/>
              <a:gd name="T17" fmla="*/ 0 h 21600"/>
              <a:gd name="T18" fmla="*/ 2362221 w 21600"/>
              <a:gd name="T19" fmla="*/ 546098 h 21600"/>
              <a:gd name="T20" fmla="*/ 2717800 w 21600"/>
              <a:gd name="T21" fmla="*/ 546098 h 2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600"/>
              <a:gd name="T34" fmla="*/ 0 h 21600"/>
              <a:gd name="T35" fmla="*/ 21600 w 21600"/>
              <a:gd name="T36" fmla="*/ 21600 h 2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600" h="21600">
                <a:moveTo>
                  <a:pt x="0" y="21109"/>
                </a:moveTo>
                <a:lnTo>
                  <a:pt x="3028" y="21109"/>
                </a:lnTo>
                <a:lnTo>
                  <a:pt x="3028" y="0"/>
                </a:lnTo>
                <a:lnTo>
                  <a:pt x="8983" y="0"/>
                </a:lnTo>
                <a:lnTo>
                  <a:pt x="8983" y="21600"/>
                </a:lnTo>
                <a:lnTo>
                  <a:pt x="12516" y="21600"/>
                </a:lnTo>
                <a:lnTo>
                  <a:pt x="15645" y="21600"/>
                </a:lnTo>
                <a:lnTo>
                  <a:pt x="15645" y="0"/>
                </a:lnTo>
                <a:lnTo>
                  <a:pt x="18774" y="0"/>
                </a:lnTo>
                <a:lnTo>
                  <a:pt x="18774" y="21109"/>
                </a:lnTo>
                <a:lnTo>
                  <a:pt x="21600" y="21109"/>
                </a:ln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latinLnBrk="0"/>
            <a:endParaRPr kumimoji="0" lang="ko-KR" altLang="en-US">
              <a:latin typeface="한컴돋움" pitchFamily="-1" charset="-127"/>
              <a:ea typeface="한컴돋움" pitchFamily="-1" charset="-127"/>
              <a:cs typeface="한컴돋움" pitchFamily="-1" charset="-127"/>
            </a:endParaRPr>
          </a:p>
        </p:txBody>
      </p:sp>
      <p:sp>
        <p:nvSpPr>
          <p:cNvPr id="420871" name="Rectangle 6"/>
          <p:cNvSpPr>
            <a:spLocks/>
          </p:cNvSpPr>
          <p:nvPr/>
        </p:nvSpPr>
        <p:spPr bwMode="auto">
          <a:xfrm>
            <a:off x="9421813" y="6045200"/>
            <a:ext cx="3103562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24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0   1   1   0   0   1   0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367088" y="7543800"/>
            <a:ext cx="544512" cy="433388"/>
            <a:chOff x="529" y="17"/>
            <a:chExt cx="343" cy="272"/>
          </a:xfrm>
        </p:grpSpPr>
        <p:sp>
          <p:nvSpPr>
            <p:cNvPr id="420878" name="Line 7"/>
            <p:cNvSpPr>
              <a:spLocks noChangeShapeType="1"/>
            </p:cNvSpPr>
            <p:nvPr/>
          </p:nvSpPr>
          <p:spPr bwMode="auto">
            <a:xfrm rot="10800000" flipH="1">
              <a:off x="529" y="17"/>
              <a:ext cx="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20879" name="Line 8"/>
            <p:cNvSpPr>
              <a:spLocks noChangeShapeType="1"/>
            </p:cNvSpPr>
            <p:nvPr/>
          </p:nvSpPr>
          <p:spPr bwMode="auto">
            <a:xfrm rot="10800000" flipH="1">
              <a:off x="616" y="289"/>
              <a:ext cx="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pic>
        <p:nvPicPr>
          <p:cNvPr id="420873" name="Picture 10"/>
          <p:cNvPicPr>
            <a:picLocks noChangeArrowheads="1"/>
          </p:cNvPicPr>
          <p:nvPr/>
        </p:nvPicPr>
        <p:blipFill>
          <a:blip r:embed="rId4"/>
          <a:srcRect l="1224" t="262" r="10611"/>
          <a:stretch>
            <a:fillRect/>
          </a:stretch>
        </p:blipFill>
        <p:spPr bwMode="auto">
          <a:xfrm>
            <a:off x="9436100" y="7505700"/>
            <a:ext cx="2743200" cy="987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0874" name="Line 11"/>
          <p:cNvSpPr>
            <a:spLocks noChangeShapeType="1"/>
          </p:cNvSpPr>
          <p:nvPr/>
        </p:nvSpPr>
        <p:spPr bwMode="auto">
          <a:xfrm>
            <a:off x="12306300" y="7645400"/>
            <a:ext cx="0" cy="723900"/>
          </a:xfrm>
          <a:prstGeom prst="line">
            <a:avLst/>
          </a:prstGeom>
          <a:noFill/>
          <a:ln w="12700">
            <a:solidFill>
              <a:srgbClr val="D90B00"/>
            </a:solidFill>
            <a:miter lim="800000"/>
            <a:headEnd type="stealth" w="med" len="med"/>
            <a:tailEnd type="stealth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0875" name="Line 12"/>
          <p:cNvSpPr>
            <a:spLocks noChangeShapeType="1"/>
          </p:cNvSpPr>
          <p:nvPr/>
        </p:nvSpPr>
        <p:spPr bwMode="auto">
          <a:xfrm>
            <a:off x="9359900" y="7632700"/>
            <a:ext cx="0" cy="254000"/>
          </a:xfrm>
          <a:prstGeom prst="line">
            <a:avLst/>
          </a:prstGeom>
          <a:noFill/>
          <a:ln w="12700">
            <a:solidFill>
              <a:srgbClr val="D90B00"/>
            </a:solidFill>
            <a:miter lim="800000"/>
            <a:headEnd type="stealth" w="med" len="med"/>
            <a:tailEnd type="stealth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0876" name="Rectangle 13"/>
          <p:cNvSpPr>
            <a:spLocks/>
          </p:cNvSpPr>
          <p:nvPr/>
        </p:nvSpPr>
        <p:spPr bwMode="auto">
          <a:xfrm>
            <a:off x="8983663" y="7581900"/>
            <a:ext cx="35560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1800">
                <a:solidFill>
                  <a:srgbClr val="A408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4.5</a:t>
            </a:r>
          </a:p>
        </p:txBody>
      </p:sp>
      <p:sp>
        <p:nvSpPr>
          <p:cNvPr id="420877" name="Rectangle 14"/>
          <p:cNvSpPr>
            <a:spLocks/>
          </p:cNvSpPr>
          <p:nvPr/>
        </p:nvSpPr>
        <p:spPr bwMode="auto">
          <a:xfrm>
            <a:off x="12299950" y="7823200"/>
            <a:ext cx="269875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1800">
                <a:solidFill>
                  <a:srgbClr val="A408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 bldLvl="5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890" name="Group 4"/>
          <p:cNvGrpSpPr>
            <a:grpSpLocks/>
          </p:cNvGrpSpPr>
          <p:nvPr/>
        </p:nvGrpSpPr>
        <p:grpSpPr bwMode="auto">
          <a:xfrm>
            <a:off x="4394200" y="3060700"/>
            <a:ext cx="7874000" cy="5626100"/>
            <a:chOff x="0" y="0"/>
            <a:chExt cx="4960" cy="3544"/>
          </a:xfrm>
        </p:grpSpPr>
        <p:sp>
          <p:nvSpPr>
            <p:cNvPr id="421903" name="Rectangle 1"/>
            <p:cNvSpPr>
              <a:spLocks/>
            </p:cNvSpPr>
            <p:nvPr/>
          </p:nvSpPr>
          <p:spPr bwMode="auto">
            <a:xfrm>
              <a:off x="0" y="0"/>
              <a:ext cx="4960" cy="3544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latinLnBrk="0"/>
              <a:endParaRPr kumimoji="0"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endParaRPr>
            </a:p>
          </p:txBody>
        </p:sp>
        <p:pic>
          <p:nvPicPr>
            <p:cNvPr id="42190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6" y="896"/>
              <a:ext cx="3824" cy="26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421905" name="Rectangle 3"/>
            <p:cNvSpPr>
              <a:spLocks/>
            </p:cNvSpPr>
            <p:nvPr/>
          </p:nvSpPr>
          <p:spPr bwMode="auto">
            <a:xfrm>
              <a:off x="2688" y="928"/>
              <a:ext cx="2176" cy="2560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latinLnBrk="0"/>
              <a:endParaRPr kumimoji="0"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endParaRPr>
            </a:p>
          </p:txBody>
        </p:sp>
      </p:grpSp>
      <p:sp>
        <p:nvSpPr>
          <p:cNvPr id="421891" name="Rectangle 5"/>
          <p:cNvSpPr>
            <a:spLocks noGrp="1" noChangeArrowheads="1"/>
          </p:cNvSpPr>
          <p:nvPr>
            <p:ph type="title"/>
          </p:nvPr>
        </p:nvSpPr>
        <p:spPr>
          <a:xfrm>
            <a:off x="355600" y="8001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단원자 레이저를 이용한 저잡음 광통신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49300" y="3733800"/>
            <a:ext cx="3606800" cy="47879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단원자 레이저의 출력광을 이용하면 잡음이 줄어듬</a:t>
            </a:r>
          </a:p>
          <a:p>
            <a:pPr eaLnBrk="1" hangingPunct="1"/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일반 광통신보다 펄스당 작은 수의 광자를 사용해도 동일한 수준의 신호</a:t>
            </a:r>
            <a:r>
              <a:rPr lang="en-US" altLang="ko-KR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/</a:t>
            </a:r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잡음 비를 얻게 됨</a:t>
            </a:r>
          </a:p>
          <a:p>
            <a:pPr eaLnBrk="1" hangingPunct="1"/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에너지 절감 가능</a:t>
            </a:r>
          </a:p>
        </p:txBody>
      </p:sp>
      <p:grpSp>
        <p:nvGrpSpPr>
          <p:cNvPr id="421893" name="Group 9"/>
          <p:cNvGrpSpPr>
            <a:grpSpLocks/>
          </p:cNvGrpSpPr>
          <p:nvPr/>
        </p:nvGrpSpPr>
        <p:grpSpPr bwMode="auto">
          <a:xfrm>
            <a:off x="9002713" y="3136900"/>
            <a:ext cx="3103562" cy="1155700"/>
            <a:chOff x="0" y="0"/>
            <a:chExt cx="1954" cy="728"/>
          </a:xfrm>
        </p:grpSpPr>
        <p:sp>
          <p:nvSpPr>
            <p:cNvPr id="421901" name="Freeform 7"/>
            <p:cNvSpPr>
              <a:spLocks/>
            </p:cNvSpPr>
            <p:nvPr/>
          </p:nvSpPr>
          <p:spPr bwMode="auto">
            <a:xfrm>
              <a:off x="0" y="376"/>
              <a:ext cx="1712" cy="352"/>
            </a:xfrm>
            <a:custGeom>
              <a:avLst/>
              <a:gdLst>
                <a:gd name="T0" fmla="*/ 0 w 21600"/>
                <a:gd name="T1" fmla="*/ 344 h 21600"/>
                <a:gd name="T2" fmla="*/ 240 w 21600"/>
                <a:gd name="T3" fmla="*/ 344 h 21600"/>
                <a:gd name="T4" fmla="*/ 240 w 21600"/>
                <a:gd name="T5" fmla="*/ 0 h 21600"/>
                <a:gd name="T6" fmla="*/ 712 w 21600"/>
                <a:gd name="T7" fmla="*/ 0 h 21600"/>
                <a:gd name="T8" fmla="*/ 712 w 21600"/>
                <a:gd name="T9" fmla="*/ 352 h 21600"/>
                <a:gd name="T10" fmla="*/ 992 w 21600"/>
                <a:gd name="T11" fmla="*/ 352 h 21600"/>
                <a:gd name="T12" fmla="*/ 1240 w 21600"/>
                <a:gd name="T13" fmla="*/ 352 h 21600"/>
                <a:gd name="T14" fmla="*/ 1240 w 21600"/>
                <a:gd name="T15" fmla="*/ 0 h 21600"/>
                <a:gd name="T16" fmla="*/ 1488 w 21600"/>
                <a:gd name="T17" fmla="*/ 0 h 21600"/>
                <a:gd name="T18" fmla="*/ 1488 w 21600"/>
                <a:gd name="T19" fmla="*/ 344 h 21600"/>
                <a:gd name="T20" fmla="*/ 1712 w 21600"/>
                <a:gd name="T21" fmla="*/ 344 h 216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600"/>
                <a:gd name="T34" fmla="*/ 0 h 21600"/>
                <a:gd name="T35" fmla="*/ 21600 w 21600"/>
                <a:gd name="T36" fmla="*/ 21600 h 216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600" h="21600">
                  <a:moveTo>
                    <a:pt x="0" y="21109"/>
                  </a:moveTo>
                  <a:lnTo>
                    <a:pt x="3028" y="21109"/>
                  </a:lnTo>
                  <a:lnTo>
                    <a:pt x="3028" y="0"/>
                  </a:lnTo>
                  <a:lnTo>
                    <a:pt x="8983" y="0"/>
                  </a:lnTo>
                  <a:lnTo>
                    <a:pt x="8983" y="21600"/>
                  </a:lnTo>
                  <a:lnTo>
                    <a:pt x="12516" y="21600"/>
                  </a:lnTo>
                  <a:lnTo>
                    <a:pt x="15645" y="21600"/>
                  </a:lnTo>
                  <a:lnTo>
                    <a:pt x="15645" y="0"/>
                  </a:lnTo>
                  <a:lnTo>
                    <a:pt x="18774" y="0"/>
                  </a:lnTo>
                  <a:lnTo>
                    <a:pt x="18774" y="21109"/>
                  </a:lnTo>
                  <a:lnTo>
                    <a:pt x="21600" y="21109"/>
                  </a:ln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 type="arrow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latinLnBrk="0"/>
              <a:endParaRPr kumimoji="0"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endParaRPr>
            </a:p>
          </p:txBody>
        </p:sp>
        <p:sp>
          <p:nvSpPr>
            <p:cNvPr id="421902" name="Rectangle 8"/>
            <p:cNvSpPr>
              <a:spLocks/>
            </p:cNvSpPr>
            <p:nvPr/>
          </p:nvSpPr>
          <p:spPr bwMode="auto">
            <a:xfrm>
              <a:off x="0" y="0"/>
              <a:ext cx="195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2400">
                  <a:solidFill>
                    <a:schemeClr val="tx1"/>
                  </a:solidFill>
                  <a:latin typeface="한컴돋움" pitchFamily="-1" charset="-127"/>
                  <a:ea typeface="한컴돋움" pitchFamily="-1" charset="-127"/>
                  <a:cs typeface="한컴돋움" pitchFamily="-1" charset="-127"/>
                </a:rPr>
                <a:t>0   1   1   0   0   1   0</a:t>
              </a:r>
            </a:p>
          </p:txBody>
        </p:sp>
      </p:grpSp>
      <p:sp>
        <p:nvSpPr>
          <p:cNvPr id="421894" name="Rectangle 10"/>
          <p:cNvSpPr>
            <a:spLocks/>
          </p:cNvSpPr>
          <p:nvPr/>
        </p:nvSpPr>
        <p:spPr bwMode="auto">
          <a:xfrm>
            <a:off x="6134100" y="6083300"/>
            <a:ext cx="957263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ko-KR" altLang="en-US" sz="1400">
                <a:solidFill>
                  <a:srgbClr val="2B4714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일반 레이저</a:t>
            </a:r>
          </a:p>
        </p:txBody>
      </p:sp>
      <p:sp>
        <p:nvSpPr>
          <p:cNvPr id="421895" name="Rectangle 11"/>
          <p:cNvSpPr>
            <a:spLocks/>
          </p:cNvSpPr>
          <p:nvPr/>
        </p:nvSpPr>
        <p:spPr bwMode="auto">
          <a:xfrm>
            <a:off x="6076950" y="7277100"/>
            <a:ext cx="1136650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ko-KR" altLang="en-US" sz="1400">
                <a:solidFill>
                  <a:srgbClr val="002D99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단원자 레이저</a:t>
            </a:r>
          </a:p>
        </p:txBody>
      </p:sp>
      <p:grpSp>
        <p:nvGrpSpPr>
          <p:cNvPr id="421896" name="Group 15"/>
          <p:cNvGrpSpPr>
            <a:grpSpLocks/>
          </p:cNvGrpSpPr>
          <p:nvPr/>
        </p:nvGrpSpPr>
        <p:grpSpPr bwMode="auto">
          <a:xfrm>
            <a:off x="8978900" y="4810125"/>
            <a:ext cx="3049588" cy="3467100"/>
            <a:chOff x="0" y="0"/>
            <a:chExt cx="1921" cy="2184"/>
          </a:xfrm>
        </p:grpSpPr>
        <p:pic>
          <p:nvPicPr>
            <p:cNvPr id="421898" name="Picture 12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" y="790"/>
              <a:ext cx="1920" cy="6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421899" name="Picture 13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1584"/>
              <a:ext cx="1920" cy="6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421900" name="Picture 14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0" y="0"/>
              <a:ext cx="1911" cy="6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421897" name="Rectangle 16"/>
          <p:cNvSpPr>
            <a:spLocks/>
          </p:cNvSpPr>
          <p:nvPr/>
        </p:nvSpPr>
        <p:spPr bwMode="auto">
          <a:xfrm>
            <a:off x="5767388" y="4800600"/>
            <a:ext cx="1843087" cy="2159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1400">
                <a:solidFill>
                  <a:srgbClr val="D90B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 </a:t>
            </a:r>
            <a:r>
              <a:rPr kumimoji="0" lang="ko-KR" altLang="en-US" sz="1400">
                <a:solidFill>
                  <a:srgbClr val="D90B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백열등          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Line 1"/>
          <p:cNvSpPr>
            <a:spLocks noChangeShapeType="1"/>
          </p:cNvSpPr>
          <p:nvPr/>
        </p:nvSpPr>
        <p:spPr bwMode="auto">
          <a:xfrm rot="10800000">
            <a:off x="8102600" y="8164513"/>
            <a:ext cx="2705100" cy="1587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stealth" w="med" len="med"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2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단광자 피스톨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768600"/>
            <a:ext cx="5384800" cy="58420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필요할 때만 단일 광자를 발생하는 장치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주문형 단광자 발생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광자가 있고 없고로 디지털 신호를 인코딩할 수 있음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광자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  <a:sym typeface="Times New Roman" pitchFamily="-1" charset="0"/>
              </a:rPr>
              <a:t>1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개만으로도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  <a:sym typeface="Times New Roman" pitchFamily="-1" charset="0"/>
              </a:rPr>
              <a:t>1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비트의 정보기록 가능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에너지 대폭 절감</a:t>
            </a:r>
          </a:p>
        </p:txBody>
      </p:sp>
      <p:sp>
        <p:nvSpPr>
          <p:cNvPr id="422917" name="Freeform 4"/>
          <p:cNvSpPr>
            <a:spLocks/>
          </p:cNvSpPr>
          <p:nvPr/>
        </p:nvSpPr>
        <p:spPr bwMode="auto">
          <a:xfrm>
            <a:off x="8102600" y="7010400"/>
            <a:ext cx="2717800" cy="558800"/>
          </a:xfrm>
          <a:custGeom>
            <a:avLst/>
            <a:gdLst>
              <a:gd name="T0" fmla="*/ 0 w 21600"/>
              <a:gd name="T1" fmla="*/ 546098 h 21600"/>
              <a:gd name="T2" fmla="*/ 380995 w 21600"/>
              <a:gd name="T3" fmla="*/ 546098 h 21600"/>
              <a:gd name="T4" fmla="*/ 380995 w 21600"/>
              <a:gd name="T5" fmla="*/ 0 h 21600"/>
              <a:gd name="T6" fmla="*/ 1130278 w 21600"/>
              <a:gd name="T7" fmla="*/ 0 h 21600"/>
              <a:gd name="T8" fmla="*/ 1130278 w 21600"/>
              <a:gd name="T9" fmla="*/ 558800 h 21600"/>
              <a:gd name="T10" fmla="*/ 1574814 w 21600"/>
              <a:gd name="T11" fmla="*/ 558800 h 21600"/>
              <a:gd name="T12" fmla="*/ 1968518 w 21600"/>
              <a:gd name="T13" fmla="*/ 558800 h 21600"/>
              <a:gd name="T14" fmla="*/ 1968518 w 21600"/>
              <a:gd name="T15" fmla="*/ 0 h 21600"/>
              <a:gd name="T16" fmla="*/ 2362221 w 21600"/>
              <a:gd name="T17" fmla="*/ 0 h 21600"/>
              <a:gd name="T18" fmla="*/ 2362221 w 21600"/>
              <a:gd name="T19" fmla="*/ 546098 h 21600"/>
              <a:gd name="T20" fmla="*/ 2717800 w 21600"/>
              <a:gd name="T21" fmla="*/ 546098 h 2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600"/>
              <a:gd name="T34" fmla="*/ 0 h 21600"/>
              <a:gd name="T35" fmla="*/ 21600 w 21600"/>
              <a:gd name="T36" fmla="*/ 21600 h 2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600" h="21600">
                <a:moveTo>
                  <a:pt x="0" y="21109"/>
                </a:moveTo>
                <a:lnTo>
                  <a:pt x="3028" y="21109"/>
                </a:lnTo>
                <a:lnTo>
                  <a:pt x="3028" y="0"/>
                </a:lnTo>
                <a:lnTo>
                  <a:pt x="8983" y="0"/>
                </a:lnTo>
                <a:lnTo>
                  <a:pt x="8983" y="21600"/>
                </a:lnTo>
                <a:lnTo>
                  <a:pt x="12516" y="21600"/>
                </a:lnTo>
                <a:lnTo>
                  <a:pt x="15645" y="21600"/>
                </a:lnTo>
                <a:lnTo>
                  <a:pt x="15645" y="0"/>
                </a:lnTo>
                <a:lnTo>
                  <a:pt x="18774" y="0"/>
                </a:lnTo>
                <a:lnTo>
                  <a:pt x="18774" y="21109"/>
                </a:lnTo>
                <a:lnTo>
                  <a:pt x="21600" y="21109"/>
                </a:ln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latinLnBrk="0"/>
            <a:endParaRPr kumimoji="0" lang="ko-KR" altLang="en-US">
              <a:latin typeface="한컴돋움" pitchFamily="-1" charset="-127"/>
              <a:ea typeface="한컴돋움" pitchFamily="-1" charset="-127"/>
              <a:cs typeface="한컴돋움" pitchFamily="-1" charset="-127"/>
            </a:endParaRPr>
          </a:p>
        </p:txBody>
      </p:sp>
      <p:sp>
        <p:nvSpPr>
          <p:cNvPr id="422918" name="Line 5"/>
          <p:cNvSpPr>
            <a:spLocks noChangeShapeType="1"/>
          </p:cNvSpPr>
          <p:nvPr/>
        </p:nvSpPr>
        <p:spPr bwMode="auto">
          <a:xfrm>
            <a:off x="8864600" y="70231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2919" name="Rectangle 6"/>
          <p:cNvSpPr>
            <a:spLocks/>
          </p:cNvSpPr>
          <p:nvPr/>
        </p:nvSpPr>
        <p:spPr bwMode="auto">
          <a:xfrm>
            <a:off x="8393113" y="7893050"/>
            <a:ext cx="2184400" cy="492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3200">
                <a:solidFill>
                  <a:srgbClr val="D90B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☀☀       ☀</a:t>
            </a:r>
          </a:p>
        </p:txBody>
      </p:sp>
      <p:sp>
        <p:nvSpPr>
          <p:cNvPr id="422920" name="Rectangle 7"/>
          <p:cNvSpPr>
            <a:spLocks/>
          </p:cNvSpPr>
          <p:nvPr/>
        </p:nvSpPr>
        <p:spPr bwMode="auto">
          <a:xfrm>
            <a:off x="8101013" y="6413500"/>
            <a:ext cx="3103562" cy="369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24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0   1   1   0   0   1   0</a:t>
            </a:r>
          </a:p>
        </p:txBody>
      </p:sp>
      <p:pic>
        <p:nvPicPr>
          <p:cNvPr id="422921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3575" y="3108325"/>
            <a:ext cx="4889500" cy="2787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2922" name="Rectangle 9"/>
          <p:cNvSpPr>
            <a:spLocks/>
          </p:cNvSpPr>
          <p:nvPr/>
        </p:nvSpPr>
        <p:spPr bwMode="auto">
          <a:xfrm rot="-1739999">
            <a:off x="10780713" y="3627438"/>
            <a:ext cx="2185987" cy="492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en-US" altLang="ko-KR" sz="3200">
                <a:solidFill>
                  <a:srgbClr val="D90B00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☀☀       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bldLvl="5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1"/>
          <p:cNvSpPr>
            <a:spLocks/>
          </p:cNvSpPr>
          <p:nvPr/>
        </p:nvSpPr>
        <p:spPr bwMode="auto">
          <a:xfrm>
            <a:off x="6235700" y="2044700"/>
            <a:ext cx="6311900" cy="7112000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latinLnBrk="0"/>
            <a:endParaRPr kumimoji="0" lang="ko-KR" altLang="en-US">
              <a:latin typeface="한컴돋움" pitchFamily="-1" charset="-127"/>
              <a:ea typeface="한컴돋움" pitchFamily="-1" charset="-127"/>
              <a:cs typeface="한컴돋움" pitchFamily="-1" charset="-127"/>
            </a:endParaRPr>
          </a:p>
        </p:txBody>
      </p:sp>
      <p:pic>
        <p:nvPicPr>
          <p:cNvPr id="4239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7900" y="5499100"/>
            <a:ext cx="4749800" cy="2171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3940" name="Rectangle 3"/>
          <p:cNvSpPr>
            <a:spLocks noGrp="1" noChangeArrowheads="1"/>
          </p:cNvSpPr>
          <p:nvPr>
            <p:ph type="title"/>
          </p:nvPr>
        </p:nvSpPr>
        <p:spPr>
          <a:xfrm>
            <a:off x="355600" y="635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서울대의 단광자 발생장치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2806700"/>
            <a:ext cx="5130800" cy="5270500"/>
          </a:xfrm>
        </p:spPr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루비듐 원자 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1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개를 포획하여 사용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공진기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(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두개의 거울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) 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안에 원자를 포획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필요할 때 마다 원자를 여기 시켜 단일 광자를 발생시킴</a:t>
            </a:r>
          </a:p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효율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x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반복률 면에서 세계 최고 수준</a:t>
            </a:r>
          </a:p>
        </p:txBody>
      </p:sp>
      <p:pic>
        <p:nvPicPr>
          <p:cNvPr id="42394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37300" y="2092325"/>
            <a:ext cx="6184900" cy="314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3943" name="Rectangle 6"/>
          <p:cNvSpPr>
            <a:spLocks/>
          </p:cNvSpPr>
          <p:nvPr/>
        </p:nvSpPr>
        <p:spPr bwMode="auto">
          <a:xfrm>
            <a:off x="6883400" y="3492500"/>
            <a:ext cx="1473200" cy="1092200"/>
          </a:xfrm>
          <a:prstGeom prst="rect">
            <a:avLst/>
          </a:prstGeom>
          <a:noFill/>
          <a:ln w="15875">
            <a:solidFill>
              <a:srgbClr val="A40800"/>
            </a:solidFill>
            <a:prstDash val="sysDot"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latinLnBrk="0"/>
            <a:endParaRPr kumimoji="0" lang="ko-KR" altLang="en-US">
              <a:latin typeface="한컴돋움" pitchFamily="-1" charset="-127"/>
              <a:ea typeface="한컴돋움" pitchFamily="-1" charset="-127"/>
              <a:cs typeface="한컴돋움" pitchFamily="-1" charset="-127"/>
            </a:endParaRPr>
          </a:p>
        </p:txBody>
      </p:sp>
      <p:sp>
        <p:nvSpPr>
          <p:cNvPr id="423944" name="Rectangle 7"/>
          <p:cNvSpPr>
            <a:spLocks/>
          </p:cNvSpPr>
          <p:nvPr/>
        </p:nvSpPr>
        <p:spPr bwMode="auto">
          <a:xfrm>
            <a:off x="7327900" y="5499100"/>
            <a:ext cx="4876800" cy="2159000"/>
          </a:xfrm>
          <a:prstGeom prst="rect">
            <a:avLst/>
          </a:prstGeom>
          <a:noFill/>
          <a:ln w="25400">
            <a:solidFill>
              <a:srgbClr val="A40800"/>
            </a:solidFill>
            <a:prstDash val="sysDot"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latinLnBrk="0"/>
            <a:endParaRPr kumimoji="0" lang="ko-KR" altLang="en-US">
              <a:latin typeface="한컴돋움" pitchFamily="-1" charset="-127"/>
              <a:ea typeface="한컴돋움" pitchFamily="-1" charset="-127"/>
              <a:cs typeface="한컴돋움" pitchFamily="-1" charset="-127"/>
            </a:endParaRPr>
          </a:p>
        </p:txBody>
      </p:sp>
      <p:sp>
        <p:nvSpPr>
          <p:cNvPr id="423945" name="Line 8"/>
          <p:cNvSpPr>
            <a:spLocks noChangeShapeType="1"/>
          </p:cNvSpPr>
          <p:nvPr/>
        </p:nvSpPr>
        <p:spPr bwMode="auto">
          <a:xfrm>
            <a:off x="6896100" y="4584700"/>
            <a:ext cx="419100" cy="3073400"/>
          </a:xfrm>
          <a:prstGeom prst="line">
            <a:avLst/>
          </a:prstGeom>
          <a:noFill/>
          <a:ln w="15875">
            <a:solidFill>
              <a:srgbClr val="A40800"/>
            </a:solidFill>
            <a:prstDash val="sysDot"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23946" name="Line 9"/>
          <p:cNvSpPr>
            <a:spLocks noChangeShapeType="1"/>
          </p:cNvSpPr>
          <p:nvPr/>
        </p:nvSpPr>
        <p:spPr bwMode="auto">
          <a:xfrm>
            <a:off x="8356600" y="3492500"/>
            <a:ext cx="3835400" cy="2005013"/>
          </a:xfrm>
          <a:prstGeom prst="line">
            <a:avLst/>
          </a:prstGeom>
          <a:noFill/>
          <a:ln w="15875">
            <a:solidFill>
              <a:srgbClr val="A40800"/>
            </a:solidFill>
            <a:prstDash val="sysDot"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52234" name="Picture 10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80500" y="7156450"/>
            <a:ext cx="3441700" cy="2006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build="p" bldLvl="5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단광자의 응용</a:t>
            </a:r>
            <a:r>
              <a:rPr lang="en-US" altLang="ko-KR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: </a:t>
            </a:r>
            <a:r>
              <a:rPr lang="ko-KR" altLang="en-US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양자 통신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2489200"/>
            <a:ext cx="10642600" cy="1943100"/>
          </a:xfrm>
        </p:spPr>
        <p:txBody>
          <a:bodyPr/>
          <a:lstStyle/>
          <a:p>
            <a:pPr eaLnBrk="1" hangingPunct="1">
              <a:lnSpc>
                <a:spcPct val="20000"/>
              </a:lnSpc>
            </a:pPr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단광자에 양자정보를 인코딩 하여 광섬유를 통해 전송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양자정보는 편광의 중첩</a:t>
            </a:r>
            <a:r>
              <a:rPr lang="en-US" altLang="ko-KR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, </a:t>
            </a:r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광자수의 중첩 등으로 인코딩 됨</a:t>
            </a:r>
          </a:p>
          <a:p>
            <a:pPr eaLnBrk="1" hangingPunct="1">
              <a:lnSpc>
                <a:spcPct val="20000"/>
              </a:lnSpc>
            </a:pPr>
            <a:r>
              <a:rPr lang="ko-KR" altLang="en-US" sz="2400"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단광자를 통해 양자메모리에 정보를 쓰고 읽음</a:t>
            </a:r>
          </a:p>
        </p:txBody>
      </p:sp>
      <p:pic>
        <p:nvPicPr>
          <p:cNvPr id="42496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5275" y="4610100"/>
            <a:ext cx="9867900" cy="4178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24965" name="Rectangle 4"/>
          <p:cNvSpPr>
            <a:spLocks/>
          </p:cNvSpPr>
          <p:nvPr/>
        </p:nvSpPr>
        <p:spPr bwMode="auto">
          <a:xfrm>
            <a:off x="6985000" y="8280400"/>
            <a:ext cx="957263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ko-KR" altLang="en-US" sz="14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양자 메모리</a:t>
            </a:r>
          </a:p>
        </p:txBody>
      </p:sp>
      <p:sp>
        <p:nvSpPr>
          <p:cNvPr id="424966" name="Rectangle 5"/>
          <p:cNvSpPr>
            <a:spLocks/>
          </p:cNvSpPr>
          <p:nvPr/>
        </p:nvSpPr>
        <p:spPr bwMode="auto">
          <a:xfrm>
            <a:off x="8623300" y="6540500"/>
            <a:ext cx="1136650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ko-KR" altLang="en-US" sz="14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양자정보 전송</a:t>
            </a:r>
          </a:p>
        </p:txBody>
      </p:sp>
      <p:sp>
        <p:nvSpPr>
          <p:cNvPr id="424967" name="Rectangle 6"/>
          <p:cNvSpPr>
            <a:spLocks/>
          </p:cNvSpPr>
          <p:nvPr/>
        </p:nvSpPr>
        <p:spPr bwMode="auto">
          <a:xfrm>
            <a:off x="2679700" y="7658100"/>
            <a:ext cx="1136650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pPr algn="ctr" latinLnBrk="0"/>
            <a:r>
              <a:rPr kumimoji="0" lang="ko-KR" altLang="en-US" sz="1400">
                <a:solidFill>
                  <a:schemeClr val="tx1"/>
                </a:solidFill>
                <a:latin typeface="한컴돋움" pitchFamily="-1" charset="-127"/>
                <a:ea typeface="한컴돋움" pitchFamily="-1" charset="-127"/>
                <a:cs typeface="한컴돋움" pitchFamily="-1" charset="-127"/>
              </a:rPr>
              <a:t>양자 네트워크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127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정보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=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전산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+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통신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476500"/>
            <a:ext cx="4635500" cy="61722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논리 게이트의 조합으로 양자 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CPU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가능 → 양자 컴퓨터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앞으로 정보처리는 양자 컴퓨터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,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통신 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네트워크 포함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)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등으로 발전할 것임</a:t>
            </a:r>
          </a:p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이를 위하여 더 높은 효율의 단광자 발생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,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메모리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,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양자 중계기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,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광자 검출기 등을 연구중</a:t>
            </a:r>
          </a:p>
        </p:txBody>
      </p:sp>
      <p:pic>
        <p:nvPicPr>
          <p:cNvPr id="42598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08700" y="2128838"/>
            <a:ext cx="6003925" cy="375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2598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00900" y="6205538"/>
            <a:ext cx="3835400" cy="2709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uild="p" bldLvl="5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381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보너스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: 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진공이란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?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73300"/>
            <a:ext cx="6286500" cy="57404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과거 진공은 빛과 물질이 없는 상태로 여겨졌음</a:t>
            </a:r>
          </a:p>
          <a:p>
            <a:pPr eaLnBrk="1" hangingPunct="1"/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20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세기에 양자역학이 나오면서 진공은 끊임없이 준입자가 생성 소멸을 반복하는 곳으로 알려짐</a:t>
            </a:r>
          </a:p>
          <a:p>
            <a:pPr eaLnBrk="1" hangingPunct="1"/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진공요동에 의해 진공도 에너지를 가짐 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제로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-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포인트 에너지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)</a:t>
            </a:r>
          </a:p>
          <a:p>
            <a:pPr eaLnBrk="1" hangingPunct="1"/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램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(Lamb) 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주파수 이동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, 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캐시미어</a:t>
            </a:r>
            <a:r>
              <a:rPr lang="en-US" altLang="ko-KR" sz="26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(Casimir) </a:t>
            </a:r>
            <a:r>
              <a:rPr lang="ko-KR" altLang="en-US" sz="2600">
                <a:latin typeface="Times New Roman" pitchFamily="-1" charset="0"/>
                <a:ea typeface="한컴돋움" pitchFamily="-1" charset="-127"/>
              </a:rPr>
              <a:t>힘 등으로 진공요동의 존재가 알려짐</a:t>
            </a:r>
          </a:p>
        </p:txBody>
      </p:sp>
      <p:pic>
        <p:nvPicPr>
          <p:cNvPr id="42701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750" y="5511800"/>
            <a:ext cx="3449638" cy="353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427013" name="Picture 4"/>
          <p:cNvPicPr>
            <a:picLocks noChangeAspect="1" noChangeArrowheads="1"/>
          </p:cNvPicPr>
          <p:nvPr/>
        </p:nvPicPr>
        <p:blipFill>
          <a:blip r:embed="rId3"/>
          <a:srcRect l="1607" t="1003" r="1929" b="2161"/>
          <a:stretch>
            <a:fillRect/>
          </a:stretch>
        </p:blipFill>
        <p:spPr bwMode="auto">
          <a:xfrm>
            <a:off x="8115300" y="2324100"/>
            <a:ext cx="3810000" cy="284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 bldLvl="5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1016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Times New Roman" pitchFamily="-1" charset="0"/>
                <a:ea typeface="한컴돋움" pitchFamily="-1" charset="-127"/>
              </a:rPr>
              <a:t>진공요동의 </a:t>
            </a:r>
            <a:r>
              <a:rPr lang="en-US" altLang="ko-KR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3</a:t>
            </a:r>
            <a:r>
              <a:rPr lang="ko-KR" altLang="en-US">
                <a:latin typeface="Times New Roman" pitchFamily="-1" charset="0"/>
                <a:ea typeface="한컴돋움" pitchFamily="-1" charset="-127"/>
              </a:rPr>
              <a:t>차원 구조 최초 관측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1981200"/>
            <a:ext cx="5143500" cy="7289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두 거울 사이에서 진공요동은 공간적으로 구조를 가질 것이라 예측</a:t>
            </a:r>
          </a:p>
          <a:p>
            <a:pPr eaLnBrk="1" hangingPunct="1"/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원자의 자발방출률이 진공요동의 세기에 비례한다는 점에 착안</a:t>
            </a:r>
          </a:p>
          <a:p>
            <a:pPr eaLnBrk="1" hangingPunct="1"/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원자의 위치를 </a:t>
            </a:r>
            <a:r>
              <a:rPr lang="en-US" altLang="ko-KR" sz="24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3</a:t>
            </a:r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차원적으로 바꿔가며 자발방출률을 측정함</a:t>
            </a:r>
          </a:p>
          <a:p>
            <a:pPr eaLnBrk="1" hangingPunct="1"/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실험적으로 진공요동의 </a:t>
            </a:r>
            <a:r>
              <a:rPr lang="en-US" altLang="ko-KR" sz="24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3</a:t>
            </a:r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차원 구조를 처음으로 관측</a:t>
            </a:r>
          </a:p>
          <a:p>
            <a:pPr eaLnBrk="1" hangingPunct="1"/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진공요동에 의한 전기장의 세기도 측정 </a:t>
            </a:r>
            <a:r>
              <a:rPr lang="en-US" altLang="ko-KR" sz="2400">
                <a:latin typeface="Times New Roman" pitchFamily="-1" charset="0"/>
                <a:ea typeface="Times New Roman" pitchFamily="-1" charset="0"/>
                <a:cs typeface="Times New Roman" pitchFamily="-1" charset="0"/>
              </a:rPr>
              <a:t>-  </a:t>
            </a:r>
            <a:r>
              <a:rPr lang="en-US" altLang="ko-KR" sz="2400">
                <a:latin typeface="Times New Roman" pitchFamily="-1" charset="0"/>
                <a:ea typeface="Times New Roman" pitchFamily="-1" charset="0"/>
                <a:cs typeface="Times New Roman" pitchFamily="-1" charset="0"/>
                <a:sym typeface="Times New Roman" pitchFamily="-1" charset="0"/>
              </a:rPr>
              <a:t>1 volt/cm </a:t>
            </a:r>
            <a:r>
              <a:rPr lang="ko-KR" altLang="en-US" sz="2400">
                <a:latin typeface="Times New Roman" pitchFamily="-1" charset="0"/>
                <a:ea typeface="한컴돋움" pitchFamily="-1" charset="-127"/>
              </a:rPr>
              <a:t>정도의 세기</a:t>
            </a:r>
          </a:p>
        </p:txBody>
      </p:sp>
      <p:pic>
        <p:nvPicPr>
          <p:cNvPr id="428036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0363" y="6931025"/>
            <a:ext cx="5372100" cy="189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28037" name="Group 8"/>
          <p:cNvGrpSpPr>
            <a:grpSpLocks/>
          </p:cNvGrpSpPr>
          <p:nvPr/>
        </p:nvGrpSpPr>
        <p:grpSpPr bwMode="auto">
          <a:xfrm>
            <a:off x="6289675" y="2774950"/>
            <a:ext cx="6223000" cy="3543300"/>
            <a:chOff x="0" y="0"/>
            <a:chExt cx="3919" cy="2231"/>
          </a:xfrm>
        </p:grpSpPr>
        <p:pic>
          <p:nvPicPr>
            <p:cNvPr id="428038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3"/>
              <a:ext cx="3919" cy="2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8039" name="Rectangle 5"/>
            <p:cNvSpPr>
              <a:spLocks/>
            </p:cNvSpPr>
            <p:nvPr/>
          </p:nvSpPr>
          <p:spPr bwMode="auto">
            <a:xfrm>
              <a:off x="3365" y="0"/>
              <a:ext cx="169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0639" bIns="0">
              <a:prstTxWarp prst="textNoShape">
                <a:avLst/>
              </a:prstTxWarp>
            </a:bodyPr>
            <a:lstStyle/>
            <a:p>
              <a:pPr marL="39688" latinLnBrk="0"/>
              <a:r>
                <a:rPr kumimoji="0" lang="en-US" altLang="ko-KR" sz="1800" b="1" i="1">
                  <a:solidFill>
                    <a:srgbClr val="000000"/>
                  </a:solidFill>
                  <a:latin typeface="Times New Roman" pitchFamily="-1" charset="0"/>
                  <a:ea typeface="Times New Roman" pitchFamily="-1" charset="0"/>
                  <a:cs typeface="Times New Roman" pitchFamily="-1" charset="0"/>
                  <a:sym typeface="Arial" pitchFamily="-1" charset="0"/>
                </a:rPr>
                <a:t>x</a:t>
              </a:r>
            </a:p>
          </p:txBody>
        </p:sp>
        <p:sp>
          <p:nvSpPr>
            <p:cNvPr id="428040" name="Rectangle 6"/>
            <p:cNvSpPr>
              <a:spLocks/>
            </p:cNvSpPr>
            <p:nvPr/>
          </p:nvSpPr>
          <p:spPr bwMode="auto">
            <a:xfrm>
              <a:off x="3222" y="513"/>
              <a:ext cx="169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0639" bIns="0">
              <a:prstTxWarp prst="textNoShape">
                <a:avLst/>
              </a:prstTxWarp>
            </a:bodyPr>
            <a:lstStyle/>
            <a:p>
              <a:pPr marL="39688" latinLnBrk="0"/>
              <a:r>
                <a:rPr kumimoji="0" lang="en-US" altLang="ko-KR" sz="1800" b="1" i="1">
                  <a:solidFill>
                    <a:srgbClr val="000000"/>
                  </a:solidFill>
                  <a:latin typeface="Times New Roman" pitchFamily="-1" charset="0"/>
                  <a:ea typeface="Times New Roman" pitchFamily="-1" charset="0"/>
                  <a:cs typeface="Times New Roman" pitchFamily="-1" charset="0"/>
                  <a:sym typeface="Arial" pitchFamily="-1" charset="0"/>
                </a:rPr>
                <a:t>y</a:t>
              </a:r>
            </a:p>
          </p:txBody>
        </p:sp>
        <p:sp>
          <p:nvSpPr>
            <p:cNvPr id="428041" name="Rectangle 7"/>
            <p:cNvSpPr>
              <a:spLocks/>
            </p:cNvSpPr>
            <p:nvPr/>
          </p:nvSpPr>
          <p:spPr bwMode="auto">
            <a:xfrm>
              <a:off x="3605" y="435"/>
              <a:ext cx="16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40639" bIns="0">
              <a:prstTxWarp prst="textNoShape">
                <a:avLst/>
              </a:prstTxWarp>
            </a:bodyPr>
            <a:lstStyle/>
            <a:p>
              <a:pPr marL="39688" latinLnBrk="0"/>
              <a:r>
                <a:rPr kumimoji="0" lang="en-US" altLang="ko-KR" sz="1800" b="1" i="1">
                  <a:solidFill>
                    <a:srgbClr val="000000"/>
                  </a:solidFill>
                  <a:latin typeface="Times New Roman" pitchFamily="-1" charset="0"/>
                  <a:ea typeface="Times New Roman" pitchFamily="-1" charset="0"/>
                  <a:cs typeface="Times New Roman" pitchFamily="-1" charset="0"/>
                  <a:sym typeface="Arial" pitchFamily="-1" charset="0"/>
                </a:rPr>
                <a:t>z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 bldLvl="5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1"/>
          <p:cNvSpPr>
            <a:spLocks noGrp="1" noChangeArrowheads="1"/>
          </p:cNvSpPr>
          <p:nvPr>
            <p:ph type="title"/>
          </p:nvPr>
        </p:nvSpPr>
        <p:spPr>
          <a:xfrm>
            <a:off x="355600" y="-38100"/>
            <a:ext cx="12293600" cy="24384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앞으로의 전망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2095500"/>
            <a:ext cx="4089400" cy="6172200"/>
          </a:xfrm>
        </p:spPr>
        <p:txBody>
          <a:bodyPr/>
          <a:lstStyle/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원자와 광자의 상호작용을 좀 더 정교히 제어하여 더 유용한 빛을 발생</a:t>
            </a:r>
          </a:p>
          <a:p>
            <a:pPr eaLnBrk="1" hangingPunct="1"/>
            <a:r>
              <a:rPr lang="ko-KR" altLang="en-US">
                <a:latin typeface="Arial" pitchFamily="-1" charset="0"/>
                <a:ea typeface="한컴돋움" pitchFamily="-1" charset="-127"/>
              </a:rPr>
              <a:t>양자 전산</a:t>
            </a:r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, 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양자 통신 등에 응용</a:t>
            </a:r>
          </a:p>
          <a:p>
            <a:pPr eaLnBrk="1" hangingPunct="1"/>
            <a:r>
              <a:rPr lang="en-US" altLang="ko-KR">
                <a:latin typeface="Arial" pitchFamily="-1" charset="0"/>
                <a:ea typeface="Arial" pitchFamily="-1" charset="0"/>
                <a:cs typeface="Arial" pitchFamily="-1" charset="0"/>
              </a:rPr>
              <a:t>21</a:t>
            </a:r>
            <a:r>
              <a:rPr lang="ko-KR" altLang="en-US">
                <a:latin typeface="Arial" pitchFamily="-1" charset="0"/>
                <a:ea typeface="한컴돋움" pitchFamily="-1" charset="-127"/>
              </a:rPr>
              <a:t>세기 정보 강국 건설에 일조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699000" y="2413000"/>
            <a:ext cx="3775075" cy="3025775"/>
            <a:chOff x="0" y="0"/>
            <a:chExt cx="2378" cy="1906"/>
          </a:xfrm>
        </p:grpSpPr>
        <p:pic>
          <p:nvPicPr>
            <p:cNvPr id="429078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2378" cy="17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429079" name="Rectangle 4"/>
            <p:cNvSpPr>
              <a:spLocks/>
            </p:cNvSpPr>
            <p:nvPr/>
          </p:nvSpPr>
          <p:spPr bwMode="auto">
            <a:xfrm>
              <a:off x="803" y="1732"/>
              <a:ext cx="874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1800">
                  <a:solidFill>
                    <a:schemeClr val="tx1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ENIAC, 1946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851900" y="2413000"/>
            <a:ext cx="3810000" cy="3035300"/>
            <a:chOff x="0" y="0"/>
            <a:chExt cx="2400" cy="1912"/>
          </a:xfrm>
        </p:grpSpPr>
        <p:sp>
          <p:nvSpPr>
            <p:cNvPr id="429076" name="Rectangle 6"/>
            <p:cNvSpPr>
              <a:spLocks/>
            </p:cNvSpPr>
            <p:nvPr/>
          </p:nvSpPr>
          <p:spPr bwMode="auto">
            <a:xfrm>
              <a:off x="766" y="1738"/>
              <a:ext cx="984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1800">
                  <a:solidFill>
                    <a:schemeClr val="tx1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APPLE I, 1976</a:t>
              </a:r>
            </a:p>
          </p:txBody>
        </p:sp>
        <p:pic>
          <p:nvPicPr>
            <p:cNvPr id="429077" name="Picture 7"/>
            <p:cNvPicPr>
              <a:picLocks noChangeAspect="1" noChangeArrowheads="1"/>
            </p:cNvPicPr>
            <p:nvPr/>
          </p:nvPicPr>
          <p:blipFill>
            <a:blip r:embed="rId3"/>
            <a:srcRect l="1910" t="1379" r="2547" b="5626"/>
            <a:stretch>
              <a:fillRect/>
            </a:stretch>
          </p:blipFill>
          <p:spPr bwMode="auto">
            <a:xfrm>
              <a:off x="0" y="0"/>
              <a:ext cx="2400" cy="17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711700" y="5638800"/>
            <a:ext cx="3759200" cy="3381375"/>
            <a:chOff x="0" y="0"/>
            <a:chExt cx="2368" cy="2130"/>
          </a:xfrm>
        </p:grpSpPr>
        <p:pic>
          <p:nvPicPr>
            <p:cNvPr id="429074" name="Picture 9"/>
            <p:cNvPicPr>
              <a:picLocks noChangeAspect="1" noChangeArrowheads="1"/>
            </p:cNvPicPr>
            <p:nvPr/>
          </p:nvPicPr>
          <p:blipFill>
            <a:blip r:embed="rId4"/>
            <a:srcRect l="336" t="1202" b="3874"/>
            <a:stretch>
              <a:fillRect/>
            </a:stretch>
          </p:blipFill>
          <p:spPr bwMode="auto">
            <a:xfrm>
              <a:off x="0" y="0"/>
              <a:ext cx="2368" cy="19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429075" name="Rectangle 10"/>
            <p:cNvSpPr>
              <a:spLocks/>
            </p:cNvSpPr>
            <p:nvPr/>
          </p:nvSpPr>
          <p:spPr bwMode="auto">
            <a:xfrm>
              <a:off x="786" y="1956"/>
              <a:ext cx="832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1800">
                  <a:solidFill>
                    <a:schemeClr val="tx1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Intel i7, 2009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8890000" y="5664200"/>
            <a:ext cx="3810000" cy="3355975"/>
            <a:chOff x="0" y="0"/>
            <a:chExt cx="2400" cy="2114"/>
          </a:xfrm>
        </p:grpSpPr>
        <p:pic>
          <p:nvPicPr>
            <p:cNvPr id="429072" name="Picture 12"/>
            <p:cNvPicPr>
              <a:picLocks noChangeAspect="1" noChangeArrowheads="1"/>
            </p:cNvPicPr>
            <p:nvPr/>
          </p:nvPicPr>
          <p:blipFill>
            <a:blip r:embed="rId5"/>
            <a:srcRect l="5739" t="943" r="3624"/>
            <a:stretch>
              <a:fillRect/>
            </a:stretch>
          </p:blipFill>
          <p:spPr bwMode="auto">
            <a:xfrm>
              <a:off x="0" y="0"/>
              <a:ext cx="2400" cy="19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429073" name="Rectangle 13"/>
            <p:cNvSpPr>
              <a:spLocks/>
            </p:cNvSpPr>
            <p:nvPr/>
          </p:nvSpPr>
          <p:spPr bwMode="auto">
            <a:xfrm>
              <a:off x="363" y="1940"/>
              <a:ext cx="1753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1800">
                  <a:solidFill>
                    <a:schemeClr val="tx1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Quantum Computer, 2040?</a:t>
              </a: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7937500" y="1733550"/>
            <a:ext cx="1524000" cy="7564438"/>
            <a:chOff x="0" y="0"/>
            <a:chExt cx="960" cy="4765"/>
          </a:xfrm>
        </p:grpSpPr>
        <p:grpSp>
          <p:nvGrpSpPr>
            <p:cNvPr id="429065" name="Group 17"/>
            <p:cNvGrpSpPr>
              <a:grpSpLocks/>
            </p:cNvGrpSpPr>
            <p:nvPr/>
          </p:nvGrpSpPr>
          <p:grpSpPr bwMode="auto">
            <a:xfrm>
              <a:off x="16" y="0"/>
              <a:ext cx="944" cy="388"/>
              <a:chOff x="0" y="0"/>
              <a:chExt cx="944" cy="388"/>
            </a:xfrm>
          </p:grpSpPr>
          <p:sp>
            <p:nvSpPr>
              <p:cNvPr id="429070" name="Freeform 15"/>
              <p:cNvSpPr>
                <a:spLocks/>
              </p:cNvSpPr>
              <p:nvPr/>
            </p:nvSpPr>
            <p:spPr bwMode="auto">
              <a:xfrm>
                <a:off x="0" y="283"/>
                <a:ext cx="944" cy="105"/>
              </a:xfrm>
              <a:custGeom>
                <a:avLst/>
                <a:gdLst>
                  <a:gd name="T0" fmla="*/ 0 w 21600"/>
                  <a:gd name="T1" fmla="*/ 105 h 21600"/>
                  <a:gd name="T2" fmla="*/ 472 w 21600"/>
                  <a:gd name="T3" fmla="*/ 0 h 21600"/>
                  <a:gd name="T4" fmla="*/ 944 w 21600"/>
                  <a:gd name="T5" fmla="*/ 10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>
                    <a:moveTo>
                      <a:pt x="0" y="21600"/>
                    </a:moveTo>
                    <a:cubicBezTo>
                      <a:pt x="1830" y="13292"/>
                      <a:pt x="5675" y="0"/>
                      <a:pt x="10800" y="0"/>
                    </a:cubicBezTo>
                    <a:cubicBezTo>
                      <a:pt x="15925" y="0"/>
                      <a:pt x="21600" y="21600"/>
                      <a:pt x="21600" y="21600"/>
                    </a:cubicBezTo>
                  </a:path>
                </a:pathLst>
              </a:custGeom>
              <a:noFill/>
              <a:ln w="25400">
                <a:solidFill>
                  <a:srgbClr val="D90B00"/>
                </a:solidFill>
                <a:miter lim="800000"/>
                <a:headEnd/>
                <a:tailEnd type="arrow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latinLnBrk="0"/>
                <a:endParaRPr kumimoji="0" lang="ko-KR" altLang="en-US">
                  <a:latin typeface="Arial" pitchFamily="-1" charset="0"/>
                  <a:ea typeface="한컴돋움" pitchFamily="-1" charset="-127"/>
                </a:endParaRPr>
              </a:p>
            </p:txBody>
          </p:sp>
          <p:sp>
            <p:nvSpPr>
              <p:cNvPr id="429071" name="Rectangle 16"/>
              <p:cNvSpPr>
                <a:spLocks/>
              </p:cNvSpPr>
              <p:nvPr/>
            </p:nvSpPr>
            <p:spPr bwMode="auto">
              <a:xfrm>
                <a:off x="239" y="0"/>
                <a:ext cx="420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pPr algn="ctr" latinLnBrk="0"/>
                <a:r>
                  <a:rPr kumimoji="0" lang="en-US" altLang="ko-KR" sz="2400">
                    <a:solidFill>
                      <a:srgbClr val="D90B00"/>
                    </a:solidFill>
                    <a:latin typeface="Arial" pitchFamily="-1" charset="0"/>
                    <a:ea typeface="Arial" pitchFamily="-1" charset="0"/>
                    <a:cs typeface="Arial" pitchFamily="-1" charset="0"/>
                  </a:rPr>
                  <a:t>30</a:t>
                </a:r>
                <a:r>
                  <a:rPr kumimoji="0" lang="ko-KR" altLang="en-US" sz="2400">
                    <a:solidFill>
                      <a:srgbClr val="D90B00"/>
                    </a:solidFill>
                    <a:latin typeface="Arial" pitchFamily="-1" charset="0"/>
                    <a:ea typeface="한컴돋움" pitchFamily="-1" charset="-127"/>
                  </a:rPr>
                  <a:t>년</a:t>
                </a:r>
              </a:p>
            </p:txBody>
          </p:sp>
        </p:grpSp>
        <p:sp>
          <p:nvSpPr>
            <p:cNvPr id="429066" name="Freeform 18"/>
            <p:cNvSpPr>
              <a:spLocks/>
            </p:cNvSpPr>
            <p:nvPr/>
          </p:nvSpPr>
          <p:spPr bwMode="auto">
            <a:xfrm rot="10800000" flipH="1">
              <a:off x="0" y="4416"/>
              <a:ext cx="944" cy="104"/>
            </a:xfrm>
            <a:custGeom>
              <a:avLst/>
              <a:gdLst>
                <a:gd name="T0" fmla="*/ 0 w 21600"/>
                <a:gd name="T1" fmla="*/ 104 h 21600"/>
                <a:gd name="T2" fmla="*/ 472 w 21600"/>
                <a:gd name="T3" fmla="*/ 0 h 21600"/>
                <a:gd name="T4" fmla="*/ 944 w 21600"/>
                <a:gd name="T5" fmla="*/ 104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>
                  <a:moveTo>
                    <a:pt x="0" y="21600"/>
                  </a:moveTo>
                  <a:cubicBezTo>
                    <a:pt x="1830" y="13292"/>
                    <a:pt x="5675" y="0"/>
                    <a:pt x="10800" y="0"/>
                  </a:cubicBezTo>
                  <a:cubicBezTo>
                    <a:pt x="15925" y="0"/>
                    <a:pt x="21600" y="21600"/>
                    <a:pt x="21600" y="21600"/>
                  </a:cubicBezTo>
                </a:path>
              </a:pathLst>
            </a:custGeom>
            <a:noFill/>
            <a:ln w="25400">
              <a:solidFill>
                <a:srgbClr val="D90B00"/>
              </a:solidFill>
              <a:miter lim="800000"/>
              <a:headEnd/>
              <a:tailEnd type="arrow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latinLnBrk="0"/>
              <a:endParaRPr kumimoji="0" lang="ko-KR" altLang="en-US">
                <a:latin typeface="Arial" pitchFamily="-1" charset="0"/>
                <a:ea typeface="한컴돋움" pitchFamily="-1" charset="-127"/>
              </a:endParaRPr>
            </a:p>
          </p:txBody>
        </p:sp>
        <p:sp>
          <p:nvSpPr>
            <p:cNvPr id="429067" name="Rectangle 19"/>
            <p:cNvSpPr>
              <a:spLocks/>
            </p:cNvSpPr>
            <p:nvPr/>
          </p:nvSpPr>
          <p:spPr bwMode="auto">
            <a:xfrm>
              <a:off x="255" y="4532"/>
              <a:ext cx="42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2400">
                  <a:solidFill>
                    <a:srgbClr val="D90B00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30</a:t>
              </a:r>
              <a:r>
                <a:rPr kumimoji="0" lang="ko-KR" altLang="en-US" sz="2400">
                  <a:solidFill>
                    <a:srgbClr val="D90B00"/>
                  </a:solidFill>
                  <a:latin typeface="Arial" pitchFamily="-1" charset="0"/>
                  <a:ea typeface="한컴돋움" pitchFamily="-1" charset="-127"/>
                </a:rPr>
                <a:t>년</a:t>
              </a:r>
            </a:p>
          </p:txBody>
        </p:sp>
        <p:sp>
          <p:nvSpPr>
            <p:cNvPr id="429068" name="Line 20"/>
            <p:cNvSpPr>
              <a:spLocks noChangeShapeType="1"/>
            </p:cNvSpPr>
            <p:nvPr/>
          </p:nvSpPr>
          <p:spPr bwMode="auto">
            <a:xfrm rot="10800000" flipH="1">
              <a:off x="72" y="2252"/>
              <a:ext cx="879" cy="312"/>
            </a:xfrm>
            <a:prstGeom prst="line">
              <a:avLst/>
            </a:prstGeom>
            <a:noFill/>
            <a:ln w="25400">
              <a:solidFill>
                <a:srgbClr val="D90B00"/>
              </a:solidFill>
              <a:miter lim="800000"/>
              <a:headEnd type="stealth" w="med" len="med"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29069" name="Rectangle 21"/>
            <p:cNvSpPr>
              <a:spLocks/>
            </p:cNvSpPr>
            <p:nvPr/>
          </p:nvSpPr>
          <p:spPr bwMode="auto">
            <a:xfrm>
              <a:off x="240" y="2148"/>
              <a:ext cx="42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latinLnBrk="0"/>
              <a:r>
                <a:rPr kumimoji="0" lang="en-US" altLang="ko-KR" sz="2400">
                  <a:solidFill>
                    <a:srgbClr val="D90B00"/>
                  </a:solidFill>
                  <a:latin typeface="Arial" pitchFamily="-1" charset="0"/>
                  <a:ea typeface="Arial" pitchFamily="-1" charset="0"/>
                  <a:cs typeface="Arial" pitchFamily="-1" charset="0"/>
                </a:rPr>
                <a:t>30</a:t>
              </a:r>
              <a:r>
                <a:rPr kumimoji="0" lang="ko-KR" altLang="en-US" sz="2400">
                  <a:solidFill>
                    <a:srgbClr val="D90B00"/>
                  </a:solidFill>
                  <a:latin typeface="Arial" pitchFamily="-1" charset="0"/>
                  <a:ea typeface="한컴돋움" pitchFamily="-1" charset="-127"/>
                </a:rPr>
                <a:t>년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build="p" bldLvl="5" autoUpdateAnimBg="0"/>
    </p:bldLst>
  </p:timing>
</p:sld>
</file>

<file path=ppt/theme/theme1.xml><?xml version="1.0" encoding="utf-8"?>
<a:theme xmlns:a="http://schemas.openxmlformats.org/drawingml/2006/main" name="제목 및 부제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부제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부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내 마스터1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내 마스터1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내 마스터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사진 - 수직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직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사진 - 수직 - 어둡게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직 - 어둡게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직 - 어둡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제목 - 중앙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- 중앙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- 중앙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사진 - 수평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평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사진 - 수평 - 어둡게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평 - 어둡게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평 - 어둡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제목 및 부제 - 사진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부제 - 사진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부제 - 사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제목 및 부제 - 사진 - 어둡게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부제 - 사진 - 어둡게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부제 - 사진 - 어둡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제목 및 구분점 - 오른쪽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오른쪽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오른쪽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제목 및 구분점 - 2열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2열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2열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제목 및 구분점 - 왼쪽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왼쪽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왼쪽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제목, 구분점 및 사진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, 구분점 및 사진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, 구분점 및 사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제목 및 부제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부제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부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구분점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구분점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구분점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빈 페이지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빈 페이지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빈 페이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빈 페이지 - 어둡게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빈 페이지 - 어둡게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빈 페이지 - 어둡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제목 - 상단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- 상단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- 상단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제목 - 상단 - 어둡게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- 상단 - 어둡게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- 상단 - 어둡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_구분점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구분점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구분점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제목 및 구분점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_제목 - 중앙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- 중앙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- 중앙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_제목 및 구분점">
  <a:themeElements>
    <a:clrScheme name="">
      <a:dk1>
        <a:srgbClr val="414141"/>
      </a:dk1>
      <a:lt1>
        <a:srgbClr val="FFFFFF"/>
      </a:lt1>
      <a:dk2>
        <a:srgbClr val="000000"/>
      </a:dk2>
      <a:lt2>
        <a:srgbClr val="808080"/>
      </a:lt2>
      <a:accent1>
        <a:srgbClr val="6C7472"/>
      </a:accent1>
      <a:accent2>
        <a:srgbClr val="333399"/>
      </a:accent2>
      <a:accent3>
        <a:srgbClr val="FFFFFF"/>
      </a:accent3>
      <a:accent4>
        <a:srgbClr val="363636"/>
      </a:accent4>
      <a:accent5>
        <a:srgbClr val="BABCBC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">
      <a:majorFont>
        <a:latin typeface="Gill Sans Light"/>
        <a:ea typeface="ヒラギノ角ゴ ProN W3"/>
        <a:cs typeface="ヒラギノ角ゴ ProN W3"/>
      </a:majorFont>
      <a:minorFont>
        <a:latin typeface="Gill Sans Ligh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_사진 - 수평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평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사진 - 수평으로 반사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평으로 반사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평으로 반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_사진 - 수직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직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사진 - 수직으로 반사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진 - 수직으로 반사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사진 - 수직으로 반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_제목 - 상단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- 상단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- 상단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빈 페이지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빈 페이지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빈 페이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_제목 및 구분점 - 왼쪽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왼쪽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왼쪽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제목 및 구분점 - 2열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2열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2열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1_제목 및 구분점 - 오른쪽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 및 구분점 - 오른쪽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 및 구분점 - 오른쪽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1_제목, 구분점 및 사진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제목, 구분점 및 사진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0"/>
            <a:cs typeface="ヒラギノ角ゴ ProN W3" charset="0"/>
            <a:sym typeface="Gill Sans Light" charset="0"/>
          </a:defRPr>
        </a:defPPr>
      </a:lstStyle>
    </a:lnDef>
  </a:objectDefaults>
  <a:extraClrSchemeLst>
    <a:extraClrScheme>
      <a:clrScheme name="제목, 구분점 및 사진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Pages>0</Pages>
  <Words>765</Words>
  <Characters>0</Characters>
  <Application>Microsoft Macintosh PowerPoint</Application>
  <PresentationFormat>Custom</PresentationFormat>
  <Lines>0</Lines>
  <Paragraphs>132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Design Template</vt:lpstr>
      </vt:variant>
      <vt:variant>
        <vt:i4>33</vt:i4>
      </vt:variant>
      <vt:variant>
        <vt:lpstr>Slide Titles</vt:lpstr>
      </vt:variant>
      <vt:variant>
        <vt:i4>23</vt:i4>
      </vt:variant>
    </vt:vector>
  </HeadingPairs>
  <TitlesOfParts>
    <vt:vector size="65" baseType="lpstr">
      <vt:lpstr>Gill Sans Light</vt:lpstr>
      <vt:lpstr>ヒラギノ角ゴ ProN W3</vt:lpstr>
      <vt:lpstr>Arial</vt:lpstr>
      <vt:lpstr>Gill Sans</vt:lpstr>
      <vt:lpstr>Calibri</vt:lpstr>
      <vt:lpstr>ＭＳ Ｐゴシック</vt:lpstr>
      <vt:lpstr>한컴돋움</vt:lpstr>
      <vt:lpstr>Times New Roman</vt:lpstr>
      <vt:lpstr>Times</vt:lpstr>
      <vt:lpstr>제목 및 부제</vt:lpstr>
      <vt:lpstr>내 마스터1</vt:lpstr>
      <vt:lpstr>사진 - 수직</vt:lpstr>
      <vt:lpstr>사진 - 수직 - 어둡게</vt:lpstr>
      <vt:lpstr>제목 - 중앙</vt:lpstr>
      <vt:lpstr>사진 - 수평</vt:lpstr>
      <vt:lpstr>사진 - 수평 - 어둡게</vt:lpstr>
      <vt:lpstr>제목 및 부제 - 사진</vt:lpstr>
      <vt:lpstr>제목 및 부제 - 사진 - 어둡게</vt:lpstr>
      <vt:lpstr>제목 및 구분점 - 오른쪽</vt:lpstr>
      <vt:lpstr>제목 및 구분점 - 2열</vt:lpstr>
      <vt:lpstr>제목 및 구분점 - 왼쪽</vt:lpstr>
      <vt:lpstr>제목, 구분점 및 사진</vt:lpstr>
      <vt:lpstr>1_제목 및 부제</vt:lpstr>
      <vt:lpstr>구분점</vt:lpstr>
      <vt:lpstr>빈 페이지</vt:lpstr>
      <vt:lpstr>빈 페이지 - 어둡게</vt:lpstr>
      <vt:lpstr>제목 - 상단</vt:lpstr>
      <vt:lpstr>제목 - 상단 - 어둡게</vt:lpstr>
      <vt:lpstr>1_구분점</vt:lpstr>
      <vt:lpstr>제목 및 구분점</vt:lpstr>
      <vt:lpstr>1_제목 - 중앙</vt:lpstr>
      <vt:lpstr>1_제목 및 구분점</vt:lpstr>
      <vt:lpstr>1_사진 - 수평</vt:lpstr>
      <vt:lpstr>사진 - 수평으로 반사</vt:lpstr>
      <vt:lpstr>1_사진 - 수직</vt:lpstr>
      <vt:lpstr>사진 - 수직으로 반사</vt:lpstr>
      <vt:lpstr>1_제목 - 상단</vt:lpstr>
      <vt:lpstr>1_빈 페이지</vt:lpstr>
      <vt:lpstr>1_제목 및 구분점 - 왼쪽</vt:lpstr>
      <vt:lpstr>1_제목 및 구분점 - 2열</vt:lpstr>
      <vt:lpstr>1_제목 및 구분점 - 오른쪽</vt:lpstr>
      <vt:lpstr>1_제목, 구분점 및 사진</vt:lpstr>
      <vt:lpstr>빛이 바꾸는 세상</vt:lpstr>
      <vt:lpstr>빛의 성질</vt:lpstr>
      <vt:lpstr>가장 오래된 빛</vt:lpstr>
      <vt:lpstr>빅뱅의 잔해</vt:lpstr>
      <vt:lpstr>빛의 스펙트럼</vt:lpstr>
      <vt:lpstr>우리는 어떤 빛을 볼 수 있나?</vt:lpstr>
      <vt:lpstr>왜 생물은 물이 대부분인가?</vt:lpstr>
      <vt:lpstr>빛의 이중성</vt:lpstr>
      <vt:lpstr>아인슈타인과 빛</vt:lpstr>
      <vt:lpstr>레이저의 원리</vt:lpstr>
      <vt:lpstr>내가 처음 만든 레이저</vt:lpstr>
      <vt:lpstr>박사학위 과정때 만든 레이저</vt:lpstr>
      <vt:lpstr>서울대에 있는 단원자 레이저</vt:lpstr>
      <vt:lpstr>단원자 레이저가 일반 레이저와 다른 이유</vt:lpstr>
      <vt:lpstr>광통신의 원리</vt:lpstr>
      <vt:lpstr>단원자 레이저를 이용한 저잡음 광통신</vt:lpstr>
      <vt:lpstr>단광자 피스톨</vt:lpstr>
      <vt:lpstr>서울대의 단광자 발생장치</vt:lpstr>
      <vt:lpstr>단광자의 응용: 양자 통신</vt:lpstr>
      <vt:lpstr>양자 정보=양자 전산+양자 통신</vt:lpstr>
      <vt:lpstr>보너스: 진공이란?</vt:lpstr>
      <vt:lpstr>진공요동의 3차원 구조 최초 관측</vt:lpstr>
      <vt:lpstr>앞으로의 전망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빛이 바꾸는 세상</dc:title>
  <dc:subject/>
  <dc:creator/>
  <cp:keywords/>
  <dc:description/>
  <cp:lastModifiedBy>Kyungwon An</cp:lastModifiedBy>
  <cp:revision>8</cp:revision>
  <dcterms:created xsi:type="dcterms:W3CDTF">2011-09-19T05:09:11Z</dcterms:created>
  <dcterms:modified xsi:type="dcterms:W3CDTF">2011-09-19T05:11:23Z</dcterms:modified>
</cp:coreProperties>
</file>