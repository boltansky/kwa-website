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Default Extension="jpeg" ContentType="image/jpeg"/>
  <Override PartName="/ppt/slides/slide1.xml" ContentType="application/vnd.openxmlformats-officedocument.presentationml.slide+xml"/>
  <Override PartName="/ppt/embeddings/Microsoft_Equation3.bin" ContentType="application/vnd.openxmlformats-officedocument.oleObject"/>
  <Override PartName="/ppt/embeddings/Microsoft_Equation20.bin" ContentType="application/vnd.openxmlformats-officedocument.oleObject"/>
  <Override PartName="/docProps/app.xml" ContentType="application/vnd.openxmlformats-officedocument.extended-properties+xml"/>
  <Override PartName="/ppt/slideLayouts/slideLayout1.xml" ContentType="application/vnd.openxmlformats-officedocument.presentationml.slideLayout+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embeddings/Microsoft_Equation8.bin" ContentType="application/vnd.openxmlformats-officedocument.oleObject"/>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embeddings/Microsoft_Equation21.bin" ContentType="application/vnd.openxmlformats-officedocument.oleObject"/>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14.bin" ContentType="application/vnd.openxmlformats-officedocument.oleObject"/>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Default Extension="vml" ContentType="application/vnd.openxmlformats-officedocument.vmlDrawing"/>
  <Override PartName="/ppt/slideLayouts/slideLayout7.xml" ContentType="application/vnd.openxmlformats-officedocument.presentationml.slideLayout+xml"/>
  <Override PartName="/ppt/slides/slide3.xml" ContentType="application/vnd.openxmlformats-officedocument.presentationml.slide+xml"/>
  <Override PartName="/ppt/embeddings/Microsoft_Equation5.bin" ContentType="application/vnd.openxmlformats-officedocument.oleObject"/>
  <Override PartName="/ppt/embeddings/Microsoft_Equation22.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Override PartName="/ppt/embeddings/Microsoft_Equation19.bin" ContentType="application/vnd.openxmlformats-officedocument.oleObject"/>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sldIdLst>
    <p:sldId id="256" r:id="rId2"/>
    <p:sldId id="277" r:id="rId3"/>
    <p:sldId id="273" r:id="rId4"/>
    <p:sldId id="275" r:id="rId5"/>
    <p:sldId id="276" r:id="rId6"/>
    <p:sldId id="265" r:id="rId7"/>
    <p:sldId id="266" r:id="rId8"/>
    <p:sldId id="279" r:id="rId9"/>
    <p:sldId id="280" r:id="rId10"/>
    <p:sldId id="281" r:id="rId11"/>
    <p:sldId id="282" r:id="rId12"/>
    <p:sldId id="283" r:id="rId13"/>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pict"/><Relationship Id="rId4" Type="http://schemas.openxmlformats.org/officeDocument/2006/relationships/image" Target="../media/image5.pict"/><Relationship Id="rId5" Type="http://schemas.openxmlformats.org/officeDocument/2006/relationships/image" Target="../media/image6.pict"/><Relationship Id="rId1" Type="http://schemas.openxmlformats.org/officeDocument/2006/relationships/image" Target="../media/image2.pict"/><Relationship Id="rId2" Type="http://schemas.openxmlformats.org/officeDocument/2006/relationships/image" Target="../media/image3.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ict"/><Relationship Id="rId2" Type="http://schemas.openxmlformats.org/officeDocument/2006/relationships/image" Target="../media/image8.pict"/><Relationship Id="rId3" Type="http://schemas.openxmlformats.org/officeDocument/2006/relationships/image" Target="../media/image9.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pict"/><Relationship Id="rId4" Type="http://schemas.openxmlformats.org/officeDocument/2006/relationships/image" Target="../media/image13.pict"/><Relationship Id="rId1" Type="http://schemas.openxmlformats.org/officeDocument/2006/relationships/image" Target="../media/image10.pict"/><Relationship Id="rId2" Type="http://schemas.openxmlformats.org/officeDocument/2006/relationships/image" Target="../media/image11.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pict"/></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pict"/><Relationship Id="rId4" Type="http://schemas.openxmlformats.org/officeDocument/2006/relationships/image" Target="../media/image18.pict"/><Relationship Id="rId1" Type="http://schemas.openxmlformats.org/officeDocument/2006/relationships/image" Target="../media/image15.pict"/><Relationship Id="rId2" Type="http://schemas.openxmlformats.org/officeDocument/2006/relationships/image" Target="../media/image16.pict"/></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ict"/><Relationship Id="rId2" Type="http://schemas.openxmlformats.org/officeDocument/2006/relationships/image" Target="../media/image21.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pict"/></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09.11.1</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09.11.1</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09.11.1</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oleObject" Target="../embeddings/Microsoft_Equation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2.bin"/><Relationship Id="rId4" Type="http://schemas.openxmlformats.org/officeDocument/2006/relationships/oleObject" Target="../embeddings/Microsoft_Equation3.bin"/><Relationship Id="rId5" Type="http://schemas.openxmlformats.org/officeDocument/2006/relationships/oleObject" Target="../embeddings/Microsoft_Equation4.bin"/><Relationship Id="rId6" Type="http://schemas.openxmlformats.org/officeDocument/2006/relationships/oleObject" Target="../embeddings/Microsoft_Equation5.bin"/><Relationship Id="rId7"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5" Type="http://schemas.openxmlformats.org/officeDocument/2006/relationships/oleObject" Target="../embeddings/Microsoft_Equation9.bin"/><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Equation10.bin"/><Relationship Id="rId4" Type="http://schemas.openxmlformats.org/officeDocument/2006/relationships/oleObject" Target="../embeddings/Microsoft_Equation11.bin"/><Relationship Id="rId5" Type="http://schemas.openxmlformats.org/officeDocument/2006/relationships/oleObject" Target="../embeddings/Microsoft_Equation12.bin"/><Relationship Id="rId6" Type="http://schemas.openxmlformats.org/officeDocument/2006/relationships/oleObject" Target="../embeddings/Microsoft_Equation13.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1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Equation15.bin"/><Relationship Id="rId4" Type="http://schemas.openxmlformats.org/officeDocument/2006/relationships/oleObject" Target="../embeddings/Microsoft_Equation16.bin"/><Relationship Id="rId5" Type="http://schemas.openxmlformats.org/officeDocument/2006/relationships/oleObject" Target="../embeddings/Microsoft_Equation17.bin"/><Relationship Id="rId6" Type="http://schemas.openxmlformats.org/officeDocument/2006/relationships/oleObject" Target="../embeddings/Microsoft_Equation18.bin"/><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7.vml"/><Relationship Id="rId2" Type="http://schemas.openxmlformats.org/officeDocument/2006/relationships/slideLayout" Target="../slideLayouts/slideLayout2.xml"/><Relationship Id="rId3" Type="http://schemas.openxmlformats.org/officeDocument/2006/relationships/oleObject" Target="../embeddings/Microsoft_Equation1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20.bin"/><Relationship Id="rId4" Type="http://schemas.openxmlformats.org/officeDocument/2006/relationships/oleObject" Target="../embeddings/Microsoft_Equation21.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vmlDrawing" Target="../drawings/vmlDrawing9.vml"/><Relationship Id="rId2" Type="http://schemas.openxmlformats.org/officeDocument/2006/relationships/slideLayout" Target="../slideLayouts/slideLayout2.xml"/><Relationship Id="rId3" Type="http://schemas.openxmlformats.org/officeDocument/2006/relationships/oleObject" Target="../embeddings/Microsoft_Equation22.bin"/></Relationships>
</file>

<file path=ppt/slides/_rels/slide12.xml.rels><?xml version="1.0" encoding="UTF-8" standalone="yes"?>
<Relationships xmlns="http://schemas.openxmlformats.org/package/2006/relationships"><Relationship Id="rId1" Type="http://schemas.openxmlformats.org/officeDocument/2006/relationships/vmlDrawing" Target="../drawings/vmlDrawing10.vml"/><Relationship Id="rId2" Type="http://schemas.openxmlformats.org/officeDocument/2006/relationships/slideLayout" Target="../slideLayouts/slideLayout2.xml"/><Relationship Id="rId3" Type="http://schemas.openxmlformats.org/officeDocument/2006/relationships/oleObject" Target="Users:Users:kwan:Documents:Classes/Lectures:atomic%20physics%20class:lecture%20note:Chapter%202%20N-Electron%20Atoms!OLE_LINK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dirty="0" smtClean="0">
                <a:solidFill>
                  <a:srgbClr val="00FF00"/>
                </a:solidFill>
              </a:rPr>
              <a:t>1</a:t>
            </a:r>
            <a:r>
              <a:rPr lang="en-US" altLang="ja-JP" sz="3200" dirty="0" smtClean="0">
                <a:solidFill>
                  <a:srgbClr val="00FF00"/>
                </a:solidFill>
              </a:rPr>
              <a:t>7</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924800" cy="944562"/>
          </a:xfrm>
        </p:spPr>
        <p:txBody>
          <a:bodyPr>
            <a:noAutofit/>
          </a:bodyPr>
          <a:lstStyle/>
          <a:p>
            <a:r>
              <a:rPr lang="en-US" altLang="ja-JP" sz="4000" dirty="0" smtClean="0">
                <a:latin typeface="+mn-lt"/>
                <a:cs typeface="Times New Roman"/>
              </a:rPr>
              <a:t>2.3 Nuclear Effects – Isotope Shift</a:t>
            </a:r>
            <a:endParaRPr lang="ja-JP" altLang="en-US" sz="4000" dirty="0">
              <a:latin typeface="+mn-lt"/>
              <a:cs typeface="Times New Roman"/>
            </a:endParaRPr>
          </a:p>
        </p:txBody>
      </p:sp>
      <p:sp>
        <p:nvSpPr>
          <p:cNvPr id="3" name="Content Placeholder 2"/>
          <p:cNvSpPr>
            <a:spLocks noGrp="1"/>
          </p:cNvSpPr>
          <p:nvPr>
            <p:ph idx="1"/>
          </p:nvPr>
        </p:nvSpPr>
        <p:spPr>
          <a:xfrm>
            <a:off x="457200" y="1325562"/>
            <a:ext cx="8305800" cy="4846638"/>
          </a:xfrm>
        </p:spPr>
        <p:txBody>
          <a:bodyPr>
            <a:noAutofit/>
          </a:bodyPr>
          <a:lstStyle/>
          <a:p>
            <a:r>
              <a:rPr lang="en-US" sz="2000" dirty="0" smtClean="0"/>
              <a:t>Isotopes are the same elements with different nuclear masses.</a:t>
            </a:r>
            <a:r>
              <a:rPr lang="en-US" sz="2000" dirty="0" smtClean="0"/>
              <a:t> </a:t>
            </a:r>
          </a:p>
          <a:p>
            <a:r>
              <a:rPr lang="en-US" sz="2000" dirty="0" smtClean="0"/>
              <a:t>Hydrogen </a:t>
            </a:r>
            <a:r>
              <a:rPr lang="en-US" sz="2000" dirty="0" smtClean="0"/>
              <a:t>and deuterium are isotopes and denoted by </a:t>
            </a:r>
            <a:r>
              <a:rPr lang="en-US" sz="2000" baseline="30000" dirty="0" smtClean="0"/>
              <a:t>1</a:t>
            </a:r>
            <a:r>
              <a:rPr lang="en-US" sz="2000" dirty="0" smtClean="0"/>
              <a:t>H and </a:t>
            </a:r>
            <a:r>
              <a:rPr lang="en-US" sz="2000" baseline="30000" dirty="0" smtClean="0"/>
              <a:t>2</a:t>
            </a:r>
            <a:r>
              <a:rPr lang="en-US" sz="2000" dirty="0" smtClean="0"/>
              <a:t>H, respectively. Another example is helium-3 and helium-4.</a:t>
            </a:r>
            <a:r>
              <a:rPr lang="en-US" sz="2000" dirty="0" smtClean="0"/>
              <a:t> </a:t>
            </a:r>
          </a:p>
          <a:p>
            <a:r>
              <a:rPr lang="en-US" sz="2000" dirty="0" smtClean="0"/>
              <a:t>Only </a:t>
            </a:r>
            <a:r>
              <a:rPr lang="en-US" sz="2000" dirty="0" smtClean="0"/>
              <a:t>difference among isotopes of an element is the number of neutrons in their nucleus, and thus their electronic structure should be the same.</a:t>
            </a:r>
            <a:r>
              <a:rPr lang="en-US" sz="2000" dirty="0" smtClean="0"/>
              <a:t> </a:t>
            </a:r>
          </a:p>
          <a:p>
            <a:r>
              <a:rPr lang="en-US" sz="2000" dirty="0" smtClean="0"/>
              <a:t>But </a:t>
            </a:r>
            <a:r>
              <a:rPr lang="en-US" sz="2000" dirty="0" smtClean="0"/>
              <a:t>yet energy levels are slightly shifted with respect to each other.</a:t>
            </a:r>
            <a:r>
              <a:rPr lang="en-US" sz="2000" dirty="0" smtClean="0"/>
              <a:t> </a:t>
            </a:r>
          </a:p>
          <a:p>
            <a:r>
              <a:rPr lang="en-US" sz="2000" dirty="0" smtClean="0"/>
              <a:t>Isotope </a:t>
            </a:r>
            <a:r>
              <a:rPr lang="en-US" sz="2000" dirty="0" smtClean="0"/>
              <a:t>shifts are caused by two different contributions, the mass shift (</a:t>
            </a:r>
            <a:r>
              <a:rPr lang="en-US" sz="2000" i="1" dirty="0" smtClean="0"/>
              <a:t>MS</a:t>
            </a:r>
            <a:r>
              <a:rPr lang="en-US" sz="2000" dirty="0" smtClean="0"/>
              <a:t>) and the field shift (</a:t>
            </a:r>
            <a:r>
              <a:rPr lang="en-US" sz="2000" i="1" dirty="0" smtClean="0"/>
              <a:t>FS</a:t>
            </a:r>
            <a:r>
              <a:rPr lang="en-US" sz="2000" dirty="0" smtClean="0"/>
              <a:t>).</a:t>
            </a:r>
            <a:r>
              <a:rPr lang="en-US" sz="2000" dirty="0" smtClean="0"/>
              <a:t> </a:t>
            </a:r>
          </a:p>
          <a:p>
            <a:r>
              <a:rPr lang="en-US" sz="2000" dirty="0" smtClean="0"/>
              <a:t>The </a:t>
            </a:r>
            <a:r>
              <a:rPr lang="en-US" sz="2000" dirty="0" smtClean="0"/>
              <a:t>mass shift is dominant in light nuclei and is due to the finite mass of the nucleus.</a:t>
            </a:r>
            <a:r>
              <a:rPr lang="en-US" sz="2000" dirty="0" smtClean="0"/>
              <a:t> </a:t>
            </a:r>
          </a:p>
          <a:p>
            <a:r>
              <a:rPr lang="en-US" sz="2000" dirty="0" smtClean="0"/>
              <a:t>The </a:t>
            </a:r>
            <a:r>
              <a:rPr lang="en-US" sz="2000" dirty="0" smtClean="0"/>
              <a:t>field shift has the greatest effect in heavy nuclei and is caused by the non-zero nuclear volume. It is the field shift which provides information on the radial parameters of the nucleus and is therefore the part of interest in nuclear physics. </a:t>
            </a:r>
            <a:endParaRPr lang="ko-KR" alt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ja-JP" i="1" dirty="0" smtClean="0">
                <a:latin typeface="Times New Roman"/>
                <a:cs typeface="Times New Roman"/>
              </a:rPr>
              <a:t>Mass Shift (Normal and Specific)</a:t>
            </a:r>
            <a:endParaRPr lang="ja-JP" altLang="en-US" i="1" dirty="0">
              <a:latin typeface="Times New Roman"/>
              <a:cs typeface="Times New Roman"/>
            </a:endParaRPr>
          </a:p>
        </p:txBody>
      </p:sp>
      <p:sp>
        <p:nvSpPr>
          <p:cNvPr id="3" name="Content Placeholder 2"/>
          <p:cNvSpPr>
            <a:spLocks noGrp="1"/>
          </p:cNvSpPr>
          <p:nvPr>
            <p:ph idx="1"/>
          </p:nvPr>
        </p:nvSpPr>
        <p:spPr>
          <a:xfrm>
            <a:off x="457200" y="1417639"/>
            <a:ext cx="8077200" cy="2925762"/>
          </a:xfrm>
        </p:spPr>
        <p:txBody>
          <a:bodyPr>
            <a:normAutofit/>
          </a:bodyPr>
          <a:lstStyle/>
          <a:p>
            <a:r>
              <a:rPr lang="en-US" sz="2400" dirty="0" smtClean="0"/>
              <a:t>The mass shift is itself composed of two parts, the normal mass shift (NMS) and the specific mass shift (SMS).</a:t>
            </a:r>
            <a:r>
              <a:rPr lang="en-US" sz="2400" dirty="0" smtClean="0"/>
              <a:t> </a:t>
            </a:r>
          </a:p>
          <a:p>
            <a:r>
              <a:rPr lang="en-US" sz="2400" dirty="0" smtClean="0"/>
              <a:t>Consider </a:t>
            </a:r>
            <a:r>
              <a:rPr lang="en-US" sz="2400" i="1" dirty="0" smtClean="0"/>
              <a:t>N</a:t>
            </a:r>
            <a:r>
              <a:rPr lang="en-US" sz="2400" dirty="0" smtClean="0"/>
              <a:t> electrons of mass </a:t>
            </a:r>
            <a:r>
              <a:rPr lang="en-US" sz="2400" i="1" dirty="0" smtClean="0"/>
              <a:t>m</a:t>
            </a:r>
            <a:r>
              <a:rPr lang="en-US" sz="2400" i="1" baseline="-25000" dirty="0" smtClean="0"/>
              <a:t>e</a:t>
            </a:r>
            <a:r>
              <a:rPr lang="en-US" sz="2400" dirty="0" smtClean="0"/>
              <a:t> at (</a:t>
            </a:r>
            <a:r>
              <a:rPr lang="en-US" sz="2400" b="1" dirty="0" smtClean="0"/>
              <a:t>r</a:t>
            </a:r>
            <a:r>
              <a:rPr lang="en-US" sz="2400" baseline="-25000" dirty="0" smtClean="0"/>
              <a:t>1</a:t>
            </a:r>
            <a:r>
              <a:rPr lang="en-US" sz="2400" dirty="0" smtClean="0"/>
              <a:t>, </a:t>
            </a:r>
            <a:r>
              <a:rPr lang="en-US" sz="2400" b="1" dirty="0" smtClean="0"/>
              <a:t>r</a:t>
            </a:r>
            <a:r>
              <a:rPr lang="en-US" sz="2400" baseline="-25000" dirty="0" smtClean="0"/>
              <a:t>2</a:t>
            </a:r>
            <a:r>
              <a:rPr lang="en-US" sz="2400" dirty="0" smtClean="0"/>
              <a:t>,…) with </a:t>
            </a:r>
            <a:r>
              <a:rPr lang="en-US" sz="2400" dirty="0" err="1" smtClean="0"/>
              <a:t>momenta</a:t>
            </a:r>
            <a:r>
              <a:rPr lang="en-US" sz="2400" dirty="0" smtClean="0"/>
              <a:t> (</a:t>
            </a:r>
            <a:r>
              <a:rPr lang="en-US" sz="2400" b="1" dirty="0" smtClean="0"/>
              <a:t>p</a:t>
            </a:r>
            <a:r>
              <a:rPr lang="en-US" sz="2400" baseline="-25000" dirty="0" smtClean="0"/>
              <a:t>1</a:t>
            </a:r>
            <a:r>
              <a:rPr lang="en-US" sz="2400" dirty="0" smtClean="0"/>
              <a:t>, </a:t>
            </a:r>
            <a:r>
              <a:rPr lang="en-US" sz="2400" b="1" dirty="0" smtClean="0"/>
              <a:t>p</a:t>
            </a:r>
            <a:r>
              <a:rPr lang="en-US" sz="2400" baseline="-25000" dirty="0" smtClean="0"/>
              <a:t>2</a:t>
            </a:r>
            <a:r>
              <a:rPr lang="en-US" sz="2400" dirty="0" smtClean="0"/>
              <a:t>,…) and a nucleus of mass </a:t>
            </a:r>
            <a:r>
              <a:rPr lang="en-US" sz="2400" i="1" dirty="0" smtClean="0"/>
              <a:t>M</a:t>
            </a:r>
            <a:r>
              <a:rPr lang="en-US" sz="2400" i="1" baseline="-25000" dirty="0" smtClean="0"/>
              <a:t>A</a:t>
            </a:r>
            <a:r>
              <a:rPr lang="en-US" sz="2400" dirty="0" smtClean="0"/>
              <a:t> at </a:t>
            </a:r>
            <a:r>
              <a:rPr lang="en-US" sz="2400" b="1" dirty="0" smtClean="0"/>
              <a:t>r</a:t>
            </a:r>
            <a:r>
              <a:rPr lang="en-US" sz="2400" baseline="-25000" dirty="0" smtClean="0"/>
              <a:t>0</a:t>
            </a:r>
            <a:r>
              <a:rPr lang="en-US" sz="2400" dirty="0" smtClean="0"/>
              <a:t> with a momentum </a:t>
            </a:r>
            <a:r>
              <a:rPr lang="en-US" sz="2400" b="1" dirty="0" smtClean="0"/>
              <a:t>p</a:t>
            </a:r>
            <a:r>
              <a:rPr lang="en-US" sz="2400" baseline="-25000" dirty="0" smtClean="0"/>
              <a:t>0</a:t>
            </a:r>
            <a:r>
              <a:rPr lang="en-US" sz="2400" dirty="0" smtClean="0"/>
              <a:t>.</a:t>
            </a:r>
            <a:r>
              <a:rPr lang="en-US" sz="2400" dirty="0" smtClean="0"/>
              <a:t> </a:t>
            </a:r>
          </a:p>
          <a:p>
            <a:r>
              <a:rPr lang="en-US" sz="2400" dirty="0" smtClean="0"/>
              <a:t>The </a:t>
            </a:r>
            <a:r>
              <a:rPr lang="en-US" sz="2400" dirty="0" smtClean="0"/>
              <a:t>Hamiltonian is  </a:t>
            </a:r>
            <a:endParaRPr lang="ko-KR" altLang="en-US" sz="2400" dirty="0"/>
          </a:p>
        </p:txBody>
      </p:sp>
      <p:graphicFrame>
        <p:nvGraphicFramePr>
          <p:cNvPr id="245762" name="Object 2"/>
          <p:cNvGraphicFramePr>
            <a:graphicFrameLocks noChangeAspect="1"/>
          </p:cNvGraphicFramePr>
          <p:nvPr/>
        </p:nvGraphicFramePr>
        <p:xfrm>
          <a:off x="2257425" y="4333875"/>
          <a:ext cx="4902200" cy="671513"/>
        </p:xfrm>
        <a:graphic>
          <a:graphicData uri="http://schemas.openxmlformats.org/presentationml/2006/ole">
            <p:oleObj spid="_x0000_s245762" name="Equation" r:id="rId3" imgW="3251200" imgH="4445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44562"/>
          </a:xfrm>
        </p:spPr>
        <p:txBody>
          <a:bodyPr/>
          <a:lstStyle/>
          <a:p>
            <a:r>
              <a:rPr lang="en-US" altLang="ja-JP" dirty="0" smtClean="0"/>
              <a:t>Exercise</a:t>
            </a:r>
            <a:r>
              <a:rPr lang="en-US" altLang="ja-JP" dirty="0" smtClean="0"/>
              <a:t> 12</a:t>
            </a:r>
            <a:endParaRPr lang="ja-JP" altLang="en-US" dirty="0"/>
          </a:p>
        </p:txBody>
      </p:sp>
      <p:sp>
        <p:nvSpPr>
          <p:cNvPr id="3" name="Content Placeholder 2"/>
          <p:cNvSpPr>
            <a:spLocks noGrp="1"/>
          </p:cNvSpPr>
          <p:nvPr>
            <p:ph idx="1"/>
          </p:nvPr>
        </p:nvSpPr>
        <p:spPr>
          <a:xfrm>
            <a:off x="457200" y="1371600"/>
            <a:ext cx="8305800" cy="1295400"/>
          </a:xfrm>
        </p:spPr>
        <p:txBody>
          <a:bodyPr>
            <a:noAutofit/>
          </a:bodyPr>
          <a:lstStyle/>
          <a:p>
            <a:r>
              <a:rPr lang="en-US" sz="2400" dirty="0" smtClean="0"/>
              <a:t>By transforming to relative coordinates</a:t>
            </a:r>
            <a:r>
              <a:rPr lang="en-US" sz="2400" dirty="0" smtClean="0"/>
              <a:t>:</a:t>
            </a:r>
          </a:p>
          <a:p>
            <a:endParaRPr lang="en-US" altLang="ko-KR" sz="2400" dirty="0" smtClean="0"/>
          </a:p>
          <a:p>
            <a:pPr>
              <a:buNone/>
            </a:pPr>
            <a:endParaRPr lang="en-US" altLang="ko-KR" sz="2400" dirty="0" smtClean="0"/>
          </a:p>
          <a:p>
            <a:pPr>
              <a:buNone/>
            </a:pPr>
            <a:endParaRPr lang="en-US" altLang="ko-KR" sz="2400" dirty="0" smtClean="0"/>
          </a:p>
          <a:p>
            <a:pPr>
              <a:buNone/>
            </a:pPr>
            <a:r>
              <a:rPr lang="en-US" sz="2400" dirty="0" smtClean="0"/>
              <a:t>	where                       </a:t>
            </a:r>
            <a:r>
              <a:rPr lang="en-US" sz="2400" dirty="0" smtClean="0"/>
              <a:t>the total mass, show </a:t>
            </a:r>
            <a:r>
              <a:rPr lang="en-US" sz="2400" dirty="0" smtClean="0"/>
              <a:t>that</a:t>
            </a:r>
          </a:p>
          <a:p>
            <a:pPr>
              <a:buNone/>
            </a:pPr>
            <a:endParaRPr lang="en-US" altLang="ko-KR" sz="2400" dirty="0" smtClean="0"/>
          </a:p>
          <a:p>
            <a:pPr>
              <a:buNone/>
            </a:pPr>
            <a:endParaRPr lang="en-US" altLang="ko-KR" sz="2400" dirty="0" smtClean="0"/>
          </a:p>
          <a:p>
            <a:pPr>
              <a:buNone/>
            </a:pPr>
            <a:endParaRPr lang="en-US" altLang="ko-KR" sz="2400" dirty="0" smtClean="0"/>
          </a:p>
          <a:p>
            <a:pPr>
              <a:buNone/>
            </a:pPr>
            <a:r>
              <a:rPr lang="en-US" sz="2400" dirty="0" smtClean="0"/>
              <a:t>	where </a:t>
            </a:r>
            <a:r>
              <a:rPr lang="en-US" sz="2400" dirty="0" smtClean="0"/>
              <a:t>the </a:t>
            </a:r>
            <a:r>
              <a:rPr lang="en-US" sz="2400" dirty="0" err="1" smtClean="0"/>
              <a:t>momenta</a:t>
            </a:r>
            <a:r>
              <a:rPr lang="en-US" sz="2400" dirty="0" smtClean="0"/>
              <a:t> in the relative coordinates are defined as</a:t>
            </a:r>
            <a:endParaRPr lang="ko-KR" altLang="en-US" sz="2400" dirty="0" smtClean="0"/>
          </a:p>
          <a:p>
            <a:pPr>
              <a:buNone/>
            </a:pPr>
            <a:endParaRPr lang="ko-KR" altLang="en-US" sz="2400" dirty="0" smtClean="0"/>
          </a:p>
          <a:p>
            <a:endParaRPr lang="ko-KR" altLang="en-US" sz="2400" dirty="0"/>
          </a:p>
        </p:txBody>
      </p:sp>
      <p:graphicFrame>
        <p:nvGraphicFramePr>
          <p:cNvPr id="225291" name="Object 11"/>
          <p:cNvGraphicFramePr>
            <a:graphicFrameLocks noChangeAspect="1"/>
          </p:cNvGraphicFramePr>
          <p:nvPr/>
        </p:nvGraphicFramePr>
        <p:xfrm>
          <a:off x="3448050" y="1924050"/>
          <a:ext cx="2384425" cy="965200"/>
        </p:xfrm>
        <a:graphic>
          <a:graphicData uri="http://schemas.openxmlformats.org/presentationml/2006/ole">
            <p:oleObj spid="_x0000_s225291" name="Equation" r:id="rId3" imgW="1600200" imgH="647700" progId="Equation.3">
              <p:embed/>
            </p:oleObj>
          </a:graphicData>
        </a:graphic>
      </p:graphicFrame>
      <p:graphicFrame>
        <p:nvGraphicFramePr>
          <p:cNvPr id="225292" name="Object 12"/>
          <p:cNvGraphicFramePr>
            <a:graphicFrameLocks noChangeAspect="1"/>
          </p:cNvGraphicFramePr>
          <p:nvPr/>
        </p:nvGraphicFramePr>
        <p:xfrm>
          <a:off x="1924050" y="3276600"/>
          <a:ext cx="1625600" cy="271463"/>
        </p:xfrm>
        <a:graphic>
          <a:graphicData uri="http://schemas.openxmlformats.org/presentationml/2006/ole">
            <p:oleObj spid="_x0000_s225292" name="Equation" r:id="rId4" imgW="1066800" imgH="177800" progId="Equation.3">
              <p:embed/>
            </p:oleObj>
          </a:graphicData>
        </a:graphic>
      </p:graphicFrame>
      <p:graphicFrame>
        <p:nvGraphicFramePr>
          <p:cNvPr id="225293" name="Object 13"/>
          <p:cNvGraphicFramePr>
            <a:graphicFrameLocks noChangeAspect="1"/>
          </p:cNvGraphicFramePr>
          <p:nvPr/>
        </p:nvGraphicFramePr>
        <p:xfrm>
          <a:off x="3838575" y="3667125"/>
          <a:ext cx="1376363" cy="601663"/>
        </p:xfrm>
        <a:graphic>
          <a:graphicData uri="http://schemas.openxmlformats.org/presentationml/2006/ole">
            <p:oleObj spid="_x0000_s225293" name="Equation" r:id="rId5" imgW="901700" imgH="393700" progId="Equation.3">
              <p:embed/>
            </p:oleObj>
          </a:graphicData>
        </a:graphic>
      </p:graphicFrame>
      <p:graphicFrame>
        <p:nvGraphicFramePr>
          <p:cNvPr id="225294" name="Object 14"/>
          <p:cNvGraphicFramePr>
            <a:graphicFrameLocks noChangeAspect="1"/>
          </p:cNvGraphicFramePr>
          <p:nvPr/>
        </p:nvGraphicFramePr>
        <p:xfrm>
          <a:off x="3267075" y="4352925"/>
          <a:ext cx="2514600" cy="600075"/>
        </p:xfrm>
        <a:graphic>
          <a:graphicData uri="http://schemas.openxmlformats.org/presentationml/2006/ole">
            <p:oleObj spid="_x0000_s225294" name="Equation" r:id="rId6" imgW="1651000" imgH="393700" progId="Equation.3">
              <p:embed/>
            </p:oleObj>
          </a:graphicData>
        </a:graphic>
      </p:graphicFrame>
      <p:graphicFrame>
        <p:nvGraphicFramePr>
          <p:cNvPr id="225295" name="Object 15"/>
          <p:cNvGraphicFramePr>
            <a:graphicFrameLocks noChangeAspect="1"/>
          </p:cNvGraphicFramePr>
          <p:nvPr/>
        </p:nvGraphicFramePr>
        <p:xfrm>
          <a:off x="3136900" y="5800725"/>
          <a:ext cx="2714625" cy="601663"/>
        </p:xfrm>
        <a:graphic>
          <a:graphicData uri="http://schemas.openxmlformats.org/presentationml/2006/ole">
            <p:oleObj spid="_x0000_s225295" name="Equation" r:id="rId7" imgW="1778000" imgH="393700" progId="Equation.3">
              <p:embed/>
            </p:oleObj>
          </a:graphicData>
        </a:graphic>
      </p:graphicFrame>
      <p:sp>
        <p:nvSpPr>
          <p:cNvPr id="10" name="Rectangle 9"/>
          <p:cNvSpPr/>
          <p:nvPr/>
        </p:nvSpPr>
        <p:spPr>
          <a:xfrm>
            <a:off x="5916387" y="2362200"/>
            <a:ext cx="1698489" cy="369332"/>
          </a:xfrm>
          <a:prstGeom prst="rect">
            <a:avLst/>
          </a:prstGeom>
        </p:spPr>
        <p:txBody>
          <a:bodyPr wrap="none">
            <a:spAutoFit/>
          </a:bodyPr>
          <a:lstStyle/>
          <a:p>
            <a:r>
              <a:rPr lang="en-US" dirty="0" smtClean="0"/>
              <a:t>center of mass</a:t>
            </a:r>
            <a:endParaRPr lang="ja-JP"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05800" cy="3581400"/>
          </a:xfrm>
        </p:spPr>
        <p:txBody>
          <a:bodyPr>
            <a:noAutofit/>
          </a:bodyPr>
          <a:lstStyle/>
          <a:p>
            <a:r>
              <a:rPr lang="en-US" sz="2400" dirty="0" smtClean="0"/>
              <a:t>The kinetic energy term can be written </a:t>
            </a:r>
            <a:r>
              <a:rPr lang="en-US" sz="2400" dirty="0" smtClean="0"/>
              <a:t>as</a:t>
            </a:r>
          </a:p>
          <a:p>
            <a:endParaRPr lang="en-US" sz="2400" dirty="0" smtClean="0"/>
          </a:p>
          <a:p>
            <a:endParaRPr lang="en-US" altLang="ko-KR" sz="2400" dirty="0" smtClean="0"/>
          </a:p>
          <a:p>
            <a:endParaRPr lang="en-US" altLang="ko-KR" sz="2400" dirty="0" smtClean="0"/>
          </a:p>
          <a:p>
            <a:endParaRPr lang="en-US" altLang="ko-KR" sz="2400" dirty="0" smtClean="0"/>
          </a:p>
          <a:p>
            <a:endParaRPr lang="en-US" altLang="ko-KR" sz="2400" dirty="0" smtClean="0"/>
          </a:p>
          <a:p>
            <a:endParaRPr lang="en-US" altLang="ko-KR" sz="2400" dirty="0" smtClean="0"/>
          </a:p>
          <a:p>
            <a:endParaRPr lang="en-US" altLang="ko-KR" sz="2400" dirty="0" smtClean="0"/>
          </a:p>
          <a:p>
            <a:pPr>
              <a:buNone/>
            </a:pPr>
            <a:r>
              <a:rPr lang="en-US" sz="2400" dirty="0" smtClean="0"/>
              <a:t>	where </a:t>
            </a:r>
            <a:r>
              <a:rPr lang="en-US" sz="2400" dirty="0" smtClean="0"/>
              <a:t>the reduced mass is given </a:t>
            </a:r>
            <a:r>
              <a:rPr lang="en-US" sz="2400" dirty="0" smtClean="0"/>
              <a:t>by</a:t>
            </a:r>
          </a:p>
          <a:p>
            <a:pPr>
              <a:buNone/>
            </a:pPr>
            <a:endParaRPr lang="en-US" altLang="ko-KR" sz="2400" dirty="0" smtClean="0"/>
          </a:p>
          <a:p>
            <a:pPr>
              <a:buNone/>
            </a:pPr>
            <a:r>
              <a:rPr lang="en-US" sz="2400" dirty="0" smtClean="0"/>
              <a:t>	The </a:t>
            </a:r>
            <a:r>
              <a:rPr lang="en-US" sz="2400" dirty="0" smtClean="0"/>
              <a:t>Hamiltonian for the relative motion excluding the center of mass motion is then</a:t>
            </a:r>
            <a:endParaRPr lang="ko-KR" altLang="en-US" sz="2400" dirty="0" smtClean="0"/>
          </a:p>
          <a:p>
            <a:endParaRPr lang="ko-KR" altLang="en-US" sz="2400" dirty="0" smtClean="0"/>
          </a:p>
          <a:p>
            <a:endParaRPr lang="ko-KR" altLang="en-US" sz="2400" dirty="0"/>
          </a:p>
        </p:txBody>
      </p:sp>
      <p:graphicFrame>
        <p:nvGraphicFramePr>
          <p:cNvPr id="226320" name="Object 16"/>
          <p:cNvGraphicFramePr>
            <a:graphicFrameLocks noChangeAspect="1"/>
          </p:cNvGraphicFramePr>
          <p:nvPr/>
        </p:nvGraphicFramePr>
        <p:xfrm>
          <a:off x="990600" y="876300"/>
          <a:ext cx="7137400" cy="2836863"/>
        </p:xfrm>
        <a:graphic>
          <a:graphicData uri="http://schemas.openxmlformats.org/presentationml/2006/ole">
            <p:oleObj spid="_x0000_s226320" name="Equation" r:id="rId3" imgW="4762500" imgH="1892300" progId="Equation.3">
              <p:embed/>
            </p:oleObj>
          </a:graphicData>
        </a:graphic>
      </p:graphicFrame>
      <p:graphicFrame>
        <p:nvGraphicFramePr>
          <p:cNvPr id="226321" name="Object 17"/>
          <p:cNvGraphicFramePr>
            <a:graphicFrameLocks noChangeAspect="1"/>
          </p:cNvGraphicFramePr>
          <p:nvPr/>
        </p:nvGraphicFramePr>
        <p:xfrm>
          <a:off x="3743325" y="4218213"/>
          <a:ext cx="1333500" cy="598488"/>
        </p:xfrm>
        <a:graphic>
          <a:graphicData uri="http://schemas.openxmlformats.org/presentationml/2006/ole">
            <p:oleObj spid="_x0000_s226321" name="Equation" r:id="rId4" imgW="876300" imgH="393700" progId="Equation.3">
              <p:embed/>
            </p:oleObj>
          </a:graphicData>
        </a:graphic>
      </p:graphicFrame>
      <p:graphicFrame>
        <p:nvGraphicFramePr>
          <p:cNvPr id="226322" name="Object 18"/>
          <p:cNvGraphicFramePr>
            <a:graphicFrameLocks noChangeAspect="1"/>
          </p:cNvGraphicFramePr>
          <p:nvPr/>
        </p:nvGraphicFramePr>
        <p:xfrm>
          <a:off x="2190750" y="5638800"/>
          <a:ext cx="4946650" cy="665163"/>
        </p:xfrm>
        <a:graphic>
          <a:graphicData uri="http://schemas.openxmlformats.org/presentationml/2006/ole">
            <p:oleObj spid="_x0000_s226322" name="Equation" r:id="rId5" imgW="3302000" imgH="4445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228600" y="381000"/>
            <a:ext cx="8739362" cy="1371600"/>
          </a:xfrm>
        </p:spPr>
        <p:txBody>
          <a:bodyPr>
            <a:noAutofit/>
          </a:bodyPr>
          <a:lstStyle/>
          <a:p>
            <a:r>
              <a:rPr lang="en-US" sz="2200" dirty="0" smtClean="0"/>
              <a:t>NMS arises from the first term, </a:t>
            </a:r>
            <a:r>
              <a:rPr lang="en-US" sz="2200" i="1" dirty="0" smtClean="0"/>
              <a:t>i.e</a:t>
            </a:r>
            <a:r>
              <a:rPr lang="en-US" sz="2200" dirty="0" smtClean="0"/>
              <a:t>., the finite mass of the nucleus. Since the energy is proportional to the reduced </a:t>
            </a:r>
            <a:r>
              <a:rPr lang="en-US" sz="2200" dirty="0" smtClean="0"/>
              <a:t>mass</a:t>
            </a:r>
          </a:p>
          <a:p>
            <a:endParaRPr lang="en-US" altLang="ko-KR" sz="2200" dirty="0" smtClean="0"/>
          </a:p>
          <a:p>
            <a:endParaRPr lang="en-US" altLang="ko-KR" sz="2200" dirty="0" smtClean="0"/>
          </a:p>
          <a:p>
            <a:pPr>
              <a:buNone/>
            </a:pPr>
            <a:endParaRPr lang="en-US" altLang="ko-KR" sz="2200" dirty="0" smtClean="0"/>
          </a:p>
          <a:p>
            <a:pPr>
              <a:buNone/>
            </a:pPr>
            <a:endParaRPr lang="en-US" altLang="ko-KR" sz="2200" dirty="0" smtClean="0"/>
          </a:p>
          <a:p>
            <a:pPr>
              <a:buNone/>
            </a:pPr>
            <a:r>
              <a:rPr lang="en-US" sz="2200" dirty="0" smtClean="0"/>
              <a:t>	where </a:t>
            </a:r>
            <a:r>
              <a:rPr lang="en-US" sz="2200" dirty="0" smtClean="0"/>
              <a:t>NMS is measured with respect to the energy for the </a:t>
            </a:r>
            <a:r>
              <a:rPr lang="en-US" sz="2200" i="1" dirty="0" smtClean="0"/>
              <a:t>infinite</a:t>
            </a:r>
            <a:r>
              <a:rPr lang="en-US" sz="2200" dirty="0" smtClean="0"/>
              <a:t> nucleus </a:t>
            </a:r>
            <a:r>
              <a:rPr lang="en-US" sz="2200" dirty="0" smtClean="0"/>
              <a:t>mass.</a:t>
            </a:r>
          </a:p>
          <a:p>
            <a:r>
              <a:rPr lang="en-US" sz="2200" dirty="0" smtClean="0"/>
              <a:t>SMS </a:t>
            </a:r>
            <a:r>
              <a:rPr lang="en-US" sz="2200" dirty="0" smtClean="0"/>
              <a:t>arises from the second term, </a:t>
            </a:r>
            <a:r>
              <a:rPr lang="en-US" sz="2200" i="1" dirty="0" smtClean="0"/>
              <a:t>i.e</a:t>
            </a:r>
            <a:r>
              <a:rPr lang="en-US" sz="2200" dirty="0" smtClean="0"/>
              <a:t>., the </a:t>
            </a:r>
            <a:r>
              <a:rPr lang="en-US" sz="2200" i="1" dirty="0" smtClean="0"/>
              <a:t>momentum correlations</a:t>
            </a:r>
            <a:r>
              <a:rPr lang="en-US" sz="2200" dirty="0" smtClean="0"/>
              <a:t> between pairs of electrons orbiting the nucleus.</a:t>
            </a:r>
            <a:r>
              <a:rPr lang="en-US" sz="2200" dirty="0" smtClean="0"/>
              <a:t> </a:t>
            </a:r>
          </a:p>
          <a:p>
            <a:endParaRPr lang="en-US" altLang="ko-KR" sz="2200" dirty="0" smtClean="0"/>
          </a:p>
          <a:p>
            <a:endParaRPr lang="en-US" altLang="ko-KR" sz="2200" dirty="0" smtClean="0"/>
          </a:p>
          <a:p>
            <a:pPr>
              <a:buNone/>
            </a:pPr>
            <a:r>
              <a:rPr lang="en-US" sz="2200" dirty="0" smtClean="0"/>
              <a:t>	Since </a:t>
            </a:r>
            <a:r>
              <a:rPr lang="en-US" sz="2200" dirty="0" smtClean="0"/>
              <a:t>the momentum scales with </a:t>
            </a:r>
            <a:r>
              <a:rPr lang="en-US" sz="2200" dirty="0" smtClean="0"/>
              <a:t>mass</a:t>
            </a:r>
          </a:p>
          <a:p>
            <a:endParaRPr lang="en-US" altLang="ko-KR" sz="2200" dirty="0" smtClean="0"/>
          </a:p>
          <a:p>
            <a:endParaRPr lang="en-US" altLang="ko-KR" sz="2200" dirty="0" smtClean="0"/>
          </a:p>
          <a:p>
            <a:pPr>
              <a:buNone/>
            </a:pPr>
            <a:r>
              <a:rPr lang="en-US" sz="2200" dirty="0" smtClean="0"/>
              <a:t>SMS is difficult to calculate and is usually measured experimentally.</a:t>
            </a:r>
            <a:r>
              <a:rPr lang="ko-KR" altLang="en-US" sz="2200" dirty="0" smtClean="0"/>
              <a:t> </a:t>
            </a:r>
            <a:endParaRPr lang="ko-KR" altLang="en-US" sz="2200" dirty="0" smtClean="0"/>
          </a:p>
          <a:p>
            <a:endParaRPr lang="ko-KR" altLang="en-US" sz="2200" dirty="0" smtClean="0"/>
          </a:p>
          <a:p>
            <a:pPr>
              <a:buNone/>
            </a:pPr>
            <a:endParaRPr lang="ko-KR" altLang="en-US" sz="2200" dirty="0" smtClean="0"/>
          </a:p>
          <a:p>
            <a:pPr>
              <a:buNone/>
            </a:pPr>
            <a:endParaRPr lang="ko-KR" altLang="en-US" sz="2200" dirty="0"/>
          </a:p>
        </p:txBody>
      </p:sp>
      <p:graphicFrame>
        <p:nvGraphicFramePr>
          <p:cNvPr id="206873" name="Object 25"/>
          <p:cNvGraphicFramePr>
            <a:graphicFrameLocks noChangeAspect="1"/>
          </p:cNvGraphicFramePr>
          <p:nvPr/>
        </p:nvGraphicFramePr>
        <p:xfrm>
          <a:off x="2752725" y="1219200"/>
          <a:ext cx="3756025" cy="628650"/>
        </p:xfrm>
        <a:graphic>
          <a:graphicData uri="http://schemas.openxmlformats.org/presentationml/2006/ole">
            <p:oleObj spid="_x0000_s206873" name="Equation" r:id="rId3" imgW="2501900" imgH="419100" progId="Equation.3">
              <p:embed/>
            </p:oleObj>
          </a:graphicData>
        </a:graphic>
      </p:graphicFrame>
      <p:graphicFrame>
        <p:nvGraphicFramePr>
          <p:cNvPr id="206874" name="Object 26"/>
          <p:cNvGraphicFramePr>
            <a:graphicFrameLocks noChangeAspect="1"/>
          </p:cNvGraphicFramePr>
          <p:nvPr/>
        </p:nvGraphicFramePr>
        <p:xfrm>
          <a:off x="3276600" y="2006600"/>
          <a:ext cx="2678113" cy="660400"/>
        </p:xfrm>
        <a:graphic>
          <a:graphicData uri="http://schemas.openxmlformats.org/presentationml/2006/ole">
            <p:oleObj spid="_x0000_s206874" name="Equation" r:id="rId4" imgW="1803400" imgH="444500" progId="Equation.3">
              <p:embed/>
            </p:oleObj>
          </a:graphicData>
        </a:graphic>
      </p:graphicFrame>
      <p:graphicFrame>
        <p:nvGraphicFramePr>
          <p:cNvPr id="206875" name="Object 27"/>
          <p:cNvGraphicFramePr>
            <a:graphicFrameLocks noChangeAspect="1"/>
          </p:cNvGraphicFramePr>
          <p:nvPr/>
        </p:nvGraphicFramePr>
        <p:xfrm>
          <a:off x="3352800" y="4291012"/>
          <a:ext cx="2366963" cy="661988"/>
        </p:xfrm>
        <a:graphic>
          <a:graphicData uri="http://schemas.openxmlformats.org/presentationml/2006/ole">
            <p:oleObj spid="_x0000_s206875" name="Equation" r:id="rId5" imgW="1587500" imgH="444500" progId="Equation.3">
              <p:embed/>
            </p:oleObj>
          </a:graphicData>
        </a:graphic>
      </p:graphicFrame>
      <p:graphicFrame>
        <p:nvGraphicFramePr>
          <p:cNvPr id="206876" name="Object 28"/>
          <p:cNvGraphicFramePr>
            <a:graphicFrameLocks noChangeAspect="1"/>
          </p:cNvGraphicFramePr>
          <p:nvPr/>
        </p:nvGraphicFramePr>
        <p:xfrm>
          <a:off x="1676400" y="5486400"/>
          <a:ext cx="5942013" cy="776288"/>
        </p:xfrm>
        <a:graphic>
          <a:graphicData uri="http://schemas.openxmlformats.org/presentationml/2006/ole">
            <p:oleObj spid="_x0000_s206876" name="Equation" r:id="rId6" imgW="3987800" imgH="5207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2022476"/>
          </a:xfrm>
        </p:spPr>
        <p:txBody>
          <a:bodyPr>
            <a:noAutofit/>
          </a:bodyPr>
          <a:lstStyle/>
          <a:p>
            <a:r>
              <a:rPr lang="en-US" sz="2400" dirty="0" smtClean="0"/>
              <a:t>The field shift is due to the change in the nuclear charge density when the neutron number is changed. </a:t>
            </a:r>
            <a:endParaRPr lang="ko-KR" altLang="en-US" sz="2400" dirty="0" smtClean="0"/>
          </a:p>
          <a:p>
            <a:endParaRPr lang="ko-KR" altLang="en-US" sz="2400" dirty="0"/>
          </a:p>
        </p:txBody>
      </p:sp>
      <p:sp>
        <p:nvSpPr>
          <p:cNvPr id="10" name="Title 1"/>
          <p:cNvSpPr>
            <a:spLocks noGrp="1"/>
          </p:cNvSpPr>
          <p:nvPr>
            <p:ph type="title"/>
          </p:nvPr>
        </p:nvSpPr>
        <p:spPr>
          <a:xfrm>
            <a:off x="457200" y="457200"/>
            <a:ext cx="8001000" cy="1143000"/>
          </a:xfrm>
        </p:spPr>
        <p:txBody>
          <a:bodyPr>
            <a:normAutofit fontScale="90000"/>
          </a:bodyPr>
          <a:lstStyle/>
          <a:p>
            <a:r>
              <a:rPr lang="en-US" altLang="ja-JP" i="1" dirty="0" smtClean="0">
                <a:latin typeface="Times New Roman"/>
                <a:cs typeface="Times New Roman"/>
              </a:rPr>
              <a:t>Field Shift provides information on nuclear volume</a:t>
            </a:r>
            <a:endParaRPr lang="ja-JP" altLang="en-US" i="1" dirty="0">
              <a:latin typeface="Times New Roman"/>
              <a:cs typeface="Times New Roman"/>
            </a:endParaRPr>
          </a:p>
        </p:txBody>
      </p:sp>
      <p:sp>
        <p:nvSpPr>
          <p:cNvPr id="11" name="Content Placeholder 2"/>
          <p:cNvSpPr txBox="1">
            <a:spLocks/>
          </p:cNvSpPr>
          <p:nvPr/>
        </p:nvSpPr>
        <p:spPr>
          <a:xfrm>
            <a:off x="457200" y="3962400"/>
            <a:ext cx="8305800" cy="2057400"/>
          </a:xfrm>
          <a:prstGeom prst="rect">
            <a:avLst/>
          </a:prstGeom>
        </p:spPr>
        <p:txBody>
          <a:bodyPr vert="horz">
            <a:noAutofit/>
          </a:bodyPr>
          <a:lstStyle/>
          <a:p>
            <a:r>
              <a:rPr lang="en-US" sz="2400" dirty="0" smtClean="0"/>
              <a:t>Assume that the nuclear is a uniformly charged ball of radius </a:t>
            </a:r>
            <a:r>
              <a:rPr lang="en-US" sz="2400" i="1" dirty="0" smtClean="0"/>
              <a:t>R</a:t>
            </a:r>
            <a:r>
              <a:rPr lang="en-US" sz="2400" dirty="0" smtClean="0"/>
              <a:t> with a charge </a:t>
            </a:r>
            <a:r>
              <a:rPr lang="en-US" sz="2400" i="1" dirty="0" err="1" smtClean="0"/>
              <a:t>Ze</a:t>
            </a:r>
            <a:r>
              <a:rPr lang="en-US" sz="2400" dirty="0" smtClean="0"/>
              <a:t>. Show that the potential energy is given by</a:t>
            </a:r>
            <a:endParaRPr lang="ko-KR" altLang="en-US" sz="2400" dirty="0"/>
          </a:p>
        </p:txBody>
      </p:sp>
      <p:sp>
        <p:nvSpPr>
          <p:cNvPr id="12" name="Title 1"/>
          <p:cNvSpPr txBox="1">
            <a:spLocks/>
          </p:cNvSpPr>
          <p:nvPr/>
        </p:nvSpPr>
        <p:spPr>
          <a:xfrm>
            <a:off x="457200" y="2971800"/>
            <a:ext cx="7467600" cy="944562"/>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ja-JP" sz="4600" b="0" i="0" u="none" strike="noStrike" kern="1200" cap="none" spc="0" normalizeH="0" baseline="0" noProof="0" dirty="0" smtClean="0">
                <a:ln>
                  <a:noFill/>
                </a:ln>
                <a:solidFill>
                  <a:schemeClr val="tx1"/>
                </a:solidFill>
                <a:effectLst/>
                <a:uLnTx/>
                <a:uFillTx/>
                <a:latin typeface="+mj-lt"/>
                <a:ea typeface="+mj-ea"/>
                <a:cs typeface="+mj-cs"/>
              </a:rPr>
              <a:t>Exercise 13</a:t>
            </a:r>
            <a:endParaRPr kumimoji="1" lang="ja-JP" altLang="en-US" sz="46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207913" name="Object 41"/>
          <p:cNvGraphicFramePr>
            <a:graphicFrameLocks noChangeAspect="1"/>
          </p:cNvGraphicFramePr>
          <p:nvPr/>
        </p:nvGraphicFramePr>
        <p:xfrm>
          <a:off x="3048000" y="5257800"/>
          <a:ext cx="2894013" cy="661988"/>
        </p:xfrm>
        <a:graphic>
          <a:graphicData uri="http://schemas.openxmlformats.org/presentationml/2006/ole">
            <p:oleObj spid="_x0000_s207913" name="Equation" r:id="rId3" imgW="1943100" imgH="44450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98487"/>
            <a:ext cx="8305800" cy="2971800"/>
          </a:xfrm>
        </p:spPr>
        <p:txBody>
          <a:bodyPr>
            <a:noAutofit/>
          </a:bodyPr>
          <a:lstStyle/>
          <a:p>
            <a:r>
              <a:rPr lang="en-US" sz="2400" dirty="0" smtClean="0"/>
              <a:t>The change in the potential energy induced by a change  is</a:t>
            </a:r>
            <a:endParaRPr lang="ko-KR" altLang="en-US" sz="2400" dirty="0" smtClean="0"/>
          </a:p>
          <a:p>
            <a:pPr>
              <a:buNone/>
            </a:pPr>
            <a:endParaRPr lang="ko-KR" altLang="en-US" sz="2400" dirty="0" smtClean="0"/>
          </a:p>
          <a:p>
            <a:pPr>
              <a:buNone/>
            </a:pPr>
            <a:r>
              <a:rPr lang="en-US" sz="2400" dirty="0" smtClean="0"/>
              <a:t>	For </a:t>
            </a:r>
            <a:r>
              <a:rPr lang="en-US" sz="2400" dirty="0" smtClean="0"/>
              <a:t>a uniform nucleus distribution</a:t>
            </a:r>
            <a:endParaRPr lang="ko-KR" altLang="en-US" sz="2400" dirty="0" smtClean="0"/>
          </a:p>
          <a:p>
            <a:pPr>
              <a:buNone/>
            </a:pPr>
            <a:endParaRPr lang="en-US" altLang="ko-KR" sz="2400" dirty="0" smtClean="0"/>
          </a:p>
          <a:p>
            <a:pPr>
              <a:buNone/>
            </a:pPr>
            <a:endParaRPr lang="ko-KR" altLang="en-US" sz="2400" dirty="0" smtClean="0"/>
          </a:p>
          <a:p>
            <a:pPr>
              <a:buNone/>
            </a:pPr>
            <a:r>
              <a:rPr lang="en-US" sz="2400" dirty="0" smtClean="0"/>
              <a:t>	and thus</a:t>
            </a:r>
          </a:p>
          <a:p>
            <a:pPr>
              <a:buNone/>
            </a:pPr>
            <a:endParaRPr lang="en-US" sz="2400" dirty="0" smtClean="0"/>
          </a:p>
          <a:p>
            <a:endParaRPr lang="ko-KR" altLang="en-US" sz="2400" dirty="0" smtClean="0"/>
          </a:p>
          <a:p>
            <a:pPr>
              <a:buNone/>
            </a:pPr>
            <a:r>
              <a:rPr lang="en-US" sz="2400" dirty="0" smtClean="0"/>
              <a:t>	The </a:t>
            </a:r>
            <a:r>
              <a:rPr lang="en-US" sz="2400" dirty="0" smtClean="0"/>
              <a:t>Field shift is thus given by</a:t>
            </a:r>
            <a:endParaRPr lang="ko-KR" altLang="en-US" sz="2400" dirty="0"/>
          </a:p>
        </p:txBody>
      </p:sp>
      <p:graphicFrame>
        <p:nvGraphicFramePr>
          <p:cNvPr id="251906" name="Object 2"/>
          <p:cNvGraphicFramePr>
            <a:graphicFrameLocks noChangeAspect="1"/>
          </p:cNvGraphicFramePr>
          <p:nvPr/>
        </p:nvGraphicFramePr>
        <p:xfrm>
          <a:off x="3429000" y="1208087"/>
          <a:ext cx="2419350" cy="661988"/>
        </p:xfrm>
        <a:graphic>
          <a:graphicData uri="http://schemas.openxmlformats.org/presentationml/2006/ole">
            <p:oleObj spid="_x0000_s251906" name="Equation" r:id="rId3" imgW="1625600" imgH="444500" progId="Equation.3">
              <p:embed/>
            </p:oleObj>
          </a:graphicData>
        </a:graphic>
      </p:graphicFrame>
      <p:graphicFrame>
        <p:nvGraphicFramePr>
          <p:cNvPr id="251907" name="Object 3"/>
          <p:cNvGraphicFramePr>
            <a:graphicFrameLocks noChangeAspect="1"/>
          </p:cNvGraphicFramePr>
          <p:nvPr/>
        </p:nvGraphicFramePr>
        <p:xfrm>
          <a:off x="3086100" y="2335212"/>
          <a:ext cx="3074988" cy="854075"/>
        </p:xfrm>
        <a:graphic>
          <a:graphicData uri="http://schemas.openxmlformats.org/presentationml/2006/ole">
            <p:oleObj spid="_x0000_s251907" name="Equation" r:id="rId4" imgW="2057400" imgH="571500" progId="Equation.3">
              <p:embed/>
            </p:oleObj>
          </a:graphicData>
        </a:graphic>
      </p:graphicFrame>
      <p:graphicFrame>
        <p:nvGraphicFramePr>
          <p:cNvPr id="251908" name="Object 4"/>
          <p:cNvGraphicFramePr>
            <a:graphicFrameLocks noChangeAspect="1"/>
          </p:cNvGraphicFramePr>
          <p:nvPr/>
        </p:nvGraphicFramePr>
        <p:xfrm>
          <a:off x="3246438" y="3683000"/>
          <a:ext cx="2832100" cy="660400"/>
        </p:xfrm>
        <a:graphic>
          <a:graphicData uri="http://schemas.openxmlformats.org/presentationml/2006/ole">
            <p:oleObj spid="_x0000_s251908" name="Equation" r:id="rId5" imgW="1905000" imgH="444500" progId="Equation.3">
              <p:embed/>
            </p:oleObj>
          </a:graphicData>
        </a:graphic>
      </p:graphicFrame>
      <p:graphicFrame>
        <p:nvGraphicFramePr>
          <p:cNvPr id="251909" name="Object 5"/>
          <p:cNvGraphicFramePr>
            <a:graphicFrameLocks noChangeAspect="1"/>
          </p:cNvGraphicFramePr>
          <p:nvPr/>
        </p:nvGraphicFramePr>
        <p:xfrm>
          <a:off x="3379788" y="5018087"/>
          <a:ext cx="2592387" cy="1154113"/>
        </p:xfrm>
        <a:graphic>
          <a:graphicData uri="http://schemas.openxmlformats.org/presentationml/2006/ole">
            <p:oleObj spid="_x0000_s251909" name="Equation" r:id="rId6" imgW="1739900" imgH="7747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305800" cy="2057400"/>
          </a:xfrm>
        </p:spPr>
        <p:txBody>
          <a:bodyPr>
            <a:noAutofit/>
          </a:bodyPr>
          <a:lstStyle/>
          <a:p>
            <a:r>
              <a:rPr lang="en-US" sz="2400" dirty="0" smtClean="0"/>
              <a:t>For an </a:t>
            </a:r>
            <a:r>
              <a:rPr lang="en-US" sz="2400" dirty="0" err="1" smtClean="0"/>
              <a:t>s</a:t>
            </a:r>
            <a:r>
              <a:rPr lang="en-US" sz="2400" dirty="0" smtClean="0"/>
              <a:t> electron, show that </a:t>
            </a:r>
            <a:endParaRPr lang="ko-KR" altLang="en-US" sz="2400" dirty="0" smtClean="0"/>
          </a:p>
        </p:txBody>
      </p:sp>
      <p:sp>
        <p:nvSpPr>
          <p:cNvPr id="4" name="Title 1"/>
          <p:cNvSpPr>
            <a:spLocks noGrp="1"/>
          </p:cNvSpPr>
          <p:nvPr>
            <p:ph type="title"/>
          </p:nvPr>
        </p:nvSpPr>
        <p:spPr>
          <a:xfrm>
            <a:off x="457200" y="533400"/>
            <a:ext cx="7467600" cy="944562"/>
          </a:xfrm>
        </p:spPr>
        <p:txBody>
          <a:bodyPr/>
          <a:lstStyle/>
          <a:p>
            <a:r>
              <a:rPr lang="en-US" altLang="ja-JP" dirty="0" smtClean="0"/>
              <a:t>Exercise </a:t>
            </a:r>
            <a:r>
              <a:rPr lang="en-US" altLang="ja-JP" dirty="0" smtClean="0"/>
              <a:t>14</a:t>
            </a:r>
            <a:endParaRPr lang="ja-JP" altLang="en-US" dirty="0"/>
          </a:p>
        </p:txBody>
      </p:sp>
      <p:graphicFrame>
        <p:nvGraphicFramePr>
          <p:cNvPr id="238597" name="Object 5"/>
          <p:cNvGraphicFramePr>
            <a:graphicFrameLocks noChangeAspect="1"/>
          </p:cNvGraphicFramePr>
          <p:nvPr/>
        </p:nvGraphicFramePr>
        <p:xfrm>
          <a:off x="3495675" y="2286000"/>
          <a:ext cx="1828800" cy="571500"/>
        </p:xfrm>
        <a:graphic>
          <a:graphicData uri="http://schemas.openxmlformats.org/presentationml/2006/ole">
            <p:oleObj spid="_x0000_s238597" name="Equation" r:id="rId3" imgW="1219200" imgH="3810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944562"/>
          </a:xfrm>
        </p:spPr>
        <p:txBody>
          <a:bodyPr>
            <a:noAutofit/>
          </a:bodyPr>
          <a:lstStyle/>
          <a:p>
            <a:r>
              <a:rPr lang="en-US" sz="4000" i="1" dirty="0" smtClean="0">
                <a:latin typeface="Times New Roman"/>
                <a:cs typeface="Times New Roman"/>
              </a:rPr>
              <a:t>King Plot</a:t>
            </a:r>
            <a:endParaRPr lang="ja-JP" altLang="en-US" sz="4000" i="1" dirty="0">
              <a:latin typeface="Times New Roman"/>
              <a:cs typeface="Times New Roman"/>
            </a:endParaRPr>
          </a:p>
        </p:txBody>
      </p:sp>
      <p:sp>
        <p:nvSpPr>
          <p:cNvPr id="3" name="Content Placeholder 2"/>
          <p:cNvSpPr>
            <a:spLocks noGrp="1"/>
          </p:cNvSpPr>
          <p:nvPr>
            <p:ph idx="1"/>
          </p:nvPr>
        </p:nvSpPr>
        <p:spPr>
          <a:xfrm>
            <a:off x="457200" y="990600"/>
            <a:ext cx="8305800" cy="4038600"/>
          </a:xfrm>
        </p:spPr>
        <p:txBody>
          <a:bodyPr>
            <a:noAutofit/>
          </a:bodyPr>
          <a:lstStyle/>
          <a:p>
            <a:r>
              <a:rPr lang="en-US" sz="2400" dirty="0" smtClean="0"/>
              <a:t>Total isotope shift between two isotopes for a transition </a:t>
            </a:r>
            <a:r>
              <a:rPr lang="en-US" sz="2400" i="1" dirty="0" err="1" smtClean="0"/>
              <a:t>p</a:t>
            </a:r>
            <a:r>
              <a:rPr lang="en-US" sz="2400" dirty="0" smtClean="0"/>
              <a:t> can be written </a:t>
            </a:r>
            <a:r>
              <a:rPr lang="en-US" sz="2400" dirty="0" smtClean="0"/>
              <a:t>as</a:t>
            </a:r>
          </a:p>
          <a:p>
            <a:endParaRPr lang="en-US" altLang="ko-KR" sz="2400" dirty="0" smtClean="0"/>
          </a:p>
          <a:p>
            <a:endParaRPr lang="en-US" altLang="ko-KR" sz="2400" dirty="0" smtClean="0"/>
          </a:p>
          <a:p>
            <a:endParaRPr lang="en-US" altLang="ko-KR" sz="2400" dirty="0" smtClean="0"/>
          </a:p>
          <a:p>
            <a:endParaRPr lang="en-US" altLang="ko-KR" sz="2400" dirty="0" smtClean="0"/>
          </a:p>
          <a:p>
            <a:pPr>
              <a:buNone/>
            </a:pPr>
            <a:endParaRPr lang="en-US" altLang="ko-KR" sz="2400" dirty="0" smtClean="0"/>
          </a:p>
          <a:p>
            <a:pPr>
              <a:buNone/>
            </a:pPr>
            <a:endParaRPr lang="en-US" altLang="ko-KR" sz="2400" dirty="0" smtClean="0"/>
          </a:p>
          <a:p>
            <a:pPr>
              <a:buNone/>
            </a:pPr>
            <a:r>
              <a:rPr lang="en-US" sz="2400" dirty="0" smtClean="0"/>
              <a:t>	where</a:t>
            </a:r>
            <a:r>
              <a:rPr lang="ko-KR" altLang="en-US" sz="2400" dirty="0" smtClean="0"/>
              <a:t> </a:t>
            </a:r>
            <a:endParaRPr lang="en-US" altLang="ko-KR" sz="2400" dirty="0" smtClean="0"/>
          </a:p>
          <a:p>
            <a:endParaRPr lang="en-US" altLang="ko-KR" sz="2400" dirty="0" smtClean="0"/>
          </a:p>
          <a:p>
            <a:endParaRPr lang="en-US" altLang="ko-KR" sz="2400" dirty="0" smtClean="0"/>
          </a:p>
          <a:p>
            <a:endParaRPr lang="en-US" altLang="ko-KR" sz="2400" dirty="0" smtClean="0"/>
          </a:p>
          <a:p>
            <a:pPr>
              <a:buNone/>
            </a:pPr>
            <a:r>
              <a:rPr lang="en-US" sz="2400" dirty="0" smtClean="0"/>
              <a:t>	with </a:t>
            </a:r>
            <a:r>
              <a:rPr lang="en-US" sz="2400" i="1" dirty="0" err="1" smtClean="0"/>
              <a:t>m</a:t>
            </a:r>
            <a:r>
              <a:rPr lang="en-US" sz="2400" i="1" baseline="-25000" dirty="0" err="1" smtClean="0"/>
              <a:t>n</a:t>
            </a:r>
            <a:r>
              <a:rPr lang="en-US" sz="2400" dirty="0" smtClean="0"/>
              <a:t> the nucleon mass.</a:t>
            </a:r>
            <a:r>
              <a:rPr lang="ko-KR" altLang="en-US" sz="2400" dirty="0" smtClean="0"/>
              <a:t> </a:t>
            </a:r>
            <a:endParaRPr lang="ko-KR" altLang="en-US" sz="2400" dirty="0"/>
          </a:p>
        </p:txBody>
      </p:sp>
      <p:graphicFrame>
        <p:nvGraphicFramePr>
          <p:cNvPr id="239624" name="Object 8"/>
          <p:cNvGraphicFramePr>
            <a:graphicFrameLocks noChangeAspect="1"/>
          </p:cNvGraphicFramePr>
          <p:nvPr/>
        </p:nvGraphicFramePr>
        <p:xfrm>
          <a:off x="1676400" y="1947862"/>
          <a:ext cx="5967413" cy="2395538"/>
        </p:xfrm>
        <a:graphic>
          <a:graphicData uri="http://schemas.openxmlformats.org/presentationml/2006/ole">
            <p:oleObj spid="_x0000_s239624" name="Equation" r:id="rId3" imgW="3987800" imgH="1600200" progId="Equation.3">
              <p:embed/>
            </p:oleObj>
          </a:graphicData>
        </a:graphic>
      </p:graphicFrame>
      <p:graphicFrame>
        <p:nvGraphicFramePr>
          <p:cNvPr id="239625" name="Object 9"/>
          <p:cNvGraphicFramePr>
            <a:graphicFrameLocks noChangeAspect="1"/>
          </p:cNvGraphicFramePr>
          <p:nvPr/>
        </p:nvGraphicFramePr>
        <p:xfrm>
          <a:off x="3295650" y="4783138"/>
          <a:ext cx="2719388" cy="1503362"/>
        </p:xfrm>
        <a:graphic>
          <a:graphicData uri="http://schemas.openxmlformats.org/presentationml/2006/ole">
            <p:oleObj spid="_x0000_s239625" name="Equation" r:id="rId4" imgW="1816100" imgH="10033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3733800"/>
          </a:xfrm>
        </p:spPr>
        <p:txBody>
          <a:bodyPr>
            <a:noAutofit/>
          </a:bodyPr>
          <a:lstStyle/>
          <a:p>
            <a:pPr lvl="0"/>
            <a:r>
              <a:rPr lang="en-US" sz="2200" dirty="0" smtClean="0"/>
              <a:t>In experiments, two different transitions are compared for pairs of isotopes. Since we exactly know NMS, it is subtracted out from the isotope shifts. The resulting isotope shifts are denoted by primed symbols. For a set of pairs (</a:t>
            </a:r>
            <a:r>
              <a:rPr lang="en-US" sz="2200" i="1" dirty="0" smtClean="0"/>
              <a:t>A</a:t>
            </a:r>
            <a:r>
              <a:rPr lang="en-US" sz="2200" dirty="0" smtClean="0"/>
              <a:t>, </a:t>
            </a:r>
            <a:r>
              <a:rPr lang="en-US" sz="2200" i="1" dirty="0" smtClean="0"/>
              <a:t>A’</a:t>
            </a:r>
            <a:r>
              <a:rPr lang="en-US" sz="2200" dirty="0" smtClean="0"/>
              <a:t>) and transitions </a:t>
            </a:r>
            <a:r>
              <a:rPr lang="en-US" sz="2200" i="1" dirty="0" err="1" smtClean="0"/>
              <a:t>p</a:t>
            </a:r>
            <a:r>
              <a:rPr lang="en-US" sz="2200" dirty="0" smtClean="0"/>
              <a:t> and </a:t>
            </a:r>
            <a:r>
              <a:rPr lang="en-US" sz="2200" i="1" dirty="0" err="1" smtClean="0"/>
              <a:t>q</a:t>
            </a:r>
            <a:r>
              <a:rPr lang="en-US" sz="2200" dirty="0" smtClean="0"/>
              <a:t>,</a:t>
            </a:r>
            <a:r>
              <a:rPr lang="ko-KR" altLang="en-US" sz="2200" dirty="0" smtClean="0"/>
              <a:t> </a:t>
            </a:r>
            <a:r>
              <a:rPr lang="en-US" altLang="ko-KR" sz="2200" dirty="0" smtClean="0"/>
              <a:t>we evaluate</a:t>
            </a:r>
          </a:p>
          <a:p>
            <a:pPr lvl="0"/>
            <a:endParaRPr lang="en-US" altLang="ko-KR" sz="2200" dirty="0" smtClean="0"/>
          </a:p>
          <a:p>
            <a:pPr lvl="0"/>
            <a:endParaRPr lang="en-US" altLang="ko-KR" sz="2200" dirty="0" smtClean="0"/>
          </a:p>
          <a:p>
            <a:pPr lvl="0"/>
            <a:endParaRPr lang="en-US" altLang="ko-KR" sz="2200" dirty="0" smtClean="0"/>
          </a:p>
          <a:p>
            <a:pPr lvl="0">
              <a:buNone/>
            </a:pPr>
            <a:endParaRPr lang="en-US" altLang="ko-KR" sz="2200" dirty="0" smtClean="0"/>
          </a:p>
          <a:p>
            <a:r>
              <a:rPr lang="en-US" sz="2200" dirty="0" smtClean="0"/>
              <a:t>By plotting the </a:t>
            </a:r>
            <a:r>
              <a:rPr lang="en-US" sz="2200" i="1" dirty="0" err="1" smtClean="0"/>
              <a:t>q</a:t>
            </a:r>
            <a:r>
              <a:rPr lang="en-US" sz="2200" dirty="0" smtClean="0"/>
              <a:t>-transition shifts with respect to the </a:t>
            </a:r>
            <a:r>
              <a:rPr lang="en-US" sz="2200" i="1" dirty="0" err="1" smtClean="0"/>
              <a:t>p</a:t>
            </a:r>
            <a:r>
              <a:rPr lang="en-US" sz="2200" dirty="0" smtClean="0"/>
              <a:t>-transition shifts for various pairs of isotopes, we obtain a King plot [W. H King, “Isotope shift in atomic spectra” (New York, Plenum, 1984)]. The slope of the plot gives the ratio . If the FS of the </a:t>
            </a:r>
            <a:r>
              <a:rPr lang="en-US" sz="2200" i="1" dirty="0" err="1" smtClean="0"/>
              <a:t>p</a:t>
            </a:r>
            <a:r>
              <a:rPr lang="en-US" sz="2200" dirty="0" smtClean="0"/>
              <a:t> transition is known, then we can get the FS of the </a:t>
            </a:r>
            <a:r>
              <a:rPr lang="en-US" sz="2200" i="1" dirty="0" err="1" smtClean="0"/>
              <a:t>q</a:t>
            </a:r>
            <a:r>
              <a:rPr lang="en-US" sz="2200" dirty="0" smtClean="0"/>
              <a:t> transition from this relation. Once the FS is known, the SMS is obtained from the above relation.</a:t>
            </a:r>
            <a:endParaRPr lang="ko-KR" altLang="en-US" sz="2200" dirty="0" smtClean="0"/>
          </a:p>
          <a:p>
            <a:pPr lvl="0"/>
            <a:endParaRPr lang="ko-KR" altLang="en-US" sz="2200" dirty="0"/>
          </a:p>
        </p:txBody>
      </p:sp>
      <p:graphicFrame>
        <p:nvGraphicFramePr>
          <p:cNvPr id="257026" name="Object 2"/>
          <p:cNvGraphicFramePr>
            <a:graphicFrameLocks noChangeAspect="1"/>
          </p:cNvGraphicFramePr>
          <p:nvPr/>
        </p:nvGraphicFramePr>
        <p:xfrm>
          <a:off x="1028700" y="2389188"/>
          <a:ext cx="7207250" cy="1354137"/>
        </p:xfrm>
        <a:graphic>
          <a:graphicData uri="http://schemas.openxmlformats.org/presentationml/2006/ole">
            <p:oleObj spid="_x0000_s257026" name="Equation" r:id="rId3" imgW="4800600" imgH="9017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800600"/>
            <a:ext cx="8305800" cy="1752600"/>
          </a:xfrm>
        </p:spPr>
        <p:txBody>
          <a:bodyPr>
            <a:noAutofit/>
          </a:bodyPr>
          <a:lstStyle/>
          <a:p>
            <a:r>
              <a:rPr lang="en-US" sz="2400" b="1" dirty="0" smtClean="0"/>
              <a:t>Fig. 1</a:t>
            </a:r>
            <a:r>
              <a:rPr lang="en-US" sz="2400" dirty="0" smtClean="0"/>
              <a:t>. King plot for isotope shifts of ytterbium. Normal mass shifts are subtracted out for the plot. Excerpted from http://physics.berkeley.edu/research/freedman/bowers/t8/.</a:t>
            </a:r>
            <a:endParaRPr lang="ko-KR" altLang="en-US" sz="2400" dirty="0" smtClean="0"/>
          </a:p>
          <a:p>
            <a:pPr lvl="0"/>
            <a:endParaRPr lang="ko-KR" altLang="en-US" sz="2400" dirty="0"/>
          </a:p>
        </p:txBody>
      </p:sp>
      <p:graphicFrame>
        <p:nvGraphicFramePr>
          <p:cNvPr id="1027" name="Object 3"/>
          <p:cNvGraphicFramePr>
            <a:graphicFrameLocks noChangeAspect="1"/>
          </p:cNvGraphicFramePr>
          <p:nvPr/>
        </p:nvGraphicFramePr>
        <p:xfrm>
          <a:off x="2438400" y="685800"/>
          <a:ext cx="4462653" cy="4038600"/>
        </p:xfrm>
        <a:graphic>
          <a:graphicData uri="http://schemas.openxmlformats.org/presentationml/2006/ole">
            <p:oleObj spid="_x0000_s1027" name="Document" r:id="rId3" imgW="2806700" imgH="2540000" progId="Word.Document.12">
              <p:link updateAutomatic="1"/>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717</TotalTime>
  <Words>712</Words>
  <Application>Microsoft Macintosh PowerPoint</Application>
  <PresentationFormat>On-screen Show (4:3)</PresentationFormat>
  <Paragraphs>87</Paragraphs>
  <Slides>12</Slides>
  <Notes>0</Notes>
  <HiddenSlides>0</HiddenSlides>
  <MMClips>0</MMClips>
  <ScaleCrop>false</ScaleCrop>
  <HeadingPairs>
    <vt:vector size="8" baseType="variant">
      <vt:variant>
        <vt:lpstr>Design Template</vt:lpstr>
      </vt:variant>
      <vt:variant>
        <vt:i4>1</vt:i4>
      </vt:variant>
      <vt:variant>
        <vt:lpstr>Links</vt:lpstr>
      </vt:variant>
      <vt:variant>
        <vt:i4>1</vt:i4>
      </vt:variant>
      <vt:variant>
        <vt:lpstr>Embedded OLE Servers</vt:lpstr>
      </vt:variant>
      <vt:variant>
        <vt:i4>1</vt:i4>
      </vt:variant>
      <vt:variant>
        <vt:lpstr>Slide Titles</vt:lpstr>
      </vt:variant>
      <vt:variant>
        <vt:i4>12</vt:i4>
      </vt:variant>
    </vt:vector>
  </HeadingPairs>
  <TitlesOfParts>
    <vt:vector size="15" baseType="lpstr">
      <vt:lpstr>Technic</vt:lpstr>
      <vt:lpstr>Users:Users:kwan:Documents:Classes/Lectures:atomic physics class:lecture note:Chapter 2 N-Electron Atoms!OLE_LINK7</vt:lpstr>
      <vt:lpstr>Microsoft Equation</vt:lpstr>
      <vt:lpstr>Atomic and Molecular Physics  Lecture 17</vt:lpstr>
      <vt:lpstr>2.3 Nuclear Effects – Isotope Shift</vt:lpstr>
      <vt:lpstr>Mass Shift (Normal and Specific)</vt:lpstr>
      <vt:lpstr>Exercise 12</vt:lpstr>
      <vt:lpstr>Slide 5</vt:lpstr>
      <vt:lpstr>Slide 6</vt:lpstr>
      <vt:lpstr>Field Shift provides information on nuclear volume</vt:lpstr>
      <vt:lpstr>Slide 8</vt:lpstr>
      <vt:lpstr>Exercise 14</vt:lpstr>
      <vt:lpstr>King Plot</vt:lpstr>
      <vt:lpstr>Slide 11</vt:lpstr>
      <vt:lpstr>Slide 12</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55</cp:revision>
  <dcterms:created xsi:type="dcterms:W3CDTF">2009-11-01T12:17:51Z</dcterms:created>
  <dcterms:modified xsi:type="dcterms:W3CDTF">2009-11-01T13:45:32Z</dcterms:modified>
</cp:coreProperties>
</file>