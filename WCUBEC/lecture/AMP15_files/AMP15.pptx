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Default Extension="jpeg" ContentType="image/jpeg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ppt/embeddings/Microsoft_Equation29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ppt/embeddings/Microsoft_Equation25.bin" ContentType="application/vnd.openxmlformats-officedocument.oleObject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26.bin" ContentType="application/vnd.openxmlformats-officedocument.oleObject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Default Extension="vml" ContentType="application/vnd.openxmlformats-officedocument.vmlDrawing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embeddings/Microsoft_Equation30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27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embeddings/Microsoft_Equation28.bin" ContentType="application/vnd.openxmlformats-officedocument.oleObject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73" r:id="rId3"/>
    <p:sldId id="275" r:id="rId4"/>
    <p:sldId id="276" r:id="rId5"/>
    <p:sldId id="265" r:id="rId6"/>
    <p:sldId id="266" r:id="rId7"/>
    <p:sldId id="268" r:id="rId8"/>
    <p:sldId id="267" r:id="rId9"/>
    <p:sldId id="269" r:id="rId10"/>
    <p:sldId id="270" r:id="rId11"/>
    <p:sldId id="271" r:id="rId12"/>
    <p:sldId id="272" r:id="rId13"/>
    <p:sldId id="277" r:id="rId1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ict"/><Relationship Id="rId4" Type="http://schemas.openxmlformats.org/officeDocument/2006/relationships/image" Target="../media/image4.pict"/><Relationship Id="rId1" Type="http://schemas.openxmlformats.org/officeDocument/2006/relationships/image" Target="../media/image1.pict"/><Relationship Id="rId2" Type="http://schemas.openxmlformats.org/officeDocument/2006/relationships/image" Target="../media/image2.pict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pict"/><Relationship Id="rId4" Type="http://schemas.openxmlformats.org/officeDocument/2006/relationships/image" Target="../media/image8.pict"/><Relationship Id="rId1" Type="http://schemas.openxmlformats.org/officeDocument/2006/relationships/image" Target="../media/image5.pict"/><Relationship Id="rId2" Type="http://schemas.openxmlformats.org/officeDocument/2006/relationships/image" Target="../media/image6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ict"/><Relationship Id="rId2" Type="http://schemas.openxmlformats.org/officeDocument/2006/relationships/image" Target="../media/image10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ict"/><Relationship Id="rId2" Type="http://schemas.openxmlformats.org/officeDocument/2006/relationships/image" Target="../media/image12.pict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ict"/><Relationship Id="rId4" Type="http://schemas.openxmlformats.org/officeDocument/2006/relationships/image" Target="../media/image16.pict"/><Relationship Id="rId5" Type="http://schemas.openxmlformats.org/officeDocument/2006/relationships/image" Target="../media/image17.pict"/><Relationship Id="rId1" Type="http://schemas.openxmlformats.org/officeDocument/2006/relationships/image" Target="../media/image13.pict"/><Relationship Id="rId2" Type="http://schemas.openxmlformats.org/officeDocument/2006/relationships/image" Target="../media/image14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ict"/><Relationship Id="rId2" Type="http://schemas.openxmlformats.org/officeDocument/2006/relationships/image" Target="../media/image20.pict"/><Relationship Id="rId3" Type="http://schemas.openxmlformats.org/officeDocument/2006/relationships/image" Target="../media/image21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ict"/><Relationship Id="rId2" Type="http://schemas.openxmlformats.org/officeDocument/2006/relationships/image" Target="../media/image23.pict"/><Relationship Id="rId3" Type="http://schemas.openxmlformats.org/officeDocument/2006/relationships/image" Target="../media/image24.pict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ict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ict"/><Relationship Id="rId2" Type="http://schemas.openxmlformats.org/officeDocument/2006/relationships/image" Target="../media/image27.pict"/><Relationship Id="rId3" Type="http://schemas.openxmlformats.org/officeDocument/2006/relationships/image" Target="../media/image28.pict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ict"/><Relationship Id="rId2" Type="http://schemas.openxmlformats.org/officeDocument/2006/relationships/image" Target="../media/image30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09.10.25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oleObject" Target="../embeddings/Microsoft_Equation2.bin"/><Relationship Id="rId5" Type="http://schemas.openxmlformats.org/officeDocument/2006/relationships/oleObject" Target="../embeddings/Microsoft_Equation3.bin"/><Relationship Id="rId6" Type="http://schemas.openxmlformats.org/officeDocument/2006/relationships/oleObject" Target="../embeddings/Microsoft_Equation4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5.bin"/><Relationship Id="rId4" Type="http://schemas.openxmlformats.org/officeDocument/2006/relationships/oleObject" Target="../embeddings/Microsoft_Equation6.bin"/><Relationship Id="rId5" Type="http://schemas.openxmlformats.org/officeDocument/2006/relationships/oleObject" Target="../embeddings/Microsoft_Equation7.bin"/><Relationship Id="rId6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9.bin"/><Relationship Id="rId4" Type="http://schemas.openxmlformats.org/officeDocument/2006/relationships/oleObject" Target="../embeddings/Microsoft_Equation10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1.bin"/><Relationship Id="rId4" Type="http://schemas.openxmlformats.org/officeDocument/2006/relationships/oleObject" Target="../embeddings/Microsoft_Equation12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3.bin"/><Relationship Id="rId4" Type="http://schemas.openxmlformats.org/officeDocument/2006/relationships/oleObject" Target="../embeddings/Microsoft_Equation14.bin"/><Relationship Id="rId5" Type="http://schemas.openxmlformats.org/officeDocument/2006/relationships/oleObject" Target="../embeddings/Microsoft_Equation15.bin"/><Relationship Id="rId6" Type="http://schemas.openxmlformats.org/officeDocument/2006/relationships/oleObject" Target="../embeddings/Microsoft_Equation16.bin"/><Relationship Id="rId7" Type="http://schemas.openxmlformats.org/officeDocument/2006/relationships/oleObject" Target="../embeddings/Microsoft_Equation17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9.bin"/><Relationship Id="rId4" Type="http://schemas.openxmlformats.org/officeDocument/2006/relationships/oleObject" Target="../embeddings/Microsoft_Equation20.bin"/><Relationship Id="rId5" Type="http://schemas.openxmlformats.org/officeDocument/2006/relationships/oleObject" Target="../embeddings/Microsoft_Equation21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2.bin"/><Relationship Id="rId4" Type="http://schemas.openxmlformats.org/officeDocument/2006/relationships/oleObject" Target="../embeddings/Microsoft_Equation23.bin"/><Relationship Id="rId5" Type="http://schemas.openxmlformats.org/officeDocument/2006/relationships/oleObject" Target="../embeddings/Microsoft_Equation24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6.bin"/><Relationship Id="rId4" Type="http://schemas.openxmlformats.org/officeDocument/2006/relationships/oleObject" Target="../embeddings/Microsoft_Equation27.bin"/><Relationship Id="rId5" Type="http://schemas.openxmlformats.org/officeDocument/2006/relationships/oleObject" Target="../embeddings/Microsoft_Equation28.bin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9.bin"/><Relationship Id="rId4" Type="http://schemas.openxmlformats.org/officeDocument/2006/relationships/oleObject" Target="../embeddings/Microsoft_Equation30.bin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lang="en-US" altLang="ko-KR" sz="3200" dirty="0" smtClean="0">
                <a:solidFill>
                  <a:srgbClr val="00FF00"/>
                </a:solidFill>
              </a:rPr>
              <a:t>5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2.2 </a:t>
            </a:r>
            <a:r>
              <a:rPr lang="en-US" altLang="ja-JP" dirty="0" err="1" smtClean="0"/>
              <a:t>Multiplet</a:t>
            </a:r>
            <a:r>
              <a:rPr lang="en-US" altLang="ja-JP" dirty="0" smtClean="0"/>
              <a:t> Wave Functions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32766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No spin-orbit interactions, and thus </a:t>
            </a:r>
            <a:r>
              <a:rPr lang="en-US" i="1" dirty="0" smtClean="0"/>
              <a:t>LS</a:t>
            </a:r>
            <a:r>
              <a:rPr lang="en-US" dirty="0" smtClean="0"/>
              <a:t> coupling is used.</a:t>
            </a:r>
            <a:endParaRPr lang="ko-KR" altLang="en-US" dirty="0" smtClean="0"/>
          </a:p>
          <a:p>
            <a:pPr lvl="0"/>
            <a:r>
              <a:rPr lang="en-US" dirty="0" smtClean="0"/>
              <a:t>Construct </a:t>
            </a:r>
            <a:r>
              <a:rPr lang="en-US" dirty="0" err="1" smtClean="0"/>
              <a:t>eigenfunctions</a:t>
            </a:r>
            <a:r>
              <a:rPr lang="en-US" dirty="0" smtClean="0"/>
              <a:t> of </a:t>
            </a:r>
            <a:r>
              <a:rPr lang="en-US" b="1" dirty="0" smtClean="0"/>
              <a:t>S</a:t>
            </a:r>
            <a:r>
              <a:rPr lang="en-US" baseline="30000" dirty="0" smtClean="0"/>
              <a:t>2</a:t>
            </a:r>
            <a:r>
              <a:rPr lang="en-US" dirty="0" smtClean="0"/>
              <a:t> and 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z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 lvl="0"/>
            <a:r>
              <a:rPr lang="en-US" dirty="0" smtClean="0"/>
              <a:t>Construct </a:t>
            </a:r>
            <a:r>
              <a:rPr lang="en-US" dirty="0" err="1" smtClean="0"/>
              <a:t>eigenfunctions</a:t>
            </a:r>
            <a:r>
              <a:rPr lang="en-US" dirty="0" smtClean="0"/>
              <a:t> of </a:t>
            </a:r>
            <a:r>
              <a:rPr lang="en-US" b="1" dirty="0" smtClean="0"/>
              <a:t>L</a:t>
            </a:r>
            <a:r>
              <a:rPr lang="en-US" baseline="30000" dirty="0" smtClean="0"/>
              <a:t>2</a:t>
            </a:r>
            <a:r>
              <a:rPr lang="en-US" dirty="0" smtClean="0"/>
              <a:t> and </a:t>
            </a:r>
            <a:r>
              <a:rPr lang="en-US" i="1" dirty="0" err="1" smtClean="0"/>
              <a:t>L</a:t>
            </a:r>
            <a:r>
              <a:rPr lang="en-US" i="1" baseline="-25000" dirty="0" err="1" smtClean="0"/>
              <a:t>z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 lvl="0"/>
            <a:r>
              <a:rPr lang="en-US" dirty="0" smtClean="0"/>
              <a:t>With them, construct an </a:t>
            </a:r>
            <a:r>
              <a:rPr lang="en-US" dirty="0" err="1" smtClean="0"/>
              <a:t>antisymmetric</a:t>
            </a:r>
            <a:r>
              <a:rPr lang="en-US" dirty="0" smtClean="0"/>
              <a:t> wave function.</a:t>
            </a:r>
            <a:r>
              <a:rPr lang="en-US" dirty="0" smtClean="0"/>
              <a:t> </a:t>
            </a:r>
            <a:endParaRPr lang="ko-K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Two-</a:t>
            </a:r>
            <a:r>
              <a:rPr lang="en-US" altLang="ja-JP" dirty="0" smtClean="0"/>
              <a:t>Electron </a:t>
            </a:r>
            <a:r>
              <a:rPr lang="en-US" altLang="ja-JP" dirty="0" err="1" smtClean="0"/>
              <a:t>Multiplet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Autofit/>
          </a:bodyPr>
          <a:lstStyle/>
          <a:p>
            <a:r>
              <a:rPr lang="en-US" sz="2200" dirty="0" smtClean="0"/>
              <a:t>For the </a:t>
            </a:r>
            <a:r>
              <a:rPr lang="en-US" sz="2200" dirty="0" smtClean="0"/>
              <a:t>Hamiltonian</a:t>
            </a:r>
          </a:p>
          <a:p>
            <a:endParaRPr lang="en-US" altLang="ko-KR" sz="2200" dirty="0" smtClean="0"/>
          </a:p>
          <a:p>
            <a:endParaRPr lang="ko-KR" altLang="en-US" sz="2200" dirty="0" smtClean="0"/>
          </a:p>
          <a:p>
            <a:pPr>
              <a:buNone/>
            </a:pPr>
            <a:r>
              <a:rPr lang="en-US" sz="2200" b="1" dirty="0" smtClean="0"/>
              <a:t>	L</a:t>
            </a:r>
            <a:r>
              <a:rPr lang="en-US" sz="2200" dirty="0" smtClean="0"/>
              <a:t> </a:t>
            </a:r>
            <a:r>
              <a:rPr lang="en-US" sz="2200" dirty="0" smtClean="0"/>
              <a:t>and </a:t>
            </a:r>
            <a:r>
              <a:rPr lang="en-US" sz="2200" b="1" dirty="0" smtClean="0"/>
              <a:t>S</a:t>
            </a:r>
            <a:r>
              <a:rPr lang="en-US" sz="2200" dirty="0" smtClean="0"/>
              <a:t> commute with </a:t>
            </a:r>
            <a:r>
              <a:rPr lang="en-US" sz="2200" i="1" dirty="0" smtClean="0"/>
              <a:t>H</a:t>
            </a:r>
            <a:r>
              <a:rPr lang="en-US" sz="2200" dirty="0" smtClean="0"/>
              <a:t>. We employ the </a:t>
            </a:r>
            <a:r>
              <a:rPr lang="en-US" sz="2200" i="1" dirty="0" smtClean="0"/>
              <a:t>LS</a:t>
            </a:r>
            <a:r>
              <a:rPr lang="en-US" sz="2200" dirty="0" smtClean="0"/>
              <a:t> coupling scheme in order to construct the wave functions.</a:t>
            </a:r>
            <a:endParaRPr lang="ko-KR" altLang="en-US" sz="2200" dirty="0" smtClean="0"/>
          </a:p>
          <a:p>
            <a:pPr lvl="0"/>
            <a:r>
              <a:rPr lang="en-US" sz="2200" dirty="0" smtClean="0"/>
              <a:t>The spatial wave function is constructed by using the </a:t>
            </a:r>
            <a:r>
              <a:rPr lang="en-US" sz="2200" dirty="0" smtClean="0"/>
              <a:t>relation</a:t>
            </a:r>
          </a:p>
          <a:p>
            <a:pPr lvl="0">
              <a:buNone/>
            </a:pPr>
            <a:endParaRPr lang="en-US" altLang="ko-KR" sz="2200" dirty="0" smtClean="0"/>
          </a:p>
          <a:p>
            <a:pPr lvl="0">
              <a:buNone/>
            </a:pPr>
            <a:endParaRPr lang="ko-KR" altLang="en-US" sz="2200" dirty="0" smtClean="0"/>
          </a:p>
          <a:p>
            <a:pPr lvl="0"/>
            <a:r>
              <a:rPr lang="en-US" sz="2200" dirty="0" smtClean="0"/>
              <a:t>Symmetric/</a:t>
            </a:r>
            <a:r>
              <a:rPr lang="en-US" sz="2200" dirty="0" err="1" smtClean="0"/>
              <a:t>antisymmetric</a:t>
            </a:r>
            <a:r>
              <a:rPr lang="en-US" sz="2200" dirty="0" smtClean="0"/>
              <a:t> spatial wave functions are obtained </a:t>
            </a:r>
            <a:r>
              <a:rPr lang="en-US" sz="2200" dirty="0" smtClean="0"/>
              <a:t>from             by applying                 </a:t>
            </a:r>
            <a:r>
              <a:rPr lang="en-US" sz="2200" dirty="0" smtClean="0"/>
              <a:t>operation.</a:t>
            </a:r>
            <a:endParaRPr lang="ko-KR" altLang="en-US" sz="2200" dirty="0" smtClean="0"/>
          </a:p>
          <a:p>
            <a:pPr lvl="0"/>
            <a:r>
              <a:rPr lang="en-US" sz="2200" dirty="0" smtClean="0"/>
              <a:t>For a symmetric space function, multiply the singlet spin function (</a:t>
            </a:r>
            <a:r>
              <a:rPr lang="en-US" sz="2200" i="1" dirty="0" smtClean="0"/>
              <a:t>S</a:t>
            </a:r>
            <a:r>
              <a:rPr lang="en-US" sz="2200" dirty="0" smtClean="0"/>
              <a:t>=0), which is </a:t>
            </a:r>
            <a:r>
              <a:rPr lang="en-US" sz="2200" dirty="0" err="1" smtClean="0"/>
              <a:t>antisymmetric</a:t>
            </a:r>
            <a:r>
              <a:rPr lang="en-US" sz="2200" dirty="0" smtClean="0"/>
              <a:t>. For an </a:t>
            </a:r>
            <a:r>
              <a:rPr lang="en-US" sz="2200" dirty="0" err="1" smtClean="0"/>
              <a:t>antisymmetric</a:t>
            </a:r>
            <a:r>
              <a:rPr lang="en-US" sz="2200" dirty="0" smtClean="0"/>
              <a:t> space function, multiply the triplet spin function (</a:t>
            </a:r>
            <a:r>
              <a:rPr lang="en-US" sz="2200" i="1" dirty="0" smtClean="0"/>
              <a:t>S</a:t>
            </a:r>
            <a:r>
              <a:rPr lang="en-US" sz="2200" dirty="0" smtClean="0"/>
              <a:t>=1), which is symmetric</a:t>
            </a:r>
            <a:r>
              <a:rPr lang="en-US" sz="2200" dirty="0" smtClean="0"/>
              <a:t>.</a:t>
            </a:r>
            <a:endParaRPr lang="ko-KR" altLang="en-US" sz="2200" dirty="0"/>
          </a:p>
        </p:txBody>
      </p:sp>
      <p:graphicFrame>
        <p:nvGraphicFramePr>
          <p:cNvPr id="225282" name="Object 2"/>
          <p:cNvGraphicFramePr>
            <a:graphicFrameLocks noChangeAspect="1"/>
          </p:cNvGraphicFramePr>
          <p:nvPr/>
        </p:nvGraphicFramePr>
        <p:xfrm>
          <a:off x="2701925" y="1676400"/>
          <a:ext cx="3552825" cy="711200"/>
        </p:xfrm>
        <a:graphic>
          <a:graphicData uri="http://schemas.openxmlformats.org/presentationml/2006/ole">
            <p:oleObj spid="_x0000_s225282" name="Equation" r:id="rId3" imgW="2349500" imgH="469900" progId="Equation.3">
              <p:embed/>
            </p:oleObj>
          </a:graphicData>
        </a:graphic>
      </p:graphicFrame>
      <p:graphicFrame>
        <p:nvGraphicFramePr>
          <p:cNvPr id="225283" name="Object 3"/>
          <p:cNvGraphicFramePr>
            <a:graphicFrameLocks noChangeAspect="1"/>
          </p:cNvGraphicFramePr>
          <p:nvPr/>
        </p:nvGraphicFramePr>
        <p:xfrm>
          <a:off x="2438400" y="3771900"/>
          <a:ext cx="4214813" cy="590550"/>
        </p:xfrm>
        <a:graphic>
          <a:graphicData uri="http://schemas.openxmlformats.org/presentationml/2006/ole">
            <p:oleObj spid="_x0000_s225283" name="Equation" r:id="rId4" imgW="2806700" imgH="393700" progId="Equation.3">
              <p:embed/>
            </p:oleObj>
          </a:graphicData>
        </a:graphic>
      </p:graphicFrame>
      <p:graphicFrame>
        <p:nvGraphicFramePr>
          <p:cNvPr id="225284" name="Object 4"/>
          <p:cNvGraphicFramePr>
            <a:graphicFrameLocks noChangeAspect="1"/>
          </p:cNvGraphicFramePr>
          <p:nvPr/>
        </p:nvGraphicFramePr>
        <p:xfrm>
          <a:off x="1597025" y="4818745"/>
          <a:ext cx="841375" cy="317500"/>
        </p:xfrm>
        <a:graphic>
          <a:graphicData uri="http://schemas.openxmlformats.org/presentationml/2006/ole">
            <p:oleObj spid="_x0000_s225284" name="Equation" r:id="rId5" imgW="571500" imgH="215900" progId="Equation.3">
              <p:embed/>
            </p:oleObj>
          </a:graphicData>
        </a:graphic>
      </p:graphicFrame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4016375" y="4776788"/>
          <a:ext cx="1152525" cy="365125"/>
        </p:xfrm>
        <a:graphic>
          <a:graphicData uri="http://schemas.openxmlformats.org/presentationml/2006/ole">
            <p:oleObj spid="_x0000_s225285" name="Equation" r:id="rId6" imgW="762000" imgH="241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Example 3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Let </a:t>
            </a:r>
            <a:r>
              <a:rPr lang="en-US" sz="2400" dirty="0" smtClean="0"/>
              <a:t>us find the terms and the wave functions for 1s2s, 1s2p</a:t>
            </a:r>
            <a:r>
              <a:rPr lang="en-US" sz="2400" dirty="0" smtClean="0"/>
              <a:t>,2p3p </a:t>
            </a:r>
            <a:r>
              <a:rPr lang="en-US" sz="2400" dirty="0" smtClean="0"/>
              <a:t>and 2p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configurations. The configuration 1</a:t>
            </a:r>
            <a:r>
              <a:rPr lang="en-US" sz="2400" i="1" dirty="0" smtClean="0"/>
              <a:t>s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</a:t>
            </a:r>
            <a:r>
              <a:rPr lang="en-US" sz="2400" dirty="0" smtClean="0"/>
              <a:t>has already </a:t>
            </a:r>
            <a:r>
              <a:rPr lang="en-US" sz="2400" dirty="0" smtClean="0"/>
              <a:t>been considered in Example </a:t>
            </a:r>
            <a:r>
              <a:rPr lang="en-US" sz="2400" dirty="0" smtClean="0"/>
              <a:t>1 (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</a:t>
            </a:r>
            <a:r>
              <a:rPr lang="en-US" sz="2400" baseline="-25000" dirty="0" smtClean="0"/>
              <a:t> </a:t>
            </a:r>
            <a:r>
              <a:rPr lang="en-US" sz="2400" dirty="0" smtClean="0"/>
              <a:t>only). 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a) 1s2s :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=0=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. </a:t>
            </a:r>
            <a:r>
              <a:rPr lang="en-US" sz="2400" i="1" dirty="0" smtClean="0"/>
              <a:t>L</a:t>
            </a:r>
            <a:r>
              <a:rPr lang="en-US" sz="2400" dirty="0" smtClean="0"/>
              <a:t>=0, </a:t>
            </a:r>
            <a:r>
              <a:rPr lang="en-US" sz="2400" i="1" dirty="0" smtClean="0"/>
              <a:t>S</a:t>
            </a:r>
            <a:r>
              <a:rPr lang="en-US" sz="2400" dirty="0" smtClean="0"/>
              <a:t>=0 or 1. 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The </a:t>
            </a:r>
            <a:r>
              <a:rPr lang="en-US" sz="2400" dirty="0" smtClean="0"/>
              <a:t>space part is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from </a:t>
            </a:r>
            <a:r>
              <a:rPr lang="en-US" sz="2400" dirty="0" smtClean="0"/>
              <a:t>which we can construct both symmetric and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configurations</a:t>
            </a:r>
            <a:r>
              <a:rPr lang="en-US" sz="2400" dirty="0" smtClean="0"/>
              <a:t>.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For        </a:t>
            </a:r>
            <a:r>
              <a:rPr lang="en-US" sz="2400" dirty="0" smtClean="0"/>
              <a:t>we need the singlet spin wave function (</a:t>
            </a:r>
            <a:r>
              <a:rPr lang="en-US" sz="2400" i="1" dirty="0" smtClean="0"/>
              <a:t>S</a:t>
            </a:r>
            <a:r>
              <a:rPr lang="en-US" sz="2400" dirty="0" smtClean="0"/>
              <a:t>=0) whereas </a:t>
            </a:r>
            <a:r>
              <a:rPr lang="en-US" sz="2400" dirty="0" smtClean="0"/>
              <a:t>for        </a:t>
            </a:r>
            <a:r>
              <a:rPr lang="en-US" sz="2400" dirty="0" smtClean="0"/>
              <a:t>we need the triplet spin wave function (</a:t>
            </a:r>
            <a:r>
              <a:rPr lang="en-US" sz="2400" i="1" dirty="0" smtClean="0"/>
              <a:t>S</a:t>
            </a:r>
            <a:r>
              <a:rPr lang="en-US" sz="2400" dirty="0" smtClean="0"/>
              <a:t>=1). The possible terms are </a:t>
            </a:r>
            <a:r>
              <a:rPr lang="en-US" sz="2400" u="sng" baseline="30000" dirty="0" smtClean="0"/>
              <a:t>1</a:t>
            </a:r>
            <a:r>
              <a:rPr lang="en-US" sz="2400" u="sng" dirty="0" smtClean="0"/>
              <a:t>S and </a:t>
            </a:r>
            <a:r>
              <a:rPr lang="en-US" sz="2400" u="sng" baseline="30000" dirty="0" smtClean="0"/>
              <a:t>3</a:t>
            </a:r>
            <a:r>
              <a:rPr lang="en-US" sz="2400" u="sng" dirty="0" smtClean="0"/>
              <a:t>S</a:t>
            </a:r>
            <a:r>
              <a:rPr lang="en-US" sz="2400" dirty="0" smtClean="0"/>
              <a:t>.</a:t>
            </a:r>
            <a:endParaRPr lang="ko-KR" altLang="en-US" sz="2400" dirty="0" smtClean="0"/>
          </a:p>
          <a:p>
            <a:endParaRPr lang="ko-KR" altLang="en-US" sz="2200" dirty="0"/>
          </a:p>
        </p:txBody>
      </p:sp>
      <p:graphicFrame>
        <p:nvGraphicFramePr>
          <p:cNvPr id="226310" name="Object 6"/>
          <p:cNvGraphicFramePr>
            <a:graphicFrameLocks noChangeAspect="1"/>
          </p:cNvGraphicFramePr>
          <p:nvPr/>
        </p:nvGraphicFramePr>
        <p:xfrm>
          <a:off x="3441700" y="2944813"/>
          <a:ext cx="2403475" cy="314325"/>
        </p:xfrm>
        <a:graphic>
          <a:graphicData uri="http://schemas.openxmlformats.org/presentationml/2006/ole">
            <p:oleObj spid="_x0000_s226310" name="Equation" r:id="rId3" imgW="1651000" imgH="215900" progId="Equation.3">
              <p:embed/>
            </p:oleObj>
          </a:graphicData>
        </a:graphic>
      </p:graphicFrame>
      <p:graphicFrame>
        <p:nvGraphicFramePr>
          <p:cNvPr id="226311" name="Object 7"/>
          <p:cNvGraphicFramePr>
            <a:graphicFrameLocks noChangeAspect="1"/>
          </p:cNvGraphicFramePr>
          <p:nvPr/>
        </p:nvGraphicFramePr>
        <p:xfrm>
          <a:off x="2755900" y="4133850"/>
          <a:ext cx="3502025" cy="1198563"/>
        </p:xfrm>
        <a:graphic>
          <a:graphicData uri="http://schemas.openxmlformats.org/presentationml/2006/ole">
            <p:oleObj spid="_x0000_s226311" name="Equation" r:id="rId4" imgW="2336800" imgH="800100" progId="Equation.3">
              <p:embed/>
            </p:oleObj>
          </a:graphicData>
        </a:graphic>
      </p:graphicFrame>
      <p:graphicFrame>
        <p:nvGraphicFramePr>
          <p:cNvPr id="226312" name="Object 8"/>
          <p:cNvGraphicFramePr>
            <a:graphicFrameLocks noChangeAspect="1"/>
          </p:cNvGraphicFramePr>
          <p:nvPr/>
        </p:nvGraphicFramePr>
        <p:xfrm>
          <a:off x="1533525" y="5532438"/>
          <a:ext cx="474663" cy="303212"/>
        </p:xfrm>
        <a:graphic>
          <a:graphicData uri="http://schemas.openxmlformats.org/presentationml/2006/ole">
            <p:oleObj spid="_x0000_s226312" name="Equation" r:id="rId5" imgW="317500" imgH="203200" progId="Equation.3">
              <p:embed/>
            </p:oleObj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2609278" y="5881116"/>
          <a:ext cx="493713" cy="303213"/>
        </p:xfrm>
        <a:graphic>
          <a:graphicData uri="http://schemas.openxmlformats.org/presentationml/2006/ole">
            <p:oleObj spid="_x0000_s226313" name="Equation" r:id="rId6" imgW="3302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Explicitly</a:t>
            </a:r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pPr>
              <a:buNone/>
            </a:pPr>
            <a:r>
              <a:rPr lang="en-US" sz="2800" dirty="0" smtClean="0"/>
              <a:t>which </a:t>
            </a:r>
            <a:r>
              <a:rPr lang="en-US" sz="2800" dirty="0" smtClean="0"/>
              <a:t>is a sum of two Slater </a:t>
            </a:r>
            <a:r>
              <a:rPr lang="en-US" sz="2800" dirty="0" smtClean="0"/>
              <a:t>determinants.</a:t>
            </a:r>
          </a:p>
          <a:p>
            <a:pPr>
              <a:buNone/>
            </a:pPr>
            <a:r>
              <a:rPr lang="en-US" sz="2800" dirty="0" smtClean="0"/>
              <a:t>Similarly,</a:t>
            </a:r>
          </a:p>
          <a:p>
            <a:pPr>
              <a:buNone/>
            </a:pPr>
            <a:endParaRPr lang="en-US" altLang="ko-KR" sz="2800" dirty="0" smtClean="0"/>
          </a:p>
          <a:p>
            <a:pPr>
              <a:buNone/>
            </a:pPr>
            <a:endParaRPr lang="en-US" altLang="ko-KR" sz="2800" dirty="0" smtClean="0"/>
          </a:p>
          <a:p>
            <a:pPr>
              <a:buNone/>
            </a:pPr>
            <a:endParaRPr lang="ko-KR" altLang="en-US" sz="2800" dirty="0" smtClean="0"/>
          </a:p>
          <a:p>
            <a:pPr>
              <a:buNone/>
            </a:pPr>
            <a:r>
              <a:rPr lang="en-US" sz="2800" dirty="0" smtClean="0"/>
              <a:t>and</a:t>
            </a:r>
            <a:endParaRPr lang="ko-KR" altLang="en-US" sz="2800" dirty="0" smtClean="0"/>
          </a:p>
        </p:txBody>
      </p:sp>
      <p:graphicFrame>
        <p:nvGraphicFramePr>
          <p:cNvPr id="206864" name="Object 16"/>
          <p:cNvGraphicFramePr>
            <a:graphicFrameLocks noChangeAspect="1"/>
          </p:cNvGraphicFramePr>
          <p:nvPr/>
        </p:nvGraphicFramePr>
        <p:xfrm>
          <a:off x="523875" y="1101725"/>
          <a:ext cx="8094663" cy="2374900"/>
        </p:xfrm>
        <a:graphic>
          <a:graphicData uri="http://schemas.openxmlformats.org/presentationml/2006/ole">
            <p:oleObj spid="_x0000_s206864" name="Equation" r:id="rId3" imgW="5842000" imgH="1714500" progId="Equation.3">
              <p:embed/>
            </p:oleObj>
          </a:graphicData>
        </a:graphic>
      </p:graphicFrame>
      <p:graphicFrame>
        <p:nvGraphicFramePr>
          <p:cNvPr id="206865" name="Object 17"/>
          <p:cNvGraphicFramePr>
            <a:graphicFrameLocks noChangeAspect="1"/>
          </p:cNvGraphicFramePr>
          <p:nvPr/>
        </p:nvGraphicFramePr>
        <p:xfrm>
          <a:off x="847725" y="4724400"/>
          <a:ext cx="7454900" cy="1163638"/>
        </p:xfrm>
        <a:graphic>
          <a:graphicData uri="http://schemas.openxmlformats.org/presentationml/2006/ole">
            <p:oleObj spid="_x0000_s206865" name="Equation" r:id="rId4" imgW="4965700" imgH="7747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724"/>
            <a:ext cx="8229600" cy="5730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/>
              <a:t>in terms of Slater determinants</a:t>
            </a:r>
            <a:endParaRPr lang="ko-KR" altLang="en-US" sz="2400" dirty="0"/>
          </a:p>
        </p:txBody>
      </p:sp>
      <p:graphicFrame>
        <p:nvGraphicFramePr>
          <p:cNvPr id="207900" name="Object 28"/>
          <p:cNvGraphicFramePr>
            <a:graphicFrameLocks noChangeAspect="1"/>
          </p:cNvGraphicFramePr>
          <p:nvPr/>
        </p:nvGraphicFramePr>
        <p:xfrm>
          <a:off x="1200150" y="1087438"/>
          <a:ext cx="6643688" cy="1922462"/>
        </p:xfrm>
        <a:graphic>
          <a:graphicData uri="http://schemas.openxmlformats.org/presentationml/2006/ole">
            <p:oleObj spid="_x0000_s207900" name="Equation" r:id="rId3" imgW="4432300" imgH="1282700" progId="Equation.3">
              <p:embed/>
            </p:oleObj>
          </a:graphicData>
        </a:graphic>
      </p:graphicFrame>
      <p:graphicFrame>
        <p:nvGraphicFramePr>
          <p:cNvPr id="207901" name="Object 29"/>
          <p:cNvGraphicFramePr>
            <a:graphicFrameLocks noChangeAspect="1"/>
          </p:cNvGraphicFramePr>
          <p:nvPr/>
        </p:nvGraphicFramePr>
        <p:xfrm>
          <a:off x="666750" y="3492500"/>
          <a:ext cx="7850188" cy="2189163"/>
        </p:xfrm>
        <a:graphic>
          <a:graphicData uri="http://schemas.openxmlformats.org/presentationml/2006/ole">
            <p:oleObj spid="_x0000_s207901" name="Equation" r:id="rId4" imgW="6057900" imgH="1689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err="1" smtClean="0"/>
              <a:t>b</a:t>
            </a:r>
            <a:r>
              <a:rPr lang="en-US" sz="2400" dirty="0" smtClean="0"/>
              <a:t>) 1s2p :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=0,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=1. </a:t>
            </a:r>
            <a:r>
              <a:rPr lang="en-US" sz="2400" i="1" dirty="0" smtClean="0"/>
              <a:t>L</a:t>
            </a:r>
            <a:r>
              <a:rPr lang="en-US" sz="2400" dirty="0" smtClean="0"/>
              <a:t>=1, </a:t>
            </a:r>
            <a:r>
              <a:rPr lang="en-US" sz="2400" i="1" dirty="0" smtClean="0"/>
              <a:t>S</a:t>
            </a:r>
            <a:r>
              <a:rPr lang="en-US" sz="2400" dirty="0" smtClean="0"/>
              <a:t>=0 or 1. 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The </a:t>
            </a:r>
            <a:r>
              <a:rPr lang="en-US" sz="2400" dirty="0" smtClean="0"/>
              <a:t>space part is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from </a:t>
            </a:r>
            <a:r>
              <a:rPr lang="en-US" sz="2400" dirty="0" smtClean="0"/>
              <a:t>which we can compose both symmetric and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configurations</a:t>
            </a:r>
            <a:r>
              <a:rPr lang="en-US" sz="2400" dirty="0" smtClean="0"/>
              <a:t>.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r>
              <a:rPr lang="en-US" sz="2400" dirty="0" smtClean="0"/>
              <a:t>	For          </a:t>
            </a:r>
            <a:r>
              <a:rPr lang="en-US" sz="2400" dirty="0" smtClean="0"/>
              <a:t>we need </a:t>
            </a:r>
            <a:r>
              <a:rPr lang="en-US" sz="2400" i="1" dirty="0" smtClean="0"/>
              <a:t>S</a:t>
            </a:r>
            <a:r>
              <a:rPr lang="en-US" sz="2400" dirty="0" smtClean="0"/>
              <a:t>=0 whereas for</a:t>
            </a:r>
            <a:r>
              <a:rPr lang="en-US" sz="2400" dirty="0" smtClean="0"/>
              <a:t>         </a:t>
            </a:r>
            <a:r>
              <a:rPr lang="en-US" sz="2400" dirty="0" smtClean="0"/>
              <a:t>we need </a:t>
            </a:r>
            <a:r>
              <a:rPr lang="en-US" sz="2400" i="1" dirty="0" smtClean="0"/>
              <a:t>S</a:t>
            </a:r>
            <a:r>
              <a:rPr lang="en-US" sz="2400" dirty="0" smtClean="0"/>
              <a:t>=1. Therefore, the possible terms are </a:t>
            </a:r>
            <a:r>
              <a:rPr lang="en-US" sz="2400" u="sng" baseline="30000" dirty="0" smtClean="0"/>
              <a:t>1</a:t>
            </a:r>
            <a:r>
              <a:rPr lang="en-US" sz="2400" u="sng" dirty="0" smtClean="0"/>
              <a:t>P and </a:t>
            </a:r>
            <a:r>
              <a:rPr lang="en-US" sz="2400" u="sng" baseline="30000" dirty="0" smtClean="0"/>
              <a:t>3</a:t>
            </a:r>
            <a:r>
              <a:rPr lang="en-US" sz="2400" u="sng" dirty="0" smtClean="0"/>
              <a:t>P</a:t>
            </a:r>
            <a:r>
              <a:rPr lang="en-US" sz="2400" dirty="0" smtClean="0"/>
              <a:t>.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/>
              <a:t>Explicitly</a:t>
            </a:r>
            <a:r>
              <a:rPr lang="en-US" sz="2400" dirty="0" smtClean="0"/>
              <a:t>,</a:t>
            </a:r>
            <a:endParaRPr lang="ko-KR" altLang="en-US" sz="2400" dirty="0" smtClean="0"/>
          </a:p>
          <a:p>
            <a:pPr>
              <a:buNone/>
            </a:pPr>
            <a:endParaRPr lang="ko-KR" altLang="en-US" sz="2400" dirty="0"/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3495675" y="931863"/>
          <a:ext cx="2852738" cy="347662"/>
        </p:xfrm>
        <a:graphic>
          <a:graphicData uri="http://schemas.openxmlformats.org/presentationml/2006/ole">
            <p:oleObj spid="_x0000_s1032" name="Equation" r:id="rId3" imgW="1879600" imgH="228600" progId="Equation.3">
              <p:embed/>
            </p:oleObj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2578100" y="2152650"/>
          <a:ext cx="4079875" cy="1201738"/>
        </p:xfrm>
        <a:graphic>
          <a:graphicData uri="http://schemas.openxmlformats.org/presentationml/2006/ole">
            <p:oleObj spid="_x0000_s1033" name="Equation" r:id="rId4" imgW="2717800" imgH="800100" progId="Equation.3">
              <p:embed/>
            </p:oleObj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1524000" y="3479575"/>
          <a:ext cx="593725" cy="344488"/>
        </p:xfrm>
        <a:graphic>
          <a:graphicData uri="http://schemas.openxmlformats.org/presentationml/2006/ole">
            <p:oleObj spid="_x0000_s1034" name="Equation" r:id="rId5" imgW="393700" imgH="228600" progId="Equation.3">
              <p:embed/>
            </p:oleObj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5808663" y="3478213"/>
          <a:ext cx="612775" cy="344487"/>
        </p:xfrm>
        <a:graphic>
          <a:graphicData uri="http://schemas.openxmlformats.org/presentationml/2006/ole">
            <p:oleObj spid="_x0000_s1035" name="Equation" r:id="rId6" imgW="406400" imgH="228600" progId="Equation.3">
              <p:embed/>
            </p:oleObj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/>
        </p:nvGraphicFramePr>
        <p:xfrm>
          <a:off x="511175" y="4711700"/>
          <a:ext cx="8137525" cy="1765300"/>
        </p:xfrm>
        <a:graphic>
          <a:graphicData uri="http://schemas.openxmlformats.org/presentationml/2006/ole">
            <p:oleObj spid="_x0000_s1036" name="Equation" r:id="rId7" imgW="5448300" imgH="1181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2057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 terms of Slater </a:t>
            </a:r>
            <a:r>
              <a:rPr lang="en-US" sz="2400" dirty="0" smtClean="0"/>
              <a:t>determinants, the singlet state is given by</a:t>
            </a:r>
            <a:r>
              <a:rPr lang="ko-KR" altLang="en-US" sz="2400" dirty="0" smtClean="0"/>
              <a:t> </a:t>
            </a:r>
            <a:endParaRPr lang="ko-KR" altLang="en-US" sz="2400" dirty="0"/>
          </a:p>
        </p:txBody>
      </p:sp>
      <p:graphicFrame>
        <p:nvGraphicFramePr>
          <p:cNvPr id="208918" name="Object 22"/>
          <p:cNvGraphicFramePr>
            <a:graphicFrameLocks noChangeAspect="1"/>
          </p:cNvGraphicFramePr>
          <p:nvPr/>
        </p:nvGraphicFramePr>
        <p:xfrm>
          <a:off x="1266825" y="1666875"/>
          <a:ext cx="6572250" cy="3171825"/>
        </p:xfrm>
        <a:graphic>
          <a:graphicData uri="http://schemas.openxmlformats.org/presentationml/2006/ole">
            <p:oleObj spid="_x0000_s208918" name="Equation" r:id="rId3" imgW="4394200" imgH="2120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4419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2400" dirty="0" smtClean="0"/>
              <a:t>	and </a:t>
            </a:r>
            <a:r>
              <a:rPr lang="en-US" altLang="ko-KR" sz="2400" dirty="0" smtClean="0"/>
              <a:t>the triplet states are given by</a:t>
            </a:r>
            <a:endParaRPr lang="ko-KR" altLang="en-US" sz="2400" dirty="0"/>
          </a:p>
        </p:txBody>
      </p:sp>
      <p:graphicFrame>
        <p:nvGraphicFramePr>
          <p:cNvPr id="218121" name="Object 9"/>
          <p:cNvGraphicFramePr>
            <a:graphicFrameLocks noChangeAspect="1"/>
          </p:cNvGraphicFramePr>
          <p:nvPr/>
        </p:nvGraphicFramePr>
        <p:xfrm>
          <a:off x="547688" y="1038225"/>
          <a:ext cx="8129587" cy="1152525"/>
        </p:xfrm>
        <a:graphic>
          <a:graphicData uri="http://schemas.openxmlformats.org/presentationml/2006/ole">
            <p:oleObj spid="_x0000_s218121" name="Equation" r:id="rId3" imgW="5461000" imgH="774700" progId="Equation.3">
              <p:embed/>
            </p:oleObj>
          </a:graphicData>
        </a:graphic>
      </p:graphicFrame>
      <p:graphicFrame>
        <p:nvGraphicFramePr>
          <p:cNvPr id="218122" name="Object 10"/>
          <p:cNvGraphicFramePr>
            <a:graphicFrameLocks noChangeAspect="1"/>
          </p:cNvGraphicFramePr>
          <p:nvPr/>
        </p:nvGraphicFramePr>
        <p:xfrm>
          <a:off x="457200" y="2579687"/>
          <a:ext cx="8345488" cy="1154113"/>
        </p:xfrm>
        <a:graphic>
          <a:graphicData uri="http://schemas.openxmlformats.org/presentationml/2006/ole">
            <p:oleObj spid="_x0000_s218122" name="Equation" r:id="rId4" imgW="5600700" imgH="774700" progId="Equation.3">
              <p:embed/>
            </p:oleObj>
          </a:graphicData>
        </a:graphic>
      </p:graphicFrame>
      <p:graphicFrame>
        <p:nvGraphicFramePr>
          <p:cNvPr id="218123" name="Object 11"/>
          <p:cNvGraphicFramePr>
            <a:graphicFrameLocks noChangeAspect="1"/>
          </p:cNvGraphicFramePr>
          <p:nvPr/>
        </p:nvGraphicFramePr>
        <p:xfrm>
          <a:off x="1219200" y="4114800"/>
          <a:ext cx="6837363" cy="2032000"/>
        </p:xfrm>
        <a:graphic>
          <a:graphicData uri="http://schemas.openxmlformats.org/presentationml/2006/ole">
            <p:oleObj spid="_x0000_s218123" name="Equation" r:id="rId5" imgW="4572000" imgH="13589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337"/>
            <a:ext cx="8305800" cy="4114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err="1" smtClean="0"/>
              <a:t>c</a:t>
            </a:r>
            <a:r>
              <a:rPr lang="en-US" sz="2400" dirty="0" smtClean="0"/>
              <a:t>) 2p3p :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=1. </a:t>
            </a:r>
            <a:r>
              <a:rPr lang="en-US" sz="2400" i="1" dirty="0" smtClean="0"/>
              <a:t>L</a:t>
            </a:r>
            <a:r>
              <a:rPr lang="en-US" sz="2400" dirty="0" smtClean="0"/>
              <a:t>=2,1,0 and </a:t>
            </a:r>
            <a:r>
              <a:rPr lang="en-US" sz="2400" i="1" dirty="0" smtClean="0"/>
              <a:t>S</a:t>
            </a:r>
            <a:r>
              <a:rPr lang="en-US" sz="2400" dirty="0" smtClean="0"/>
              <a:t>=0 or 1. 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/>
              <a:t>The </a:t>
            </a:r>
            <a:r>
              <a:rPr lang="en-US" sz="2400" dirty="0" smtClean="0"/>
              <a:t>space part is constructed by using the </a:t>
            </a:r>
            <a:r>
              <a:rPr lang="en-US" sz="2400" dirty="0" smtClean="0"/>
              <a:t>relation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ko-KR" altLang="en-US" sz="2400" dirty="0" smtClean="0"/>
          </a:p>
          <a:p>
            <a:r>
              <a:rPr lang="en-US" sz="2400" dirty="0" smtClean="0"/>
              <a:t>For example, consider the </a:t>
            </a:r>
            <a:r>
              <a:rPr lang="en-US" sz="2400" i="1" u="sng" dirty="0" smtClean="0"/>
              <a:t>L</a:t>
            </a:r>
            <a:r>
              <a:rPr lang="en-US" sz="2400" u="sng" dirty="0" smtClean="0"/>
              <a:t>=0 case</a:t>
            </a:r>
            <a:r>
              <a:rPr lang="en-US" sz="2400" dirty="0" smtClean="0"/>
              <a:t>.</a:t>
            </a:r>
          </a:p>
          <a:p>
            <a:endParaRPr lang="en-US" altLang="ko-KR" sz="2400" dirty="0" smtClean="0"/>
          </a:p>
          <a:p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from </a:t>
            </a:r>
            <a:r>
              <a:rPr lang="en-US" sz="2400" dirty="0" smtClean="0"/>
              <a:t>which we can compose both symmetric and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configurations.</a:t>
            </a:r>
            <a:endParaRPr lang="ko-KR" altLang="en-US" sz="2400" dirty="0" smtClean="0"/>
          </a:p>
          <a:p>
            <a:endParaRPr lang="ko-KR" altLang="en-US" sz="2400" dirty="0"/>
          </a:p>
        </p:txBody>
      </p:sp>
      <p:graphicFrame>
        <p:nvGraphicFramePr>
          <p:cNvPr id="219145" name="Object 9"/>
          <p:cNvGraphicFramePr>
            <a:graphicFrameLocks noChangeAspect="1"/>
          </p:cNvGraphicFramePr>
          <p:nvPr/>
        </p:nvGraphicFramePr>
        <p:xfrm>
          <a:off x="2438400" y="1462087"/>
          <a:ext cx="4214813" cy="552450"/>
        </p:xfrm>
        <a:graphic>
          <a:graphicData uri="http://schemas.openxmlformats.org/presentationml/2006/ole">
            <p:oleObj spid="_x0000_s219145" name="Equation" r:id="rId3" imgW="2806700" imgH="368300" progId="Equation.3">
              <p:embed/>
            </p:oleObj>
          </a:graphicData>
        </a:graphic>
      </p:graphicFrame>
      <p:graphicFrame>
        <p:nvGraphicFramePr>
          <p:cNvPr id="219146" name="Object 10"/>
          <p:cNvGraphicFramePr>
            <a:graphicFrameLocks noChangeAspect="1"/>
          </p:cNvGraphicFramePr>
          <p:nvPr/>
        </p:nvGraphicFramePr>
        <p:xfrm>
          <a:off x="1295400" y="2714624"/>
          <a:ext cx="6554788" cy="595313"/>
        </p:xfrm>
        <a:graphic>
          <a:graphicData uri="http://schemas.openxmlformats.org/presentationml/2006/ole">
            <p:oleObj spid="_x0000_s219146" name="Equation" r:id="rId4" imgW="4330700" imgH="393700" progId="Equation.3">
              <p:embed/>
            </p:oleObj>
          </a:graphicData>
        </a:graphic>
      </p:graphicFrame>
      <p:graphicFrame>
        <p:nvGraphicFramePr>
          <p:cNvPr id="219147" name="Object 11"/>
          <p:cNvGraphicFramePr>
            <a:graphicFrameLocks noChangeAspect="1"/>
          </p:cNvGraphicFramePr>
          <p:nvPr/>
        </p:nvGraphicFramePr>
        <p:xfrm>
          <a:off x="1752600" y="4376737"/>
          <a:ext cx="5694363" cy="1719263"/>
        </p:xfrm>
        <a:graphic>
          <a:graphicData uri="http://schemas.openxmlformats.org/presentationml/2006/ole">
            <p:oleObj spid="_x0000_s219147" name="Equation" r:id="rId5" imgW="3784600" imgH="114300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305800" cy="5257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For the symmetric spatial wave function, we need an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spin wave function (</a:t>
            </a:r>
            <a:r>
              <a:rPr lang="en-US" sz="2400" i="1" dirty="0" smtClean="0"/>
              <a:t>S</a:t>
            </a:r>
            <a:r>
              <a:rPr lang="en-US" sz="2400" dirty="0" smtClean="0"/>
              <a:t>=0). In this case, the space function has 6 terms and the spin function has 2 terms. The resulting product has 12 terms. Rearranging them gives a linear combination of 6 Slate determinants (each having 2 terms)</a:t>
            </a:r>
            <a:r>
              <a:rPr lang="en-US" sz="2400" dirty="0" smtClean="0"/>
              <a:t>:</a:t>
            </a:r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space function needs a symmetric spin function (</a:t>
            </a:r>
            <a:r>
              <a:rPr lang="en-US" sz="2400" i="1" dirty="0" smtClean="0"/>
              <a:t>S</a:t>
            </a:r>
            <a:r>
              <a:rPr lang="en-US" sz="2400" dirty="0" smtClean="0"/>
              <a:t>=1). The possible terms for </a:t>
            </a:r>
            <a:r>
              <a:rPr lang="en-US" sz="2400" i="1" dirty="0" smtClean="0"/>
              <a:t>L</a:t>
            </a:r>
            <a:r>
              <a:rPr lang="en-US" sz="2400" dirty="0" smtClean="0"/>
              <a:t>=0 are then </a:t>
            </a:r>
            <a:r>
              <a:rPr lang="en-US" sz="2400" u="sng" baseline="30000" dirty="0" smtClean="0"/>
              <a:t>1</a:t>
            </a:r>
            <a:r>
              <a:rPr lang="en-US" sz="2400" u="sng" dirty="0" smtClean="0"/>
              <a:t>S and </a:t>
            </a:r>
            <a:r>
              <a:rPr lang="en-US" sz="2400" u="sng" baseline="30000" dirty="0" smtClean="0"/>
              <a:t>3</a:t>
            </a:r>
            <a:r>
              <a:rPr lang="en-US" sz="2400" u="sng" dirty="0" smtClean="0"/>
              <a:t>S</a:t>
            </a:r>
            <a:r>
              <a:rPr lang="en-US" sz="2400" dirty="0" smtClean="0"/>
              <a:t>.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We </a:t>
            </a:r>
            <a:r>
              <a:rPr lang="en-US" sz="2400" dirty="0" smtClean="0"/>
              <a:t>can analyze </a:t>
            </a:r>
            <a:r>
              <a:rPr lang="en-US" sz="2400" i="1" dirty="0" smtClean="0"/>
              <a:t>L</a:t>
            </a:r>
            <a:r>
              <a:rPr lang="en-US" sz="2400" dirty="0" smtClean="0"/>
              <a:t>=2, 1 in a similar way. For them we can construct both symmetric and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spatial wave functions. The resulting terms are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P,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P (in addition to the already obtained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S and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S).</a:t>
            </a:r>
            <a:endParaRPr lang="ko-KR" altLang="en-US" sz="2400" dirty="0" smtClean="0"/>
          </a:p>
          <a:p>
            <a:pPr>
              <a:buNone/>
            </a:pPr>
            <a:endParaRPr lang="ko-KR" altLang="en-US" sz="2400" dirty="0" smtClean="0"/>
          </a:p>
          <a:p>
            <a:endParaRPr lang="ko-KR" altLang="en-US" sz="2400" dirty="0"/>
          </a:p>
        </p:txBody>
      </p:sp>
      <p:graphicFrame>
        <p:nvGraphicFramePr>
          <p:cNvPr id="220170" name="Object 10"/>
          <p:cNvGraphicFramePr>
            <a:graphicFrameLocks noChangeAspect="1"/>
          </p:cNvGraphicFramePr>
          <p:nvPr/>
        </p:nvGraphicFramePr>
        <p:xfrm>
          <a:off x="490537" y="2934493"/>
          <a:ext cx="8272463" cy="595313"/>
        </p:xfrm>
        <a:graphic>
          <a:graphicData uri="http://schemas.openxmlformats.org/presentationml/2006/ole">
            <p:oleObj spid="_x0000_s220170" name="Equation" r:id="rId3" imgW="5473700" imgH="39370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3225"/>
            <a:ext cx="8305800" cy="622617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 err="1" smtClean="0"/>
              <a:t>d</a:t>
            </a:r>
            <a:r>
              <a:rPr lang="en-US" sz="2200" dirty="0" smtClean="0"/>
              <a:t>) 2p</a:t>
            </a:r>
            <a:r>
              <a:rPr lang="en-US" sz="2200" baseline="30000" dirty="0" smtClean="0"/>
              <a:t>2</a:t>
            </a:r>
            <a:r>
              <a:rPr lang="en-US" sz="2200" dirty="0" smtClean="0"/>
              <a:t> : </a:t>
            </a:r>
            <a:r>
              <a:rPr lang="en-US" sz="2200" i="1" dirty="0" smtClean="0"/>
              <a:t>l</a:t>
            </a:r>
            <a:r>
              <a:rPr lang="en-US" sz="2200" baseline="-25000" dirty="0" smtClean="0"/>
              <a:t>1</a:t>
            </a:r>
            <a:r>
              <a:rPr lang="en-US" sz="2200" dirty="0" smtClean="0"/>
              <a:t>=</a:t>
            </a:r>
            <a:r>
              <a:rPr lang="en-US" sz="2200" i="1" dirty="0" smtClean="0"/>
              <a:t>l</a:t>
            </a:r>
            <a:r>
              <a:rPr lang="en-US" sz="2200" baseline="-25000" dirty="0" smtClean="0"/>
              <a:t>2</a:t>
            </a:r>
            <a:r>
              <a:rPr lang="en-US" sz="2200" dirty="0" smtClean="0"/>
              <a:t>=1. </a:t>
            </a:r>
            <a:r>
              <a:rPr lang="en-US" sz="2200" i="1" dirty="0" smtClean="0"/>
              <a:t>L</a:t>
            </a:r>
            <a:r>
              <a:rPr lang="en-US" sz="2200" dirty="0" smtClean="0"/>
              <a:t>=2,1,0 and </a:t>
            </a:r>
            <a:r>
              <a:rPr lang="en-US" sz="2200" i="1" dirty="0" smtClean="0"/>
              <a:t>S</a:t>
            </a:r>
            <a:r>
              <a:rPr lang="en-US" sz="2200" dirty="0" smtClean="0"/>
              <a:t>=0 or 1. </a:t>
            </a:r>
            <a:endParaRPr lang="ko-KR" altLang="en-US" sz="2200" dirty="0" smtClean="0"/>
          </a:p>
          <a:p>
            <a:pPr>
              <a:buNone/>
            </a:pPr>
            <a:r>
              <a:rPr lang="en-US" sz="2200" dirty="0" smtClean="0"/>
              <a:t>	The </a:t>
            </a:r>
            <a:r>
              <a:rPr lang="en-US" sz="2200" dirty="0" smtClean="0"/>
              <a:t>two spin </a:t>
            </a:r>
            <a:r>
              <a:rPr lang="en-US" sz="2200" dirty="0" err="1" smtClean="0"/>
              <a:t>orbitals</a:t>
            </a:r>
            <a:r>
              <a:rPr lang="en-US" sz="2200" dirty="0" smtClean="0"/>
              <a:t> are called </a:t>
            </a:r>
            <a:r>
              <a:rPr lang="en-US" sz="2200" i="1" dirty="0" smtClean="0">
                <a:latin typeface="Times New Roman"/>
                <a:cs typeface="Times New Roman"/>
              </a:rPr>
              <a:t>equivalen</a:t>
            </a:r>
            <a:r>
              <a:rPr lang="en-US" sz="2200" i="1" dirty="0" smtClean="0"/>
              <a:t>t</a:t>
            </a:r>
            <a:r>
              <a:rPr lang="en-US" sz="2200" dirty="0" smtClean="0"/>
              <a:t>. For </a:t>
            </a:r>
            <a:r>
              <a:rPr lang="en-US" sz="2200" i="1" dirty="0" smtClean="0"/>
              <a:t>L</a:t>
            </a:r>
            <a:r>
              <a:rPr lang="en-US" sz="2200" dirty="0" smtClean="0"/>
              <a:t>=0, we </a:t>
            </a:r>
            <a:r>
              <a:rPr lang="en-US" sz="2200" dirty="0" smtClean="0"/>
              <a:t>have</a:t>
            </a:r>
          </a:p>
          <a:p>
            <a:pPr>
              <a:buNone/>
            </a:pPr>
            <a:endParaRPr lang="en-US" altLang="ko-KR" sz="2200" dirty="0" smtClean="0"/>
          </a:p>
          <a:p>
            <a:pPr>
              <a:buNone/>
            </a:pPr>
            <a:endParaRPr lang="ko-KR" altLang="en-US" sz="2200" dirty="0" smtClean="0"/>
          </a:p>
          <a:p>
            <a:pPr>
              <a:buNone/>
            </a:pPr>
            <a:r>
              <a:rPr lang="en-US" sz="2200" dirty="0" smtClean="0"/>
              <a:t>	which </a:t>
            </a:r>
            <a:r>
              <a:rPr lang="en-US" sz="2200" dirty="0" smtClean="0"/>
              <a:t>is already </a:t>
            </a:r>
            <a:r>
              <a:rPr lang="en-US" sz="2200" i="1" dirty="0" smtClean="0"/>
              <a:t>symmetric</a:t>
            </a:r>
            <a:r>
              <a:rPr lang="en-US" sz="2200" dirty="0" smtClean="0"/>
              <a:t>. Therefore, the </a:t>
            </a:r>
            <a:r>
              <a:rPr lang="en-US" sz="2200" i="1" dirty="0" smtClean="0"/>
              <a:t>L</a:t>
            </a:r>
            <a:r>
              <a:rPr lang="en-US" sz="2200" dirty="0" smtClean="0"/>
              <a:t>=0 space function requires the spin function to be the singlet. </a:t>
            </a:r>
            <a:r>
              <a:rPr lang="en-US" sz="2200" u="sng" dirty="0" smtClean="0"/>
              <a:t>The triplet state (</a:t>
            </a:r>
            <a:r>
              <a:rPr lang="en-US" sz="2200" u="sng" baseline="30000" dirty="0" smtClean="0"/>
              <a:t>3</a:t>
            </a:r>
            <a:r>
              <a:rPr lang="en-US" sz="2200" u="sng" dirty="0" smtClean="0"/>
              <a:t>S) is not possible</a:t>
            </a:r>
            <a:r>
              <a:rPr lang="en-US" sz="2200" dirty="0" smtClean="0"/>
              <a:t>. In terms of Slate determinants</a:t>
            </a:r>
            <a:r>
              <a:rPr lang="en-US" sz="2200" dirty="0" smtClean="0"/>
              <a:t>,</a:t>
            </a:r>
            <a:endParaRPr lang="en-US" altLang="ko-KR" sz="2200" dirty="0" smtClean="0"/>
          </a:p>
          <a:p>
            <a:pPr>
              <a:buNone/>
            </a:pPr>
            <a:endParaRPr lang="en-US" altLang="ko-KR" sz="2200" dirty="0" smtClean="0"/>
          </a:p>
          <a:p>
            <a:pPr>
              <a:buNone/>
            </a:pPr>
            <a:endParaRPr lang="en-US" altLang="ko-KR" sz="2200" dirty="0" smtClean="0"/>
          </a:p>
          <a:p>
            <a:pPr>
              <a:buNone/>
            </a:pPr>
            <a:r>
              <a:rPr lang="en-US" sz="2200" dirty="0" smtClean="0"/>
              <a:t>	Similarly</a:t>
            </a:r>
            <a:r>
              <a:rPr lang="en-US" sz="2200" dirty="0" smtClean="0"/>
              <a:t>, we find that </a:t>
            </a:r>
            <a:r>
              <a:rPr lang="en-US" sz="2200" baseline="30000" dirty="0" smtClean="0"/>
              <a:t>1</a:t>
            </a:r>
            <a:r>
              <a:rPr lang="en-US" sz="2200" dirty="0" smtClean="0"/>
              <a:t>P and </a:t>
            </a:r>
            <a:r>
              <a:rPr lang="en-US" sz="2200" baseline="30000" dirty="0" smtClean="0"/>
              <a:t>3</a:t>
            </a:r>
            <a:r>
              <a:rPr lang="en-US" sz="2200" dirty="0" smtClean="0"/>
              <a:t>D are not possible.</a:t>
            </a:r>
            <a:r>
              <a:rPr lang="ko-KR" altLang="en-US" sz="2200" dirty="0" smtClean="0"/>
              <a:t> </a:t>
            </a:r>
            <a:endParaRPr lang="en-US" altLang="ko-KR" sz="2200" dirty="0" smtClean="0"/>
          </a:p>
          <a:p>
            <a:pPr>
              <a:buNone/>
            </a:pPr>
            <a:endParaRPr lang="en-US" altLang="ko-KR" sz="2200" dirty="0" smtClean="0"/>
          </a:p>
          <a:p>
            <a:r>
              <a:rPr lang="en-US" sz="2200" dirty="0" smtClean="0"/>
              <a:t>In </a:t>
            </a:r>
            <a:r>
              <a:rPr lang="en-US" sz="2200" dirty="0" smtClean="0"/>
              <a:t>fact, for two equivalent electrons we always have </a:t>
            </a:r>
            <a:r>
              <a:rPr lang="en-US" sz="2200" i="1" dirty="0" smtClean="0"/>
              <a:t>L</a:t>
            </a:r>
            <a:r>
              <a:rPr lang="en-US" sz="2200" dirty="0" smtClean="0"/>
              <a:t>+</a:t>
            </a:r>
            <a:r>
              <a:rPr lang="en-US" sz="2200" i="1" dirty="0" smtClean="0"/>
              <a:t>S</a:t>
            </a:r>
            <a:r>
              <a:rPr lang="en-US" sz="2200" dirty="0" smtClean="0"/>
              <a:t>= even </a:t>
            </a:r>
            <a:r>
              <a:rPr lang="en-US" sz="2200" dirty="0" smtClean="0"/>
              <a:t>integer. Therefore,</a:t>
            </a:r>
            <a:endParaRPr lang="ko-KR" altLang="en-US" sz="2200" dirty="0" smtClean="0"/>
          </a:p>
          <a:p>
            <a:pPr>
              <a:buNone/>
            </a:pPr>
            <a:endParaRPr lang="ko-KR" altLang="en-US" sz="2200" dirty="0"/>
          </a:p>
        </p:txBody>
      </p:sp>
      <p:graphicFrame>
        <p:nvGraphicFramePr>
          <p:cNvPr id="221192" name="Object 8"/>
          <p:cNvGraphicFramePr>
            <a:graphicFrameLocks noChangeAspect="1"/>
          </p:cNvGraphicFramePr>
          <p:nvPr/>
        </p:nvGraphicFramePr>
        <p:xfrm>
          <a:off x="1295400" y="1393826"/>
          <a:ext cx="6554788" cy="595313"/>
        </p:xfrm>
        <a:graphic>
          <a:graphicData uri="http://schemas.openxmlformats.org/presentationml/2006/ole">
            <p:oleObj spid="_x0000_s221192" name="Equation" r:id="rId3" imgW="4330700" imgH="393700" progId="Equation.3">
              <p:embed/>
            </p:oleObj>
          </a:graphicData>
        </a:graphic>
      </p:graphicFrame>
      <p:graphicFrame>
        <p:nvGraphicFramePr>
          <p:cNvPr id="221193" name="Object 9"/>
          <p:cNvGraphicFramePr>
            <a:graphicFrameLocks noChangeAspect="1"/>
          </p:cNvGraphicFramePr>
          <p:nvPr/>
        </p:nvGraphicFramePr>
        <p:xfrm>
          <a:off x="2209800" y="3222626"/>
          <a:ext cx="4772025" cy="596900"/>
        </p:xfrm>
        <a:graphic>
          <a:graphicData uri="http://schemas.openxmlformats.org/presentationml/2006/ole">
            <p:oleObj spid="_x0000_s221193" name="Equation" r:id="rId4" imgW="3149600" imgH="393700" progId="Equation.3">
              <p:embed/>
            </p:oleObj>
          </a:graphicData>
        </a:graphic>
      </p:graphicFrame>
      <p:graphicFrame>
        <p:nvGraphicFramePr>
          <p:cNvPr id="221194" name="Object 10"/>
          <p:cNvGraphicFramePr>
            <a:graphicFrameLocks noChangeAspect="1"/>
          </p:cNvGraphicFramePr>
          <p:nvPr/>
        </p:nvGraphicFramePr>
        <p:xfrm>
          <a:off x="2743200" y="5508626"/>
          <a:ext cx="3884613" cy="663575"/>
        </p:xfrm>
        <a:graphic>
          <a:graphicData uri="http://schemas.openxmlformats.org/presentationml/2006/ole">
            <p:oleObj spid="_x0000_s221194" name="Equation" r:id="rId5" imgW="2603500" imgH="44450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sz="4800" i="1" kern="100" dirty="0" smtClean="0">
                <a:latin typeface="Times"/>
                <a:ea typeface="한강체"/>
                <a:cs typeface="Times New Roman"/>
              </a:rPr>
              <a:t>Parity Consideration</a:t>
            </a:r>
            <a:r>
              <a:rPr lang="ko-KR" altLang="en-US" i="1" dirty="0" smtClean="0"/>
              <a:t> </a:t>
            </a:r>
            <a:endParaRPr lang="ja-JP" alt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Hamiltonian is invariant under space inversion. Therefore, the </a:t>
            </a:r>
            <a:r>
              <a:rPr lang="en-US" sz="2400" dirty="0" err="1" smtClean="0"/>
              <a:t>eigenfunctions</a:t>
            </a:r>
            <a:r>
              <a:rPr lang="en-US" sz="2400" dirty="0" smtClean="0"/>
              <a:t> of the Hamiltonian have a definitive parity. The parity is determined by the space function (</a:t>
            </a:r>
            <a:r>
              <a:rPr lang="en-US" sz="2400" i="1" dirty="0" smtClean="0"/>
              <a:t>i.e</a:t>
            </a:r>
            <a:r>
              <a:rPr lang="en-US" sz="2400" dirty="0" smtClean="0"/>
              <a:t>., spherical harmonics) of each orbital. Therefore, the parity is given by </a:t>
            </a:r>
            <a:endParaRPr lang="ko-KR" altLang="en-US" sz="2400" dirty="0" smtClean="0"/>
          </a:p>
          <a:p>
            <a:pPr>
              <a:buNone/>
            </a:pPr>
            <a:endParaRPr lang="ko-KR" altLang="en-US" sz="2400" dirty="0" smtClean="0"/>
          </a:p>
          <a:p>
            <a:r>
              <a:rPr lang="en-US" sz="2400" dirty="0" smtClean="0"/>
              <a:t>Note that the parity has nothing to do with a value of </a:t>
            </a:r>
            <a:r>
              <a:rPr lang="en-US" sz="2400" i="1" dirty="0" smtClean="0"/>
              <a:t>L</a:t>
            </a:r>
            <a:r>
              <a:rPr lang="en-US" sz="2400" dirty="0" smtClean="0"/>
              <a:t> or the symmetry property of the space </a:t>
            </a:r>
            <a:r>
              <a:rPr lang="en-US" sz="2400" dirty="0" smtClean="0"/>
              <a:t>function                 </a:t>
            </a:r>
            <a:r>
              <a:rPr lang="en-US" sz="2400" dirty="0" smtClean="0"/>
              <a:t>. For equivalent two </a:t>
            </a:r>
            <a:r>
              <a:rPr lang="en-US" sz="2400" dirty="0" smtClean="0"/>
              <a:t>electrons (</a:t>
            </a:r>
            <a:r>
              <a:rPr lang="en-US" sz="2400" i="1" dirty="0" smtClean="0">
                <a:latin typeface="Times New Roman"/>
                <a:cs typeface="Times New Roman"/>
              </a:rPr>
              <a:t>l</a:t>
            </a:r>
            <a:r>
              <a:rPr lang="en-US" sz="2400" baseline="-25000" dirty="0" smtClean="0">
                <a:latin typeface="Times New Roman"/>
                <a:cs typeface="Times New Roman"/>
              </a:rPr>
              <a:t>1</a:t>
            </a:r>
            <a:r>
              <a:rPr lang="en-US" sz="2400" dirty="0" smtClean="0">
                <a:latin typeface="Times New Roman"/>
                <a:cs typeface="Times New Roman"/>
              </a:rPr>
              <a:t>=</a:t>
            </a:r>
            <a:r>
              <a:rPr lang="en-US" sz="2400" i="1" dirty="0" smtClean="0">
                <a:latin typeface="Times New Roman"/>
                <a:cs typeface="Times New Roman"/>
              </a:rPr>
              <a:t>l</a:t>
            </a:r>
            <a:r>
              <a:rPr lang="en-US" sz="2400" baseline="-25000" dirty="0" smtClean="0">
                <a:latin typeface="Times New Roman"/>
                <a:cs typeface="Times New Roman"/>
              </a:rPr>
              <a:t>2</a:t>
            </a:r>
            <a:r>
              <a:rPr lang="en-US" sz="2400" dirty="0" smtClean="0"/>
              <a:t>), </a:t>
            </a:r>
            <a:r>
              <a:rPr lang="en-US" sz="2400" dirty="0" smtClean="0"/>
              <a:t>the parity is always even.</a:t>
            </a:r>
            <a:endParaRPr lang="ko-KR" altLang="en-US" sz="2400" dirty="0" smtClean="0"/>
          </a:p>
          <a:p>
            <a:endParaRPr lang="ko-KR" altLang="en-US" sz="2200" dirty="0"/>
          </a:p>
        </p:txBody>
      </p:sp>
      <p:graphicFrame>
        <p:nvGraphicFramePr>
          <p:cNvPr id="227334" name="Object 6"/>
          <p:cNvGraphicFramePr>
            <a:graphicFrameLocks noChangeAspect="1"/>
          </p:cNvGraphicFramePr>
          <p:nvPr/>
        </p:nvGraphicFramePr>
        <p:xfrm>
          <a:off x="3581400" y="3276600"/>
          <a:ext cx="1865313" cy="282575"/>
        </p:xfrm>
        <a:graphic>
          <a:graphicData uri="http://schemas.openxmlformats.org/presentationml/2006/ole">
            <p:oleObj spid="_x0000_s227334" name="Equation" r:id="rId3" imgW="1257300" imgH="190500" progId="Equation.3">
              <p:embed/>
            </p:oleObj>
          </a:graphicData>
        </a:graphic>
      </p:graphicFrame>
      <p:graphicFrame>
        <p:nvGraphicFramePr>
          <p:cNvPr id="227335" name="Object 7"/>
          <p:cNvGraphicFramePr>
            <a:graphicFrameLocks noChangeAspect="1"/>
          </p:cNvGraphicFramePr>
          <p:nvPr/>
        </p:nvGraphicFramePr>
        <p:xfrm>
          <a:off x="7001329" y="4020458"/>
          <a:ext cx="1298575" cy="373063"/>
        </p:xfrm>
        <a:graphic>
          <a:graphicData uri="http://schemas.openxmlformats.org/presentationml/2006/ole">
            <p:oleObj spid="_x0000_s227335" name="Equation" r:id="rId4" imgW="838200" imgH="241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534</TotalTime>
  <Words>753</Words>
  <Application>Microsoft Macintosh PowerPoint</Application>
  <PresentationFormat>On-screen Show (4:3)</PresentationFormat>
  <Paragraphs>78</Paragraphs>
  <Slides>13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Technic</vt:lpstr>
      <vt:lpstr>Microsoft Equation</vt:lpstr>
      <vt:lpstr>Atomic and Molecular Physics  Lecture 15</vt:lpstr>
      <vt:lpstr>2.2 Multiplet Wave Functions</vt:lpstr>
      <vt:lpstr>Two-Electron Multiplet</vt:lpstr>
      <vt:lpstr>Example 3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Parity Consideration 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47</cp:revision>
  <dcterms:created xsi:type="dcterms:W3CDTF">2009-10-25T09:05:49Z</dcterms:created>
  <dcterms:modified xsi:type="dcterms:W3CDTF">2009-10-25T10:51:35Z</dcterms:modified>
</cp:coreProperties>
</file>