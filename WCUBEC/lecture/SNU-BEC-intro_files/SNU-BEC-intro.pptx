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presProps.xml" ContentType="application/vnd.openxmlformats-officedocument.presentationml.presProps+xml"/>
  <Default Extension="jpeg" ContentType="image/jpeg"/>
  <Default Extension="vml" ContentType="application/vnd.openxmlformats-officedocument.vmlDrawing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Default Extension="png" ContentType="image/png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Layouts/slideLayout13.xml" ContentType="application/vnd.openxmlformats-officedocument.presentationml.slideLayout+xml"/>
  <Default Extension="bin" ContentType="application/vnd.openxmlformats-officedocument.presentationml.printerSettings"/>
  <Override PartName="/docProps/core.xml" ContentType="application/vnd.openxmlformats-package.core-properties+xml"/>
  <Default Extension="rels" ContentType="application/vnd.openxmlformats-package.relationships+xml"/>
  <Override PartName="/ppt/handoutMasters/handoutMaster1.xml" ContentType="application/vnd.openxmlformats-officedocument.presentationml.handoutMaster+xml"/>
  <Override PartName="/ppt/slides/slide6.xml" ContentType="application/vnd.openxmlformats-officedocument.presentationml.slide+xml"/>
  <Override PartName="/ppt/slideLayouts/slideLayout12.xml" ContentType="application/vnd.openxmlformats-officedocument.presentationml.slideLayout+xml"/>
  <Default Extension="pict" ContentType="image/pi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8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57" r:id="rId4"/>
    <p:sldId id="261" r:id="rId5"/>
    <p:sldId id="262" r:id="rId6"/>
    <p:sldId id="263" r:id="rId7"/>
    <p:sldId id="259" r:id="rId8"/>
    <p:sldId id="260" r:id="rId9"/>
  </p:sldIdLst>
  <p:sldSz cx="9144000" cy="6858000" type="screen4x3"/>
  <p:notesSz cx="6858000" cy="9144000"/>
  <p:defaultTextStyle>
    <a:defPPr>
      <a:defRPr lang="ja-JP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24" charset="0"/>
        <a:ea typeface="ＭＳ Ｐゴシック" pitchFamily="24" charset="-128"/>
        <a:cs typeface="ＭＳ Ｐゴシック" pitchFamily="24" charset="-128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24" charset="0"/>
        <a:ea typeface="ＭＳ Ｐゴシック" pitchFamily="24" charset="-128"/>
        <a:cs typeface="ＭＳ Ｐゴシック" pitchFamily="24" charset="-128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24" charset="0"/>
        <a:ea typeface="ＭＳ Ｐゴシック" pitchFamily="24" charset="-128"/>
        <a:cs typeface="ＭＳ Ｐゴシック" pitchFamily="2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24" charset="0"/>
        <a:ea typeface="ＭＳ Ｐゴシック" pitchFamily="24" charset="-128"/>
        <a:cs typeface="ＭＳ Ｐゴシック" pitchFamily="2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24" charset="0"/>
        <a:ea typeface="ＭＳ Ｐゴシック" pitchFamily="24" charset="-128"/>
        <a:cs typeface="ＭＳ Ｐゴシック" pitchFamily="24" charset="-128"/>
      </a:defRPr>
    </a:lvl5pPr>
    <a:lvl6pPr marL="2286000" algn="l" defTabSz="457200" rtl="0" eaLnBrk="1" latinLnBrk="0" hangingPunct="1">
      <a:defRPr kumimoji="1" kern="1200">
        <a:solidFill>
          <a:schemeClr val="tx1"/>
        </a:solidFill>
        <a:latin typeface="Arial" pitchFamily="24" charset="0"/>
        <a:ea typeface="ＭＳ Ｐゴシック" pitchFamily="24" charset="-128"/>
        <a:cs typeface="ＭＳ Ｐゴシック" pitchFamily="24" charset="-128"/>
      </a:defRPr>
    </a:lvl6pPr>
    <a:lvl7pPr marL="2743200" algn="l" defTabSz="457200" rtl="0" eaLnBrk="1" latinLnBrk="0" hangingPunct="1">
      <a:defRPr kumimoji="1" kern="1200">
        <a:solidFill>
          <a:schemeClr val="tx1"/>
        </a:solidFill>
        <a:latin typeface="Arial" pitchFamily="24" charset="0"/>
        <a:ea typeface="ＭＳ Ｐゴシック" pitchFamily="24" charset="-128"/>
        <a:cs typeface="ＭＳ Ｐゴシック" pitchFamily="24" charset="-128"/>
      </a:defRPr>
    </a:lvl7pPr>
    <a:lvl8pPr marL="3200400" algn="l" defTabSz="457200" rtl="0" eaLnBrk="1" latinLnBrk="0" hangingPunct="1">
      <a:defRPr kumimoji="1" kern="1200">
        <a:solidFill>
          <a:schemeClr val="tx1"/>
        </a:solidFill>
        <a:latin typeface="Arial" pitchFamily="24" charset="0"/>
        <a:ea typeface="ＭＳ Ｐゴシック" pitchFamily="24" charset="-128"/>
        <a:cs typeface="ＭＳ Ｐゴシック" pitchFamily="24" charset="-128"/>
      </a:defRPr>
    </a:lvl8pPr>
    <a:lvl9pPr marL="3657600" algn="l" defTabSz="457200" rtl="0" eaLnBrk="1" latinLnBrk="0" hangingPunct="1">
      <a:defRPr kumimoji="1" kern="1200">
        <a:solidFill>
          <a:schemeClr val="tx1"/>
        </a:solidFill>
        <a:latin typeface="Arial" pitchFamily="24" charset="0"/>
        <a:ea typeface="ＭＳ Ｐゴシック" pitchFamily="24" charset="-128"/>
        <a:cs typeface="ＭＳ Ｐゴシック" pitchFamily="24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csShiftJIS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496" y="-10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viewProps" Target="viewProps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tableStyles" Target="tableStyles.xml"/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2" Type="http://schemas.openxmlformats.org/officeDocument/2006/relationships/printerSettings" Target="printerSettings/printerSettings1.bin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ict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ict"/><Relationship Id="rId1" Type="http://schemas.openxmlformats.org/officeDocument/2006/relationships/image" Target="../media/image10.pict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5599D-D80B-403E-BC83-31C5E9049820}" type="datetimeFigureOut">
              <a:t>09.10.6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B1BA3-C05E-48A9-B669-948B2CBDCA64}" type="slidenum"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24D2D-6EF2-4655-9710-2BAD4F3EC027}" type="datetimeFigureOut">
              <a:t>09.10.6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7B363-EA10-4DF2-A30E-363448A5AB5A}" type="slidenum"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6388" y="739588"/>
            <a:ext cx="8513762" cy="2729753"/>
          </a:xfrm>
        </p:spPr>
        <p:txBody>
          <a:bodyPr>
            <a:noAutofit/>
          </a:bodyPr>
          <a:lstStyle>
            <a:lvl1pPr algn="l">
              <a:lnSpc>
                <a:spcPts val="10800"/>
              </a:lnSpc>
              <a:defRPr sz="10000" b="1" spc="-250" baseline="0"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6388" y="3505200"/>
            <a:ext cx="4683050" cy="1344706"/>
          </a:xfrm>
        </p:spPr>
        <p:txBody>
          <a:bodyPr anchor="b">
            <a:normAutofit/>
          </a:bodyPr>
          <a:lstStyle>
            <a:lvl1pPr marL="0" indent="0" algn="l">
              <a:buNone/>
              <a:defRPr sz="44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5798B0-6BBF-4BC8-A4A4-94761F0739A2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275388"/>
            <a:ext cx="5638800" cy="365125"/>
          </a:xfrm>
        </p:spPr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02681-3566-4F50-8DC2-FDB798968698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Bef>
                <a:spcPts val="22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E1ED44-6F29-4E2C-99F7-D88D716B8B6D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0C609-2B9E-472A-A8CF-AEB96894278F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151" y="4822206"/>
            <a:ext cx="8511989" cy="1446975"/>
          </a:xfrm>
        </p:spPr>
        <p:txBody>
          <a:bodyPr lIns="0" tIns="0" rIns="0" bIns="0">
            <a:noAutofit/>
          </a:bodyPr>
          <a:lstStyle>
            <a:lvl1pPr algn="l">
              <a:lnSpc>
                <a:spcPts val="13800"/>
              </a:lnSpc>
              <a:defRPr sz="13500" b="1" cap="none" spc="-250" baseline="0"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874" y="3525980"/>
            <a:ext cx="8355714" cy="1270752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4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151" y="4822206"/>
            <a:ext cx="8511989" cy="1446975"/>
          </a:xfrm>
        </p:spPr>
        <p:txBody>
          <a:bodyPr lIns="0" tIns="0" rIns="0" bIns="0">
            <a:noAutofit/>
          </a:bodyPr>
          <a:lstStyle>
            <a:lvl1pPr algn="l">
              <a:lnSpc>
                <a:spcPts val="13800"/>
              </a:lnSpc>
              <a:defRPr sz="13500" b="1" cap="none" spc="-250" baseline="0"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874" y="3525980"/>
            <a:ext cx="4428426" cy="1270752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4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3"/>
          </p:nvPr>
        </p:nvSpPr>
        <p:spPr>
          <a:xfrm rot="21263043">
            <a:off x="5231118" y="261015"/>
            <a:ext cx="3433660" cy="4204035"/>
          </a:xfrm>
          <a:prstGeom prst="rect">
            <a:avLst/>
          </a:prstGeom>
          <a:noFill/>
          <a:ln w="177800" cap="sq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ja-JP" noProof="0"/>
              <a:t>Click icon to add picture</a:t>
            </a:r>
            <a:endParaRPr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2012" y="2057400"/>
            <a:ext cx="3863788" cy="4068763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000"/>
            </a:lvl1pPr>
            <a:lvl2pPr>
              <a:spcBef>
                <a:spcPts val="600"/>
              </a:spcBef>
              <a:defRPr sz="18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800"/>
            </a:lvl4pPr>
            <a:lvl5pPr>
              <a:spcBef>
                <a:spcPts val="600"/>
              </a:spcBef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1646" y="2057400"/>
            <a:ext cx="3867912" cy="4068763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000"/>
            </a:lvl1pPr>
            <a:lvl2pPr>
              <a:spcBef>
                <a:spcPts val="600"/>
              </a:spcBef>
              <a:defRPr sz="18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800"/>
            </a:lvl4pPr>
            <a:lvl5pPr>
              <a:spcBef>
                <a:spcPts val="600"/>
              </a:spcBef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D38FC3-FAE0-4031-BE1B-20DB88E6C85C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573C54-5FA9-470E-B869-7A178D3E8C45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 flipH="1">
            <a:off x="4573588" y="1693863"/>
            <a:ext cx="19050" cy="4389437"/>
          </a:xfrm>
          <a:prstGeom prst="rect">
            <a:avLst/>
          </a:prstGeom>
          <a:gradFill rotWithShape="1">
            <a:gsLst>
              <a:gs pos="0">
                <a:srgbClr val="607090"/>
              </a:gs>
              <a:gs pos="100000">
                <a:schemeClr val="tx2"/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ja-JP" altLang="en-US">
              <a:solidFill>
                <a:srgbClr val="FFFFFF"/>
              </a:solidFill>
              <a:latin typeface="Century Gothic" pitchFamily="2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 flipH="1">
            <a:off x="4573588" y="1693863"/>
            <a:ext cx="19050" cy="4389437"/>
          </a:xfrm>
          <a:prstGeom prst="rect">
            <a:avLst/>
          </a:prstGeom>
          <a:gradFill rotWithShape="1">
            <a:gsLst>
              <a:gs pos="0">
                <a:srgbClr val="607090"/>
              </a:gs>
              <a:gs pos="100000">
                <a:schemeClr val="tx2"/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ja-JP" altLang="en-US">
              <a:solidFill>
                <a:srgbClr val="FFFFFF"/>
              </a:solidFill>
              <a:latin typeface="Century Gothic" pitchFamily="2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 flipH="1">
            <a:off x="4573588" y="1693863"/>
            <a:ext cx="19050" cy="4389437"/>
          </a:xfrm>
          <a:prstGeom prst="rect">
            <a:avLst/>
          </a:prstGeom>
          <a:gradFill rotWithShape="1">
            <a:gsLst>
              <a:gs pos="0">
                <a:srgbClr val="607090"/>
              </a:gs>
              <a:gs pos="100000">
                <a:schemeClr val="tx2"/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ja-JP" altLang="en-US">
              <a:solidFill>
                <a:srgbClr val="FFFFFF"/>
              </a:solidFill>
              <a:latin typeface="Century Gothic" pitchFamily="2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 flipH="1">
            <a:off x="4573588" y="1693863"/>
            <a:ext cx="19050" cy="4389437"/>
          </a:xfrm>
          <a:prstGeom prst="rect">
            <a:avLst/>
          </a:prstGeom>
          <a:gradFill rotWithShape="1">
            <a:gsLst>
              <a:gs pos="0">
                <a:srgbClr val="607090"/>
              </a:gs>
              <a:gs pos="100000">
                <a:schemeClr val="tx2"/>
              </a:gs>
            </a:gsLst>
            <a:lin ang="5400000" scaled="1"/>
          </a:gradFill>
          <a:ln w="19050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ja-JP" altLang="en-US">
              <a:solidFill>
                <a:srgbClr val="FFFFFF"/>
              </a:solidFill>
              <a:latin typeface="Century Gothic" pitchFamily="2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775" y="582706"/>
            <a:ext cx="7918450" cy="78889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545" y="1546412"/>
            <a:ext cx="3867912" cy="464950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6" y="2147887"/>
            <a:ext cx="3867912" cy="3951288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000"/>
            </a:lvl1pPr>
            <a:lvl2pPr>
              <a:spcBef>
                <a:spcPts val="600"/>
              </a:spcBef>
              <a:defRPr sz="18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800"/>
            </a:lvl4pPr>
            <a:lvl5pPr>
              <a:spcBef>
                <a:spcPts val="600"/>
              </a:spcBef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313" y="1545018"/>
            <a:ext cx="3867912" cy="466344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313" y="2147887"/>
            <a:ext cx="3867912" cy="3951288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000"/>
            </a:lvl1pPr>
            <a:lvl2pPr>
              <a:spcBef>
                <a:spcPts val="600"/>
              </a:spcBef>
              <a:defRPr sz="18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800"/>
            </a:lvl4pPr>
            <a:lvl5pPr>
              <a:spcBef>
                <a:spcPts val="600"/>
              </a:spcBef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2E0617-9A54-4D6A-AF4A-748AF06F97ED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6D8577-1360-4626-917B-43713D46CF7C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9BE269-4806-46E5-8961-1B36055E5FB6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11C424-7B4F-4A81-95D0-E68711BFA947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F39518-7DD1-4341-A5A6-21C9CFD4EDA8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7ED89-0241-4645-8883-92D45D06D88C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5" y="1720103"/>
            <a:ext cx="3657600" cy="1162050"/>
          </a:xfrm>
        </p:spPr>
        <p:txBody>
          <a:bodyPr anchor="b">
            <a:noAutofit/>
          </a:bodyPr>
          <a:lstStyle>
            <a:lvl1pPr algn="ctr">
              <a:defRPr sz="3600" b="0"/>
            </a:lvl1pPr>
          </a:lstStyle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650" y="658906"/>
            <a:ext cx="3819338" cy="5467258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000"/>
            </a:lvl1pPr>
            <a:lvl2pPr>
              <a:spcBef>
                <a:spcPts val="600"/>
              </a:spcBef>
              <a:defRPr sz="18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800"/>
            </a:lvl4pPr>
            <a:lvl5pPr>
              <a:spcBef>
                <a:spcPts val="600"/>
              </a:spcBef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825" y="2877671"/>
            <a:ext cx="3657600" cy="233978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9E1710-8C90-40D6-A966-417D062817A8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8110A-BD52-4022-8E2C-32C2FECA7F2C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23" y="1227427"/>
            <a:ext cx="3657600" cy="566738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194096">
            <a:off x="4845353" y="975801"/>
            <a:ext cx="3496570" cy="4747249"/>
          </a:xfrm>
          <a:prstGeom prst="rect">
            <a:avLst/>
          </a:prstGeom>
          <a:noFill/>
          <a:ln w="177800" cap="sq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ja-JP" noProof="0"/>
              <a:t>Click icon to add picture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823" y="1799793"/>
            <a:ext cx="3657600" cy="399140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1341B8-F751-4E7F-9B84-F95E85C88A8B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17039-D8D7-4CCC-9632-AC7BF554EE24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011" y="4329953"/>
            <a:ext cx="7907151" cy="927847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34196" y="5257800"/>
            <a:ext cx="7904950" cy="9906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None/>
              <a:defRPr sz="1800"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 rot="319004">
            <a:off x="2075968" y="741009"/>
            <a:ext cx="4914362" cy="3240064"/>
          </a:xfrm>
          <a:prstGeom prst="rect">
            <a:avLst/>
          </a:prstGeom>
          <a:noFill/>
          <a:ln w="177800" cap="sq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ja-JP" noProof="0"/>
              <a:t>Click icon to add picture</a:t>
            </a:r>
            <a:endParaRPr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78FFA395-3897-4AF9-9A8E-611DDF457325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F25D732-73D4-4CE3-ADB8-A500AD3D109E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4"/>
          </p:nvPr>
        </p:nvSpPr>
        <p:spPr>
          <a:xfrm rot="21346724">
            <a:off x="436037" y="494284"/>
            <a:ext cx="4663440" cy="3030003"/>
          </a:xfrm>
          <a:prstGeom prst="rect">
            <a:avLst/>
          </a:prstGeom>
          <a:noFill/>
          <a:ln w="177800" cap="sq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ja-JP" noProof="0"/>
              <a:t>Click icon to add picture</a:t>
            </a:r>
            <a:endParaRPr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011" y="4329953"/>
            <a:ext cx="7907151" cy="927847"/>
          </a:xfrm>
        </p:spPr>
        <p:txBody>
          <a:bodyPr anchor="b">
            <a:noAutofit/>
          </a:bodyPr>
          <a:lstStyle>
            <a:lvl1pPr algn="l">
              <a:defRPr sz="3600"/>
            </a:lvl1pPr>
          </a:lstStyle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34196" y="5257800"/>
            <a:ext cx="7904950" cy="9906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None/>
              <a:defRPr sz="1800"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 rot="152337">
            <a:off x="4118577" y="735553"/>
            <a:ext cx="4663440" cy="3030003"/>
          </a:xfrm>
          <a:prstGeom prst="rect">
            <a:avLst/>
          </a:prstGeom>
          <a:noFill/>
          <a:ln w="177800" cap="sq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ja-JP" noProof="0"/>
              <a:t>Click icon to add picture</a:t>
            </a:r>
            <a:endParaRPr noProof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fld id="{23B3EBF0-DBF5-400C-B27F-EAA52BB5F7C5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200E1A24-6A6E-4263-867E-D5F3846AB2EA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spcBef>
                <a:spcPts val="20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9B74E7-9773-4A93-8A0E-E0EEEC4881CD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F42534-BF78-46F6-AD7A-D5268EDD6F01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72400" y="685801"/>
            <a:ext cx="757518" cy="5440680"/>
          </a:xfrm>
        </p:spPr>
        <p:txBody>
          <a:bodyPr vert="eaVert">
            <a:noAutofit/>
          </a:bodyPr>
          <a:lstStyle/>
          <a:p>
            <a:r>
              <a:rPr lang="en-US" altLang="ja-JP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1825" y="685801"/>
            <a:ext cx="6561137" cy="5440680"/>
          </a:xfrm>
        </p:spPr>
        <p:txBody>
          <a:bodyPr vert="eaVert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D3A480-8752-46B3-B28A-E64E31F16A16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683FE9-8192-49F7-B28C-E7E5DAFC85F8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4" Type="http://schemas.openxmlformats.org/officeDocument/2006/relationships/slideLayout" Target="../slideLayouts/slideLayout14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12775" y="582613"/>
            <a:ext cx="7918450" cy="78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89013" y="2044700"/>
            <a:ext cx="7165975" cy="40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275388"/>
            <a:ext cx="1600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tx2"/>
                </a:solidFill>
                <a:latin typeface="Century Gothic" pitchFamily="24" charset="0"/>
              </a:defRPr>
            </a:lvl1pPr>
          </a:lstStyle>
          <a:p>
            <a:fld id="{4A7E23A0-CF23-42C3-94EC-9B1A596180F3}" type="datetime1">
              <a:rPr lang="ja-JP" altLang="en-US"/>
              <a:pPr/>
              <a:t>09.10.6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5038" y="6275388"/>
            <a:ext cx="564356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tx2"/>
                </a:solidFill>
                <a:latin typeface="Century Gothic" pitchFamily="24" charset="0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275388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  <a:latin typeface="Century Gothic" pitchFamily="24" charset="0"/>
              </a:defRPr>
            </a:lvl1pPr>
          </a:lstStyle>
          <a:p>
            <a:fld id="{2897B009-6897-4DA5-A03D-9B98BA8F9A30}" type="slidenum">
              <a:rPr lang="ja-JP" altLang="en-US"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67" r:id="rId1"/>
    <p:sldLayoutId id="2147483957" r:id="rId2"/>
    <p:sldLayoutId id="2147483968" r:id="rId3"/>
    <p:sldLayoutId id="2147483969" r:id="rId4"/>
    <p:sldLayoutId id="2147483958" r:id="rId5"/>
    <p:sldLayoutId id="2147483970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200" kern="1200">
          <a:solidFill>
            <a:schemeClr val="accent1"/>
          </a:solidFill>
          <a:latin typeface="+mj-lt"/>
          <a:ea typeface="+mj-ea"/>
          <a:cs typeface="ＭＳ Ｐゴシック" pitchFamily="-28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accent1"/>
          </a:solidFill>
          <a:latin typeface="Century Gothic" pitchFamily="-28" charset="0"/>
          <a:ea typeface="ＭＳ Ｐゴシック" pitchFamily="-28" charset="-128"/>
          <a:cs typeface="ＭＳ Ｐゴシック" pitchFamily="-2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accent1"/>
          </a:solidFill>
          <a:latin typeface="Century Gothic" pitchFamily="-28" charset="0"/>
          <a:ea typeface="ＭＳ Ｐゴシック" pitchFamily="-28" charset="-128"/>
          <a:cs typeface="ＭＳ Ｐゴシック" pitchFamily="-2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accent1"/>
          </a:solidFill>
          <a:latin typeface="Century Gothic" pitchFamily="-28" charset="0"/>
          <a:ea typeface="ＭＳ Ｐゴシック" pitchFamily="-28" charset="-128"/>
          <a:cs typeface="ＭＳ Ｐゴシック" pitchFamily="-2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200">
          <a:solidFill>
            <a:schemeClr val="accent1"/>
          </a:solidFill>
          <a:latin typeface="Century Gothic" pitchFamily="-28" charset="0"/>
          <a:ea typeface="ＭＳ Ｐゴシック" pitchFamily="-28" charset="-128"/>
          <a:cs typeface="ＭＳ Ｐゴシック" pitchFamily="-28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200">
          <a:solidFill>
            <a:schemeClr val="accent1"/>
          </a:solidFill>
          <a:latin typeface="Century Gothic" pitchFamily="-28" charset="0"/>
          <a:ea typeface="ＭＳ Ｐゴシック" pitchFamily="-28" charset="-128"/>
          <a:cs typeface="ＭＳ Ｐゴシック" pitchFamily="-2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200">
          <a:solidFill>
            <a:schemeClr val="accent1"/>
          </a:solidFill>
          <a:latin typeface="Century Gothic" pitchFamily="-28" charset="0"/>
          <a:ea typeface="ＭＳ Ｐゴシック" pitchFamily="-28" charset="-128"/>
          <a:cs typeface="ＭＳ Ｐゴシック" pitchFamily="-2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200">
          <a:solidFill>
            <a:schemeClr val="accent1"/>
          </a:solidFill>
          <a:latin typeface="Century Gothic" pitchFamily="-28" charset="0"/>
          <a:ea typeface="ＭＳ Ｐゴシック" pitchFamily="-28" charset="-128"/>
          <a:cs typeface="ＭＳ Ｐゴシック" pitchFamily="-2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200">
          <a:solidFill>
            <a:schemeClr val="accent1"/>
          </a:solidFill>
          <a:latin typeface="Century Gothic" pitchFamily="-28" charset="0"/>
          <a:ea typeface="ＭＳ Ｐゴシック" pitchFamily="-28" charset="-128"/>
          <a:cs typeface="ＭＳ Ｐゴシック" pitchFamily="-2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90000"/>
        <a:buFont typeface="Wingdings 2" pitchFamily="24" charset="2"/>
        <a:buChar char="Ü"/>
        <a:defRPr kumimoji="1" sz="2200" kern="1200">
          <a:solidFill>
            <a:schemeClr val="tx1"/>
          </a:solidFill>
          <a:latin typeface="+mn-lt"/>
          <a:ea typeface="+mn-ea"/>
          <a:cs typeface="ＭＳ Ｐゴシック" pitchFamily="-28" charset="-128"/>
        </a:defRPr>
      </a:lvl1pPr>
      <a:lvl2pPr marL="685800" indent="-336550" algn="l" rtl="0" eaLnBrk="0" fontAlgn="base" hangingPunct="0">
        <a:spcBef>
          <a:spcPct val="20000"/>
        </a:spcBef>
        <a:spcAft>
          <a:spcPct val="0"/>
        </a:spcAft>
        <a:buClr>
          <a:srgbClr val="949FBF"/>
        </a:buClr>
        <a:buSzPct val="90000"/>
        <a:buFont typeface="Wingdings 2" pitchFamily="24" charset="2"/>
        <a:buChar char="Ü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5050" indent="-3492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90000"/>
        <a:buFont typeface="Wingdings 2" pitchFamily="24" charset="2"/>
        <a:buChar char="Ü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36550" algn="l" rtl="0" eaLnBrk="0" fontAlgn="base" hangingPunct="0">
        <a:spcBef>
          <a:spcPct val="20000"/>
        </a:spcBef>
        <a:spcAft>
          <a:spcPct val="0"/>
        </a:spcAft>
        <a:buClr>
          <a:srgbClr val="949FBF"/>
        </a:buClr>
        <a:buSzPct val="90000"/>
        <a:buFont typeface="Wingdings 2" pitchFamily="24" charset="2"/>
        <a:buChar char="Ü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720850" indent="-3492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90000"/>
        <a:buFont typeface="Wingdings 2" pitchFamily="24" charset="2"/>
        <a:buChar char="Ü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!OLE_LINK1" TargetMode="External"/><Relationship Id="rId5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oleObject" Target="!OLE_LINK3" TargetMode="External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!OLE_LINK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3100" y="876300"/>
            <a:ext cx="8153400" cy="1470025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altLang="ja-JP" sz="8000">
                <a:latin typeface="한컴돋움" pitchFamily="24" charset="-127"/>
                <a:ea typeface="한컴돋움" pitchFamily="24" charset="-127"/>
                <a:cs typeface="한컴돋움" pitchFamily="24" charset="-127"/>
              </a:rPr>
              <a:t>SNU BEC </a:t>
            </a:r>
            <a:r>
              <a:rPr lang="en-US" altLang="ko-KR" sz="8000">
                <a:latin typeface="한컴돋움" pitchFamily="24" charset="-127"/>
                <a:ea typeface="한컴돋움" pitchFamily="24" charset="-127"/>
                <a:cs typeface="한컴돋움" pitchFamily="24" charset="-127"/>
              </a:rPr>
              <a:t>Project</a:t>
            </a:r>
            <a:r>
              <a:rPr lang="en-US" altLang="ko-KR" sz="7200">
                <a:latin typeface="Arial" pitchFamily="24" charset="0"/>
                <a:ea typeface="Arial" pitchFamily="24" charset="0"/>
                <a:cs typeface="Arial" pitchFamily="24" charset="0"/>
              </a:rPr>
              <a:t> </a:t>
            </a:r>
            <a:br>
              <a:rPr lang="en-US" altLang="ko-KR" sz="7200">
                <a:latin typeface="Arial" pitchFamily="24" charset="0"/>
                <a:ea typeface="Arial" pitchFamily="24" charset="0"/>
                <a:cs typeface="Arial" pitchFamily="24" charset="0"/>
              </a:rPr>
            </a:br>
            <a:r>
              <a:rPr lang="en-US" altLang="ko-KR" sz="4800">
                <a:latin typeface="한컴돋움" pitchFamily="24" charset="-127"/>
                <a:ea typeface="한컴돋움" pitchFamily="24" charset="-127"/>
                <a:cs typeface="한컴돋움" pitchFamily="24" charset="-127"/>
              </a:rPr>
              <a:t>(Type 2)</a:t>
            </a:r>
            <a:endParaRPr lang="ja-JP" altLang="en-US" sz="4800">
              <a:latin typeface="한컴돋움" pitchFamily="24" charset="-127"/>
              <a:ea typeface="한컴돋움" pitchFamily="24" charset="-127"/>
              <a:cs typeface="한컴돋움" pitchFamily="24" charset="-127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3275" y="4165600"/>
            <a:ext cx="3679825" cy="1827213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ko-KR" sz="2400" smtClean="0">
                <a:latin typeface="한컴돋움" pitchFamily="24" charset="-127"/>
                <a:ea typeface="한컴돋움" pitchFamily="24" charset="-127"/>
                <a:cs typeface="한컴돋움" pitchFamily="24" charset="-127"/>
              </a:rPr>
              <a:t>Yong-il Shin (Invited Scholar)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ko-KR" sz="2400" smtClean="0">
                <a:latin typeface="한컴돋움" pitchFamily="24" charset="-127"/>
                <a:ea typeface="한컴돋움" pitchFamily="24" charset="-127"/>
                <a:cs typeface="한컴돋움" pitchFamily="24" charset="-127"/>
              </a:rPr>
              <a:t>Hyunseok Jeong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ja-JP" sz="2400" smtClean="0">
                <a:latin typeface="한컴돋움" pitchFamily="24" charset="-127"/>
                <a:ea typeface="한컴돋움" pitchFamily="24" charset="-127"/>
                <a:cs typeface="한컴돋움" pitchFamily="24" charset="-127"/>
              </a:rPr>
              <a:t>Kyungwon An (PI)</a:t>
            </a:r>
            <a:endParaRPr lang="ja-JP" altLang="en-US" sz="2400" smtClean="0">
              <a:latin typeface="한컴돋움" pitchFamily="24" charset="-127"/>
              <a:ea typeface="한컴돋움" pitchFamily="24" charset="-127"/>
              <a:cs typeface="한컴돋움" pitchFamily="24" charset="-127"/>
            </a:endParaRPr>
          </a:p>
        </p:txBody>
      </p:sp>
      <p:pic>
        <p:nvPicPr>
          <p:cNvPr id="16388" name="Picture 5" descr="800px-Bose_Einstein_condensat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51350" y="3416300"/>
            <a:ext cx="3811588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4765675" y="5926138"/>
            <a:ext cx="32972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ko-KR" sz="1200"/>
              <a:t>2001 Nobel Prize (Cornell, </a:t>
            </a:r>
            <a:r>
              <a:rPr lang="en-US" altLang="ko-KR" sz="1200" u="sng">
                <a:solidFill>
                  <a:srgbClr val="FFFF00"/>
                </a:solidFill>
              </a:rPr>
              <a:t>Kitterle</a:t>
            </a:r>
            <a:r>
              <a:rPr lang="en-US" altLang="ko-KR" sz="1200"/>
              <a:t>, Wienman)</a:t>
            </a:r>
            <a:endParaRPr lang="ko-KR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Elbow Connector 38"/>
          <p:cNvCxnSpPr>
            <a:endCxn id="0" idx="0"/>
          </p:cNvCxnSpPr>
          <p:nvPr/>
        </p:nvCxnSpPr>
        <p:spPr>
          <a:xfrm rot="5400000">
            <a:off x="3658394" y="3467894"/>
            <a:ext cx="2093912" cy="342900"/>
          </a:xfrm>
          <a:prstGeom prst="bentConnector3">
            <a:avLst>
              <a:gd name="adj1" fmla="val 72980"/>
            </a:avLst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cs typeface="ＭＳ Ｐゴシック" pitchFamily="24" charset="-128"/>
              </a:rPr>
              <a:t>Members</a:t>
            </a:r>
            <a:endParaRPr lang="ja-JP" altLang="en-US">
              <a:cs typeface="ＭＳ Ｐゴシック" pitchFamily="2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29000" y="1905794"/>
            <a:ext cx="2209800" cy="6858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altLang="ja-JP" sz="2400">
                <a:solidFill>
                  <a:srgbClr val="FFFFFF"/>
                </a:solidFill>
                <a:cs typeface="ＭＳ Ｐゴシック" pitchFamily="24" charset="-128"/>
              </a:rPr>
              <a:t>PI: K. An</a:t>
            </a:r>
            <a:endParaRPr lang="ja-JP" altLang="en-US" sz="2400">
              <a:solidFill>
                <a:srgbClr val="FFFFFF"/>
              </a:solidFill>
              <a:cs typeface="ＭＳ Ｐゴシック" pitchFamily="24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88194" y="3175000"/>
            <a:ext cx="2209800" cy="6858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altLang="ja-JP">
                <a:solidFill>
                  <a:srgbClr val="FFFFFF"/>
                </a:solidFill>
                <a:cs typeface="ＭＳ Ｐゴシック" pitchFamily="24" charset="-128"/>
              </a:rPr>
              <a:t>Foreign Scholar: </a:t>
            </a:r>
          </a:p>
          <a:p>
            <a:pPr algn="ctr"/>
            <a:r>
              <a:rPr lang="en-US" altLang="ja-JP">
                <a:solidFill>
                  <a:srgbClr val="FFFFFF"/>
                </a:solidFill>
                <a:cs typeface="ＭＳ Ｐゴシック" pitchFamily="24" charset="-128"/>
              </a:rPr>
              <a:t>Y. Shin</a:t>
            </a:r>
            <a:endParaRPr lang="ja-JP" altLang="en-US">
              <a:solidFill>
                <a:srgbClr val="FFFFFF"/>
              </a:solidFill>
              <a:cs typeface="ＭＳ Ｐゴシック" pitchFamily="2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794" y="3162300"/>
            <a:ext cx="2209800" cy="6858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altLang="ja-JP">
                <a:solidFill>
                  <a:srgbClr val="FFFFFF"/>
                </a:solidFill>
                <a:cs typeface="ＭＳ Ｐゴシック" pitchFamily="24" charset="-128"/>
              </a:rPr>
              <a:t>Domestric Scholar: H. Jeong</a:t>
            </a:r>
            <a:endParaRPr lang="ja-JP" altLang="en-US">
              <a:solidFill>
                <a:srgbClr val="FFFFFF"/>
              </a:solidFill>
              <a:cs typeface="ＭＳ Ｐゴシック" pitchFamily="24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0" y="3162300"/>
            <a:ext cx="2209800" cy="6858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altLang="ja-JP">
                <a:solidFill>
                  <a:srgbClr val="FFFFFF"/>
                </a:solidFill>
                <a:cs typeface="ＭＳ Ｐゴシック" pitchFamily="24" charset="-128"/>
              </a:rPr>
              <a:t>Supporting Staff: E. Noh</a:t>
            </a:r>
            <a:endParaRPr lang="ja-JP" altLang="en-US">
              <a:solidFill>
                <a:srgbClr val="FFFFFF"/>
              </a:solidFill>
              <a:cs typeface="ＭＳ Ｐゴシック" pitchFamily="24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29000" y="4686300"/>
            <a:ext cx="2209800" cy="10668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altLang="ja-JP" sz="1600">
                <a:solidFill>
                  <a:srgbClr val="FFFFFF"/>
                </a:solidFill>
                <a:cs typeface="ＭＳ Ｐゴシック" pitchFamily="24" charset="-128"/>
              </a:rPr>
              <a:t>Research Assistant: H. Hong</a:t>
            </a:r>
          </a:p>
          <a:p>
            <a:pPr algn="ctr"/>
            <a:r>
              <a:rPr lang="en-US" altLang="ja-JP" sz="1600">
                <a:solidFill>
                  <a:srgbClr val="FFFFFF"/>
                </a:solidFill>
                <a:cs typeface="ＭＳ Ｐゴシック" pitchFamily="24" charset="-128"/>
              </a:rPr>
              <a:t>S. Kang</a:t>
            </a:r>
          </a:p>
          <a:p>
            <a:pPr algn="ctr"/>
            <a:r>
              <a:rPr lang="en-US" altLang="ja-JP" sz="1600">
                <a:solidFill>
                  <a:srgbClr val="FFFFFF"/>
                </a:solidFill>
                <a:cs typeface="ＭＳ Ｐゴシック" pitchFamily="24" charset="-128"/>
              </a:rPr>
              <a:t>Y. Song</a:t>
            </a:r>
            <a:endParaRPr lang="ja-JP" altLang="en-US" sz="1600">
              <a:solidFill>
                <a:srgbClr val="FFFFFF"/>
              </a:solidFill>
              <a:cs typeface="ＭＳ Ｐゴシック" pitchFamily="2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794" y="4686300"/>
            <a:ext cx="2209800" cy="9144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altLang="ja-JP" sz="1600">
                <a:solidFill>
                  <a:srgbClr val="FFFFFF"/>
                </a:solidFill>
                <a:cs typeface="ＭＳ Ｐゴシック" pitchFamily="24" charset="-128"/>
              </a:rPr>
              <a:t>Research Assistant: K. Park</a:t>
            </a:r>
          </a:p>
          <a:p>
            <a:pPr algn="ctr"/>
            <a:r>
              <a:rPr lang="en-US" altLang="ja-JP" sz="1600">
                <a:solidFill>
                  <a:srgbClr val="FFFFFF"/>
                </a:solidFill>
                <a:cs typeface="ＭＳ Ｐゴシック" pitchFamily="24" charset="-128"/>
              </a:rPr>
              <a:t>C. Lee</a:t>
            </a:r>
            <a:endParaRPr lang="ja-JP" altLang="en-US" sz="1600">
              <a:solidFill>
                <a:srgbClr val="FFFFFF"/>
              </a:solidFill>
              <a:cs typeface="ＭＳ Ｐゴシック" pitchFamily="2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2794" y="4699000"/>
            <a:ext cx="2209800" cy="6858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altLang="ja-JP" sz="1600">
                <a:solidFill>
                  <a:srgbClr val="FFFFFF"/>
                </a:solidFill>
                <a:cs typeface="ＭＳ Ｐゴシック" pitchFamily="24" charset="-128"/>
              </a:rPr>
              <a:t>Research Assistant: J. Choi</a:t>
            </a:r>
            <a:endParaRPr lang="ja-JP" altLang="en-US" sz="1600">
              <a:solidFill>
                <a:srgbClr val="FFFFFF"/>
              </a:solidFill>
              <a:cs typeface="ＭＳ Ｐゴシック" pitchFamily="24" charset="-128"/>
            </a:endParaRPr>
          </a:p>
        </p:txBody>
      </p:sp>
      <p:cxnSp>
        <p:nvCxnSpPr>
          <p:cNvPr id="31" name="Straight Arrow Connector 30"/>
          <p:cNvCxnSpPr>
            <a:stCxn id="0" idx="2"/>
            <a:endCxn id="0" idx="0"/>
          </p:cNvCxnSpPr>
          <p:nvPr/>
        </p:nvCxnSpPr>
        <p:spPr>
          <a:xfrm rot="5400000">
            <a:off x="4248151" y="2876550"/>
            <a:ext cx="571500" cy="3175"/>
          </a:xfrm>
          <a:prstGeom prst="straightConnector1">
            <a:avLst/>
          </a:prstGeom>
          <a:ln>
            <a:solidFill>
              <a:srgbClr val="FFFF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0" idx="1"/>
            <a:endCxn id="0" idx="3"/>
          </p:cNvCxnSpPr>
          <p:nvPr/>
        </p:nvCxnSpPr>
        <p:spPr>
          <a:xfrm rot="10800000">
            <a:off x="5638800" y="3505200"/>
            <a:ext cx="458788" cy="1588"/>
          </a:xfrm>
          <a:prstGeom prst="straightConnector1">
            <a:avLst/>
          </a:prstGeom>
          <a:ln>
            <a:solidFill>
              <a:srgbClr val="FFFF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10800000">
            <a:off x="2973388" y="3506788"/>
            <a:ext cx="457200" cy="1587"/>
          </a:xfrm>
          <a:prstGeom prst="straightConnector1">
            <a:avLst/>
          </a:prstGeom>
          <a:ln>
            <a:solidFill>
              <a:srgbClr val="FFFF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0" idx="2"/>
            <a:endCxn id="0" idx="0"/>
          </p:cNvCxnSpPr>
          <p:nvPr/>
        </p:nvCxnSpPr>
        <p:spPr>
          <a:xfrm rot="5400000">
            <a:off x="1448594" y="4267994"/>
            <a:ext cx="838200" cy="1588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rot="5400000">
            <a:off x="6820694" y="4266406"/>
            <a:ext cx="838200" cy="1588"/>
          </a:xfrm>
          <a:prstGeom prst="bentConnector3">
            <a:avLst>
              <a:gd name="adj1" fmla="val 50000"/>
            </a:avLst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cs typeface="ＭＳ Ｐゴシック" pitchFamily="24" charset="-128"/>
              </a:rPr>
              <a:t>Research Goal</a:t>
            </a:r>
            <a:endParaRPr lang="ja-JP" altLang="en-US">
              <a:cs typeface="ＭＳ Ｐゴシック" pitchFamily="24" charset="-128"/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cs typeface="ＭＳ Ｐゴシック" pitchFamily="24" charset="-128"/>
              </a:rPr>
              <a:t>To realize Bose-Einstein condensates by laser trapping and cooling of neutral atoms</a:t>
            </a:r>
          </a:p>
          <a:p>
            <a:pPr eaLnBrk="1" hangingPunct="1"/>
            <a:r>
              <a:rPr lang="en-US" altLang="ja-JP">
                <a:cs typeface="ＭＳ Ｐゴシック" pitchFamily="24" charset="-128"/>
              </a:rPr>
              <a:t>To understand many-body physics in strongly interacting fermion/boson systems</a:t>
            </a:r>
          </a:p>
          <a:p>
            <a:pPr eaLnBrk="1" hangingPunct="1"/>
            <a:r>
              <a:rPr lang="en-US" altLang="ja-JP">
                <a:cs typeface="ＭＳ Ｐゴシック" pitchFamily="24" charset="-128"/>
              </a:rPr>
              <a:t>To realize macroscopic superposition and entanglement with BEC for quantum infromation</a:t>
            </a:r>
          </a:p>
          <a:p>
            <a:pPr eaLnBrk="1" hangingPunct="1"/>
            <a:r>
              <a:rPr lang="en-US" altLang="ja-JP">
                <a:cs typeface="ＭＳ Ｐゴシック" pitchFamily="24" charset="-128"/>
              </a:rPr>
              <a:t>To realize matter-wave scar modes of ultracold ataoms for quantum chaos studies</a:t>
            </a:r>
            <a:endParaRPr lang="ja-JP" altLang="en-US">
              <a:cs typeface="ＭＳ Ｐゴシック" pitchFamily="2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12775" y="404813"/>
            <a:ext cx="7918450" cy="788987"/>
          </a:xfrm>
        </p:spPr>
        <p:txBody>
          <a:bodyPr/>
          <a:lstStyle/>
          <a:p>
            <a:r>
              <a:rPr lang="en-US" altLang="ja-JP">
                <a:cs typeface="ＭＳ Ｐゴシック" pitchFamily="24" charset="-128"/>
              </a:rPr>
              <a:t>Production of Quantum Gas</a:t>
            </a:r>
            <a:endParaRPr lang="ja-JP" altLang="en-US">
              <a:cs typeface="ＭＳ Ｐゴシック" pitchFamily="24" charset="-128"/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001713" y="1435100"/>
            <a:ext cx="7165975" cy="1765300"/>
          </a:xfrm>
        </p:spPr>
        <p:txBody>
          <a:bodyPr/>
          <a:lstStyle/>
          <a:p>
            <a:r>
              <a:rPr lang="en-US" altLang="ja-JP">
                <a:cs typeface="ＭＳ Ｐゴシック" pitchFamily="24" charset="-128"/>
              </a:rPr>
              <a:t>Na-23: bosonic atom, by BEC technique (evaporative cooling w/ optical plug)</a:t>
            </a:r>
          </a:p>
          <a:p>
            <a:r>
              <a:rPr lang="en-US" altLang="ja-JP">
                <a:cs typeface="ＭＳ Ｐゴシック" pitchFamily="24" charset="-128"/>
              </a:rPr>
              <a:t>Li-6: fermionic atom, by sympathetic cooling with Na-23</a:t>
            </a:r>
          </a:p>
          <a:p>
            <a:endParaRPr lang="ja-JP" altLang="en-US">
              <a:cs typeface="ＭＳ Ｐゴシック" pitchFamily="24" charset="-128"/>
            </a:endParaRP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63" y="3690938"/>
            <a:ext cx="3857625" cy="257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461" name="그룹 59"/>
          <p:cNvGrpSpPr>
            <a:grpSpLocks/>
          </p:cNvGrpSpPr>
          <p:nvPr/>
        </p:nvGrpSpPr>
        <p:grpSpPr bwMode="auto">
          <a:xfrm>
            <a:off x="5360988" y="4251325"/>
            <a:ext cx="2286000" cy="1260475"/>
            <a:chOff x="5482938" y="1571612"/>
            <a:chExt cx="2286016" cy="1260772"/>
          </a:xfrm>
        </p:grpSpPr>
        <p:cxnSp>
          <p:nvCxnSpPr>
            <p:cNvPr id="19466" name="직선 연결선 21"/>
            <p:cNvCxnSpPr>
              <a:cxnSpLocks noChangeShapeType="1"/>
            </p:cNvCxnSpPr>
            <p:nvPr/>
          </p:nvCxnSpPr>
          <p:spPr bwMode="auto">
            <a:xfrm rot="16200000" flipH="1">
              <a:off x="5482938" y="1661220"/>
              <a:ext cx="1143008" cy="1143008"/>
            </a:xfrm>
            <a:prstGeom prst="line">
              <a:avLst/>
            </a:prstGeom>
            <a:noFill/>
            <a:ln w="38100">
              <a:solidFill>
                <a:srgbClr val="763A03"/>
              </a:solidFill>
              <a:round/>
              <a:headEnd/>
              <a:tailEnd/>
            </a:ln>
          </p:spPr>
        </p:cxnSp>
        <p:cxnSp>
          <p:nvCxnSpPr>
            <p:cNvPr id="11" name="직선 연결선 23"/>
            <p:cNvCxnSpPr/>
            <p:nvPr/>
          </p:nvCxnSpPr>
          <p:spPr>
            <a:xfrm rot="5400000">
              <a:off x="6625815" y="1660664"/>
              <a:ext cx="1143269" cy="1143008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자유형 25"/>
            <p:cNvSpPr/>
            <p:nvPr/>
          </p:nvSpPr>
          <p:spPr>
            <a:xfrm>
              <a:off x="6259230" y="1928884"/>
              <a:ext cx="693743" cy="903500"/>
            </a:xfrm>
            <a:custGeom>
              <a:avLst/>
              <a:gdLst>
                <a:gd name="connsiteX0" fmla="*/ 0 w 692458"/>
                <a:gd name="connsiteY0" fmla="*/ 528222 h 528222"/>
                <a:gd name="connsiteX1" fmla="*/ 204186 w 692458"/>
                <a:gd name="connsiteY1" fmla="*/ 341791 h 528222"/>
                <a:gd name="connsiteX2" fmla="*/ 363984 w 692458"/>
                <a:gd name="connsiteY2" fmla="*/ 4439 h 528222"/>
                <a:gd name="connsiteX3" fmla="*/ 514904 w 692458"/>
                <a:gd name="connsiteY3" fmla="*/ 368424 h 528222"/>
                <a:gd name="connsiteX4" fmla="*/ 692458 w 692458"/>
                <a:gd name="connsiteY4" fmla="*/ 528222 h 52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458" h="528222">
                  <a:moveTo>
                    <a:pt x="0" y="528222"/>
                  </a:moveTo>
                  <a:cubicBezTo>
                    <a:pt x="71761" y="478655"/>
                    <a:pt x="143522" y="429088"/>
                    <a:pt x="204186" y="341791"/>
                  </a:cubicBezTo>
                  <a:cubicBezTo>
                    <a:pt x="264850" y="254494"/>
                    <a:pt x="312198" y="0"/>
                    <a:pt x="363984" y="4439"/>
                  </a:cubicBezTo>
                  <a:cubicBezTo>
                    <a:pt x="415770" y="8878"/>
                    <a:pt x="460158" y="281127"/>
                    <a:pt x="514904" y="368424"/>
                  </a:cubicBezTo>
                  <a:cubicBezTo>
                    <a:pt x="569650" y="455721"/>
                    <a:pt x="636233" y="525263"/>
                    <a:pt x="692458" y="528222"/>
                  </a:cubicBezTo>
                </a:path>
              </a:pathLst>
            </a:cu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13" name="타원 31"/>
            <p:cNvSpPr/>
            <p:nvPr/>
          </p:nvSpPr>
          <p:spPr>
            <a:xfrm>
              <a:off x="6357656" y="2429064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14" name="타원 32"/>
            <p:cNvSpPr/>
            <p:nvPr/>
          </p:nvSpPr>
          <p:spPr>
            <a:xfrm>
              <a:off x="5929028" y="1857429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15" name="타원 33"/>
            <p:cNvSpPr/>
            <p:nvPr/>
          </p:nvSpPr>
          <p:spPr>
            <a:xfrm>
              <a:off x="6357656" y="2000338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16" name="타원 34"/>
            <p:cNvSpPr/>
            <p:nvPr/>
          </p:nvSpPr>
          <p:spPr>
            <a:xfrm>
              <a:off x="6143343" y="2214701"/>
              <a:ext cx="71437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17" name="타원 35"/>
            <p:cNvSpPr/>
            <p:nvPr/>
          </p:nvSpPr>
          <p:spPr>
            <a:xfrm>
              <a:off x="6786284" y="2429064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18" name="타원 36"/>
            <p:cNvSpPr/>
            <p:nvPr/>
          </p:nvSpPr>
          <p:spPr>
            <a:xfrm>
              <a:off x="6286219" y="2286155"/>
              <a:ext cx="71437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19" name="타원 37"/>
            <p:cNvSpPr/>
            <p:nvPr/>
          </p:nvSpPr>
          <p:spPr>
            <a:xfrm>
              <a:off x="6429095" y="2286155"/>
              <a:ext cx="71437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0" name="타원 38"/>
            <p:cNvSpPr/>
            <p:nvPr/>
          </p:nvSpPr>
          <p:spPr>
            <a:xfrm>
              <a:off x="6000467" y="2071793"/>
              <a:ext cx="71437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1" name="타원 39"/>
            <p:cNvSpPr/>
            <p:nvPr/>
          </p:nvSpPr>
          <p:spPr>
            <a:xfrm>
              <a:off x="6786284" y="2286155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2" name="타원 40"/>
            <p:cNvSpPr/>
            <p:nvPr/>
          </p:nvSpPr>
          <p:spPr>
            <a:xfrm>
              <a:off x="6929160" y="2286155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3" name="타원 41"/>
            <p:cNvSpPr/>
            <p:nvPr/>
          </p:nvSpPr>
          <p:spPr>
            <a:xfrm>
              <a:off x="7072036" y="2143247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4" name="타원 42"/>
            <p:cNvSpPr/>
            <p:nvPr/>
          </p:nvSpPr>
          <p:spPr>
            <a:xfrm>
              <a:off x="6286219" y="2143247"/>
              <a:ext cx="71437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5" name="타원 43"/>
            <p:cNvSpPr/>
            <p:nvPr/>
          </p:nvSpPr>
          <p:spPr>
            <a:xfrm>
              <a:off x="6214780" y="1857429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6" name="타원 44"/>
            <p:cNvSpPr/>
            <p:nvPr/>
          </p:nvSpPr>
          <p:spPr>
            <a:xfrm>
              <a:off x="6143343" y="2071793"/>
              <a:ext cx="71437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7" name="타원 45"/>
            <p:cNvSpPr/>
            <p:nvPr/>
          </p:nvSpPr>
          <p:spPr>
            <a:xfrm>
              <a:off x="6857723" y="2357610"/>
              <a:ext cx="71437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8" name="타원 46"/>
            <p:cNvSpPr/>
            <p:nvPr/>
          </p:nvSpPr>
          <p:spPr>
            <a:xfrm>
              <a:off x="6286219" y="2357610"/>
              <a:ext cx="71437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29" name="타원 47"/>
            <p:cNvSpPr/>
            <p:nvPr/>
          </p:nvSpPr>
          <p:spPr>
            <a:xfrm>
              <a:off x="6857723" y="2286155"/>
              <a:ext cx="71437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0" name="타원 48"/>
            <p:cNvSpPr/>
            <p:nvPr/>
          </p:nvSpPr>
          <p:spPr>
            <a:xfrm>
              <a:off x="7000599" y="1928884"/>
              <a:ext cx="71437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1" name="타원 49"/>
            <p:cNvSpPr/>
            <p:nvPr/>
          </p:nvSpPr>
          <p:spPr>
            <a:xfrm>
              <a:off x="6500532" y="1714521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2" name="타원 50"/>
            <p:cNvSpPr/>
            <p:nvPr/>
          </p:nvSpPr>
          <p:spPr>
            <a:xfrm>
              <a:off x="6429095" y="2071793"/>
              <a:ext cx="71437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3" name="타원 51"/>
            <p:cNvSpPr/>
            <p:nvPr/>
          </p:nvSpPr>
          <p:spPr>
            <a:xfrm>
              <a:off x="5786152" y="1714521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4" name="타원 52"/>
            <p:cNvSpPr/>
            <p:nvPr/>
          </p:nvSpPr>
          <p:spPr>
            <a:xfrm>
              <a:off x="6357656" y="2286155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5" name="타원 53"/>
            <p:cNvSpPr/>
            <p:nvPr/>
          </p:nvSpPr>
          <p:spPr>
            <a:xfrm>
              <a:off x="6857723" y="2071793"/>
              <a:ext cx="71437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6" name="타원 54"/>
            <p:cNvSpPr/>
            <p:nvPr/>
          </p:nvSpPr>
          <p:spPr>
            <a:xfrm>
              <a:off x="7214912" y="1571612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7" name="타원 55"/>
            <p:cNvSpPr/>
            <p:nvPr/>
          </p:nvSpPr>
          <p:spPr>
            <a:xfrm>
              <a:off x="7000599" y="2214701"/>
              <a:ext cx="71437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8" name="타원 56"/>
            <p:cNvSpPr/>
            <p:nvPr/>
          </p:nvSpPr>
          <p:spPr>
            <a:xfrm>
              <a:off x="7214912" y="2000338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39" name="타원 57"/>
            <p:cNvSpPr/>
            <p:nvPr/>
          </p:nvSpPr>
          <p:spPr>
            <a:xfrm>
              <a:off x="6786284" y="2143247"/>
              <a:ext cx="71439" cy="71455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  <p:sp>
          <p:nvSpPr>
            <p:cNvPr id="40" name="타원 58"/>
            <p:cNvSpPr/>
            <p:nvPr/>
          </p:nvSpPr>
          <p:spPr>
            <a:xfrm>
              <a:off x="7357788" y="1785975"/>
              <a:ext cx="71439" cy="71454"/>
            </a:xfrm>
            <a:prstGeom prst="ellipse">
              <a:avLst/>
            </a:prstGeom>
            <a:solidFill>
              <a:srgbClr val="92D050"/>
            </a:solidFill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/>
              <a:endParaRPr lang="ko-KR" altLang="en-US">
                <a:solidFill>
                  <a:srgbClr val="FFFFFF"/>
                </a:solidFill>
                <a:ea typeface="ＭＳ Ｐゴシック" pitchFamily="24" charset="-128"/>
                <a:cs typeface="ＭＳ Ｐゴシック" pitchFamily="24" charset="-128"/>
              </a:endParaRPr>
            </a:p>
          </p:txBody>
        </p:sp>
      </p:grpSp>
      <p:cxnSp>
        <p:nvCxnSpPr>
          <p:cNvPr id="19462" name="직선 화살표 연결선 61"/>
          <p:cNvCxnSpPr>
            <a:cxnSpLocks noChangeShapeType="1"/>
          </p:cNvCxnSpPr>
          <p:nvPr/>
        </p:nvCxnSpPr>
        <p:spPr bwMode="auto">
          <a:xfrm rot="10800000" flipV="1">
            <a:off x="3289300" y="4608513"/>
            <a:ext cx="1785938" cy="71437"/>
          </a:xfrm>
          <a:prstGeom prst="straightConnector1">
            <a:avLst/>
          </a:prstGeom>
          <a:noFill/>
          <a:ln w="19050">
            <a:solidFill>
              <a:srgbClr val="92D050"/>
            </a:solidFill>
            <a:round/>
            <a:headEnd/>
            <a:tailEnd type="arrow" w="med" len="med"/>
          </a:ln>
        </p:spPr>
      </p:cxnSp>
      <p:sp>
        <p:nvSpPr>
          <p:cNvPr id="19463" name="TextBox 6"/>
          <p:cNvSpPr txBox="1">
            <a:spLocks noChangeArrowheads="1"/>
          </p:cNvSpPr>
          <p:nvPr/>
        </p:nvSpPr>
        <p:spPr bwMode="auto">
          <a:xfrm>
            <a:off x="5146675" y="3679825"/>
            <a:ext cx="27368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ko-KR" sz="1600" i="1" u="sng">
                <a:ea typeface="Arial" pitchFamily="24" charset="0"/>
                <a:cs typeface="Arial" pitchFamily="24" charset="0"/>
              </a:rPr>
              <a:t>Optically-plugged linear trap</a:t>
            </a:r>
          </a:p>
        </p:txBody>
      </p:sp>
      <p:sp>
        <p:nvSpPr>
          <p:cNvPr id="19464" name="TextBox 7"/>
          <p:cNvSpPr txBox="1">
            <a:spLocks noChangeArrowheads="1"/>
          </p:cNvSpPr>
          <p:nvPr/>
        </p:nvSpPr>
        <p:spPr bwMode="auto">
          <a:xfrm>
            <a:off x="7046913" y="4894263"/>
            <a:ext cx="1957387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200">
                <a:ea typeface="Arial" pitchFamily="24" charset="0"/>
                <a:cs typeface="Arial" pitchFamily="24" charset="0"/>
              </a:rPr>
              <a:t>Quadruple magnetic trap   </a:t>
            </a:r>
            <a:endParaRPr lang="ko-KR" altLang="en-US" sz="1200">
              <a:ea typeface="Arial" pitchFamily="24" charset="0"/>
              <a:cs typeface="Arial" pitchFamily="24" charset="0"/>
            </a:endParaRPr>
          </a:p>
        </p:txBody>
      </p:sp>
      <p:sp>
        <p:nvSpPr>
          <p:cNvPr id="19465" name="TextBox 8"/>
          <p:cNvSpPr txBox="1">
            <a:spLocks noChangeArrowheads="1"/>
          </p:cNvSpPr>
          <p:nvPr/>
        </p:nvSpPr>
        <p:spPr bwMode="auto">
          <a:xfrm>
            <a:off x="4646613" y="5465763"/>
            <a:ext cx="1855787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altLang="ko-KR" sz="1200">
                <a:ea typeface="Arial" pitchFamily="24" charset="0"/>
                <a:cs typeface="Arial" pitchFamily="24" charset="0"/>
              </a:rPr>
              <a:t>Green optical plug beam</a:t>
            </a:r>
            <a:endParaRPr lang="ko-KR" altLang="en-US" sz="1200">
              <a:ea typeface="Arial" pitchFamily="24" charset="0"/>
              <a:cs typeface="Arial" pitchFamily="2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12775" y="404813"/>
            <a:ext cx="7918450" cy="788987"/>
          </a:xfrm>
        </p:spPr>
        <p:txBody>
          <a:bodyPr/>
          <a:lstStyle/>
          <a:p>
            <a:r>
              <a:rPr lang="en-US" altLang="ja-JP" sz="4000">
                <a:cs typeface="ＭＳ Ｐゴシック" pitchFamily="24" charset="-128"/>
              </a:rPr>
              <a:t>antiferromagnetic condensate</a:t>
            </a:r>
            <a:endParaRPr lang="ja-JP" altLang="en-US" sz="4000">
              <a:cs typeface="ＭＳ Ｐゴシック" pitchFamily="24" charset="-128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027113" y="1270000"/>
            <a:ext cx="7165975" cy="18415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ja-JP" sz="2000">
                <a:cs typeface="ＭＳ Ｐゴシック" pitchFamily="24" charset="-128"/>
              </a:rPr>
              <a:t>ferromagnetic spinor condensate, Rb-87, F=1</a:t>
            </a:r>
          </a:p>
          <a:p>
            <a:pPr>
              <a:lnSpc>
                <a:spcPct val="90000"/>
              </a:lnSpc>
            </a:pPr>
            <a:r>
              <a:rPr lang="en-US" altLang="ja-JP" sz="2000">
                <a:cs typeface="ＭＳ Ｐゴシック" pitchFamily="24" charset="-128"/>
              </a:rPr>
              <a:t>antiferromagnetic spinor condensate, Na-23, F=1</a:t>
            </a:r>
          </a:p>
          <a:p>
            <a:pPr>
              <a:lnSpc>
                <a:spcPct val="90000"/>
              </a:lnSpc>
            </a:pPr>
            <a:r>
              <a:rPr lang="en-US" altLang="ja-JP" sz="2000">
                <a:cs typeface="ＭＳ Ｐゴシック" pitchFamily="24" charset="-128"/>
              </a:rPr>
              <a:t>Recent prediction of spin-domain formation and phase separation will be tested.</a:t>
            </a:r>
            <a:endParaRPr lang="ja-JP" altLang="en-US" sz="2000">
              <a:cs typeface="ＭＳ Ｐゴシック" pitchFamily="24" charset="-128"/>
            </a:endParaRPr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5738" y="3340100"/>
            <a:ext cx="2544762" cy="299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5" name="TextBox 4"/>
          <p:cNvSpPr txBox="1">
            <a:spLocks noChangeArrowheads="1"/>
          </p:cNvSpPr>
          <p:nvPr/>
        </p:nvSpPr>
        <p:spPr bwMode="auto">
          <a:xfrm>
            <a:off x="4489450" y="4464050"/>
            <a:ext cx="364490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1200">
                <a:ea typeface="Arial" pitchFamily="24" charset="0"/>
                <a:cs typeface="Arial" pitchFamily="24" charset="0"/>
              </a:rPr>
              <a:t>Spontaneous symmetry breaking in a quenched ferromagnetic spinor Bose-Einstein condensate: L.E. Sadler et al., </a:t>
            </a:r>
            <a:r>
              <a:rPr lang="en-US" altLang="ko-KR" sz="1200" i="1">
                <a:ea typeface="Arial" pitchFamily="24" charset="0"/>
                <a:cs typeface="Arial" pitchFamily="24" charset="0"/>
              </a:rPr>
              <a:t>Nature</a:t>
            </a:r>
            <a:r>
              <a:rPr lang="en-US" altLang="ko-KR" sz="1200">
                <a:ea typeface="Arial" pitchFamily="24" charset="0"/>
                <a:cs typeface="Arial" pitchFamily="24" charset="0"/>
              </a:rPr>
              <a:t> </a:t>
            </a:r>
            <a:r>
              <a:rPr lang="en-US" altLang="ko-KR" sz="1200" b="1">
                <a:ea typeface="Arial" pitchFamily="24" charset="0"/>
                <a:cs typeface="Arial" pitchFamily="24" charset="0"/>
              </a:rPr>
              <a:t>443</a:t>
            </a:r>
            <a:r>
              <a:rPr lang="en-US" altLang="ko-KR" sz="1200">
                <a:ea typeface="Arial" pitchFamily="24" charset="0"/>
                <a:cs typeface="Arial" pitchFamily="24" charset="0"/>
              </a:rPr>
              <a:t> (2006)</a:t>
            </a:r>
            <a:endParaRPr lang="ko-KR" altLang="en-US" sz="1200">
              <a:ea typeface="Arial" pitchFamily="24" charset="0"/>
              <a:cs typeface="Arial" pitchFamily="2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612775" y="468313"/>
            <a:ext cx="7918450" cy="788987"/>
          </a:xfrm>
        </p:spPr>
        <p:txBody>
          <a:bodyPr/>
          <a:lstStyle/>
          <a:p>
            <a:r>
              <a:rPr lang="en-US" altLang="ja-JP">
                <a:cs typeface="ＭＳ Ｐゴシック" pitchFamily="24" charset="-128"/>
              </a:rPr>
              <a:t>BEC-BCS Phase Transition</a:t>
            </a:r>
            <a:endParaRPr lang="ja-JP" altLang="en-US">
              <a:cs typeface="ＭＳ Ｐゴシック" pitchFamily="24" charset="-128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989013" y="1346200"/>
            <a:ext cx="7165975" cy="1485900"/>
          </a:xfrm>
        </p:spPr>
        <p:txBody>
          <a:bodyPr/>
          <a:lstStyle/>
          <a:p>
            <a:r>
              <a:rPr lang="en-US" altLang="ja-JP">
                <a:cs typeface="ＭＳ Ｐゴシック" pitchFamily="24" charset="-128"/>
              </a:rPr>
              <a:t>Ultracold Li-6 atoms near Feshbach resonances</a:t>
            </a:r>
          </a:p>
          <a:p>
            <a:r>
              <a:rPr lang="en-US" altLang="ja-JP">
                <a:cs typeface="ＭＳ Ｐゴシック" pitchFamily="24" charset="-128"/>
              </a:rPr>
              <a:t>System parameters are tunable: new pairing states may be realized.</a:t>
            </a:r>
            <a:endParaRPr lang="ja-JP" altLang="en-US">
              <a:cs typeface="ＭＳ Ｐゴシック" pitchFamily="24" charset="-128"/>
            </a:endParaRPr>
          </a:p>
        </p:txBody>
      </p:sp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5625" y="3022600"/>
            <a:ext cx="5645150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1"/>
          <p:cNvSpPr>
            <a:spLocks noGrp="1"/>
          </p:cNvSpPr>
          <p:nvPr>
            <p:ph type="title"/>
          </p:nvPr>
        </p:nvSpPr>
        <p:spPr>
          <a:xfrm>
            <a:off x="612775" y="342900"/>
            <a:ext cx="7918450" cy="788988"/>
          </a:xfrm>
        </p:spPr>
        <p:txBody>
          <a:bodyPr/>
          <a:lstStyle/>
          <a:p>
            <a:pPr eaLnBrk="1" hangingPunct="1"/>
            <a:r>
              <a:rPr lang="en-US" altLang="ja-JP">
                <a:cs typeface="ＭＳ Ｐゴシック" pitchFamily="24" charset="-128"/>
              </a:rPr>
              <a:t>Quantum Chaos with a BEC</a:t>
            </a:r>
            <a:endParaRPr lang="ja-JP" altLang="en-US">
              <a:cs typeface="ＭＳ Ｐゴシック" pitchFamily="24" charset="-128"/>
            </a:endParaRPr>
          </a:p>
        </p:txBody>
      </p:sp>
      <p:sp>
        <p:nvSpPr>
          <p:cNvPr id="22532" name="Content Placeholder 2"/>
          <p:cNvSpPr>
            <a:spLocks noGrp="1"/>
          </p:cNvSpPr>
          <p:nvPr>
            <p:ph idx="1"/>
          </p:nvPr>
        </p:nvSpPr>
        <p:spPr>
          <a:xfrm>
            <a:off x="989013" y="1284288"/>
            <a:ext cx="7165975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ja-JP" sz="1900">
                <a:cs typeface="ＭＳ Ｐゴシック" pitchFamily="24" charset="-128"/>
              </a:rPr>
              <a:t>Chaotic trajectory of a particle vs. quasi-eigenmodes of a matter wave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900">
                <a:cs typeface="ＭＳ Ｐゴシック" pitchFamily="24" charset="-128"/>
              </a:rPr>
              <a:t>Matter wave (BEC) enclosed in a potential well by light force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900">
                <a:cs typeface="ＭＳ Ｐゴシック" pitchFamily="24" charset="-128"/>
              </a:rPr>
              <a:t>Efficient cavity for an atom laser</a:t>
            </a:r>
            <a:endParaRPr lang="ja-JP" altLang="en-US" sz="1900">
              <a:cs typeface="ＭＳ Ｐゴシック" pitchFamily="24" charset="-128"/>
            </a:endParaRPr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5241925" y="3432175"/>
          <a:ext cx="3289300" cy="3121025"/>
        </p:xfrm>
        <a:graphic>
          <a:graphicData uri="http://schemas.openxmlformats.org/presentationml/2006/ole">
            <p:oleObj spid="_x0000_s22530" name="Document" r:id="rId3" imgW="1993900" imgH="1892300" progId="Word.Document.12">
              <p:link updateAutomatic="1"/>
            </p:oleObj>
          </a:graphicData>
        </a:graphic>
      </p:graphicFrame>
      <p:pic>
        <p:nvPicPr>
          <p:cNvPr id="22533" name="Picture 7" descr="ray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49613" y="3140075"/>
            <a:ext cx="1587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2534" name="Group 78"/>
          <p:cNvGrpSpPr>
            <a:grpSpLocks/>
          </p:cNvGrpSpPr>
          <p:nvPr/>
        </p:nvGrpSpPr>
        <p:grpSpPr bwMode="auto">
          <a:xfrm>
            <a:off x="1600200" y="4262438"/>
            <a:ext cx="2522538" cy="1987550"/>
            <a:chOff x="1600200" y="4262810"/>
            <a:chExt cx="2522726" cy="1986620"/>
          </a:xfrm>
        </p:grpSpPr>
        <p:grpSp>
          <p:nvGrpSpPr>
            <p:cNvPr id="22538" name="Group 75"/>
            <p:cNvGrpSpPr>
              <a:grpSpLocks/>
            </p:cNvGrpSpPr>
            <p:nvPr/>
          </p:nvGrpSpPr>
          <p:grpSpPr bwMode="auto">
            <a:xfrm>
              <a:off x="1600200" y="4262810"/>
              <a:ext cx="2522726" cy="1952326"/>
              <a:chOff x="1600200" y="4262810"/>
              <a:chExt cx="2522726" cy="1952326"/>
            </a:xfrm>
          </p:grpSpPr>
          <p:grpSp>
            <p:nvGrpSpPr>
              <p:cNvPr id="22540" name="Group 10"/>
              <p:cNvGrpSpPr>
                <a:grpSpLocks/>
              </p:cNvGrpSpPr>
              <p:nvPr/>
            </p:nvGrpSpPr>
            <p:grpSpPr bwMode="auto">
              <a:xfrm>
                <a:off x="1600200" y="4262810"/>
                <a:ext cx="2522726" cy="1952326"/>
                <a:chOff x="1600200" y="4262810"/>
                <a:chExt cx="2522726" cy="1952326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1600200" y="4262810"/>
                  <a:ext cx="2522726" cy="1951711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ja-JP" altLang="en-US">
                    <a:solidFill>
                      <a:srgbClr val="FFFFFF"/>
                    </a:solidFill>
                    <a:cs typeface="ＭＳ Ｐゴシック" pitchFamily="24" charset="-128"/>
                  </a:endParaRPr>
                </a:p>
              </p:txBody>
            </p:sp>
            <p:pic>
              <p:nvPicPr>
                <p:cNvPr id="22560" name="Picture 17" descr="ray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 t="14848"/>
                <a:stretch>
                  <a:fillRect/>
                </a:stretch>
              </p:blipFill>
              <p:spPr bwMode="auto">
                <a:xfrm>
                  <a:off x="1985433" y="4580465"/>
                  <a:ext cx="1790700" cy="13436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cxnSp>
            <p:nvCxnSpPr>
              <p:cNvPr id="22541" name="Straight Connector 60"/>
              <p:cNvCxnSpPr>
                <a:cxnSpLocks noChangeShapeType="1"/>
              </p:cNvCxnSpPr>
              <p:nvPr/>
            </p:nvCxnSpPr>
            <p:spPr bwMode="auto">
              <a:xfrm rot="16200000" flipH="1">
                <a:off x="3468158" y="5185501"/>
                <a:ext cx="460160" cy="30165"/>
              </a:xfrm>
              <a:prstGeom prst="line">
                <a:avLst/>
              </a:prstGeom>
              <a:noFill/>
              <a:ln w="19050">
                <a:solidFill>
                  <a:srgbClr val="FFAF03"/>
                </a:solidFill>
                <a:round/>
                <a:headEnd/>
                <a:tailEnd/>
              </a:ln>
            </p:spPr>
          </p:cxnSp>
          <p:cxnSp>
            <p:nvCxnSpPr>
              <p:cNvPr id="64" name="Straight Connector 63"/>
              <p:cNvCxnSpPr/>
              <p:nvPr/>
            </p:nvCxnSpPr>
            <p:spPr>
              <a:xfrm rot="5400000">
                <a:off x="3404619" y="5452007"/>
                <a:ext cx="333219" cy="284184"/>
              </a:xfrm>
              <a:prstGeom prst="line">
                <a:avLst/>
              </a:prstGeom>
              <a:ln>
                <a:solidFill>
                  <a:srgbClr val="FFAF0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43" name="Straight Connector 66"/>
              <p:cNvCxnSpPr>
                <a:cxnSpLocks noChangeShapeType="1"/>
              </p:cNvCxnSpPr>
              <p:nvPr/>
            </p:nvCxnSpPr>
            <p:spPr bwMode="auto">
              <a:xfrm flipV="1">
                <a:off x="2755986" y="5752774"/>
                <a:ext cx="677914" cy="106313"/>
              </a:xfrm>
              <a:prstGeom prst="line">
                <a:avLst/>
              </a:prstGeom>
              <a:noFill/>
              <a:ln w="19050">
                <a:solidFill>
                  <a:srgbClr val="FFAF03"/>
                </a:solidFill>
                <a:round/>
                <a:headEnd/>
                <a:tailEnd/>
              </a:ln>
            </p:spPr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2306691" y="5748015"/>
                <a:ext cx="454059" cy="111073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3281488" y="4669020"/>
                <a:ext cx="393729" cy="296723"/>
              </a:xfrm>
              <a:prstGeom prst="line">
                <a:avLst/>
              </a:prstGeom>
              <a:ln>
                <a:solidFill>
                  <a:srgbClr val="FF66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46" name="Straight Connector 53"/>
              <p:cNvCxnSpPr>
                <a:cxnSpLocks noChangeShapeType="1"/>
              </p:cNvCxnSpPr>
              <p:nvPr/>
            </p:nvCxnSpPr>
            <p:spPr bwMode="auto">
              <a:xfrm flipV="1">
                <a:off x="2395597" y="4681714"/>
                <a:ext cx="889066" cy="17454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</p:cxnSp>
          <p:cxnSp>
            <p:nvCxnSpPr>
              <p:cNvPr id="22547" name="Straight Connector 50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2043242" y="4705422"/>
                <a:ext cx="355434" cy="34292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</p:cxnSp>
          <p:cxnSp>
            <p:nvCxnSpPr>
              <p:cNvPr id="22548" name="Straight Connector 43"/>
              <p:cNvCxnSpPr>
                <a:cxnSpLocks noChangeShapeType="1"/>
              </p:cNvCxnSpPr>
              <p:nvPr/>
            </p:nvCxnSpPr>
            <p:spPr bwMode="auto">
              <a:xfrm rot="16200000" flipH="1">
                <a:off x="1836879" y="5262459"/>
                <a:ext cx="453813" cy="28577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</p:cxnSp>
          <p:cxnSp>
            <p:nvCxnSpPr>
              <p:cNvPr id="41" name="Straight Connector 40"/>
              <p:cNvCxnSpPr/>
              <p:nvPr/>
            </p:nvCxnSpPr>
            <p:spPr>
              <a:xfrm rot="10800000">
                <a:off x="2078074" y="5498893"/>
                <a:ext cx="385791" cy="322112"/>
              </a:xfrm>
              <a:prstGeom prst="line">
                <a:avLst/>
              </a:prstGeom>
              <a:ln>
                <a:solidFill>
                  <a:srgbClr val="FF66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0" name="Straight Connector 36"/>
              <p:cNvCxnSpPr>
                <a:cxnSpLocks noChangeShapeType="1"/>
              </p:cNvCxnSpPr>
              <p:nvPr/>
            </p:nvCxnSpPr>
            <p:spPr bwMode="auto">
              <a:xfrm rot="10800000" flipV="1">
                <a:off x="2443226" y="5752774"/>
                <a:ext cx="1003375" cy="68231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</p:spPr>
          </p:cxnSp>
          <p:cxnSp>
            <p:nvCxnSpPr>
              <p:cNvPr id="32" name="Straight Connector 31"/>
              <p:cNvCxnSpPr/>
              <p:nvPr/>
            </p:nvCxnSpPr>
            <p:spPr>
              <a:xfrm rot="5400000">
                <a:off x="3378445" y="5397261"/>
                <a:ext cx="414143" cy="296884"/>
              </a:xfrm>
              <a:prstGeom prst="line">
                <a:avLst/>
              </a:prstGeom>
              <a:ln>
                <a:solidFill>
                  <a:srgbClr val="FF66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2" name="Straight Connector 27"/>
              <p:cNvCxnSpPr>
                <a:cxnSpLocks noChangeShapeType="1"/>
              </p:cNvCxnSpPr>
              <p:nvPr/>
            </p:nvCxnSpPr>
            <p:spPr bwMode="auto">
              <a:xfrm rot="16200000" flipH="1">
                <a:off x="3418948" y="5018859"/>
                <a:ext cx="482374" cy="147648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2984603" y="4635697"/>
                <a:ext cx="596944" cy="21103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4" name="Straight Connector 21"/>
              <p:cNvCxnSpPr>
                <a:cxnSpLocks noChangeShapeType="1"/>
              </p:cNvCxnSpPr>
              <p:nvPr/>
            </p:nvCxnSpPr>
            <p:spPr bwMode="auto">
              <a:xfrm flipV="1">
                <a:off x="2163805" y="4635697"/>
                <a:ext cx="812861" cy="23642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2555" name="Straight Connector 19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1817863" y="5106935"/>
                <a:ext cx="585514" cy="10637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19" name="Straight Connector 18"/>
              <p:cNvCxnSpPr/>
              <p:nvPr/>
            </p:nvCxnSpPr>
            <p:spPr>
              <a:xfrm rot="10800000">
                <a:off x="2049496" y="5443357"/>
                <a:ext cx="536615" cy="40303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7" name="Straight Connector 15"/>
              <p:cNvCxnSpPr>
                <a:cxnSpLocks noChangeShapeType="1"/>
              </p:cNvCxnSpPr>
              <p:nvPr/>
            </p:nvCxnSpPr>
            <p:spPr bwMode="auto">
              <a:xfrm rot="10800000" flipV="1">
                <a:off x="2595637" y="5498893"/>
                <a:ext cx="1095457" cy="3427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</p:cxnSp>
          <p:cxnSp>
            <p:nvCxnSpPr>
              <p:cNvPr id="22558" name="Straight Arrow Connector 12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668180" y="5128291"/>
                <a:ext cx="393516" cy="347688"/>
              </a:xfrm>
              <a:prstGeom prst="straightConnector1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arrow" w="med" len="med"/>
              </a:ln>
            </p:spPr>
          </p:cxnSp>
        </p:grpSp>
        <p:sp>
          <p:nvSpPr>
            <p:cNvPr id="22539" name="TextBox 77"/>
            <p:cNvSpPr txBox="1">
              <a:spLocks noChangeArrowheads="1"/>
            </p:cNvSpPr>
            <p:nvPr/>
          </p:nvSpPr>
          <p:spPr bwMode="auto">
            <a:xfrm>
              <a:off x="1752611" y="5879715"/>
              <a:ext cx="2197264" cy="3697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altLang="ja-JP">
                  <a:solidFill>
                    <a:srgbClr val="7F7F7F"/>
                  </a:solidFill>
                  <a:latin typeface="Century Gothic" pitchFamily="24" charset="0"/>
                </a:rPr>
                <a:t>chaotic trajectory</a:t>
              </a:r>
              <a:endParaRPr lang="ja-JP" altLang="en-US">
                <a:solidFill>
                  <a:srgbClr val="7F7F7F"/>
                </a:solidFill>
                <a:latin typeface="Century Gothic" pitchFamily="24" charset="0"/>
              </a:endParaRPr>
            </a:p>
          </p:txBody>
        </p:sp>
      </p:grpSp>
      <p:grpSp>
        <p:nvGrpSpPr>
          <p:cNvPr id="6" name="Group 76"/>
          <p:cNvGrpSpPr>
            <a:grpSpLocks/>
          </p:cNvGrpSpPr>
          <p:nvPr/>
        </p:nvGrpSpPr>
        <p:grpSpPr bwMode="auto">
          <a:xfrm>
            <a:off x="1363663" y="4267200"/>
            <a:ext cx="3216275" cy="2320925"/>
            <a:chOff x="1371600" y="4262810"/>
            <a:chExt cx="3217333" cy="2321658"/>
          </a:xfrm>
        </p:grpSpPr>
        <p:pic>
          <p:nvPicPr>
            <p:cNvPr id="22536" name="Picture 6" descr="scar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608666" y="4262810"/>
              <a:ext cx="2522726" cy="1952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37" name="Text Box 23"/>
            <p:cNvSpPr txBox="1">
              <a:spLocks noChangeArrowheads="1"/>
            </p:cNvSpPr>
            <p:nvPr/>
          </p:nvSpPr>
          <p:spPr bwMode="auto">
            <a:xfrm>
              <a:off x="1371600" y="6215136"/>
              <a:ext cx="321733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altLang="ko-KR">
                  <a:latin typeface="Century Gothic" pitchFamily="24" charset="0"/>
                </a:rPr>
                <a:t>existence  of scar modes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Title 1"/>
          <p:cNvSpPr>
            <a:spLocks noGrp="1"/>
          </p:cNvSpPr>
          <p:nvPr>
            <p:ph type="title"/>
          </p:nvPr>
        </p:nvSpPr>
        <p:spPr>
          <a:xfrm>
            <a:off x="612775" y="374650"/>
            <a:ext cx="7918450" cy="788988"/>
          </a:xfrm>
        </p:spPr>
        <p:txBody>
          <a:bodyPr/>
          <a:lstStyle/>
          <a:p>
            <a:pPr eaLnBrk="1" hangingPunct="1"/>
            <a:r>
              <a:rPr lang="en-US" altLang="ja-JP" sz="3800">
                <a:cs typeface="ＭＳ Ｐゴシック" pitchFamily="24" charset="-128"/>
              </a:rPr>
              <a:t>Quantum Information with a BEC</a:t>
            </a:r>
            <a:endParaRPr lang="ja-JP" altLang="en-US" sz="3800">
              <a:cs typeface="ＭＳ Ｐゴシック" pitchFamily="24" charset="-128"/>
            </a:endParaRPr>
          </a:p>
        </p:txBody>
      </p:sp>
      <p:sp>
        <p:nvSpPr>
          <p:cNvPr id="23557" name="Content Placeholder 2"/>
          <p:cNvSpPr>
            <a:spLocks noGrp="1"/>
          </p:cNvSpPr>
          <p:nvPr>
            <p:ph idx="1"/>
          </p:nvPr>
        </p:nvSpPr>
        <p:spPr>
          <a:xfrm>
            <a:off x="989013" y="1212850"/>
            <a:ext cx="7165975" cy="2222500"/>
          </a:xfrm>
        </p:spPr>
        <p:txBody>
          <a:bodyPr/>
          <a:lstStyle/>
          <a:p>
            <a:pPr eaLnBrk="1" hangingPunct="1"/>
            <a:r>
              <a:rPr lang="en-US" altLang="ja-JP">
                <a:cs typeface="ＭＳ Ｐゴシック" pitchFamily="24" charset="-128"/>
              </a:rPr>
              <a:t>To place a BEC in a high-Q microcavity and create BEC-cavity entanglement</a:t>
            </a:r>
          </a:p>
          <a:p>
            <a:pPr eaLnBrk="1" hangingPunct="1"/>
            <a:r>
              <a:rPr lang="en-US" altLang="ja-JP">
                <a:cs typeface="ＭＳ Ｐゴシック" pitchFamily="24" charset="-128"/>
              </a:rPr>
              <a:t>To use a BEC as a Bragg mirror and create BEC-photon entanglement and a Schroedinger cat state</a:t>
            </a:r>
            <a:endParaRPr lang="ja-JP" altLang="en-US">
              <a:cs typeface="ＭＳ Ｐゴシック" pitchFamily="24" charset="-128"/>
            </a:endParaRPr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758825" y="3727450"/>
          <a:ext cx="3660775" cy="2209800"/>
        </p:xfrm>
        <a:graphic>
          <a:graphicData uri="http://schemas.openxmlformats.org/presentationml/2006/ole">
            <p:oleObj spid="_x0000_s23554" name="Document" r:id="rId3" imgW="2082800" imgH="1257300" progId="Word.Document.12">
              <p:link updateAutomatic="1"/>
            </p:oleObj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4953000" y="3270250"/>
          <a:ext cx="3354388" cy="3206750"/>
        </p:xfrm>
        <a:graphic>
          <a:graphicData uri="http://schemas.openxmlformats.org/presentationml/2006/ole">
            <p:oleObj spid="_x0000_s23555" name="Document" r:id="rId4" imgW="1447800" imgH="1384300" progId="Word.Document.12">
              <p:link updateAutomatic="1"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wilight">
  <a:themeElements>
    <a:clrScheme name="Twilight">
      <a:dk1>
        <a:sysClr val="windowText" lastClr="000000"/>
      </a:dk1>
      <a:lt1>
        <a:sysClr val="window" lastClr="FFFFFF"/>
      </a:lt1>
      <a:dk2>
        <a:srgbClr val="54638C"/>
      </a:dk2>
      <a:lt2>
        <a:srgbClr val="8D9AB3"/>
      </a:lt2>
      <a:accent1>
        <a:srgbClr val="FFAF03"/>
      </a:accent1>
      <a:accent2>
        <a:srgbClr val="FDE689"/>
      </a:accent2>
      <a:accent3>
        <a:srgbClr val="9E82E7"/>
      </a:accent3>
      <a:accent4>
        <a:srgbClr val="9735BB"/>
      </a:accent4>
      <a:accent5>
        <a:srgbClr val="BF2B2B"/>
      </a:accent5>
      <a:accent6>
        <a:srgbClr val="ED7307"/>
      </a:accent6>
      <a:hlink>
        <a:srgbClr val="FFAF03"/>
      </a:hlink>
      <a:folHlink>
        <a:srgbClr val="FDE689"/>
      </a:folHlink>
    </a:clrScheme>
    <a:fontScheme name="Twilight">
      <a:majorFont>
        <a:latin typeface="Century Gothic"/>
        <a:ea typeface=""/>
        <a:cs typeface=""/>
        <a:font script="Jpan" typeface="ＭＳ Ｐゴシック"/>
      </a:majorFont>
      <a:minorFont>
        <a:latin typeface="Century Gothic"/>
        <a:ea typeface=""/>
        <a:cs typeface=""/>
        <a:font script="Jpan" typeface="ＭＳ Ｐゴシック"/>
      </a:minorFont>
    </a:fontScheme>
    <a:fmtScheme name="Twilight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0000"/>
              </a:schemeClr>
            </a:gs>
            <a:gs pos="100000">
              <a:schemeClr val="phClr">
                <a:tint val="100000"/>
                <a:shade val="94000"/>
                <a:satMod val="13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60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90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38100" dist="12700" dir="5400000">
              <a:srgbClr val="FFFFFF">
                <a:alpha val="75000"/>
              </a:srgbClr>
            </a:innerShdw>
            <a:outerShdw blurRad="88900" dist="50800" dir="5400000" sx="102000" sy="102000" algn="tr" rotWithShape="0">
              <a:srgbClr val="808080">
                <a:alpha val="50000"/>
              </a:srgbClr>
            </a:outerShdw>
          </a:effectLst>
        </a:effectStyle>
        <a:effectStyle>
          <a:effectLst>
            <a:outerShdw blurRad="317500" dist="762000" dir="5400000" sy="45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alanced" dir="tl"/>
          </a:scene3d>
          <a:sp3d extrusionH="12700" prstMaterial="softEdge">
            <a:bevelT w="38100" h="1270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10000"/>
                <a:satMod val="200000"/>
              </a:schemeClr>
              <a:schemeClr val="phClr">
                <a:tint val="30000"/>
                <a:satMod val="30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20000"/>
                <a:satMod val="200000"/>
              </a:schemeClr>
              <a:schemeClr val="phClr">
                <a:tint val="50000"/>
                <a:satMod val="1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Twilight.thmx</Template>
  <TotalTime>291</TotalTime>
  <Words>360</Words>
  <Application>Microsoft Macintosh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Links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Twilight</vt:lpstr>
      <vt:lpstr>!OLE_LINK1</vt:lpstr>
      <vt:lpstr>!OLE_LINK2</vt:lpstr>
      <vt:lpstr>!OLE_LINK3</vt:lpstr>
      <vt:lpstr>SNU BEC Project  (Type 2)</vt:lpstr>
      <vt:lpstr>Members</vt:lpstr>
      <vt:lpstr>Research Goal</vt:lpstr>
      <vt:lpstr>Production of Quantum Gas</vt:lpstr>
      <vt:lpstr>antiferromagnetic condensate</vt:lpstr>
      <vt:lpstr>BEC-BCS Phase Transition</vt:lpstr>
      <vt:lpstr>Quantum Chaos with a BEC</vt:lpstr>
      <vt:lpstr>Quantum Information with a BEC</vt:lpstr>
    </vt:vector>
  </TitlesOfParts>
  <Company>3463-6078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SNU BEC Introduction</dc:title>
  <dc:creator>경원 안</dc:creator>
  <cp:keywords/>
  <cp:lastModifiedBy>경원 안</cp:lastModifiedBy>
  <cp:revision>14</cp:revision>
  <dcterms:created xsi:type="dcterms:W3CDTF">2009-10-06T06:14:27Z</dcterms:created>
  <dcterms:modified xsi:type="dcterms:W3CDTF">2009-10-06T06:16:16Z</dcterms:modified>
</cp:coreProperties>
</file>