
<file path=[Content_Types].xml><?xml version="1.0" encoding="utf-8"?>
<Types xmlns="http://schemas.openxmlformats.org/package/2006/content-types">
  <Override PartName="/ppt/embeddings/Microsoft_Equation24.bin" ContentType="application/vnd.openxmlformats-officedocument.oleObject"/>
  <Override PartName="/ppt/slides/slide14.xml" ContentType="application/vnd.openxmlformats-officedocument.presentationml.slide+xml"/>
  <Override PartName="/ppt/embeddings/Microsoft_Equation50.bin" ContentType="application/vnd.openxmlformats-officedocument.oleObject"/>
  <Override PartName="/ppt/embeddings/Microsoft_Equation33.bin" ContentType="application/vnd.openxmlformats-officedocument.oleObject"/>
  <Default Extension="xml" ContentType="application/xml"/>
  <Override PartName="/ppt/tableStyles.xml" ContentType="application/vnd.openxmlformats-officedocument.presentationml.tableStyles+xml"/>
  <Override PartName="/ppt/embeddings/Microsoft_Equation5.bin" ContentType="application/vnd.openxmlformats-officedocument.oleObject"/>
  <Override PartName="/ppt/embeddings/Microsoft_Equation16.bin" ContentType="application/vnd.openxmlformats-officedocument.oleObject"/>
  <Override PartName="/ppt/notesSlides/notesSlide1.xml" ContentType="application/vnd.openxmlformats-officedocument.presentationml.notesSlide+xml"/>
  <Override PartName="/ppt/embeddings/Microsoft_Equation47.bin" ContentType="application/vnd.openxmlformats-officedocument.oleObject"/>
  <Override PartName="/ppt/slides/slide5.xml" ContentType="application/vnd.openxmlformats-officedocument.presentationml.slide+xml"/>
  <Override PartName="/ppt/embeddings/Microsoft_Equation40.bin" ContentType="application/vnd.openxmlformats-officedocument.oleObject"/>
  <Override PartName="/ppt/slideLayouts/slideLayout5.xml" ContentType="application/vnd.openxmlformats-officedocument.presentationml.slideLayout+xml"/>
  <Override PartName="/ppt/embeddings/Microsoft_Equation56.bin" ContentType="application/vnd.openxmlformats-officedocument.oleObject"/>
  <Override PartName="/ppt/embeddings/Microsoft_Equation23.bin" ContentType="application/vnd.openxmlformats-officedocument.oleObject"/>
  <Override PartName="/ppt/embeddings/Microsoft_Equation39.bin" ContentType="application/vnd.openxmlformats-officedocument.oleObject"/>
  <Override PartName="/ppt/slides/slide13.xml" ContentType="application/vnd.openxmlformats-officedocument.presentationml.slide+xml"/>
  <Override PartName="/ppt/slideMasters/slideMaster1.xml" ContentType="application/vnd.openxmlformats-officedocument.presentationml.slideMaster+xml"/>
  <Override PartName="/ppt/embeddings/Microsoft_Equation32.bin" ContentType="application/vnd.openxmlformats-officedocument.oleObject"/>
  <Override PartName="/docProps/core.xml" ContentType="application/vnd.openxmlformats-package.core-properties+xml"/>
  <Override PartName="/ppt/embeddings/Microsoft_Equation4.bin" ContentType="application/vnd.openxmlformats-officedocument.oleObject"/>
  <Override PartName="/ppt/embeddings/Microsoft_Equation15.bin" ContentType="application/vnd.openxmlformats-officedocument.oleObject"/>
  <Default Extension="vml" ContentType="application/vnd.openxmlformats-officedocument.vmlDrawing"/>
  <Override PartName="/ppt/embeddings/Microsoft_Equation46.bin" ContentType="application/vnd.openxmlformats-officedocument.oleObject"/>
  <Override PartName="/ppt/slides/slide4.xml" ContentType="application/vnd.openxmlformats-officedocument.presentationml.slide+xml"/>
  <Override PartName="/ppt/slideLayouts/slideLayout4.xml" ContentType="application/vnd.openxmlformats-officedocument.presentationml.slideLayout+xml"/>
  <Override PartName="/ppt/embeddings/Microsoft_Equation55.bin" ContentType="application/vnd.openxmlformats-officedocument.oleObject"/>
  <Override PartName="/ppt/embeddings/Microsoft_Equation22.bin" ContentType="application/vnd.openxmlformats-officedocument.oleObject"/>
  <Override PartName="/ppt/embeddings/Microsoft_Equation38.bin" ContentType="application/vnd.openxmlformats-officedocument.oleObject"/>
  <Override PartName="/ppt/slides/slide12.xml" ContentType="application/vnd.openxmlformats-officedocument.presentationml.slide+xml"/>
  <Override PartName="/ppt/embeddings/Microsoft_Equation31.bin" ContentType="application/vnd.openxmlformats-officedocument.oleObject"/>
  <Override PartName="/ppt/embeddings/Microsoft_Equation3.bin" ContentType="application/vnd.openxmlformats-officedocument.oleObject"/>
  <Override PartName="/ppt/embeddings/Microsoft_Equation14.bin" ContentType="application/vnd.openxmlformats-officedocument.oleObject"/>
  <Override PartName="/ppt/presProps.xml" ContentType="application/vnd.openxmlformats-officedocument.presentationml.presProps+xml"/>
  <Default Extension="pict" ContentType="image/pict"/>
  <Override PartName="/ppt/embeddings/Microsoft_Equation45.bin" ContentType="application/vnd.openxmlformats-officedocument.oleObject"/>
  <Override PartName="/ppt/slides/slide3.xml" ContentType="application/vnd.openxmlformats-officedocument.presentationml.slide+xml"/>
  <Override PartName="/ppt/slideLayouts/slideLayout3.xml" ContentType="application/vnd.openxmlformats-officedocument.presentationml.slideLayout+xml"/>
  <Override PartName="/ppt/embeddings/Microsoft_Equation54.bin" ContentType="application/vnd.openxmlformats-officedocument.oleObject"/>
  <Override PartName="/ppt/embeddings/Microsoft_Equation21.bin" ContentType="application/vnd.openxmlformats-officedocument.oleObject"/>
  <Override PartName="/ppt/embeddings/Microsoft_Equation37.bin" ContentType="application/vnd.openxmlformats-officedocument.oleObject"/>
  <Override PartName="/ppt/slides/slide11.xml" ContentType="application/vnd.openxmlformats-officedocument.presentationml.slide+xml"/>
  <Override PartName="/ppt/embeddings/Microsoft_Equation9.bin" ContentType="application/vnd.openxmlformats-officedocument.oleObject"/>
  <Override PartName="/ppt/embeddings/Microsoft_Equation30.bin" ContentType="application/vnd.openxmlformats-officedocument.oleObject"/>
  <Override PartName="/ppt/embeddings/Microsoft_Equation13.bin" ContentType="application/vnd.openxmlformats-officedocument.oleObject"/>
  <Override PartName="/ppt/embeddings/Microsoft_Equation29.bin" ContentType="application/vnd.openxmlformats-officedocument.oleObject"/>
  <Override PartName="/ppt/embeddings/Microsoft_Equation2.bin" ContentType="application/vnd.openxmlformats-officedocument.oleObject"/>
  <Override PartName="/ppt/embeddings/Microsoft_Equation61.bin" ContentType="application/vnd.openxmlformats-officedocument.oleObject"/>
  <Override PartName="/ppt/slides/slide9.xml" ContentType="application/vnd.openxmlformats-officedocument.presentationml.slide+xml"/>
  <Override PartName="/ppt/embeddings/Microsoft_Equation44.bin" ContentType="application/vnd.openxmlformats-officedocument.oleObject"/>
  <Override PartName="/ppt/slideLayouts/slideLayout9.xml" ContentType="application/vnd.openxmlformats-officedocument.presentationml.slideLayout+xml"/>
  <Override PartName="/ppt/slides/slide2.xml" ContentType="application/vnd.openxmlformats-officedocument.presentationml.slide+xml"/>
  <Override PartName="/ppt/slideLayouts/slideLayout2.xml" ContentType="application/vnd.openxmlformats-officedocument.presentationml.slideLayout+xml"/>
  <Override PartName="/ppt/embeddings/Microsoft_Equation53.bin" ContentType="application/vnd.openxmlformats-officedocument.oleObject"/>
  <Override PartName="/ppt/embeddings/Microsoft_Equation20.bin" ContentType="application/vnd.openxmlformats-officedocument.oleObject"/>
  <Override PartName="/ppt/embeddings/Microsoft_Equation36.bin" ContentType="application/vnd.openxmlformats-officedocument.oleObject"/>
  <Override PartName="/ppt/slides/slide10.xml" ContentType="application/vnd.openxmlformats-officedocument.presentationml.slide+xml"/>
  <Override PartName="/ppt/embeddings/Microsoft_Equation8.bin" ContentType="application/vnd.openxmlformats-officedocument.oleObject"/>
  <Override PartName="/ppt/embeddings/Microsoft_Equation19.bin" ContentType="application/vnd.openxmlformats-officedocument.oleObject"/>
  <Override PartName="/docProps/app.xml" ContentType="application/vnd.openxmlformats-officedocument.extended-properties+xml"/>
  <Override PartName="/ppt/embeddings/Microsoft_Equation12.bin" ContentType="application/vnd.openxmlformats-officedocument.oleObject"/>
  <Override PartName="/ppt/embeddings/Microsoft_Equation1.bin" ContentType="application/vnd.openxmlformats-officedocument.oleObject"/>
  <Override PartName="/ppt/embeddings/Microsoft_Equation28.bin" ContentType="application/vnd.openxmlformats-officedocument.oleObject"/>
  <Override PartName="/ppt/embeddings/Microsoft_Equation60.bin" ContentType="application/vnd.openxmlformats-officedocument.oleObject"/>
  <Override PartName="/ppt/slides/slide8.xml" ContentType="application/vnd.openxmlformats-officedocument.presentationml.slide+xml"/>
  <Override PartName="/ppt/embeddings/Microsoft_Equation43.bin" ContentType="application/vnd.openxmlformats-officedocument.oleObject"/>
  <Override PartName="/ppt/slideLayouts/slideLayout8.xml" ContentType="application/vnd.openxmlformats-officedocument.presentationml.slideLayout+xml"/>
  <Override PartName="/ppt/embeddings/Microsoft_Equation59.bin" ContentType="application/vnd.openxmlformats-officedocument.oleObject"/>
  <Override PartName="/ppt/slides/slide1.xml" ContentType="application/vnd.openxmlformats-officedocument.presentationml.slide+xml"/>
  <Override PartName="/ppt/slideLayouts/slideLayout1.xml" ContentType="application/vnd.openxmlformats-officedocument.presentationml.slideLayout+xml"/>
  <Override PartName="/ppt/slides/slide16.xml" ContentType="application/vnd.openxmlformats-officedocument.presentationml.slide+xml"/>
  <Override PartName="/ppt/embeddings/Microsoft_Equation52.bin" ContentType="application/vnd.openxmlformats-officedocument.oleObject"/>
  <Override PartName="/ppt/embeddings/Microsoft_Equation35.bin" ContentType="application/vnd.openxmlformats-officedocument.oleObject"/>
  <Override PartName="/ppt/viewProps.xml" ContentType="application/vnd.openxmlformats-officedocument.presentationml.viewProps+xml"/>
  <Default Extension="jpeg" ContentType="image/jpeg"/>
  <Override PartName="/ppt/embeddings/Microsoft_Equation7.bin" ContentType="application/vnd.openxmlformats-officedocument.oleObject"/>
  <Override PartName="/ppt/embeddings/Microsoft_Equation18.bin" ContentType="application/vnd.openxmlformats-officedocument.oleObject"/>
  <Override PartName="/ppt/embeddings/Microsoft_Equation11.bin" ContentType="application/vnd.openxmlformats-officedocument.oleObject"/>
  <Override PartName="/ppt/embeddings/Microsoft_Equation27.bin" ContentType="application/vnd.openxmlformats-officedocument.oleObject"/>
  <Override PartName="/ppt/theme/theme2.xml" ContentType="application/vnd.openxmlformats-officedocument.theme+xml"/>
  <Override PartName="/ppt/embeddings/Microsoft_Equation49.bin" ContentType="application/vnd.openxmlformats-officedocument.oleObject"/>
  <Override PartName="/ppt/slideLayouts/slideLayout11.xml" ContentType="application/vnd.openxmlformats-officedocument.presentationml.slideLayout+xml"/>
  <Override PartName="/ppt/slides/slide7.xml" ContentType="application/vnd.openxmlformats-officedocument.presentationml.slide+xml"/>
  <Override PartName="/ppt/embeddings/Microsoft_Equation42.bin" ContentType="application/vnd.openxmlformats-officedocument.oleObject"/>
  <Override PartName="/ppt/slideLayouts/slideLayout7.xml" ContentType="application/vnd.openxmlformats-officedocument.presentationml.slideLayout+xml"/>
  <Override PartName="/ppt/embeddings/Microsoft_Equation58.bin" ContentType="application/vnd.openxmlformats-officedocument.oleObject"/>
  <Override PartName="/ppt/embeddings/Microsoft_Equation25.bin" ContentType="application/vnd.openxmlformats-officedocument.oleObject"/>
  <Override PartName="/ppt/notesMasters/notesMaster1.xml" ContentType="application/vnd.openxmlformats-officedocument.presentationml.notesMaster+xml"/>
  <Override PartName="/ppt/slides/slide15.xml" ContentType="application/vnd.openxmlformats-officedocument.presentationml.slide+xml"/>
  <Default Extension="tiff" ContentType="image/tiff"/>
  <Override PartName="/ppt/embeddings/Microsoft_Equation51.bin" ContentType="application/vnd.openxmlformats-officedocument.oleObject"/>
  <Override PartName="/ppt/embeddings/Microsoft_Equation34.bin" ContentType="application/vnd.openxmlformats-officedocument.oleObject"/>
  <Override PartName="/ppt/embeddings/Microsoft_Equation17.bin" ContentType="application/vnd.openxmlformats-officedocument.oleObject"/>
  <Override PartName="/ppt/embeddings/Microsoft_Equation6.bin" ContentType="application/vnd.openxmlformats-officedocument.oleObject"/>
  <Override PartName="/ppt/embeddings/Microsoft_Equation10.bin" ContentType="application/vnd.openxmlformats-officedocument.oleObject"/>
  <Override PartName="/ppt/embeddings/Microsoft_Equation26.bin" ContentType="application/vnd.openxmlformats-officedocument.oleObject"/>
  <Override PartName="/ppt/theme/theme1.xml" ContentType="application/vnd.openxmlformats-officedocument.theme+xml"/>
  <Override PartName="/ppt/embeddings/Microsoft_Equation48.bin" ContentType="application/vnd.openxmlformats-officedocument.oleObject"/>
  <Override PartName="/ppt/slideLayouts/slideLayout10.xml" ContentType="application/vnd.openxmlformats-officedocument.presentationml.slideLayout+xml"/>
  <Override PartName="/ppt/presentation.xml" ContentType="application/vnd.openxmlformats-officedocument.presentationml.presentation.main+xml"/>
  <Default Extension="bin" ContentType="application/vnd.openxmlformats-officedocument.presentationml.printerSettings"/>
  <Override PartName="/ppt/slides/slide6.xml" ContentType="application/vnd.openxmlformats-officedocument.presentationml.slide+xml"/>
  <Override PartName="/ppt/embeddings/Microsoft_Equation41.bin" ContentType="application/vnd.openxmlformats-officedocument.oleObject"/>
  <Override PartName="/ppt/slideLayouts/slideLayout6.xml" ContentType="application/vnd.openxmlformats-officedocument.presentationml.slideLayout+xml"/>
  <Override PartName="/ppt/embeddings/Microsoft_Equation57.bin" ContentType="application/vnd.openxmlformats-officedocument.oleObject"/>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29" r:id="rId1"/>
  </p:sldMasterIdLst>
  <p:notesMasterIdLst>
    <p:notesMasterId r:id="rId18"/>
  </p:notesMasterIdLst>
  <p:sldIdLst>
    <p:sldId id="256" r:id="rId2"/>
    <p:sldId id="277" r:id="rId3"/>
    <p:sldId id="273" r:id="rId4"/>
    <p:sldId id="275" r:id="rId5"/>
    <p:sldId id="276" r:id="rId6"/>
    <p:sldId id="285" r:id="rId7"/>
    <p:sldId id="286" r:id="rId8"/>
    <p:sldId id="287" r:id="rId9"/>
    <p:sldId id="279" r:id="rId10"/>
    <p:sldId id="280" r:id="rId11"/>
    <p:sldId id="288" r:id="rId12"/>
    <p:sldId id="289" r:id="rId13"/>
    <p:sldId id="290" r:id="rId14"/>
    <p:sldId id="281" r:id="rId15"/>
    <p:sldId id="291" r:id="rId16"/>
    <p:sldId id="292" r:id="rId17"/>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showPr showNarration="1" useTimings="0">
    <p:present/>
    <p:sldAll/>
    <p:penClr>
      <a:schemeClr val="tx1"/>
    </p:penClr>
  </p:showPr>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Objects="1">
      <p:cViewPr varScale="1">
        <p:scale>
          <a:sx n="140" d="100"/>
          <a:sy n="140" d="100"/>
        </p:scale>
        <p:origin x="-536" y="-13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ict"/><Relationship Id="rId2" Type="http://schemas.openxmlformats.org/officeDocument/2006/relationships/image" Target="../media/image2.pict"/></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pict"/><Relationship Id="rId4" Type="http://schemas.openxmlformats.org/officeDocument/2006/relationships/image" Target="../media/image6.pict"/><Relationship Id="rId1" Type="http://schemas.openxmlformats.org/officeDocument/2006/relationships/image" Target="../media/image3.pict"/><Relationship Id="rId2" Type="http://schemas.openxmlformats.org/officeDocument/2006/relationships/image" Target="../media/image4.pict"/></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pict"/><Relationship Id="rId4" Type="http://schemas.openxmlformats.org/officeDocument/2006/relationships/image" Target="../media/image10.pict"/><Relationship Id="rId1" Type="http://schemas.openxmlformats.org/officeDocument/2006/relationships/image" Target="../media/image7.pict"/><Relationship Id="rId2" Type="http://schemas.openxmlformats.org/officeDocument/2006/relationships/image" Target="../media/image8.pict"/></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pict"/><Relationship Id="rId4" Type="http://schemas.openxmlformats.org/officeDocument/2006/relationships/image" Target="../media/image14.pict"/><Relationship Id="rId5" Type="http://schemas.openxmlformats.org/officeDocument/2006/relationships/image" Target="../media/image15.pict"/><Relationship Id="rId6" Type="http://schemas.openxmlformats.org/officeDocument/2006/relationships/image" Target="../media/image16.pict"/><Relationship Id="rId1" Type="http://schemas.openxmlformats.org/officeDocument/2006/relationships/image" Target="../media/image11.pict"/><Relationship Id="rId2" Type="http://schemas.openxmlformats.org/officeDocument/2006/relationships/image" Target="../media/image12.pict"/></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9.pict"/><Relationship Id="rId4" Type="http://schemas.openxmlformats.org/officeDocument/2006/relationships/image" Target="../media/image20.pict"/><Relationship Id="rId5" Type="http://schemas.openxmlformats.org/officeDocument/2006/relationships/image" Target="../media/image21.pict"/><Relationship Id="rId1" Type="http://schemas.openxmlformats.org/officeDocument/2006/relationships/image" Target="../media/image17.pict"/><Relationship Id="rId2" Type="http://schemas.openxmlformats.org/officeDocument/2006/relationships/image" Target="../media/image18.pict"/></Relationships>
</file>

<file path=ppt/drawings/_rels/vmlDrawing6.vml.rels><?xml version="1.0" encoding="UTF-8" standalone="yes"?>
<Relationships xmlns="http://schemas.openxmlformats.org/package/2006/relationships"><Relationship Id="rId11" Type="http://schemas.openxmlformats.org/officeDocument/2006/relationships/image" Target="../media/image32.pict"/><Relationship Id="rId12" Type="http://schemas.openxmlformats.org/officeDocument/2006/relationships/image" Target="../media/image33.pict"/><Relationship Id="rId1" Type="http://schemas.openxmlformats.org/officeDocument/2006/relationships/image" Target="../media/image22.pict"/><Relationship Id="rId2" Type="http://schemas.openxmlformats.org/officeDocument/2006/relationships/image" Target="../media/image23.pict"/><Relationship Id="rId3" Type="http://schemas.openxmlformats.org/officeDocument/2006/relationships/image" Target="../media/image24.pict"/><Relationship Id="rId4" Type="http://schemas.openxmlformats.org/officeDocument/2006/relationships/image" Target="../media/image25.pict"/><Relationship Id="rId5" Type="http://schemas.openxmlformats.org/officeDocument/2006/relationships/image" Target="../media/image26.pict"/><Relationship Id="rId6" Type="http://schemas.openxmlformats.org/officeDocument/2006/relationships/image" Target="../media/image27.pict"/><Relationship Id="rId7" Type="http://schemas.openxmlformats.org/officeDocument/2006/relationships/image" Target="../media/image28.pict"/><Relationship Id="rId8" Type="http://schemas.openxmlformats.org/officeDocument/2006/relationships/image" Target="../media/image29.pict"/><Relationship Id="rId9" Type="http://schemas.openxmlformats.org/officeDocument/2006/relationships/image" Target="../media/image30.pict"/><Relationship Id="rId10" Type="http://schemas.openxmlformats.org/officeDocument/2006/relationships/image" Target="../media/image31.pict"/></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7.pict"/><Relationship Id="rId4" Type="http://schemas.openxmlformats.org/officeDocument/2006/relationships/image" Target="../media/image38.pict"/><Relationship Id="rId1" Type="http://schemas.openxmlformats.org/officeDocument/2006/relationships/image" Target="../media/image35.pict"/><Relationship Id="rId2" Type="http://schemas.openxmlformats.org/officeDocument/2006/relationships/image" Target="../media/image36.pict"/></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9.pict"/><Relationship Id="rId4" Type="http://schemas.openxmlformats.org/officeDocument/2006/relationships/image" Target="../media/image37.pict"/><Relationship Id="rId5" Type="http://schemas.openxmlformats.org/officeDocument/2006/relationships/image" Target="../media/image40.pict"/><Relationship Id="rId6" Type="http://schemas.openxmlformats.org/officeDocument/2006/relationships/image" Target="../media/image41.pict"/><Relationship Id="rId1" Type="http://schemas.openxmlformats.org/officeDocument/2006/relationships/image" Target="../media/image3.pict"/><Relationship Id="rId2" Type="http://schemas.openxmlformats.org/officeDocument/2006/relationships/image" Target="../media/image4.pict"/></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2.pict"/></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pict"/><Relationship Id="rId2" Type="http://schemas.openxmlformats.org/officeDocument/2006/relationships/image" Target="../media/image43.pict"/></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7.pict"/><Relationship Id="rId4" Type="http://schemas.openxmlformats.org/officeDocument/2006/relationships/image" Target="../media/image48.pict"/><Relationship Id="rId5" Type="http://schemas.openxmlformats.org/officeDocument/2006/relationships/image" Target="../media/image49.pict"/><Relationship Id="rId6" Type="http://schemas.openxmlformats.org/officeDocument/2006/relationships/image" Target="../media/image50.pict"/><Relationship Id="rId7" Type="http://schemas.openxmlformats.org/officeDocument/2006/relationships/image" Target="../media/image51.pict"/><Relationship Id="rId8" Type="http://schemas.openxmlformats.org/officeDocument/2006/relationships/image" Target="../media/image52.pict"/><Relationship Id="rId1" Type="http://schemas.openxmlformats.org/officeDocument/2006/relationships/image" Target="../media/image45.pict"/><Relationship Id="rId2" Type="http://schemas.openxmlformats.org/officeDocument/2006/relationships/image" Target="../media/image46.pict"/></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ja-JP"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4A24C-2BFC-4C63-AEAF-54CF7EFDB325}" type="datetimeFigureOut">
              <a:rPr lang="en-US" altLang="ja-JP"/>
              <a:pPr/>
              <a:t>09.11.16</a:t>
            </a:fld>
            <a:endParaRPr lang="ja-JP"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ja-JP"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31D213-E5B0-467F-9AA1-56239E62CB84}" type="slidenum">
              <a:rPr/>
              <a:pPr/>
              <a:t>‹#›</a:t>
            </a:fld>
            <a:endParaRPr lang="ja-JP"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ja-JP" altLang="en-US"/>
          </a:p>
        </p:txBody>
      </p:sp>
      <p:sp>
        <p:nvSpPr>
          <p:cNvPr id="4" name="Slide Number Placeholder 3"/>
          <p:cNvSpPr>
            <a:spLocks noGrp="1"/>
          </p:cNvSpPr>
          <p:nvPr>
            <p:ph type="sldNum" sz="quarter" idx="10"/>
          </p:nvPr>
        </p:nvSpPr>
        <p:spPr/>
        <p:txBody>
          <a:bodyPr/>
          <a:lstStyle/>
          <a:p>
            <a:fld id="{BF31D213-E5B0-467F-9AA1-56239E62CB84}" type="slidenum">
              <a:rPr/>
              <a:pPr/>
              <a:t>2</a:t>
            </a:fld>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ja-JP"/>
              <a:t>Click to edit Master subtitle style</a:t>
            </a:r>
            <a:endParaRPr kumimoji="0" lang="en-US"/>
          </a:p>
        </p:txBody>
      </p:sp>
      <p:sp>
        <p:nvSpPr>
          <p:cNvPr id="30" name="Date Placeholder 29"/>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19" name="Footer Placeholder 18"/>
          <p:cNvSpPr>
            <a:spLocks noGrp="1"/>
          </p:cNvSpPr>
          <p:nvPr>
            <p:ph type="ftr" sz="quarter" idx="11"/>
          </p:nvPr>
        </p:nvSpPr>
        <p:spPr/>
        <p:txBody>
          <a:bodyPr/>
          <a:lstStyle/>
          <a:p>
            <a:endParaRPr lang="ja-JP" altLang="en-US"/>
          </a:p>
        </p:txBody>
      </p:sp>
      <p:sp>
        <p:nvSpPr>
          <p:cNvPr id="27" name="Slide Number Placeholder 26"/>
          <p:cNvSpPr>
            <a:spLocks noGrp="1"/>
          </p:cNvSpPr>
          <p:nvPr>
            <p:ph type="sldNum" sz="quarter" idx="12"/>
          </p:nvPr>
        </p:nvSpPr>
        <p:spPr/>
        <p:txBody>
          <a:bodyPr/>
          <a:lstStyle/>
          <a:p>
            <a:fld id="{7BC41667-7291-42E8-B00B-345BA5840895}" type="slidenum">
              <a:rPr lang="en-US" altLang="ja-JP"/>
              <a:pPr/>
              <a:t>‹#›</a:t>
            </a:fld>
            <a:endParaRPr lang="en-US" altLang="ja-JP"/>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ltLang="ja-JP"/>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ja-JP"/>
              <a:t>Click to edit Master text styles</a:t>
            </a:r>
          </a:p>
        </p:txBody>
      </p:sp>
      <p:sp>
        <p:nvSpPr>
          <p:cNvPr id="4" name="Date Placeholder 3"/>
          <p:cNvSpPr>
            <a:spLocks noGrp="1"/>
          </p:cNvSpPr>
          <p:nvPr>
            <p:ph type="dt" sz="half" idx="10"/>
          </p:nvPr>
        </p:nvSpPr>
        <p:spPr/>
        <p:txBody>
          <a:bodyPr/>
          <a:lstStyle/>
          <a:p>
            <a:fld id="{0106B4A3-4212-4E39-93DE-E053E8F69C28}" type="datetimeFigureOut">
              <a:rPr lang="en-US" altLang="ja-JP" smtClean="0"/>
              <a:pPr/>
              <a:t>09.11.16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ltLang="ja-JP"/>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ltLang="ja-JP"/>
              <a:t>Click to edit Master title style</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8" name="Slide Number Placeholder 7"/>
          <p:cNvSpPr>
            <a:spLocks noGrp="1"/>
          </p:cNvSpPr>
          <p:nvPr>
            <p:ph type="sldNum" sz="quarter" idx="11"/>
          </p:nvPr>
        </p:nvSpPr>
        <p:spPr/>
        <p:txBody>
          <a:bodyPr/>
          <a:lstStyle/>
          <a:p>
            <a:fld id="{45D75009-343C-488C-BB37-2311D1D6123B}" type="slidenum">
              <a:rPr/>
              <a:pPr/>
              <a:t>‹#›</a:t>
            </a:fld>
            <a:endParaRPr lang="ja-JP" altLang="en-US"/>
          </a:p>
        </p:txBody>
      </p:sp>
      <p:sp>
        <p:nvSpPr>
          <p:cNvPr id="9" name="Footer Placeholder 8"/>
          <p:cNvSpPr>
            <a:spLocks noGrp="1"/>
          </p:cNvSpPr>
          <p:nvPr>
            <p:ph type="ftr" sz="quarter" idx="12"/>
          </p:nvPr>
        </p:nvSpPr>
        <p:spPr/>
        <p:txBody>
          <a:bodyPr/>
          <a:lstStyle/>
          <a:p>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ltLang="ja-JP"/>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ltLang="ja-JP"/>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a:xfrm>
            <a:off x="8156448" y="6422064"/>
            <a:ext cx="762000" cy="365125"/>
          </a:xfrm>
        </p:spPr>
        <p:txBody>
          <a:bodyPr/>
          <a:lstStyle/>
          <a:p>
            <a:fld id="{45D75009-343C-488C-BB37-2311D1D6123B}" type="slidenum">
              <a: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ltLang="ja-JP"/>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ltLang="ja-JP" dirty="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ltLang="ja-JP"/>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66E5988B-D4EB-4E73-AE89-924C64C03B8C}" type="datetimeFigureOut">
              <a:rPr lang="ko-KR" altLang="ja-JP"/>
              <a:pPr/>
              <a:t>09.11.16</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09.11.16</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ltLang="ja-JP"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ltLang="ja-JP" smtClean="0"/>
              <a:t>Click to edit Master text styles</a:t>
            </a:r>
          </a:p>
          <a:p>
            <a:pPr lvl="1" eaLnBrk="1" latinLnBrk="0" hangingPunct="1"/>
            <a:r>
              <a:rPr kumimoji="0" lang="en-US" altLang="ja-JP" smtClean="0"/>
              <a:t>Second level</a:t>
            </a:r>
          </a:p>
          <a:p>
            <a:pPr lvl="2" eaLnBrk="1" latinLnBrk="0" hangingPunct="1"/>
            <a:r>
              <a:rPr kumimoji="0" lang="en-US" altLang="ja-JP" smtClean="0"/>
              <a:t>Third level</a:t>
            </a:r>
          </a:p>
          <a:p>
            <a:pPr lvl="3" eaLnBrk="1" latinLnBrk="0" hangingPunct="1"/>
            <a:r>
              <a:rPr kumimoji="0" lang="en-US" altLang="ja-JP" smtClean="0"/>
              <a:t>Fourth level</a:t>
            </a:r>
          </a:p>
          <a:p>
            <a:pPr lvl="4" eaLnBrk="1" latinLnBrk="0" hangingPunct="1"/>
            <a:r>
              <a:rPr kumimoji="0" lang="en-US" altLang="ja-JP"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6E5988B-D4EB-4E73-AE89-924C64C03B8C}" type="datetimeFigureOut">
              <a:rPr lang="ko-KR" altLang="ja-JP"/>
              <a:pPr/>
              <a:t>09.11.16</a:t>
            </a:fld>
            <a:endParaRPr lang="ja-JP" alt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ja-JP" alt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45D75009-343C-488C-BB37-2311D1D6123B}" type="slidenum">
              <a:rPr/>
              <a:pPr/>
              <a:t>‹#›</a:t>
            </a:fld>
            <a:endParaRPr lang="ja-JP" altLang="en-US"/>
          </a:p>
        </p:txBody>
      </p:sp>
    </p:spTree>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eaLnBrk="1" latinLnBrk="0" hangingPunct="1">
        <a:spcBef>
          <a:spcPct val="0"/>
        </a:spcBef>
        <a:buNone/>
        <a:defRPr kumimoji="1"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1"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1"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1"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1"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1"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1"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1"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Microsoft_Equation1.bin"/><Relationship Id="rId4" Type="http://schemas.openxmlformats.org/officeDocument/2006/relationships/oleObject" Target="../embeddings/Microsoft_Equation2.bin"/><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Equation3.bin"/><Relationship Id="rId4" Type="http://schemas.openxmlformats.org/officeDocument/2006/relationships/oleObject" Target="../embeddings/Microsoft_Equation4.bin"/><Relationship Id="rId5" Type="http://schemas.openxmlformats.org/officeDocument/2006/relationships/oleObject" Target="../embeddings/Microsoft_Equation5.bin"/><Relationship Id="rId6" Type="http://schemas.openxmlformats.org/officeDocument/2006/relationships/oleObject" Target="../embeddings/Microsoft_Equation6.bin"/><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Microsoft_Equation7.bin"/><Relationship Id="rId4" Type="http://schemas.openxmlformats.org/officeDocument/2006/relationships/oleObject" Target="../embeddings/Microsoft_Equation8.bin"/><Relationship Id="rId5" Type="http://schemas.openxmlformats.org/officeDocument/2006/relationships/oleObject" Target="../embeddings/Microsoft_Equation9.bin"/><Relationship Id="rId6" Type="http://schemas.openxmlformats.org/officeDocument/2006/relationships/oleObject" Target="../embeddings/Microsoft_Equation10.bin"/><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Equation11.bin"/><Relationship Id="rId4" Type="http://schemas.openxmlformats.org/officeDocument/2006/relationships/oleObject" Target="../embeddings/Microsoft_Equation12.bin"/><Relationship Id="rId5" Type="http://schemas.openxmlformats.org/officeDocument/2006/relationships/oleObject" Target="../embeddings/Microsoft_Equation13.bin"/><Relationship Id="rId6" Type="http://schemas.openxmlformats.org/officeDocument/2006/relationships/oleObject" Target="../embeddings/Microsoft_Equation14.bin"/><Relationship Id="rId7" Type="http://schemas.openxmlformats.org/officeDocument/2006/relationships/oleObject" Target="../embeddings/Microsoft_Equation15.bin"/><Relationship Id="rId8" Type="http://schemas.openxmlformats.org/officeDocument/2006/relationships/oleObject" Target="../embeddings/Microsoft_Equation16.bin"/><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Microsoft_Equation17.bin"/><Relationship Id="rId4" Type="http://schemas.openxmlformats.org/officeDocument/2006/relationships/oleObject" Target="../embeddings/Microsoft_Equation18.bin"/><Relationship Id="rId5" Type="http://schemas.openxmlformats.org/officeDocument/2006/relationships/oleObject" Target="../embeddings/Microsoft_Equation19.bin"/><Relationship Id="rId6" Type="http://schemas.openxmlformats.org/officeDocument/2006/relationships/oleObject" Target="../embeddings/Microsoft_Equation20.bin"/><Relationship Id="rId7" Type="http://schemas.openxmlformats.org/officeDocument/2006/relationships/oleObject" Target="../embeddings/Microsoft_Equation21.bin"/><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1" Type="http://schemas.openxmlformats.org/officeDocument/2006/relationships/oleObject" Target="../embeddings/Microsoft_Equation30.bin"/><Relationship Id="rId12" Type="http://schemas.openxmlformats.org/officeDocument/2006/relationships/oleObject" Target="../embeddings/Microsoft_Equation31.bin"/><Relationship Id="rId13" Type="http://schemas.openxmlformats.org/officeDocument/2006/relationships/oleObject" Target="../embeddings/Microsoft_Equation32.bin"/><Relationship Id="rId14" Type="http://schemas.openxmlformats.org/officeDocument/2006/relationships/oleObject" Target="../embeddings/Microsoft_Equation33.bin"/><Relationship Id="rId15" Type="http://schemas.openxmlformats.org/officeDocument/2006/relationships/oleObject" Target="../embeddings/Microsoft_Equation34.bin"/><Relationship Id="rId1" Type="http://schemas.openxmlformats.org/officeDocument/2006/relationships/vmlDrawing" Target="../drawings/vmlDrawing6.vml"/><Relationship Id="rId2" Type="http://schemas.openxmlformats.org/officeDocument/2006/relationships/slideLayout" Target="../slideLayouts/slideLayout2.xml"/><Relationship Id="rId3" Type="http://schemas.openxmlformats.org/officeDocument/2006/relationships/oleObject" Target="../embeddings/Microsoft_Equation22.bin"/><Relationship Id="rId4" Type="http://schemas.openxmlformats.org/officeDocument/2006/relationships/oleObject" Target="../embeddings/Microsoft_Equation23.bin"/><Relationship Id="rId5" Type="http://schemas.openxmlformats.org/officeDocument/2006/relationships/oleObject" Target="../embeddings/Microsoft_Equation24.bin"/><Relationship Id="rId6" Type="http://schemas.openxmlformats.org/officeDocument/2006/relationships/oleObject" Target="../embeddings/Microsoft_Equation25.bin"/><Relationship Id="rId7" Type="http://schemas.openxmlformats.org/officeDocument/2006/relationships/oleObject" Target="../embeddings/Microsoft_Equation26.bin"/><Relationship Id="rId8" Type="http://schemas.openxmlformats.org/officeDocument/2006/relationships/oleObject" Target="../embeddings/Microsoft_Equation27.bin"/><Relationship Id="rId9" Type="http://schemas.openxmlformats.org/officeDocument/2006/relationships/oleObject" Target="../embeddings/Microsoft_Equation28.bin"/><Relationship Id="rId10" Type="http://schemas.openxmlformats.org/officeDocument/2006/relationships/oleObject" Target="../embeddings/Microsoft_Equation29.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tiff"/></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Equation35.bin"/><Relationship Id="rId4" Type="http://schemas.openxmlformats.org/officeDocument/2006/relationships/oleObject" Target="../embeddings/Microsoft_Equation36.bin"/><Relationship Id="rId5" Type="http://schemas.openxmlformats.org/officeDocument/2006/relationships/oleObject" Target="../embeddings/Microsoft_Equation37.bin"/><Relationship Id="rId6" Type="http://schemas.openxmlformats.org/officeDocument/2006/relationships/oleObject" Target="../embeddings/Microsoft_Equation38.bin"/><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Microsoft_Equation39.bin"/><Relationship Id="rId4" Type="http://schemas.openxmlformats.org/officeDocument/2006/relationships/oleObject" Target="../embeddings/Microsoft_Equation40.bin"/><Relationship Id="rId5" Type="http://schemas.openxmlformats.org/officeDocument/2006/relationships/oleObject" Target="../embeddings/Microsoft_Equation41.bin"/><Relationship Id="rId6" Type="http://schemas.openxmlformats.org/officeDocument/2006/relationships/oleObject" Target="../embeddings/Microsoft_Equation42.bin"/><Relationship Id="rId7" Type="http://schemas.openxmlformats.org/officeDocument/2006/relationships/oleObject" Target="../embeddings/Microsoft_Equation43.bin"/><Relationship Id="rId8" Type="http://schemas.openxmlformats.org/officeDocument/2006/relationships/oleObject" Target="../embeddings/Microsoft_Equation44.bin"/><Relationship Id="rId9" Type="http://schemas.openxmlformats.org/officeDocument/2006/relationships/oleObject" Target="../embeddings/Microsoft_Equation45.bin"/><Relationship Id="rId10" Type="http://schemas.openxmlformats.org/officeDocument/2006/relationships/oleObject" Target="../embeddings/Microsoft_Equation46.bin"/><Relationship Id="rId11" Type="http://schemas.openxmlformats.org/officeDocument/2006/relationships/oleObject" Target="../embeddings/Microsoft_Equation47.bin"/><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vmlDrawing" Target="../drawings/vmlDrawing9.vml"/><Relationship Id="rId2" Type="http://schemas.openxmlformats.org/officeDocument/2006/relationships/slideLayout" Target="../slideLayouts/slideLayout2.xml"/><Relationship Id="rId3" Type="http://schemas.openxmlformats.org/officeDocument/2006/relationships/oleObject" Target="../embeddings/Microsoft_Equation48.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Microsoft_Equation49.bin"/><Relationship Id="rId4" Type="http://schemas.openxmlformats.org/officeDocument/2006/relationships/oleObject" Target="../embeddings/Microsoft_Equation50.bin"/><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tiff"/></Relationships>
</file>

<file path=ppt/slides/_rels/slide15.xml.rels><?xml version="1.0" encoding="UTF-8" standalone="yes"?>
<Relationships xmlns="http://schemas.openxmlformats.org/package/2006/relationships"><Relationship Id="rId11" Type="http://schemas.openxmlformats.org/officeDocument/2006/relationships/oleObject" Target="../embeddings/Microsoft_Equation59.bin"/><Relationship Id="rId12" Type="http://schemas.openxmlformats.org/officeDocument/2006/relationships/oleObject" Target="../embeddings/Microsoft_Equation60.bin"/><Relationship Id="rId13" Type="http://schemas.openxmlformats.org/officeDocument/2006/relationships/oleObject" Target="../embeddings/Microsoft_Equation61.bin"/><Relationship Id="rId1" Type="http://schemas.openxmlformats.org/officeDocument/2006/relationships/vmlDrawing" Target="../drawings/vmlDrawing11.vml"/><Relationship Id="rId2" Type="http://schemas.openxmlformats.org/officeDocument/2006/relationships/slideLayout" Target="../slideLayouts/slideLayout2.xml"/><Relationship Id="rId3" Type="http://schemas.openxmlformats.org/officeDocument/2006/relationships/oleObject" Target="../embeddings/Microsoft_Equation51.bin"/><Relationship Id="rId4" Type="http://schemas.openxmlformats.org/officeDocument/2006/relationships/oleObject" Target="../embeddings/Microsoft_Equation52.bin"/><Relationship Id="rId5" Type="http://schemas.openxmlformats.org/officeDocument/2006/relationships/oleObject" Target="../embeddings/Microsoft_Equation53.bin"/><Relationship Id="rId6" Type="http://schemas.openxmlformats.org/officeDocument/2006/relationships/oleObject" Target="../embeddings/Microsoft_Equation54.bin"/><Relationship Id="rId7" Type="http://schemas.openxmlformats.org/officeDocument/2006/relationships/oleObject" Target="../embeddings/Microsoft_Equation55.bin"/><Relationship Id="rId8" Type="http://schemas.openxmlformats.org/officeDocument/2006/relationships/oleObject" Target="../embeddings/Microsoft_Equation56.bin"/><Relationship Id="rId9" Type="http://schemas.openxmlformats.org/officeDocument/2006/relationships/oleObject" Target="../embeddings/Microsoft_Equation57.bin"/><Relationship Id="rId10" Type="http://schemas.openxmlformats.org/officeDocument/2006/relationships/oleObject" Target="../embeddings/Microsoft_Equation58.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tif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606040"/>
          </a:xfrm>
        </p:spPr>
        <p:txBody>
          <a:bodyPr>
            <a:noAutofit/>
          </a:bodyPr>
          <a:lstStyle/>
          <a:p>
            <a:r>
              <a:rPr lang="en-US" altLang="ja-JP" sz="4400" dirty="0"/>
              <a:t>Atomic and Molecular Physics</a:t>
            </a:r>
            <a:r>
              <a:rPr altLang="ja-JP" sz="4400" dirty="0"/>
              <a:t/>
            </a:r>
            <a:br>
              <a:rPr altLang="ja-JP" sz="4400" dirty="0"/>
            </a:br>
            <a:r>
              <a:rPr altLang="ja-JP" sz="4400" dirty="0"/>
              <a:t/>
            </a:r>
            <a:br>
              <a:rPr altLang="ja-JP" sz="4400" dirty="0"/>
            </a:br>
            <a:r>
              <a:rPr altLang="ja-JP" sz="3200" dirty="0">
                <a:solidFill>
                  <a:srgbClr val="00FF00"/>
                </a:solidFill>
              </a:rPr>
              <a:t>Lecture </a:t>
            </a:r>
            <a:r>
              <a:rPr altLang="ja-JP" sz="3200" smtClean="0">
                <a:solidFill>
                  <a:srgbClr val="00FF00"/>
                </a:solidFill>
              </a:rPr>
              <a:t>22</a:t>
            </a:r>
            <a:endParaRPr lang="ja-JP" altLang="en-US" sz="3200" dirty="0">
              <a:solidFill>
                <a:srgbClr val="00FF00"/>
              </a:solidFill>
            </a:endParaRPr>
          </a:p>
        </p:txBody>
      </p:sp>
      <p:sp>
        <p:nvSpPr>
          <p:cNvPr id="3" name="Subtitle 2"/>
          <p:cNvSpPr>
            <a:spLocks noGrp="1"/>
          </p:cNvSpPr>
          <p:nvPr>
            <p:ph type="subTitle" idx="1"/>
          </p:nvPr>
        </p:nvSpPr>
        <p:spPr/>
        <p:txBody>
          <a:bodyPr>
            <a:normAutofit/>
          </a:bodyPr>
          <a:lstStyle/>
          <a:p>
            <a:r>
              <a:rPr lang="en-US" altLang="ja-JP" dirty="0"/>
              <a:t>Prof. Kyungwon An</a:t>
            </a:r>
          </a:p>
          <a:p>
            <a:r>
              <a:rPr lang="en-US" altLang="ja-JP" dirty="0"/>
              <a:t>Department of Physics and Astronomy</a:t>
            </a:r>
          </a:p>
          <a:p>
            <a:r>
              <a:rPr lang="en-US" altLang="ja-JP" dirty="0"/>
              <a:t>Seoul National University</a:t>
            </a:r>
            <a:endParaRPr lang="ja-JP"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924800" cy="914400"/>
          </a:xfrm>
        </p:spPr>
        <p:txBody>
          <a:bodyPr>
            <a:noAutofit/>
          </a:bodyPr>
          <a:lstStyle/>
          <a:p>
            <a:r>
              <a:rPr lang="en-US" sz="4400" dirty="0" smtClean="0"/>
              <a:t>3.8 Effects of Intense Laser Field</a:t>
            </a:r>
            <a:endParaRPr lang="ja-JP" altLang="en-US" sz="4400" b="1" dirty="0">
              <a:latin typeface="+mn-lt"/>
              <a:cs typeface="Times New Roman"/>
            </a:endParaRPr>
          </a:p>
        </p:txBody>
      </p:sp>
      <p:sp>
        <p:nvSpPr>
          <p:cNvPr id="3" name="Content Placeholder 2"/>
          <p:cNvSpPr>
            <a:spLocks noGrp="1"/>
          </p:cNvSpPr>
          <p:nvPr>
            <p:ph idx="1"/>
          </p:nvPr>
        </p:nvSpPr>
        <p:spPr>
          <a:xfrm>
            <a:off x="457200" y="1752600"/>
            <a:ext cx="8305800" cy="4495800"/>
          </a:xfrm>
        </p:spPr>
        <p:txBody>
          <a:bodyPr>
            <a:noAutofit/>
          </a:bodyPr>
          <a:lstStyle/>
          <a:p>
            <a:pPr>
              <a:buNone/>
            </a:pPr>
            <a:r>
              <a:rPr lang="en-US" sz="3200" b="1" i="1" dirty="0" smtClean="0">
                <a:latin typeface="Times New Roman"/>
                <a:cs typeface="Times New Roman"/>
              </a:rPr>
              <a:t>Dressed State Picture</a:t>
            </a:r>
            <a:endParaRPr lang="ko-KR" altLang="en-US" sz="3200" b="1" i="1" dirty="0" smtClean="0">
              <a:latin typeface="Times New Roman"/>
              <a:cs typeface="Times New Roman"/>
            </a:endParaRPr>
          </a:p>
          <a:p>
            <a:endParaRPr lang="en-US" sz="2400" dirty="0" smtClean="0"/>
          </a:p>
          <a:p>
            <a:r>
              <a:rPr lang="en-US" sz="2400" dirty="0" smtClean="0"/>
              <a:t>When </a:t>
            </a:r>
            <a:r>
              <a:rPr lang="en-US" sz="2400" dirty="0" smtClean="0"/>
              <a:t>a two-state atom interacts with a near-resonant electromagnetic field, the atom can be easily excited to the upper state and thus the transition probability calculated before, which is valid only when the atom stays mostly in the lower state and the probability that atom is excited is negligibly small, is no longer applicable.</a:t>
            </a:r>
            <a:r>
              <a:rPr lang="en-US" sz="2400" dirty="0" smtClean="0"/>
              <a:t> </a:t>
            </a:r>
          </a:p>
          <a:p>
            <a:r>
              <a:rPr lang="en-US" sz="2400" dirty="0" smtClean="0"/>
              <a:t>For </a:t>
            </a:r>
            <a:r>
              <a:rPr lang="en-US" sz="2400" dirty="0" smtClean="0"/>
              <a:t>the near-resonant field, we need to sum up all orders of </a:t>
            </a:r>
            <a:r>
              <a:rPr lang="en-US" sz="2400" dirty="0" err="1" smtClean="0"/>
              <a:t>perturbative</a:t>
            </a:r>
            <a:r>
              <a:rPr lang="en-US" sz="2400" dirty="0" smtClean="0"/>
              <a:t> transition amplitudes.</a:t>
            </a:r>
            <a:r>
              <a:rPr lang="en-US" sz="2400" dirty="0" smtClean="0"/>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077200" cy="6096000"/>
          </a:xfrm>
        </p:spPr>
        <p:txBody>
          <a:bodyPr>
            <a:normAutofit/>
          </a:bodyPr>
          <a:lstStyle/>
          <a:p>
            <a:r>
              <a:rPr lang="en-US" sz="2400" dirty="0" smtClean="0"/>
              <a:t>In the </a:t>
            </a:r>
            <a:r>
              <a:rPr lang="en-US" sz="2400" dirty="0" err="1" smtClean="0"/>
              <a:t>semiclassical</a:t>
            </a:r>
            <a:r>
              <a:rPr lang="en-US" sz="2400" dirty="0" smtClean="0"/>
              <a:t> approach, we need to use the optical Bloch equation for a correct description of the problem.</a:t>
            </a:r>
            <a:r>
              <a:rPr lang="en-US" sz="2400" dirty="0" smtClean="0"/>
              <a:t> </a:t>
            </a:r>
          </a:p>
          <a:p>
            <a:r>
              <a:rPr lang="en-US" sz="2400" dirty="0" smtClean="0"/>
              <a:t>In </a:t>
            </a:r>
            <a:r>
              <a:rPr lang="en-US" sz="2400" dirty="0" smtClean="0"/>
              <a:t>the quantum mechanical approach, we use the dressed picture to be discussed in this section. </a:t>
            </a:r>
            <a:endParaRPr lang="ko-KR" altLang="en-US" sz="2400" dirty="0" smtClean="0"/>
          </a:p>
          <a:p>
            <a:r>
              <a:rPr lang="en-US" sz="2400" dirty="0" smtClean="0"/>
              <a:t>Recall that the total Hamiltonian is composed of three parts</a:t>
            </a:r>
            <a:r>
              <a:rPr lang="en-US" sz="2400" dirty="0" smtClean="0"/>
              <a:t>.</a:t>
            </a:r>
          </a:p>
          <a:p>
            <a:endParaRPr lang="en-US" altLang="ko-KR" sz="2400" dirty="0" smtClean="0"/>
          </a:p>
          <a:p>
            <a:endParaRPr lang="en-US" altLang="ko-KR" sz="2400" dirty="0" smtClean="0"/>
          </a:p>
          <a:p>
            <a:endParaRPr lang="en-US" altLang="ko-KR" sz="2400" dirty="0" smtClean="0"/>
          </a:p>
          <a:p>
            <a:r>
              <a:rPr lang="en-US" sz="2400" dirty="0" smtClean="0"/>
              <a:t>For the E1 </a:t>
            </a:r>
            <a:r>
              <a:rPr lang="en-US" sz="2400" dirty="0" smtClean="0"/>
              <a:t>interaction</a:t>
            </a:r>
          </a:p>
          <a:p>
            <a:endParaRPr lang="en-US" altLang="ko-KR" sz="2400" dirty="0" smtClean="0"/>
          </a:p>
          <a:p>
            <a:endParaRPr lang="en-US" altLang="ko-KR" sz="2400" dirty="0" smtClean="0"/>
          </a:p>
          <a:p>
            <a:pPr>
              <a:buNone/>
            </a:pPr>
            <a:r>
              <a:rPr lang="en-US" sz="2400" dirty="0" smtClean="0"/>
              <a:t>	for </a:t>
            </a:r>
            <a:r>
              <a:rPr lang="en-US" sz="2400" dirty="0" smtClean="0"/>
              <a:t>an electromagnetic mode </a:t>
            </a:r>
            <a:r>
              <a:rPr lang="en-US" sz="2400" b="1" dirty="0" err="1" smtClean="0"/>
              <a:t>k</a:t>
            </a:r>
            <a:r>
              <a:rPr lang="en-US" sz="2400" i="1" dirty="0" err="1" smtClean="0">
                <a:latin typeface="Symbol" charset="2"/>
                <a:cs typeface="Symbol" charset="2"/>
              </a:rPr>
              <a:t>l</a:t>
            </a:r>
            <a:r>
              <a:rPr lang="en-US" sz="2400" dirty="0" smtClean="0"/>
              <a:t>. </a:t>
            </a:r>
            <a:endParaRPr lang="ko-KR" altLang="en-US" sz="2400" dirty="0" smtClean="0"/>
          </a:p>
          <a:p>
            <a:endParaRPr lang="ko-KR" altLang="en-US" sz="2400" dirty="0"/>
          </a:p>
        </p:txBody>
      </p:sp>
      <p:graphicFrame>
        <p:nvGraphicFramePr>
          <p:cNvPr id="245773" name="Object 13"/>
          <p:cNvGraphicFramePr>
            <a:graphicFrameLocks noChangeAspect="1"/>
          </p:cNvGraphicFramePr>
          <p:nvPr/>
        </p:nvGraphicFramePr>
        <p:xfrm>
          <a:off x="2805112" y="3333750"/>
          <a:ext cx="3824288" cy="1003300"/>
        </p:xfrm>
        <a:graphic>
          <a:graphicData uri="http://schemas.openxmlformats.org/presentationml/2006/ole">
            <p:oleObj spid="_x0000_s245773" name="Equation" r:id="rId3" imgW="2565400" imgH="673100" progId="Equation.3">
              <p:embed/>
            </p:oleObj>
          </a:graphicData>
        </a:graphic>
      </p:graphicFrame>
      <p:graphicFrame>
        <p:nvGraphicFramePr>
          <p:cNvPr id="245774" name="Object 14"/>
          <p:cNvGraphicFramePr>
            <a:graphicFrameLocks noChangeAspect="1"/>
          </p:cNvGraphicFramePr>
          <p:nvPr/>
        </p:nvGraphicFramePr>
        <p:xfrm>
          <a:off x="2667000" y="5029200"/>
          <a:ext cx="4083050" cy="709613"/>
        </p:xfrm>
        <a:graphic>
          <a:graphicData uri="http://schemas.openxmlformats.org/presentationml/2006/ole">
            <p:oleObj spid="_x0000_s245774" name="Equation" r:id="rId4" imgW="2705100" imgH="469900" progId="Equation.3">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305800" cy="5791200"/>
          </a:xfrm>
        </p:spPr>
        <p:txBody>
          <a:bodyPr>
            <a:noAutofit/>
          </a:bodyPr>
          <a:lstStyle/>
          <a:p>
            <a:r>
              <a:rPr lang="en-US" sz="2400" dirty="0" smtClean="0"/>
              <a:t>We compose uncoupled (without </a:t>
            </a:r>
            <a:r>
              <a:rPr lang="en-US" sz="2400" i="1" dirty="0" smtClean="0"/>
              <a:t>H</a:t>
            </a:r>
            <a:r>
              <a:rPr lang="en-US" sz="2400" i="1" baseline="-25000" dirty="0" smtClean="0"/>
              <a:t>int</a:t>
            </a:r>
            <a:r>
              <a:rPr lang="en-US" sz="2400" dirty="0" smtClean="0"/>
              <a:t>) atom-field states denoted </a:t>
            </a:r>
            <a:r>
              <a:rPr lang="en-US" sz="2400" dirty="0" smtClean="0"/>
              <a:t>by           </a:t>
            </a:r>
            <a:r>
              <a:rPr lang="en-US" sz="2400" dirty="0" smtClean="0"/>
              <a:t>and</a:t>
            </a:r>
            <a:r>
              <a:rPr lang="en-US" sz="2400" dirty="0" smtClean="0"/>
              <a:t>        , </a:t>
            </a:r>
            <a:r>
              <a:rPr lang="en-US" sz="2400" dirty="0" smtClean="0"/>
              <a:t>where </a:t>
            </a:r>
            <a:r>
              <a:rPr lang="en-US" sz="2400" i="1" dirty="0" err="1" smtClean="0"/>
              <a:t>g</a:t>
            </a:r>
            <a:r>
              <a:rPr lang="en-US" sz="2400" dirty="0" smtClean="0"/>
              <a:t> (</a:t>
            </a:r>
            <a:r>
              <a:rPr lang="en-US" sz="2400" i="1" dirty="0" err="1" smtClean="0"/>
              <a:t>e</a:t>
            </a:r>
            <a:r>
              <a:rPr lang="en-US" sz="2400" dirty="0" smtClean="0"/>
              <a:t>) stands for the lower (upper) state and </a:t>
            </a:r>
            <a:r>
              <a:rPr lang="en-US" sz="2400" i="1" dirty="0" err="1" smtClean="0"/>
              <a:t>n</a:t>
            </a:r>
            <a:r>
              <a:rPr lang="en-US" sz="2400" dirty="0" smtClean="0"/>
              <a:t> indicates the number of photons in the electromagnetic field mode.</a:t>
            </a:r>
            <a:r>
              <a:rPr lang="en-US" sz="2400" dirty="0" smtClean="0"/>
              <a:t> </a:t>
            </a:r>
          </a:p>
          <a:p>
            <a:r>
              <a:rPr lang="en-US" sz="2400" dirty="0" smtClean="0"/>
              <a:t>Our </a:t>
            </a:r>
            <a:r>
              <a:rPr lang="en-US" sz="2400" dirty="0" smtClean="0"/>
              <a:t>task is to </a:t>
            </a:r>
            <a:r>
              <a:rPr lang="en-US" sz="2400" dirty="0" err="1" smtClean="0"/>
              <a:t>diagonalize</a:t>
            </a:r>
            <a:r>
              <a:rPr lang="en-US" sz="2400" dirty="0" smtClean="0"/>
              <a:t> the total Hamiltonian in this basis.</a:t>
            </a:r>
            <a:r>
              <a:rPr lang="en-US" sz="2400" dirty="0" smtClean="0"/>
              <a:t> </a:t>
            </a:r>
          </a:p>
          <a:p>
            <a:r>
              <a:rPr lang="en-US" sz="2400" dirty="0" smtClean="0"/>
              <a:t>We </a:t>
            </a:r>
            <a:r>
              <a:rPr lang="en-US" sz="2400" dirty="0" smtClean="0"/>
              <a:t>first calculate the interaction matrix elements between uncoupled states. Only nonzero element </a:t>
            </a:r>
            <a:r>
              <a:rPr lang="en-US" sz="2400" dirty="0" smtClean="0"/>
              <a:t>is</a:t>
            </a:r>
          </a:p>
          <a:p>
            <a:endParaRPr lang="en-US" sz="2400" dirty="0" smtClean="0"/>
          </a:p>
          <a:p>
            <a:endParaRPr lang="en-US" sz="2400" dirty="0" smtClean="0"/>
          </a:p>
          <a:p>
            <a:pPr>
              <a:buNone/>
            </a:pPr>
            <a:r>
              <a:rPr lang="en-US" sz="2400" dirty="0" smtClean="0"/>
              <a:t>	From </a:t>
            </a:r>
            <a:r>
              <a:rPr lang="en-US" sz="2400" dirty="0" smtClean="0"/>
              <a:t>now on we drop the subscript </a:t>
            </a:r>
            <a:r>
              <a:rPr lang="en-US" sz="2400" b="1" dirty="0" err="1" smtClean="0"/>
              <a:t>k</a:t>
            </a:r>
            <a:r>
              <a:rPr lang="en-US" sz="2400" i="1" dirty="0" err="1" smtClean="0">
                <a:latin typeface="Symbol" charset="2"/>
                <a:cs typeface="Symbol" charset="2"/>
              </a:rPr>
              <a:t>l</a:t>
            </a:r>
            <a:r>
              <a:rPr lang="en-US" sz="2400" dirty="0" smtClean="0"/>
              <a:t>.</a:t>
            </a:r>
            <a:r>
              <a:rPr lang="en-US" sz="2400" dirty="0" smtClean="0"/>
              <a:t> </a:t>
            </a:r>
          </a:p>
          <a:p>
            <a:r>
              <a:rPr lang="en-US" sz="2400" dirty="0" smtClean="0"/>
              <a:t>W</a:t>
            </a:r>
            <a:r>
              <a:rPr lang="en-US" sz="2400" dirty="0" smtClean="0"/>
              <a:t>e </a:t>
            </a:r>
            <a:r>
              <a:rPr lang="en-US" sz="2400" dirty="0" smtClean="0"/>
              <a:t>define a coupling constant</a:t>
            </a:r>
            <a:endParaRPr lang="ko-KR" altLang="en-US" sz="2400" dirty="0" smtClean="0"/>
          </a:p>
          <a:p>
            <a:pPr>
              <a:buNone/>
            </a:pPr>
            <a:endParaRPr lang="ko-KR" altLang="en-US" sz="2400" dirty="0" smtClean="0"/>
          </a:p>
        </p:txBody>
      </p:sp>
      <p:graphicFrame>
        <p:nvGraphicFramePr>
          <p:cNvPr id="225303" name="Object 23"/>
          <p:cNvGraphicFramePr>
            <a:graphicFrameLocks noChangeAspect="1"/>
          </p:cNvGraphicFramePr>
          <p:nvPr/>
        </p:nvGraphicFramePr>
        <p:xfrm>
          <a:off x="2572658" y="1012374"/>
          <a:ext cx="739775" cy="314325"/>
        </p:xfrm>
        <a:graphic>
          <a:graphicData uri="http://schemas.openxmlformats.org/presentationml/2006/ole">
            <p:oleObj spid="_x0000_s225303" name="Equation" r:id="rId3" imgW="508000" imgH="215900" progId="Equation.3">
              <p:embed/>
            </p:oleObj>
          </a:graphicData>
        </a:graphic>
      </p:graphicFrame>
      <p:graphicFrame>
        <p:nvGraphicFramePr>
          <p:cNvPr id="7" name="Object 23"/>
          <p:cNvGraphicFramePr>
            <a:graphicFrameLocks noChangeAspect="1"/>
          </p:cNvGraphicFramePr>
          <p:nvPr/>
        </p:nvGraphicFramePr>
        <p:xfrm>
          <a:off x="4038600" y="1025525"/>
          <a:ext cx="444500" cy="277813"/>
        </p:xfrm>
        <a:graphic>
          <a:graphicData uri="http://schemas.openxmlformats.org/presentationml/2006/ole">
            <p:oleObj spid="_x0000_s225304" name="Equation" r:id="rId4" imgW="304800" imgH="190500" progId="Equation.3">
              <p:embed/>
            </p:oleObj>
          </a:graphicData>
        </a:graphic>
      </p:graphicFrame>
      <p:graphicFrame>
        <p:nvGraphicFramePr>
          <p:cNvPr id="225305" name="Object 25"/>
          <p:cNvGraphicFramePr>
            <a:graphicFrameLocks noChangeAspect="1"/>
          </p:cNvGraphicFramePr>
          <p:nvPr/>
        </p:nvGraphicFramePr>
        <p:xfrm>
          <a:off x="2362200" y="3844925"/>
          <a:ext cx="4603750" cy="619125"/>
        </p:xfrm>
        <a:graphic>
          <a:graphicData uri="http://schemas.openxmlformats.org/presentationml/2006/ole">
            <p:oleObj spid="_x0000_s225305" name="Equation" r:id="rId5" imgW="3022600" imgH="406400" progId="Equation.3">
              <p:embed/>
            </p:oleObj>
          </a:graphicData>
        </a:graphic>
      </p:graphicFrame>
      <p:graphicFrame>
        <p:nvGraphicFramePr>
          <p:cNvPr id="225306" name="Object 26"/>
          <p:cNvGraphicFramePr>
            <a:graphicFrameLocks noChangeAspect="1"/>
          </p:cNvGraphicFramePr>
          <p:nvPr/>
        </p:nvGraphicFramePr>
        <p:xfrm>
          <a:off x="3886200" y="5553075"/>
          <a:ext cx="1371600" cy="619125"/>
        </p:xfrm>
        <a:graphic>
          <a:graphicData uri="http://schemas.openxmlformats.org/presentationml/2006/ole">
            <p:oleObj spid="_x0000_s225306" name="Equation" r:id="rId6" imgW="901700" imgH="406400" progId="Equation.3">
              <p:embed/>
            </p:oleObj>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305800" cy="6248400"/>
          </a:xfrm>
        </p:spPr>
        <p:txBody>
          <a:bodyPr>
            <a:noAutofit/>
          </a:bodyPr>
          <a:lstStyle/>
          <a:p>
            <a:r>
              <a:rPr lang="en-US" sz="2400" dirty="0" smtClean="0"/>
              <a:t>where                     </a:t>
            </a:r>
            <a:r>
              <a:rPr lang="en-US" sz="2400" dirty="0" smtClean="0"/>
              <a:t>(we choose the atomic state phases in such a way that</a:t>
            </a:r>
            <a:r>
              <a:rPr lang="en-US" sz="2400" dirty="0" smtClean="0"/>
              <a:t> </a:t>
            </a:r>
            <a:r>
              <a:rPr lang="en-US" sz="2400" i="1" dirty="0" err="1" smtClean="0">
                <a:latin typeface="Symbol" charset="2"/>
                <a:cs typeface="Symbol" charset="2"/>
              </a:rPr>
              <a:t>m</a:t>
            </a:r>
            <a:r>
              <a:rPr lang="en-US" sz="2400" dirty="0" smtClean="0"/>
              <a:t> is </a:t>
            </a:r>
            <a:r>
              <a:rPr lang="en-US" sz="2400" dirty="0" smtClean="0"/>
              <a:t>real), the interaction Hamiltonian can be written </a:t>
            </a:r>
            <a:r>
              <a:rPr lang="en-US" sz="2400" dirty="0" smtClean="0"/>
              <a:t>as</a:t>
            </a:r>
          </a:p>
          <a:p>
            <a:endParaRPr lang="en-US" altLang="ko-KR" sz="2400" dirty="0" smtClean="0"/>
          </a:p>
          <a:p>
            <a:endParaRPr lang="en-US" altLang="ko-KR" sz="2400" dirty="0" smtClean="0"/>
          </a:p>
          <a:p>
            <a:r>
              <a:rPr lang="en-US" sz="2400" dirty="0" smtClean="0"/>
              <a:t>In the uncoupled basis, the atom and field Hamiltonians are given </a:t>
            </a:r>
            <a:r>
              <a:rPr lang="en-US" sz="2400" dirty="0" smtClean="0"/>
              <a:t>by</a:t>
            </a:r>
          </a:p>
          <a:p>
            <a:endParaRPr lang="en-US" altLang="ko-KR" sz="2400" dirty="0" smtClean="0"/>
          </a:p>
          <a:p>
            <a:endParaRPr lang="ko-KR" altLang="en-US" sz="2400" dirty="0" smtClean="0"/>
          </a:p>
          <a:p>
            <a:pPr>
              <a:buNone/>
            </a:pPr>
            <a:r>
              <a:rPr lang="en-US" sz="2400" dirty="0" smtClean="0"/>
              <a:t>	and </a:t>
            </a:r>
            <a:r>
              <a:rPr lang="en-US" sz="2400" dirty="0" smtClean="0"/>
              <a:t>thus the total Hamiltonian can be written </a:t>
            </a:r>
            <a:r>
              <a:rPr lang="en-US" sz="2400" dirty="0" smtClean="0"/>
              <a:t>as</a:t>
            </a:r>
          </a:p>
          <a:p>
            <a:pPr>
              <a:buNone/>
            </a:pPr>
            <a:endParaRPr lang="ko-KR" altLang="en-US" sz="2400" dirty="0" smtClean="0"/>
          </a:p>
          <a:p>
            <a:pPr>
              <a:buNone/>
            </a:pPr>
            <a:endParaRPr lang="ko-KR" altLang="en-US" sz="2400" dirty="0" smtClean="0"/>
          </a:p>
          <a:p>
            <a:pPr>
              <a:buNone/>
            </a:pPr>
            <a:r>
              <a:rPr lang="en-US" sz="2400" dirty="0" smtClean="0"/>
              <a:t>	The </a:t>
            </a:r>
            <a:r>
              <a:rPr lang="en-US" sz="2400" dirty="0" smtClean="0"/>
              <a:t>last term can be dropped by rescaling the origin of energy.</a:t>
            </a:r>
            <a:r>
              <a:rPr lang="en-US" sz="2400" dirty="0" smtClean="0"/>
              <a:t> </a:t>
            </a:r>
            <a:endParaRPr lang="ko-KR" altLang="en-US" sz="2400" dirty="0"/>
          </a:p>
        </p:txBody>
      </p:sp>
      <p:graphicFrame>
        <p:nvGraphicFramePr>
          <p:cNvPr id="226330" name="Object 26"/>
          <p:cNvGraphicFramePr>
            <a:graphicFrameLocks noChangeAspect="1"/>
          </p:cNvGraphicFramePr>
          <p:nvPr/>
        </p:nvGraphicFramePr>
        <p:xfrm>
          <a:off x="1908175" y="646113"/>
          <a:ext cx="1536700" cy="314325"/>
        </p:xfrm>
        <a:graphic>
          <a:graphicData uri="http://schemas.openxmlformats.org/presentationml/2006/ole">
            <p:oleObj spid="_x0000_s226330" name="Equation" r:id="rId3" imgW="1054100" imgH="215900" progId="Equation.3">
              <p:embed/>
            </p:oleObj>
          </a:graphicData>
        </a:graphic>
      </p:graphicFrame>
      <p:graphicFrame>
        <p:nvGraphicFramePr>
          <p:cNvPr id="226331" name="Object 27"/>
          <p:cNvGraphicFramePr>
            <a:graphicFrameLocks noChangeAspect="1"/>
          </p:cNvGraphicFramePr>
          <p:nvPr/>
        </p:nvGraphicFramePr>
        <p:xfrm>
          <a:off x="3295650" y="1828800"/>
          <a:ext cx="2663825" cy="709613"/>
        </p:xfrm>
        <a:graphic>
          <a:graphicData uri="http://schemas.openxmlformats.org/presentationml/2006/ole">
            <p:oleObj spid="_x0000_s226331" name="Equation" r:id="rId4" imgW="1765300" imgH="469900" progId="Equation.3">
              <p:embed/>
            </p:oleObj>
          </a:graphicData>
        </a:graphic>
      </p:graphicFrame>
      <p:graphicFrame>
        <p:nvGraphicFramePr>
          <p:cNvPr id="226332" name="Object 28"/>
          <p:cNvGraphicFramePr>
            <a:graphicFrameLocks noChangeAspect="1"/>
          </p:cNvGraphicFramePr>
          <p:nvPr/>
        </p:nvGraphicFramePr>
        <p:xfrm>
          <a:off x="2508250" y="3529012"/>
          <a:ext cx="4273550" cy="661988"/>
        </p:xfrm>
        <a:graphic>
          <a:graphicData uri="http://schemas.openxmlformats.org/presentationml/2006/ole">
            <p:oleObj spid="_x0000_s226332" name="Equation" r:id="rId5" imgW="2870200" imgH="444500" progId="Equation.3">
              <p:embed/>
            </p:oleObj>
          </a:graphicData>
        </a:graphic>
      </p:graphicFrame>
      <p:graphicFrame>
        <p:nvGraphicFramePr>
          <p:cNvPr id="226333" name="Object 29"/>
          <p:cNvGraphicFramePr>
            <a:graphicFrameLocks noChangeAspect="1"/>
          </p:cNvGraphicFramePr>
          <p:nvPr/>
        </p:nvGraphicFramePr>
        <p:xfrm>
          <a:off x="1476375" y="4776788"/>
          <a:ext cx="6251575" cy="709612"/>
        </p:xfrm>
        <a:graphic>
          <a:graphicData uri="http://schemas.openxmlformats.org/presentationml/2006/ole">
            <p:oleObj spid="_x0000_s226333" name="Equation" r:id="rId6" imgW="4140200" imgH="46990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305800" cy="6248400"/>
          </a:xfrm>
        </p:spPr>
        <p:txBody>
          <a:bodyPr>
            <a:noAutofit/>
          </a:bodyPr>
          <a:lstStyle/>
          <a:p>
            <a:r>
              <a:rPr lang="en-US" sz="2400" dirty="0" smtClean="0"/>
              <a:t>The </a:t>
            </a:r>
            <a:r>
              <a:rPr lang="en-US" sz="2400" dirty="0" smtClean="0"/>
              <a:t>secular equation is </a:t>
            </a:r>
            <a:r>
              <a:rPr lang="en-US" sz="2400" dirty="0" smtClean="0"/>
              <a:t>then</a:t>
            </a:r>
          </a:p>
          <a:p>
            <a:endParaRPr lang="en-US" altLang="ko-KR" sz="2400" dirty="0" smtClean="0"/>
          </a:p>
          <a:p>
            <a:endParaRPr lang="en-US" altLang="ko-KR" sz="2400" dirty="0" smtClean="0"/>
          </a:p>
          <a:p>
            <a:r>
              <a:rPr lang="en-US" sz="2400" dirty="0" smtClean="0"/>
              <a:t>where              , </a:t>
            </a:r>
            <a:r>
              <a:rPr lang="en-US" sz="2400" dirty="0" smtClean="0"/>
              <a:t>the laser-atom detuning. The secular equation </a:t>
            </a:r>
            <a:r>
              <a:rPr lang="en-US" sz="2400" dirty="0" smtClean="0"/>
              <a:t>gives</a:t>
            </a:r>
          </a:p>
          <a:p>
            <a:endParaRPr lang="en-US" altLang="ko-KR" sz="2400" dirty="0" smtClean="0"/>
          </a:p>
          <a:p>
            <a:endParaRPr lang="ko-KR" altLang="en-US" sz="2400" dirty="0" smtClean="0"/>
          </a:p>
          <a:p>
            <a:r>
              <a:rPr lang="en-US" sz="2400" dirty="0" smtClean="0"/>
              <a:t>where </a:t>
            </a:r>
          </a:p>
          <a:p>
            <a:endParaRPr lang="en-US" sz="2400" dirty="0" smtClean="0"/>
          </a:p>
          <a:p>
            <a:r>
              <a:rPr lang="en-US" sz="2400" dirty="0" smtClean="0"/>
              <a:t>Let </a:t>
            </a:r>
            <a:r>
              <a:rPr lang="en-US" sz="2400" dirty="0" smtClean="0"/>
              <a:t>the plus (+) energy state is denoted </a:t>
            </a:r>
            <a:r>
              <a:rPr lang="en-US" sz="2400" dirty="0" smtClean="0"/>
              <a:t>by</a:t>
            </a:r>
          </a:p>
          <a:p>
            <a:endParaRPr lang="ko-KR" altLang="en-US" sz="2400" dirty="0" smtClean="0"/>
          </a:p>
          <a:p>
            <a:pPr>
              <a:buNone/>
            </a:pPr>
            <a:r>
              <a:rPr lang="en-US" sz="2400" dirty="0" smtClean="0"/>
              <a:t>	Then</a:t>
            </a:r>
            <a:endParaRPr lang="ko-KR" altLang="en-US" sz="2400" dirty="0" smtClean="0"/>
          </a:p>
          <a:p>
            <a:endParaRPr lang="ko-KR" altLang="en-US" sz="2400" dirty="0" smtClean="0"/>
          </a:p>
          <a:p>
            <a:endParaRPr lang="ko-KR" altLang="en-US" sz="2400" dirty="0" smtClean="0"/>
          </a:p>
          <a:p>
            <a:endParaRPr lang="ko-KR" altLang="en-US" sz="2400" dirty="0"/>
          </a:p>
        </p:txBody>
      </p:sp>
      <p:graphicFrame>
        <p:nvGraphicFramePr>
          <p:cNvPr id="259078" name="Object 6"/>
          <p:cNvGraphicFramePr>
            <a:graphicFrameLocks noChangeAspect="1"/>
          </p:cNvGraphicFramePr>
          <p:nvPr/>
        </p:nvGraphicFramePr>
        <p:xfrm>
          <a:off x="3600450" y="1143000"/>
          <a:ext cx="2070100" cy="709613"/>
        </p:xfrm>
        <a:graphic>
          <a:graphicData uri="http://schemas.openxmlformats.org/presentationml/2006/ole">
            <p:oleObj spid="_x0000_s259078" name="Equation" r:id="rId3" imgW="1371600" imgH="469900" progId="Equation.3">
              <p:embed/>
            </p:oleObj>
          </a:graphicData>
        </a:graphic>
      </p:graphicFrame>
      <p:graphicFrame>
        <p:nvGraphicFramePr>
          <p:cNvPr id="259079" name="Object 7"/>
          <p:cNvGraphicFramePr>
            <a:graphicFrameLocks noChangeAspect="1"/>
          </p:cNvGraphicFramePr>
          <p:nvPr/>
        </p:nvGraphicFramePr>
        <p:xfrm>
          <a:off x="1905000" y="1999342"/>
          <a:ext cx="1060450" cy="269875"/>
        </p:xfrm>
        <a:graphic>
          <a:graphicData uri="http://schemas.openxmlformats.org/presentationml/2006/ole">
            <p:oleObj spid="_x0000_s259079" name="Equation" r:id="rId4" imgW="698500" imgH="177800" progId="Equation.3">
              <p:embed/>
            </p:oleObj>
          </a:graphicData>
        </a:graphic>
      </p:graphicFrame>
      <p:graphicFrame>
        <p:nvGraphicFramePr>
          <p:cNvPr id="259080" name="Object 8"/>
          <p:cNvGraphicFramePr>
            <a:graphicFrameLocks noChangeAspect="1"/>
          </p:cNvGraphicFramePr>
          <p:nvPr/>
        </p:nvGraphicFramePr>
        <p:xfrm>
          <a:off x="2133600" y="2717006"/>
          <a:ext cx="4903787" cy="852488"/>
        </p:xfrm>
        <a:graphic>
          <a:graphicData uri="http://schemas.openxmlformats.org/presentationml/2006/ole">
            <p:oleObj spid="_x0000_s259080" name="Equation" r:id="rId5" imgW="3289300" imgH="571500" progId="Equation.3">
              <p:embed/>
            </p:oleObj>
          </a:graphicData>
        </a:graphic>
      </p:graphicFrame>
      <p:graphicFrame>
        <p:nvGraphicFramePr>
          <p:cNvPr id="259081" name="Object 9"/>
          <p:cNvGraphicFramePr>
            <a:graphicFrameLocks noChangeAspect="1"/>
          </p:cNvGraphicFramePr>
          <p:nvPr/>
        </p:nvGraphicFramePr>
        <p:xfrm>
          <a:off x="3600450" y="4000500"/>
          <a:ext cx="1597025" cy="403225"/>
        </p:xfrm>
        <a:graphic>
          <a:graphicData uri="http://schemas.openxmlformats.org/presentationml/2006/ole">
            <p:oleObj spid="_x0000_s259081" name="Equation" r:id="rId6" imgW="1054100" imgH="266700" progId="Equation.3">
              <p:embed/>
            </p:oleObj>
          </a:graphicData>
        </a:graphic>
      </p:graphicFrame>
      <p:graphicFrame>
        <p:nvGraphicFramePr>
          <p:cNvPr id="259082" name="Object 10"/>
          <p:cNvGraphicFramePr>
            <a:graphicFrameLocks noChangeAspect="1"/>
          </p:cNvGraphicFramePr>
          <p:nvPr/>
        </p:nvGraphicFramePr>
        <p:xfrm>
          <a:off x="3351213" y="5029200"/>
          <a:ext cx="2319337" cy="315913"/>
        </p:xfrm>
        <a:graphic>
          <a:graphicData uri="http://schemas.openxmlformats.org/presentationml/2006/ole">
            <p:oleObj spid="_x0000_s259082" name="Equation" r:id="rId7" imgW="1587500" imgH="215900" progId="Equation.3">
              <p:embed/>
            </p:oleObj>
          </a:graphicData>
        </a:graphic>
      </p:graphicFrame>
      <p:graphicFrame>
        <p:nvGraphicFramePr>
          <p:cNvPr id="259083" name="Object 11"/>
          <p:cNvGraphicFramePr>
            <a:graphicFrameLocks noChangeAspect="1"/>
          </p:cNvGraphicFramePr>
          <p:nvPr/>
        </p:nvGraphicFramePr>
        <p:xfrm>
          <a:off x="1676400" y="5867400"/>
          <a:ext cx="5842000" cy="504825"/>
        </p:xfrm>
        <a:graphic>
          <a:graphicData uri="http://schemas.openxmlformats.org/presentationml/2006/ole">
            <p:oleObj spid="_x0000_s259083" name="Equation" r:id="rId8" imgW="3962400" imgH="34290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71800"/>
            <a:ext cx="8305800" cy="3810000"/>
          </a:xfrm>
        </p:spPr>
        <p:txBody>
          <a:bodyPr>
            <a:noAutofit/>
          </a:bodyPr>
          <a:lstStyle/>
          <a:p>
            <a:r>
              <a:rPr lang="en-US" sz="2400" dirty="0" smtClean="0"/>
              <a:t>The minus energy state, orthogonal to the plus state, is then given </a:t>
            </a:r>
            <a:r>
              <a:rPr lang="en-US" sz="2400" dirty="0" smtClean="0"/>
              <a:t>by</a:t>
            </a:r>
          </a:p>
          <a:p>
            <a:endParaRPr lang="en-US" altLang="ko-KR" sz="2400" dirty="0" smtClean="0"/>
          </a:p>
          <a:p>
            <a:endParaRPr lang="en-US" altLang="ko-KR" sz="2400" dirty="0" smtClean="0"/>
          </a:p>
          <a:p>
            <a:pPr>
              <a:buNone/>
            </a:pPr>
            <a:r>
              <a:rPr lang="en-US" sz="2400" dirty="0" err="1" smtClean="0"/>
              <a:t>i</a:t>
            </a:r>
            <a:r>
              <a:rPr lang="en-US" sz="2400" dirty="0" smtClean="0"/>
              <a:t>) For zero detuning (</a:t>
            </a:r>
            <a:r>
              <a:rPr lang="en-US" sz="2400" i="1" dirty="0" err="1" smtClean="0"/>
              <a:t>x</a:t>
            </a:r>
            <a:r>
              <a:rPr lang="en-US" sz="2400" dirty="0" smtClean="0"/>
              <a:t>=0),   </a:t>
            </a:r>
            <a:endParaRPr lang="ko-KR" altLang="en-US" sz="2400" dirty="0" smtClean="0"/>
          </a:p>
          <a:p>
            <a:pPr>
              <a:buNone/>
            </a:pPr>
            <a:endParaRPr lang="ko-KR" altLang="en-US" sz="2400" dirty="0"/>
          </a:p>
        </p:txBody>
      </p:sp>
      <p:graphicFrame>
        <p:nvGraphicFramePr>
          <p:cNvPr id="260104" name="Object 8"/>
          <p:cNvGraphicFramePr>
            <a:graphicFrameLocks noChangeAspect="1"/>
          </p:cNvGraphicFramePr>
          <p:nvPr/>
        </p:nvGraphicFramePr>
        <p:xfrm>
          <a:off x="876300" y="715963"/>
          <a:ext cx="7415213" cy="2033587"/>
        </p:xfrm>
        <a:graphic>
          <a:graphicData uri="http://schemas.openxmlformats.org/presentationml/2006/ole">
            <p:oleObj spid="_x0000_s260104" name="Equation" r:id="rId3" imgW="4953000" imgH="1358900" progId="Equation.3">
              <p:embed/>
            </p:oleObj>
          </a:graphicData>
        </a:graphic>
      </p:graphicFrame>
      <p:graphicFrame>
        <p:nvGraphicFramePr>
          <p:cNvPr id="260105" name="Object 9"/>
          <p:cNvGraphicFramePr>
            <a:graphicFrameLocks noChangeAspect="1"/>
          </p:cNvGraphicFramePr>
          <p:nvPr/>
        </p:nvGraphicFramePr>
        <p:xfrm>
          <a:off x="3429000" y="3886200"/>
          <a:ext cx="2324100" cy="312738"/>
        </p:xfrm>
        <a:graphic>
          <a:graphicData uri="http://schemas.openxmlformats.org/presentationml/2006/ole">
            <p:oleObj spid="_x0000_s260105" name="Equation" r:id="rId4" imgW="1600200" imgH="215900" progId="Equation.3">
              <p:embed/>
            </p:oleObj>
          </a:graphicData>
        </a:graphic>
      </p:graphicFrame>
      <p:graphicFrame>
        <p:nvGraphicFramePr>
          <p:cNvPr id="260106" name="Object 10"/>
          <p:cNvGraphicFramePr>
            <a:graphicFrameLocks noChangeAspect="1"/>
          </p:cNvGraphicFramePr>
          <p:nvPr/>
        </p:nvGraphicFramePr>
        <p:xfrm>
          <a:off x="4146550" y="4733471"/>
          <a:ext cx="1312863" cy="323850"/>
        </p:xfrm>
        <a:graphic>
          <a:graphicData uri="http://schemas.openxmlformats.org/presentationml/2006/ole">
            <p:oleObj spid="_x0000_s260106" name="Equation" r:id="rId5" imgW="876300" imgH="215900" progId="Equation.3">
              <p:embed/>
            </p:oleObj>
          </a:graphicData>
        </a:graphic>
      </p:graphicFrame>
      <p:graphicFrame>
        <p:nvGraphicFramePr>
          <p:cNvPr id="260107" name="Object 11"/>
          <p:cNvGraphicFramePr>
            <a:graphicFrameLocks noChangeAspect="1"/>
          </p:cNvGraphicFramePr>
          <p:nvPr/>
        </p:nvGraphicFramePr>
        <p:xfrm>
          <a:off x="5753100" y="4733471"/>
          <a:ext cx="1323975" cy="312738"/>
        </p:xfrm>
        <a:graphic>
          <a:graphicData uri="http://schemas.openxmlformats.org/presentationml/2006/ole">
            <p:oleObj spid="_x0000_s260107" name="Equation" r:id="rId6" imgW="914400" imgH="215900" progId="Equation.3">
              <p:embed/>
            </p:oleObj>
          </a:graphicData>
        </a:graphic>
      </p:graphicFrame>
      <p:graphicFrame>
        <p:nvGraphicFramePr>
          <p:cNvPr id="260108" name="Object 12"/>
          <p:cNvGraphicFramePr>
            <a:graphicFrameLocks noChangeAspect="1"/>
          </p:cNvGraphicFramePr>
          <p:nvPr/>
        </p:nvGraphicFramePr>
        <p:xfrm>
          <a:off x="3429000" y="5257800"/>
          <a:ext cx="2600325" cy="577850"/>
        </p:xfrm>
        <a:graphic>
          <a:graphicData uri="http://schemas.openxmlformats.org/presentationml/2006/ole">
            <p:oleObj spid="_x0000_s260108" name="Equation" r:id="rId7" imgW="1714500" imgH="381000" progId="Equation.3">
              <p:embed/>
            </p:oleObj>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305800" cy="6172200"/>
          </a:xfrm>
        </p:spPr>
        <p:txBody>
          <a:bodyPr>
            <a:noAutofit/>
          </a:bodyPr>
          <a:lstStyle/>
          <a:p>
            <a:pPr>
              <a:buNone/>
            </a:pPr>
            <a:r>
              <a:rPr lang="en-US" sz="2400" dirty="0" smtClean="0"/>
              <a:t>ii) For a large positive detuning (</a:t>
            </a:r>
            <a:r>
              <a:rPr lang="en-US" sz="2400" i="1" dirty="0" err="1" smtClean="0"/>
              <a:t>x</a:t>
            </a:r>
            <a:r>
              <a:rPr lang="en-US" sz="2400" dirty="0" smtClean="0"/>
              <a:t>&gt;&gt;1),   </a:t>
            </a:r>
            <a:endParaRPr lang="ko-KR" altLang="en-US" sz="2400" dirty="0" smtClean="0"/>
          </a:p>
          <a:p>
            <a:pPr>
              <a:buNone/>
            </a:pPr>
            <a:endParaRPr lang="en-US" sz="2400" dirty="0" smtClean="0"/>
          </a:p>
          <a:p>
            <a:pPr>
              <a:buNone/>
            </a:pPr>
            <a:r>
              <a:rPr lang="en-US" sz="2400" dirty="0" smtClean="0"/>
              <a:t>iii</a:t>
            </a:r>
            <a:r>
              <a:rPr lang="en-US" sz="2400" dirty="0" smtClean="0"/>
              <a:t>) For a large negative detuning (-</a:t>
            </a:r>
            <a:r>
              <a:rPr lang="en-US" sz="2400" i="1" dirty="0" err="1" smtClean="0"/>
              <a:t>x</a:t>
            </a:r>
            <a:r>
              <a:rPr lang="en-US" sz="2400" dirty="0" smtClean="0"/>
              <a:t>&gt;&gt;1)</a:t>
            </a:r>
            <a:r>
              <a:rPr lang="en-US" sz="2400" dirty="0" smtClean="0"/>
              <a:t>,</a:t>
            </a:r>
          </a:p>
          <a:p>
            <a:pPr>
              <a:buNone/>
            </a:pPr>
            <a:endParaRPr lang="en-US" sz="2400" dirty="0" smtClean="0"/>
          </a:p>
          <a:p>
            <a:pPr>
              <a:buNone/>
            </a:pPr>
            <a:r>
              <a:rPr lang="en-US" sz="2400" dirty="0" smtClean="0"/>
              <a:t>iv) Uncoupled states (</a:t>
            </a:r>
            <a:r>
              <a:rPr lang="en-US" sz="2400" i="1" dirty="0" err="1" smtClean="0"/>
              <a:t>g</a:t>
            </a:r>
            <a:r>
              <a:rPr lang="en-US" sz="2400" dirty="0" smtClean="0"/>
              <a:t>=0)</a:t>
            </a:r>
            <a:r>
              <a:rPr lang="en-US" sz="2400" dirty="0" smtClean="0"/>
              <a:t>,          .</a:t>
            </a:r>
          </a:p>
          <a:p>
            <a:pPr>
              <a:buNone/>
            </a:pPr>
            <a:endParaRPr lang="en-US" altLang="ko-KR" sz="2400" dirty="0" smtClean="0"/>
          </a:p>
          <a:p>
            <a:pPr>
              <a:buNone/>
            </a:pPr>
            <a:endParaRPr lang="ko-KR" altLang="en-US" sz="2400" dirty="0" smtClean="0"/>
          </a:p>
          <a:p>
            <a:r>
              <a:rPr lang="en-US" sz="2400" dirty="0" smtClean="0"/>
              <a:t>More natural </a:t>
            </a:r>
            <a:r>
              <a:rPr lang="en-US" sz="2400" dirty="0" err="1" smtClean="0"/>
              <a:t>eigenvalues</a:t>
            </a:r>
            <a:r>
              <a:rPr lang="en-US" sz="2400" dirty="0" smtClean="0"/>
              <a:t> </a:t>
            </a:r>
            <a:r>
              <a:rPr lang="en-US" sz="2400" dirty="0" smtClean="0"/>
              <a:t>are                        and corresponding </a:t>
            </a:r>
            <a:r>
              <a:rPr lang="en-US" sz="2400" dirty="0" err="1" smtClean="0"/>
              <a:t>eigen</a:t>
            </a:r>
            <a:r>
              <a:rPr lang="en-US" sz="2400" dirty="0" smtClean="0"/>
              <a:t> functions </a:t>
            </a:r>
            <a:r>
              <a:rPr lang="en-US" sz="2400" dirty="0" smtClean="0"/>
              <a:t>are                       </a:t>
            </a:r>
            <a:r>
              <a:rPr lang="en-US" sz="2400" dirty="0" smtClean="0"/>
              <a:t>. The </a:t>
            </a:r>
            <a:r>
              <a:rPr lang="en-US" sz="2400" dirty="0" err="1" smtClean="0"/>
              <a:t>eigenvalues</a:t>
            </a:r>
            <a:r>
              <a:rPr lang="en-US" sz="2400" dirty="0" smtClean="0"/>
              <a:t> of the uncoupled states cross </a:t>
            </a:r>
            <a:r>
              <a:rPr lang="en-US" sz="2400" dirty="0" smtClean="0"/>
              <a:t>at       </a:t>
            </a:r>
            <a:r>
              <a:rPr lang="en-US" sz="2400" dirty="0" smtClean="0"/>
              <a:t>whereas the coupled states exhibit </a:t>
            </a:r>
            <a:r>
              <a:rPr lang="en-US" sz="2400" dirty="0" err="1" smtClean="0"/>
              <a:t>anticrossing</a:t>
            </a:r>
            <a:r>
              <a:rPr lang="en-US" sz="2400" dirty="0" smtClean="0"/>
              <a:t> (separated </a:t>
            </a:r>
            <a:r>
              <a:rPr lang="en-US" sz="2400" dirty="0" smtClean="0"/>
              <a:t>by             at        </a:t>
            </a:r>
            <a:r>
              <a:rPr lang="en-US" sz="2400" dirty="0" smtClean="0"/>
              <a:t>) due to the atom-field coupling.</a:t>
            </a:r>
            <a:endParaRPr lang="ko-KR" altLang="en-US" sz="2400" dirty="0" smtClean="0"/>
          </a:p>
          <a:p>
            <a:pPr>
              <a:buNone/>
            </a:pPr>
            <a:r>
              <a:rPr lang="en-US" sz="2400" dirty="0" smtClean="0"/>
              <a:t>   </a:t>
            </a:r>
            <a:endParaRPr lang="ko-KR" altLang="en-US" sz="2400" dirty="0" smtClean="0"/>
          </a:p>
          <a:p>
            <a:pPr>
              <a:buNone/>
            </a:pPr>
            <a:endParaRPr lang="ko-KR" altLang="en-US" sz="2400" dirty="0"/>
          </a:p>
        </p:txBody>
      </p:sp>
      <p:graphicFrame>
        <p:nvGraphicFramePr>
          <p:cNvPr id="261127" name="Object 7"/>
          <p:cNvGraphicFramePr>
            <a:graphicFrameLocks noChangeAspect="1"/>
          </p:cNvGraphicFramePr>
          <p:nvPr/>
        </p:nvGraphicFramePr>
        <p:xfrm>
          <a:off x="5867400" y="762000"/>
          <a:ext cx="1301750" cy="271463"/>
        </p:xfrm>
        <a:graphic>
          <a:graphicData uri="http://schemas.openxmlformats.org/presentationml/2006/ole">
            <p:oleObj spid="_x0000_s261127" name="Equation" r:id="rId3" imgW="850900" imgH="177800" progId="Equation.3">
              <p:embed/>
            </p:oleObj>
          </a:graphicData>
        </a:graphic>
      </p:graphicFrame>
      <p:graphicFrame>
        <p:nvGraphicFramePr>
          <p:cNvPr id="261128" name="Object 8"/>
          <p:cNvGraphicFramePr>
            <a:graphicFrameLocks noChangeAspect="1"/>
          </p:cNvGraphicFramePr>
          <p:nvPr/>
        </p:nvGraphicFramePr>
        <p:xfrm>
          <a:off x="7305675" y="762000"/>
          <a:ext cx="1457325" cy="271463"/>
        </p:xfrm>
        <a:graphic>
          <a:graphicData uri="http://schemas.openxmlformats.org/presentationml/2006/ole">
            <p:oleObj spid="_x0000_s261128" name="Equation" r:id="rId4" imgW="952500" imgH="177800" progId="Equation.3">
              <p:embed/>
            </p:oleObj>
          </a:graphicData>
        </a:graphic>
      </p:graphicFrame>
      <p:graphicFrame>
        <p:nvGraphicFramePr>
          <p:cNvPr id="261129" name="Object 9"/>
          <p:cNvGraphicFramePr>
            <a:graphicFrameLocks noChangeAspect="1"/>
          </p:cNvGraphicFramePr>
          <p:nvPr/>
        </p:nvGraphicFramePr>
        <p:xfrm>
          <a:off x="3341688" y="1219200"/>
          <a:ext cx="2668587" cy="314325"/>
        </p:xfrm>
        <a:graphic>
          <a:graphicData uri="http://schemas.openxmlformats.org/presentationml/2006/ole">
            <p:oleObj spid="_x0000_s261129" name="Equation" r:id="rId5" imgW="1828800" imgH="215900" progId="Equation.3">
              <p:embed/>
            </p:oleObj>
          </a:graphicData>
        </a:graphic>
      </p:graphicFrame>
      <p:graphicFrame>
        <p:nvGraphicFramePr>
          <p:cNvPr id="11" name="Object 7"/>
          <p:cNvGraphicFramePr>
            <a:graphicFrameLocks noChangeAspect="1"/>
          </p:cNvGraphicFramePr>
          <p:nvPr/>
        </p:nvGraphicFramePr>
        <p:xfrm>
          <a:off x="6136370" y="1624235"/>
          <a:ext cx="1282700" cy="271463"/>
        </p:xfrm>
        <a:graphic>
          <a:graphicData uri="http://schemas.openxmlformats.org/presentationml/2006/ole">
            <p:oleObj spid="_x0000_s261130" name="Equation" r:id="rId6" imgW="838200" imgH="177800" progId="Equation.3">
              <p:embed/>
            </p:oleObj>
          </a:graphicData>
        </a:graphic>
      </p:graphicFrame>
      <p:graphicFrame>
        <p:nvGraphicFramePr>
          <p:cNvPr id="12" name="Object 8"/>
          <p:cNvGraphicFramePr>
            <a:graphicFrameLocks noChangeAspect="1"/>
          </p:cNvGraphicFramePr>
          <p:nvPr/>
        </p:nvGraphicFramePr>
        <p:xfrm>
          <a:off x="7498445" y="1624235"/>
          <a:ext cx="1457325" cy="271463"/>
        </p:xfrm>
        <a:graphic>
          <a:graphicData uri="http://schemas.openxmlformats.org/presentationml/2006/ole">
            <p:oleObj spid="_x0000_s261131" name="Equation" r:id="rId7" imgW="952500" imgH="177800" progId="Equation.3">
              <p:embed/>
            </p:oleObj>
          </a:graphicData>
        </a:graphic>
      </p:graphicFrame>
      <p:graphicFrame>
        <p:nvGraphicFramePr>
          <p:cNvPr id="13" name="Object 9"/>
          <p:cNvGraphicFramePr>
            <a:graphicFrameLocks noChangeAspect="1"/>
          </p:cNvGraphicFramePr>
          <p:nvPr/>
        </p:nvGraphicFramePr>
        <p:xfrm>
          <a:off x="3276600" y="2057400"/>
          <a:ext cx="2798763" cy="314325"/>
        </p:xfrm>
        <a:graphic>
          <a:graphicData uri="http://schemas.openxmlformats.org/presentationml/2006/ole">
            <p:oleObj spid="_x0000_s261132" name="Equation" r:id="rId8" imgW="1917700" imgH="215900" progId="Equation.3">
              <p:embed/>
            </p:oleObj>
          </a:graphicData>
        </a:graphic>
      </p:graphicFrame>
      <p:graphicFrame>
        <p:nvGraphicFramePr>
          <p:cNvPr id="261133" name="Object 13"/>
          <p:cNvGraphicFramePr>
            <a:graphicFrameLocks noChangeAspect="1"/>
          </p:cNvGraphicFramePr>
          <p:nvPr/>
        </p:nvGraphicFramePr>
        <p:xfrm>
          <a:off x="4327525" y="2514600"/>
          <a:ext cx="722313" cy="190500"/>
        </p:xfrm>
        <a:graphic>
          <a:graphicData uri="http://schemas.openxmlformats.org/presentationml/2006/ole">
            <p:oleObj spid="_x0000_s261133" name="Equation" r:id="rId9" imgW="482600" imgH="127000" progId="Equation.3">
              <p:embed/>
            </p:oleObj>
          </a:graphicData>
        </a:graphic>
      </p:graphicFrame>
      <p:graphicFrame>
        <p:nvGraphicFramePr>
          <p:cNvPr id="261134" name="Object 14"/>
          <p:cNvGraphicFramePr>
            <a:graphicFrameLocks noChangeAspect="1"/>
          </p:cNvGraphicFramePr>
          <p:nvPr/>
        </p:nvGraphicFramePr>
        <p:xfrm>
          <a:off x="3061383" y="2874962"/>
          <a:ext cx="3074987" cy="663575"/>
        </p:xfrm>
        <a:graphic>
          <a:graphicData uri="http://schemas.openxmlformats.org/presentationml/2006/ole">
            <p:oleObj spid="_x0000_s261134" name="Equation" r:id="rId10" imgW="2057400" imgH="444500" progId="Equation.3">
              <p:embed/>
            </p:oleObj>
          </a:graphicData>
        </a:graphic>
      </p:graphicFrame>
      <p:graphicFrame>
        <p:nvGraphicFramePr>
          <p:cNvPr id="261135" name="Object 15"/>
          <p:cNvGraphicFramePr>
            <a:graphicFrameLocks noChangeAspect="1"/>
          </p:cNvGraphicFramePr>
          <p:nvPr/>
        </p:nvGraphicFramePr>
        <p:xfrm>
          <a:off x="5087826" y="3834492"/>
          <a:ext cx="1754188" cy="298450"/>
        </p:xfrm>
        <a:graphic>
          <a:graphicData uri="http://schemas.openxmlformats.org/presentationml/2006/ole">
            <p:oleObj spid="_x0000_s261135" name="Equation" r:id="rId11" imgW="1193800" imgH="203200" progId="Equation.3">
              <p:embed/>
            </p:oleObj>
          </a:graphicData>
        </a:graphic>
      </p:graphicFrame>
      <p:graphicFrame>
        <p:nvGraphicFramePr>
          <p:cNvPr id="261136" name="Object 16"/>
          <p:cNvGraphicFramePr>
            <a:graphicFrameLocks noChangeAspect="1"/>
          </p:cNvGraphicFramePr>
          <p:nvPr/>
        </p:nvGraphicFramePr>
        <p:xfrm>
          <a:off x="5646966" y="4169226"/>
          <a:ext cx="1781175" cy="315913"/>
        </p:xfrm>
        <a:graphic>
          <a:graphicData uri="http://schemas.openxmlformats.org/presentationml/2006/ole">
            <p:oleObj spid="_x0000_s261136" name="Equation" r:id="rId12" imgW="1219200" imgH="215900" progId="Equation.3">
              <p:embed/>
            </p:oleObj>
          </a:graphicData>
        </a:graphic>
      </p:graphicFrame>
      <p:graphicFrame>
        <p:nvGraphicFramePr>
          <p:cNvPr id="261137" name="Object 17"/>
          <p:cNvGraphicFramePr>
            <a:graphicFrameLocks noChangeAspect="1"/>
          </p:cNvGraphicFramePr>
          <p:nvPr/>
        </p:nvGraphicFramePr>
        <p:xfrm>
          <a:off x="7086600" y="4565424"/>
          <a:ext cx="511175" cy="207963"/>
        </p:xfrm>
        <a:graphic>
          <a:graphicData uri="http://schemas.openxmlformats.org/presentationml/2006/ole">
            <p:oleObj spid="_x0000_s261137" name="Equation" r:id="rId13" imgW="342900" imgH="139700" progId="Equation.3">
              <p:embed/>
            </p:oleObj>
          </a:graphicData>
        </a:graphic>
      </p:graphicFrame>
      <p:graphicFrame>
        <p:nvGraphicFramePr>
          <p:cNvPr id="261138" name="Object 18"/>
          <p:cNvGraphicFramePr>
            <a:graphicFrameLocks noChangeAspect="1"/>
          </p:cNvGraphicFramePr>
          <p:nvPr/>
        </p:nvGraphicFramePr>
        <p:xfrm>
          <a:off x="2924969" y="5257800"/>
          <a:ext cx="833437" cy="314325"/>
        </p:xfrm>
        <a:graphic>
          <a:graphicData uri="http://schemas.openxmlformats.org/presentationml/2006/ole">
            <p:oleObj spid="_x0000_s261138" name="Equation" r:id="rId14" imgW="571500" imgH="215900" progId="Equation.3">
              <p:embed/>
            </p:oleObj>
          </a:graphicData>
        </a:graphic>
      </p:graphicFrame>
      <p:graphicFrame>
        <p:nvGraphicFramePr>
          <p:cNvPr id="20" name="Object 17"/>
          <p:cNvGraphicFramePr>
            <a:graphicFrameLocks noChangeAspect="1"/>
          </p:cNvGraphicFramePr>
          <p:nvPr/>
        </p:nvGraphicFramePr>
        <p:xfrm>
          <a:off x="4327525" y="5300665"/>
          <a:ext cx="511175" cy="207963"/>
        </p:xfrm>
        <a:graphic>
          <a:graphicData uri="http://schemas.openxmlformats.org/presentationml/2006/ole">
            <p:oleObj spid="_x0000_s261139" name="Equation" r:id="rId15" imgW="342900" imgH="139700" progId="Equation.3">
              <p:embed/>
            </p:oleObj>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24400"/>
            <a:ext cx="8305800" cy="1535113"/>
          </a:xfrm>
        </p:spPr>
        <p:txBody>
          <a:bodyPr>
            <a:noAutofit/>
          </a:bodyPr>
          <a:lstStyle/>
          <a:p>
            <a:r>
              <a:rPr lang="en-US" sz="2400" b="1" dirty="0" smtClean="0"/>
              <a:t>Fig. 5</a:t>
            </a:r>
            <a:r>
              <a:rPr lang="en-US" sz="2400" dirty="0" smtClean="0"/>
              <a:t>. The coefficients </a:t>
            </a:r>
            <a:r>
              <a:rPr lang="en-US" sz="2400" i="1" dirty="0" smtClean="0">
                <a:latin typeface="Symbol" charset="2"/>
                <a:cs typeface="Symbol" charset="2"/>
              </a:rPr>
              <a:t>a</a:t>
            </a:r>
            <a:r>
              <a:rPr lang="en-US" sz="2400" dirty="0" smtClean="0"/>
              <a:t> and </a:t>
            </a:r>
            <a:r>
              <a:rPr lang="en-US" sz="2400" i="1" dirty="0" err="1" smtClean="0">
                <a:latin typeface="Symbol" charset="2"/>
                <a:cs typeface="Symbol" charset="2"/>
              </a:rPr>
              <a:t>b</a:t>
            </a:r>
            <a:r>
              <a:rPr lang="en-US" sz="2400" dirty="0" smtClean="0"/>
              <a:t> and </a:t>
            </a:r>
            <a:r>
              <a:rPr lang="en-US" sz="2400" dirty="0" err="1" smtClean="0"/>
              <a:t>eigen</a:t>
            </a:r>
            <a:r>
              <a:rPr lang="en-US" sz="2400" dirty="0" smtClean="0"/>
              <a:t>-</a:t>
            </a:r>
            <a:r>
              <a:rPr lang="en-US" sz="2400" dirty="0" smtClean="0"/>
              <a:t>energies </a:t>
            </a:r>
            <a:r>
              <a:rPr lang="en-US" sz="2400" dirty="0" err="1" smtClean="0">
                <a:latin typeface="Symbol" charset="2"/>
                <a:cs typeface="Symbol" charset="2"/>
              </a:rPr>
              <a:t>n</a:t>
            </a:r>
            <a:r>
              <a:rPr lang="en-US" sz="2400" baseline="-25000" dirty="0" smtClean="0"/>
              <a:t>±</a:t>
            </a:r>
            <a:r>
              <a:rPr lang="en-US" sz="2400" dirty="0" smtClean="0"/>
              <a:t>  </a:t>
            </a:r>
            <a:r>
              <a:rPr lang="en-US" sz="2400" dirty="0" smtClean="0"/>
              <a:t>in the dressed-state picture are plotted</a:t>
            </a:r>
            <a:r>
              <a:rPr lang="en-US" sz="2400" dirty="0" smtClean="0"/>
              <a:t>.</a:t>
            </a:r>
            <a:endParaRPr lang="ko-KR" altLang="en-US" sz="2400" dirty="0"/>
          </a:p>
        </p:txBody>
      </p:sp>
      <p:pic>
        <p:nvPicPr>
          <p:cNvPr id="14" name="Picture 13" descr="fig5.tiff"/>
          <p:cNvPicPr>
            <a:picLocks noChangeAspect="1"/>
          </p:cNvPicPr>
          <p:nvPr/>
        </p:nvPicPr>
        <p:blipFill>
          <a:blip r:embed="rId2"/>
          <a:stretch>
            <a:fillRect/>
          </a:stretch>
        </p:blipFill>
        <p:spPr>
          <a:xfrm>
            <a:off x="381000" y="1649809"/>
            <a:ext cx="8458200" cy="2922191"/>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6248400"/>
          </a:xfrm>
        </p:spPr>
        <p:txBody>
          <a:bodyPr>
            <a:noAutofit/>
          </a:bodyPr>
          <a:lstStyle/>
          <a:p>
            <a:pPr>
              <a:buNone/>
            </a:pPr>
            <a:r>
              <a:rPr lang="en-US" sz="2800" b="1" i="1" dirty="0" smtClean="0">
                <a:latin typeface="Times New Roman"/>
                <a:cs typeface="Times New Roman"/>
              </a:rPr>
              <a:t>AC Stark Shift, Light Shift and Dipole Trap</a:t>
            </a:r>
            <a:endParaRPr lang="ko-KR" altLang="en-US" sz="2800" b="1" i="1" dirty="0" smtClean="0">
              <a:latin typeface="Times New Roman"/>
              <a:cs typeface="Times New Roman"/>
            </a:endParaRPr>
          </a:p>
          <a:p>
            <a:pPr>
              <a:buNone/>
            </a:pPr>
            <a:r>
              <a:rPr lang="en-US" sz="1100" dirty="0" smtClean="0"/>
              <a:t> </a:t>
            </a:r>
          </a:p>
          <a:p>
            <a:r>
              <a:rPr lang="en-US" sz="2400" dirty="0" smtClean="0"/>
              <a:t>For </a:t>
            </a:r>
            <a:r>
              <a:rPr lang="en-US" sz="2400" dirty="0" smtClean="0"/>
              <a:t>a large positive </a:t>
            </a:r>
            <a:r>
              <a:rPr lang="en-US" sz="2400" dirty="0" smtClean="0"/>
              <a:t>detuning            </a:t>
            </a:r>
            <a:r>
              <a:rPr lang="en-US" sz="2400" dirty="0" smtClean="0"/>
              <a:t>, the energy of the positive-energy </a:t>
            </a:r>
            <a:r>
              <a:rPr lang="en-US" sz="2400" dirty="0" err="1" smtClean="0"/>
              <a:t>eigenstate</a:t>
            </a:r>
            <a:r>
              <a:rPr lang="en-US" sz="2400" dirty="0" smtClean="0"/>
              <a:t> is slightly higher than that of the upper uncoupled state whereas the energy of the negative-energy </a:t>
            </a:r>
            <a:r>
              <a:rPr lang="en-US" sz="2400" dirty="0" err="1" smtClean="0"/>
              <a:t>eigenstate</a:t>
            </a:r>
            <a:r>
              <a:rPr lang="en-US" sz="2400" dirty="0" smtClean="0"/>
              <a:t> is slightly lower than that of the lower uncoupled state. These energy difference or frequency shift is called the light shift or the AC Stark shift.</a:t>
            </a:r>
            <a:r>
              <a:rPr lang="en-US" sz="2400" dirty="0" smtClean="0"/>
              <a:t> </a:t>
            </a:r>
          </a:p>
          <a:p>
            <a:r>
              <a:rPr lang="en-US" sz="2400" dirty="0" smtClean="0"/>
              <a:t>The </a:t>
            </a:r>
            <a:r>
              <a:rPr lang="en-US" sz="2400" dirty="0" smtClean="0"/>
              <a:t>amount of shift is given </a:t>
            </a:r>
            <a:r>
              <a:rPr lang="en-US" sz="2400" dirty="0" smtClean="0"/>
              <a:t>by</a:t>
            </a:r>
          </a:p>
          <a:p>
            <a:endParaRPr lang="en-US" altLang="ko-KR" sz="2400" dirty="0" smtClean="0"/>
          </a:p>
          <a:p>
            <a:r>
              <a:rPr lang="en-US" sz="2400" dirty="0" smtClean="0"/>
              <a:t>regardless of the sign of the field-atom detuning</a:t>
            </a:r>
            <a:r>
              <a:rPr lang="en-US" sz="2400" dirty="0" smtClean="0"/>
              <a:t> </a:t>
            </a:r>
            <a:r>
              <a:rPr lang="en-US" sz="2400" i="1" dirty="0" err="1" smtClean="0">
                <a:latin typeface="Symbol" charset="2"/>
                <a:cs typeface="Symbol" charset="2"/>
              </a:rPr>
              <a:t>d</a:t>
            </a:r>
            <a:r>
              <a:rPr lang="en-US" sz="2400" dirty="0" smtClean="0"/>
              <a:t>. Here    . represent </a:t>
            </a:r>
            <a:r>
              <a:rPr lang="en-US" sz="2400" dirty="0" smtClean="0"/>
              <a:t>the light shift for the positive/negative-energy </a:t>
            </a:r>
            <a:r>
              <a:rPr lang="en-US" sz="2400" dirty="0" err="1" smtClean="0"/>
              <a:t>eigenstates</a:t>
            </a:r>
            <a:r>
              <a:rPr lang="en-US" sz="2400" dirty="0" smtClean="0"/>
              <a:t>, </a:t>
            </a:r>
            <a:r>
              <a:rPr lang="en-US" sz="2400" dirty="0" smtClean="0"/>
              <a:t>respectively, </a:t>
            </a:r>
            <a:r>
              <a:rPr lang="en-US" sz="2400" dirty="0" smtClean="0"/>
              <a:t>and we used the correspondence with the </a:t>
            </a:r>
            <a:r>
              <a:rPr lang="en-US" sz="2400" dirty="0" err="1" smtClean="0"/>
              <a:t>semiclassical</a:t>
            </a:r>
            <a:r>
              <a:rPr lang="en-US" sz="2400" dirty="0" smtClean="0"/>
              <a:t> Rabi </a:t>
            </a:r>
            <a:r>
              <a:rPr lang="en-US" sz="2400" dirty="0" smtClean="0"/>
              <a:t>frequency             .   as </a:t>
            </a:r>
            <a:r>
              <a:rPr lang="en-US" sz="2400" i="1" dirty="0" err="1" smtClean="0"/>
              <a:t>n</a:t>
            </a:r>
            <a:r>
              <a:rPr lang="en-US" sz="2400" dirty="0" smtClean="0"/>
              <a:t> goes to infinity. </a:t>
            </a:r>
            <a:endParaRPr lang="ko-KR" altLang="en-US" sz="2400" dirty="0"/>
          </a:p>
        </p:txBody>
      </p:sp>
      <p:graphicFrame>
        <p:nvGraphicFramePr>
          <p:cNvPr id="238606" name="Object 14"/>
          <p:cNvGraphicFramePr>
            <a:graphicFrameLocks noChangeAspect="1"/>
          </p:cNvGraphicFramePr>
          <p:nvPr/>
        </p:nvGraphicFramePr>
        <p:xfrm>
          <a:off x="4953000" y="1297216"/>
          <a:ext cx="803275" cy="266700"/>
        </p:xfrm>
        <a:graphic>
          <a:graphicData uri="http://schemas.openxmlformats.org/presentationml/2006/ole">
            <p:oleObj spid="_x0000_s238606" name="Equation" r:id="rId3" imgW="533400" imgH="177800" progId="Equation.3">
              <p:embed/>
            </p:oleObj>
          </a:graphicData>
        </a:graphic>
      </p:graphicFrame>
      <p:graphicFrame>
        <p:nvGraphicFramePr>
          <p:cNvPr id="238607" name="Object 15"/>
          <p:cNvGraphicFramePr>
            <a:graphicFrameLocks noChangeAspect="1"/>
          </p:cNvGraphicFramePr>
          <p:nvPr/>
        </p:nvGraphicFramePr>
        <p:xfrm>
          <a:off x="1447800" y="4269016"/>
          <a:ext cx="6430962" cy="423863"/>
        </p:xfrm>
        <a:graphic>
          <a:graphicData uri="http://schemas.openxmlformats.org/presentationml/2006/ole">
            <p:oleObj spid="_x0000_s238607" name="Equation" r:id="rId4" imgW="4241800" imgH="279400" progId="Equation.3">
              <p:embed/>
            </p:oleObj>
          </a:graphicData>
        </a:graphic>
      </p:graphicFrame>
      <p:graphicFrame>
        <p:nvGraphicFramePr>
          <p:cNvPr id="238608" name="Object 16"/>
          <p:cNvGraphicFramePr>
            <a:graphicFrameLocks noChangeAspect="1"/>
          </p:cNvGraphicFramePr>
          <p:nvPr/>
        </p:nvGraphicFramePr>
        <p:xfrm>
          <a:off x="1676400" y="5183416"/>
          <a:ext cx="382588" cy="266700"/>
        </p:xfrm>
        <a:graphic>
          <a:graphicData uri="http://schemas.openxmlformats.org/presentationml/2006/ole">
            <p:oleObj spid="_x0000_s238608" name="Equation" r:id="rId5" imgW="254000" imgH="177800" progId="Equation.3">
              <p:embed/>
            </p:oleObj>
          </a:graphicData>
        </a:graphic>
      </p:graphicFrame>
      <p:graphicFrame>
        <p:nvGraphicFramePr>
          <p:cNvPr id="238609" name="Object 17"/>
          <p:cNvGraphicFramePr>
            <a:graphicFrameLocks noChangeAspect="1"/>
          </p:cNvGraphicFramePr>
          <p:nvPr/>
        </p:nvGraphicFramePr>
        <p:xfrm>
          <a:off x="2447925" y="6248400"/>
          <a:ext cx="1133475" cy="315913"/>
        </p:xfrm>
        <a:graphic>
          <a:graphicData uri="http://schemas.openxmlformats.org/presentationml/2006/ole">
            <p:oleObj spid="_x0000_s238609" name="Equation" r:id="rId6" imgW="774700" imgH="215900" progId="Equation.3">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458200" cy="4724400"/>
          </a:xfrm>
        </p:spPr>
        <p:txBody>
          <a:bodyPr>
            <a:noAutofit/>
          </a:bodyPr>
          <a:lstStyle/>
          <a:p>
            <a:r>
              <a:rPr lang="en-US" sz="2400" dirty="0" smtClean="0"/>
              <a:t>Since the </a:t>
            </a:r>
            <a:r>
              <a:rPr lang="en-US" sz="2400" dirty="0" err="1" smtClean="0"/>
              <a:t>postive(negative</a:t>
            </a:r>
            <a:r>
              <a:rPr lang="en-US" sz="2400" dirty="0" smtClean="0"/>
              <a:t>)-energy </a:t>
            </a:r>
            <a:r>
              <a:rPr lang="en-US" sz="2400" dirty="0" err="1" smtClean="0"/>
              <a:t>eigenstate</a:t>
            </a:r>
            <a:r>
              <a:rPr lang="en-US" sz="2400" dirty="0" smtClean="0"/>
              <a:t> is approximately </a:t>
            </a:r>
            <a:r>
              <a:rPr lang="en-US" sz="2400" dirty="0" smtClean="0"/>
              <a:t>          (       ) for          </a:t>
            </a:r>
            <a:r>
              <a:rPr lang="en-US" sz="2400" dirty="0" smtClean="0"/>
              <a:t>, the energy of the ground (excited) state appears to be shifted upward (downward) </a:t>
            </a:r>
            <a:r>
              <a:rPr lang="en-US" sz="2400" dirty="0" smtClean="0"/>
              <a:t>by      </a:t>
            </a:r>
            <a:r>
              <a:rPr lang="en-US" sz="2400" dirty="0" smtClean="0"/>
              <a:t>.</a:t>
            </a:r>
            <a:r>
              <a:rPr lang="en-US" sz="2400" dirty="0" smtClean="0"/>
              <a:t> </a:t>
            </a:r>
          </a:p>
          <a:p>
            <a:r>
              <a:rPr lang="en-US" sz="2400" dirty="0" smtClean="0"/>
              <a:t>For </a:t>
            </a:r>
            <a:r>
              <a:rPr lang="en-US" sz="2400" dirty="0" smtClean="0"/>
              <a:t>a large negative </a:t>
            </a:r>
            <a:r>
              <a:rPr lang="en-US" sz="2400" dirty="0" smtClean="0"/>
              <a:t>detuning         , </a:t>
            </a:r>
            <a:r>
              <a:rPr lang="en-US" sz="2400" dirty="0" smtClean="0"/>
              <a:t>, the </a:t>
            </a:r>
            <a:r>
              <a:rPr lang="en-US" sz="2400" dirty="0" err="1" smtClean="0"/>
              <a:t>postive(negative</a:t>
            </a:r>
            <a:r>
              <a:rPr lang="en-US" sz="2400" dirty="0" smtClean="0"/>
              <a:t>)-energy </a:t>
            </a:r>
            <a:r>
              <a:rPr lang="en-US" sz="2400" dirty="0" err="1" smtClean="0"/>
              <a:t>eigenstate</a:t>
            </a:r>
            <a:r>
              <a:rPr lang="en-US" sz="2400" dirty="0" smtClean="0"/>
              <a:t> is </a:t>
            </a:r>
            <a:r>
              <a:rPr lang="en-US" sz="2400" dirty="0" smtClean="0"/>
              <a:t>approximately       (         </a:t>
            </a:r>
            <a:r>
              <a:rPr lang="en-US" sz="2400" dirty="0" smtClean="0"/>
              <a:t>), and the energy of the excited (ground) state appears to be shifted upward (downward) </a:t>
            </a:r>
            <a:r>
              <a:rPr lang="en-US" sz="2400" dirty="0" smtClean="0"/>
              <a:t>by      </a:t>
            </a:r>
            <a:r>
              <a:rPr lang="en-US" sz="2400" dirty="0" smtClean="0"/>
              <a:t>. In other words</a:t>
            </a:r>
            <a:r>
              <a:rPr lang="en-US" sz="2400" dirty="0" smtClean="0"/>
              <a:t>,</a:t>
            </a:r>
          </a:p>
          <a:p>
            <a:endParaRPr lang="en-US" altLang="ko-KR" sz="2400" dirty="0" smtClean="0"/>
          </a:p>
          <a:p>
            <a:endParaRPr lang="ko-KR" altLang="en-US" sz="2400" dirty="0" smtClean="0"/>
          </a:p>
          <a:p>
            <a:pPr>
              <a:buNone/>
            </a:pPr>
            <a:r>
              <a:rPr lang="en-US" sz="2400" dirty="0" smtClean="0"/>
              <a:t>	regardless </a:t>
            </a:r>
            <a:r>
              <a:rPr lang="en-US" sz="2400" dirty="0" smtClean="0"/>
              <a:t>of the sign of</a:t>
            </a:r>
            <a:r>
              <a:rPr lang="en-US" sz="2400" dirty="0" smtClean="0"/>
              <a:t> </a:t>
            </a:r>
            <a:r>
              <a:rPr lang="en-US" sz="2400" i="1" dirty="0" err="1" smtClean="0">
                <a:latin typeface="Symbol" charset="2"/>
                <a:cs typeface="Symbol" charset="2"/>
              </a:rPr>
              <a:t>d</a:t>
            </a:r>
            <a:r>
              <a:rPr lang="en-US" sz="2400" dirty="0" smtClean="0"/>
              <a:t>. </a:t>
            </a:r>
          </a:p>
        </p:txBody>
      </p:sp>
      <p:graphicFrame>
        <p:nvGraphicFramePr>
          <p:cNvPr id="262150" name="Object 6"/>
          <p:cNvGraphicFramePr>
            <a:graphicFrameLocks noChangeAspect="1"/>
          </p:cNvGraphicFramePr>
          <p:nvPr/>
        </p:nvGraphicFramePr>
        <p:xfrm>
          <a:off x="2962729" y="1237342"/>
          <a:ext cx="739775" cy="314325"/>
        </p:xfrm>
        <a:graphic>
          <a:graphicData uri="http://schemas.openxmlformats.org/presentationml/2006/ole">
            <p:oleObj spid="_x0000_s262150" name="Equation" r:id="rId3" imgW="508000" imgH="215900" progId="Equation.3">
              <p:embed/>
            </p:oleObj>
          </a:graphicData>
        </a:graphic>
      </p:graphicFrame>
      <p:graphicFrame>
        <p:nvGraphicFramePr>
          <p:cNvPr id="262151" name="Object 7"/>
          <p:cNvGraphicFramePr>
            <a:graphicFrameLocks noChangeAspect="1"/>
          </p:cNvGraphicFramePr>
          <p:nvPr/>
        </p:nvGraphicFramePr>
        <p:xfrm>
          <a:off x="3967162" y="1265917"/>
          <a:ext cx="455613" cy="285750"/>
        </p:xfrm>
        <a:graphic>
          <a:graphicData uri="http://schemas.openxmlformats.org/presentationml/2006/ole">
            <p:oleObj spid="_x0000_s262151" name="Equation" r:id="rId4" imgW="304800" imgH="190500" progId="Equation.3">
              <p:embed/>
            </p:oleObj>
          </a:graphicData>
        </a:graphic>
      </p:graphicFrame>
      <p:graphicFrame>
        <p:nvGraphicFramePr>
          <p:cNvPr id="262152" name="Object 8"/>
          <p:cNvGraphicFramePr>
            <a:graphicFrameLocks noChangeAspect="1"/>
          </p:cNvGraphicFramePr>
          <p:nvPr/>
        </p:nvGraphicFramePr>
        <p:xfrm>
          <a:off x="5143500" y="1265917"/>
          <a:ext cx="647700" cy="266700"/>
        </p:xfrm>
        <a:graphic>
          <a:graphicData uri="http://schemas.openxmlformats.org/presentationml/2006/ole">
            <p:oleObj spid="_x0000_s262152" name="Equation" r:id="rId5" imgW="431800" imgH="177800" progId="Equation.3">
              <p:embed/>
            </p:oleObj>
          </a:graphicData>
        </a:graphic>
      </p:graphicFrame>
      <p:graphicFrame>
        <p:nvGraphicFramePr>
          <p:cNvPr id="262153" name="Object 9"/>
          <p:cNvGraphicFramePr>
            <a:graphicFrameLocks noChangeAspect="1"/>
          </p:cNvGraphicFramePr>
          <p:nvPr/>
        </p:nvGraphicFramePr>
        <p:xfrm>
          <a:off x="3048000" y="1999342"/>
          <a:ext cx="382588" cy="266700"/>
        </p:xfrm>
        <a:graphic>
          <a:graphicData uri="http://schemas.openxmlformats.org/presentationml/2006/ole">
            <p:oleObj spid="_x0000_s262153" name="Equation" r:id="rId6" imgW="254000" imgH="177800" progId="Equation.3">
              <p:embed/>
            </p:oleObj>
          </a:graphicData>
        </a:graphic>
      </p:graphicFrame>
      <p:graphicFrame>
        <p:nvGraphicFramePr>
          <p:cNvPr id="11" name="Object 8"/>
          <p:cNvGraphicFramePr>
            <a:graphicFrameLocks noChangeAspect="1"/>
          </p:cNvGraphicFramePr>
          <p:nvPr/>
        </p:nvGraphicFramePr>
        <p:xfrm>
          <a:off x="5010150" y="2438400"/>
          <a:ext cx="781050" cy="266700"/>
        </p:xfrm>
        <a:graphic>
          <a:graphicData uri="http://schemas.openxmlformats.org/presentationml/2006/ole">
            <p:oleObj spid="_x0000_s262154" name="Equation" r:id="rId7" imgW="520700" imgH="177800" progId="Equation.3">
              <p:embed/>
            </p:oleObj>
          </a:graphicData>
        </a:graphic>
      </p:graphicFrame>
      <p:graphicFrame>
        <p:nvGraphicFramePr>
          <p:cNvPr id="12" name="Object 7"/>
          <p:cNvGraphicFramePr>
            <a:graphicFrameLocks noChangeAspect="1"/>
          </p:cNvGraphicFramePr>
          <p:nvPr/>
        </p:nvGraphicFramePr>
        <p:xfrm>
          <a:off x="7199084" y="2792187"/>
          <a:ext cx="455613" cy="285750"/>
        </p:xfrm>
        <a:graphic>
          <a:graphicData uri="http://schemas.openxmlformats.org/presentationml/2006/ole">
            <p:oleObj spid="_x0000_s262155" name="Equation" r:id="rId8" imgW="304800" imgH="190500" progId="Equation.3">
              <p:embed/>
            </p:oleObj>
          </a:graphicData>
        </a:graphic>
      </p:graphicFrame>
      <p:graphicFrame>
        <p:nvGraphicFramePr>
          <p:cNvPr id="13" name="Object 6"/>
          <p:cNvGraphicFramePr>
            <a:graphicFrameLocks noChangeAspect="1"/>
          </p:cNvGraphicFramePr>
          <p:nvPr/>
        </p:nvGraphicFramePr>
        <p:xfrm>
          <a:off x="7848600" y="2781754"/>
          <a:ext cx="739775" cy="314325"/>
        </p:xfrm>
        <a:graphic>
          <a:graphicData uri="http://schemas.openxmlformats.org/presentationml/2006/ole">
            <p:oleObj spid="_x0000_s262156" name="Equation" r:id="rId9" imgW="508000" imgH="215900" progId="Equation.3">
              <p:embed/>
            </p:oleObj>
          </a:graphicData>
        </a:graphic>
      </p:graphicFrame>
      <p:graphicFrame>
        <p:nvGraphicFramePr>
          <p:cNvPr id="14" name="Object 9"/>
          <p:cNvGraphicFramePr>
            <a:graphicFrameLocks noChangeAspect="1"/>
          </p:cNvGraphicFramePr>
          <p:nvPr/>
        </p:nvGraphicFramePr>
        <p:xfrm>
          <a:off x="5561012" y="3541484"/>
          <a:ext cx="382588" cy="266700"/>
        </p:xfrm>
        <a:graphic>
          <a:graphicData uri="http://schemas.openxmlformats.org/presentationml/2006/ole">
            <p:oleObj spid="_x0000_s262157" name="Equation" r:id="rId10" imgW="254000" imgH="177800" progId="Equation.3">
              <p:embed/>
            </p:oleObj>
          </a:graphicData>
        </a:graphic>
      </p:graphicFrame>
      <p:graphicFrame>
        <p:nvGraphicFramePr>
          <p:cNvPr id="262158" name="Object 14"/>
          <p:cNvGraphicFramePr>
            <a:graphicFrameLocks noChangeAspect="1"/>
          </p:cNvGraphicFramePr>
          <p:nvPr/>
        </p:nvGraphicFramePr>
        <p:xfrm>
          <a:off x="3549650" y="4016375"/>
          <a:ext cx="2393950" cy="708025"/>
        </p:xfrm>
        <a:graphic>
          <a:graphicData uri="http://schemas.openxmlformats.org/presentationml/2006/ole">
            <p:oleObj spid="_x0000_s262158" name="Equation" r:id="rId11" imgW="1587500" imgH="46990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458200" cy="6248400"/>
          </a:xfrm>
        </p:spPr>
        <p:txBody>
          <a:bodyPr>
            <a:noAutofit/>
          </a:bodyPr>
          <a:lstStyle/>
          <a:p>
            <a:r>
              <a:rPr lang="en-US" sz="2400" dirty="0" smtClean="0"/>
              <a:t>Based on this principle, neutral atoms can be trapped. Suppose a two level atom is driven by a focused intense laser beam whose frequency is detuned to red from the atomic resonance.</a:t>
            </a:r>
            <a:r>
              <a:rPr lang="ko-KR" altLang="en-US" sz="2400" dirty="0" smtClean="0"/>
              <a:t> </a:t>
            </a:r>
          </a:p>
          <a:p>
            <a:r>
              <a:rPr lang="en-US" sz="2400" dirty="0" smtClean="0"/>
              <a:t>The </a:t>
            </a:r>
            <a:r>
              <a:rPr lang="en-US" sz="2400" dirty="0" smtClean="0"/>
              <a:t>ground state energy of the atom is then light shifted downward </a:t>
            </a:r>
            <a:r>
              <a:rPr lang="en-US" sz="2400" dirty="0" smtClean="0"/>
              <a:t>by            </a:t>
            </a:r>
            <a:r>
              <a:rPr lang="en-US" sz="2400" dirty="0" smtClean="0"/>
              <a:t>.</a:t>
            </a:r>
            <a:r>
              <a:rPr lang="en-US" sz="2400" dirty="0" smtClean="0"/>
              <a:t> </a:t>
            </a:r>
          </a:p>
          <a:p>
            <a:r>
              <a:rPr lang="en-US" sz="2400" dirty="0" smtClean="0"/>
              <a:t>If </a:t>
            </a:r>
            <a:r>
              <a:rPr lang="en-US" sz="2400" dirty="0" smtClean="0"/>
              <a:t>the intensity of the beam has a spatial dependence, the light shift act as a potential for the atom and thus neutral atoms can be trapped by the laser beam.</a:t>
            </a:r>
            <a:r>
              <a:rPr lang="en-US" sz="2400" dirty="0" smtClean="0"/>
              <a:t> </a:t>
            </a:r>
          </a:p>
          <a:p>
            <a:r>
              <a:rPr lang="en-US" sz="2400" dirty="0" smtClean="0"/>
              <a:t>This </a:t>
            </a:r>
            <a:r>
              <a:rPr lang="en-US" sz="2400" dirty="0" smtClean="0"/>
              <a:t>kind of trap is called a </a:t>
            </a:r>
            <a:r>
              <a:rPr lang="en-US" sz="2400" i="1" dirty="0" smtClean="0"/>
              <a:t>dipole trap</a:t>
            </a:r>
            <a:r>
              <a:rPr lang="en-US" sz="2400" dirty="0" smtClean="0"/>
              <a:t>. Particularly, if the detuning is very large (up to hundreds of nanometers), the dipole trap is called the </a:t>
            </a:r>
            <a:r>
              <a:rPr lang="en-US" sz="2400" i="1" dirty="0" smtClean="0"/>
              <a:t>far-off-resonance trap </a:t>
            </a:r>
            <a:r>
              <a:rPr lang="en-US" sz="2400" dirty="0" smtClean="0"/>
              <a:t>(FORT).</a:t>
            </a:r>
            <a:r>
              <a:rPr lang="en-US" sz="2400" dirty="0" smtClean="0"/>
              <a:t> The large detuning suppresses spontaneous emission which heats up the atomic cloud. A </a:t>
            </a:r>
            <a:r>
              <a:rPr lang="en-US" sz="2400" dirty="0" smtClean="0"/>
              <a:t>rubidium atom FORT has been demonstrated with a focused CO</a:t>
            </a:r>
            <a:r>
              <a:rPr lang="en-US" sz="2400" baseline="-25000" dirty="0" smtClean="0"/>
              <a:t>2 </a:t>
            </a:r>
            <a:r>
              <a:rPr lang="en-US" sz="2400" dirty="0" smtClean="0"/>
              <a:t>laser beam. </a:t>
            </a:r>
            <a:endParaRPr lang="ko-KR" altLang="en-US" sz="2400" dirty="0"/>
          </a:p>
        </p:txBody>
      </p:sp>
      <p:graphicFrame>
        <p:nvGraphicFramePr>
          <p:cNvPr id="263179" name="Object 11"/>
          <p:cNvGraphicFramePr>
            <a:graphicFrameLocks noChangeAspect="1"/>
          </p:cNvGraphicFramePr>
          <p:nvPr/>
        </p:nvGraphicFramePr>
        <p:xfrm>
          <a:off x="2819400" y="2482167"/>
          <a:ext cx="900113" cy="306388"/>
        </p:xfrm>
        <a:graphic>
          <a:graphicData uri="http://schemas.openxmlformats.org/presentationml/2006/ole">
            <p:oleObj spid="_x0000_s263179" name="Equation" r:id="rId3" imgW="596900" imgH="203200" progId="Equation.3">
              <p:embed/>
            </p:oleObj>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6248400"/>
          </a:xfrm>
        </p:spPr>
        <p:txBody>
          <a:bodyPr>
            <a:noAutofit/>
          </a:bodyPr>
          <a:lstStyle/>
          <a:p>
            <a:pPr>
              <a:buNone/>
            </a:pPr>
            <a:r>
              <a:rPr lang="en-US" sz="2800" b="1" i="1" dirty="0" err="1" smtClean="0">
                <a:latin typeface="Times New Roman"/>
                <a:cs typeface="Times New Roman"/>
              </a:rPr>
              <a:t>Mollow</a:t>
            </a:r>
            <a:r>
              <a:rPr lang="en-US" sz="2800" b="1" i="1" dirty="0" smtClean="0">
                <a:latin typeface="Times New Roman"/>
                <a:cs typeface="Times New Roman"/>
              </a:rPr>
              <a:t> Triplet</a:t>
            </a:r>
            <a:endParaRPr lang="ko-KR" altLang="en-US" sz="2800" b="1" i="1" dirty="0" smtClean="0">
              <a:latin typeface="Times New Roman"/>
              <a:cs typeface="Times New Roman"/>
            </a:endParaRPr>
          </a:p>
          <a:p>
            <a:endParaRPr lang="en-US" sz="1050" dirty="0" smtClean="0"/>
          </a:p>
          <a:p>
            <a:r>
              <a:rPr lang="en-US" sz="2200" dirty="0" smtClean="0"/>
              <a:t>Consider </a:t>
            </a:r>
            <a:r>
              <a:rPr lang="en-US" sz="2200" dirty="0" smtClean="0"/>
              <a:t>the dressed state for zero field-atom detuning.</a:t>
            </a:r>
            <a:r>
              <a:rPr lang="en-US" sz="2200" dirty="0" smtClean="0"/>
              <a:t> </a:t>
            </a:r>
          </a:p>
          <a:p>
            <a:r>
              <a:rPr lang="en-US" sz="2200" dirty="0" smtClean="0"/>
              <a:t>Suppose </a:t>
            </a:r>
            <a:r>
              <a:rPr lang="en-US" sz="2200" dirty="0" smtClean="0"/>
              <a:t>the field is so strong that high-lying (</a:t>
            </a:r>
            <a:r>
              <a:rPr lang="en-US" sz="2200" i="1" dirty="0" err="1" smtClean="0"/>
              <a:t>n</a:t>
            </a:r>
            <a:r>
              <a:rPr lang="en-US" sz="2200" dirty="0" smtClean="0"/>
              <a:t>&gt;&gt;1) dressed states are populated. The atom in the excited state will undergo spontaneous emission.</a:t>
            </a:r>
            <a:r>
              <a:rPr lang="en-US" sz="2200" dirty="0" smtClean="0"/>
              <a:t> </a:t>
            </a:r>
          </a:p>
          <a:p>
            <a:r>
              <a:rPr lang="en-US" sz="2200" dirty="0" smtClean="0"/>
              <a:t>Since </a:t>
            </a:r>
            <a:r>
              <a:rPr lang="en-US" sz="2200" dirty="0" smtClean="0"/>
              <a:t>both positive- and negative-energy </a:t>
            </a:r>
            <a:r>
              <a:rPr lang="en-US" sz="2200" dirty="0" err="1" smtClean="0"/>
              <a:t>eigenstates</a:t>
            </a:r>
            <a:r>
              <a:rPr lang="en-US" sz="2200" dirty="0" smtClean="0"/>
              <a:t> </a:t>
            </a:r>
            <a:r>
              <a:rPr lang="en-US" sz="2200" dirty="0" smtClean="0"/>
              <a:t>contain      </a:t>
            </a:r>
            <a:r>
              <a:rPr lang="en-US" sz="2200" dirty="0" smtClean="0"/>
              <a:t>, the excited atom component, the spontaneous emission can occur between any pair of 4 different pairs of adjacent dressed states as shown in Fig. 6.</a:t>
            </a:r>
            <a:r>
              <a:rPr lang="en-US" sz="2200" dirty="0" smtClean="0"/>
              <a:t> </a:t>
            </a:r>
          </a:p>
          <a:p>
            <a:r>
              <a:rPr lang="en-US" sz="2200" dirty="0" smtClean="0"/>
              <a:t>For </a:t>
            </a:r>
            <a:r>
              <a:rPr lang="en-US" sz="2200" dirty="0" smtClean="0"/>
              <a:t>the large </a:t>
            </a:r>
            <a:r>
              <a:rPr lang="en-US" sz="2200" i="1" dirty="0" err="1" smtClean="0"/>
              <a:t>n</a:t>
            </a:r>
            <a:r>
              <a:rPr lang="en-US" sz="2200" dirty="0" smtClean="0"/>
              <a:t> limit, the transition frequencies </a:t>
            </a:r>
            <a:r>
              <a:rPr lang="en-US" sz="2200" dirty="0" smtClean="0"/>
              <a:t>are                 </a:t>
            </a:r>
            <a:r>
              <a:rPr lang="en-US" sz="2200" dirty="0" smtClean="0"/>
              <a:t>, leading to three emission frequencies.</a:t>
            </a:r>
            <a:r>
              <a:rPr lang="en-US" sz="2200" dirty="0" smtClean="0"/>
              <a:t> </a:t>
            </a:r>
          </a:p>
          <a:p>
            <a:r>
              <a:rPr lang="en-US" sz="2200" dirty="0" smtClean="0"/>
              <a:t>These </a:t>
            </a:r>
            <a:r>
              <a:rPr lang="en-US" sz="2200" dirty="0" smtClean="0"/>
              <a:t>three frequencies are called the </a:t>
            </a:r>
            <a:r>
              <a:rPr lang="en-US" sz="2200" dirty="0" err="1" smtClean="0"/>
              <a:t>Mollow</a:t>
            </a:r>
            <a:r>
              <a:rPr lang="en-US" sz="2200" dirty="0" smtClean="0"/>
              <a:t> triplet, which is observed when a two-level atom is strongly driven by a laser on resonance. The splitting is determined by the Rabi frequency of the driving laser.</a:t>
            </a:r>
            <a:endParaRPr lang="ko-KR" altLang="en-US" sz="2200" dirty="0"/>
          </a:p>
        </p:txBody>
      </p:sp>
      <p:graphicFrame>
        <p:nvGraphicFramePr>
          <p:cNvPr id="264198" name="Object 6"/>
          <p:cNvGraphicFramePr>
            <a:graphicFrameLocks noChangeAspect="1"/>
          </p:cNvGraphicFramePr>
          <p:nvPr/>
        </p:nvGraphicFramePr>
        <p:xfrm>
          <a:off x="1963058" y="3060703"/>
          <a:ext cx="455612" cy="285750"/>
        </p:xfrm>
        <a:graphic>
          <a:graphicData uri="http://schemas.openxmlformats.org/presentationml/2006/ole">
            <p:oleObj spid="_x0000_s264198" name="Equation" r:id="rId3" imgW="304800" imgH="190500" progId="Equation.3">
              <p:embed/>
            </p:oleObj>
          </a:graphicData>
        </a:graphic>
      </p:graphicFrame>
      <p:graphicFrame>
        <p:nvGraphicFramePr>
          <p:cNvPr id="264199" name="Object 7"/>
          <p:cNvGraphicFramePr>
            <a:graphicFrameLocks noChangeAspect="1"/>
          </p:cNvGraphicFramePr>
          <p:nvPr/>
        </p:nvGraphicFramePr>
        <p:xfrm>
          <a:off x="7171871" y="4142013"/>
          <a:ext cx="1223963" cy="271463"/>
        </p:xfrm>
        <a:graphic>
          <a:graphicData uri="http://schemas.openxmlformats.org/presentationml/2006/ole">
            <p:oleObj spid="_x0000_s264199" name="Equation" r:id="rId4" imgW="800100" imgH="177800" progId="Equation.3">
              <p:embed/>
            </p:oleObj>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562600"/>
            <a:ext cx="8305800" cy="914400"/>
          </a:xfrm>
        </p:spPr>
        <p:txBody>
          <a:bodyPr>
            <a:noAutofit/>
          </a:bodyPr>
          <a:lstStyle/>
          <a:p>
            <a:r>
              <a:rPr lang="en-US" sz="2400" b="1" dirty="0" smtClean="0"/>
              <a:t>Fig. </a:t>
            </a:r>
            <a:r>
              <a:rPr lang="en-US" sz="2400" dirty="0" smtClean="0"/>
              <a:t>6. </a:t>
            </a:r>
            <a:r>
              <a:rPr lang="en-US" sz="2400" dirty="0" err="1" smtClean="0"/>
              <a:t>Mollow</a:t>
            </a:r>
            <a:r>
              <a:rPr lang="en-US" sz="2400" dirty="0" smtClean="0"/>
              <a:t> triplet naturally arises from the spontaneous emission seen in the dressed state picture. </a:t>
            </a:r>
            <a:endParaRPr lang="ko-KR" altLang="en-US" sz="2400" dirty="0"/>
          </a:p>
        </p:txBody>
      </p:sp>
      <p:pic>
        <p:nvPicPr>
          <p:cNvPr id="12" name="Picture 11" descr="fig6.tiff"/>
          <p:cNvPicPr>
            <a:picLocks noChangeAspect="1"/>
          </p:cNvPicPr>
          <p:nvPr/>
        </p:nvPicPr>
        <p:blipFill>
          <a:blip r:embed="rId2"/>
          <a:stretch>
            <a:fillRect/>
          </a:stretch>
        </p:blipFill>
        <p:spPr>
          <a:xfrm>
            <a:off x="2057400" y="533400"/>
            <a:ext cx="5164138" cy="4909568"/>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305800" cy="6248400"/>
          </a:xfrm>
        </p:spPr>
        <p:txBody>
          <a:bodyPr>
            <a:noAutofit/>
          </a:bodyPr>
          <a:lstStyle/>
          <a:p>
            <a:pPr>
              <a:buNone/>
            </a:pPr>
            <a:r>
              <a:rPr lang="en-US" sz="2800" b="1" i="1" dirty="0" err="1" smtClean="0">
                <a:latin typeface="Times New Roman"/>
                <a:cs typeface="Times New Roman"/>
              </a:rPr>
              <a:t>Autler</a:t>
            </a:r>
            <a:r>
              <a:rPr lang="en-US" sz="2800" b="1" i="1" dirty="0" smtClean="0">
                <a:latin typeface="Times New Roman"/>
                <a:cs typeface="Times New Roman"/>
              </a:rPr>
              <a:t>-Townes Effect</a:t>
            </a:r>
            <a:endParaRPr lang="ko-KR" altLang="en-US" sz="2800" b="1" i="1" dirty="0" smtClean="0">
              <a:latin typeface="Times New Roman"/>
              <a:cs typeface="Times New Roman"/>
            </a:endParaRPr>
          </a:p>
          <a:p>
            <a:endParaRPr lang="en-US" sz="1100" dirty="0" smtClean="0"/>
          </a:p>
          <a:p>
            <a:r>
              <a:rPr lang="en-US" sz="2000" dirty="0" smtClean="0"/>
              <a:t>When </a:t>
            </a:r>
            <a:r>
              <a:rPr lang="en-US" sz="2000" dirty="0" smtClean="0"/>
              <a:t>a sufficiently intense monochromatic laser field drives a two-level atomic resonance, the resonant coupling changes the atomic structure by strongly mixing the upper and lower levels as discussed above.</a:t>
            </a:r>
            <a:r>
              <a:rPr lang="en-US" sz="2000" dirty="0" smtClean="0"/>
              <a:t> </a:t>
            </a:r>
          </a:p>
          <a:p>
            <a:r>
              <a:rPr lang="en-US" sz="2000" dirty="0" smtClean="0"/>
              <a:t>If </a:t>
            </a:r>
            <a:r>
              <a:rPr lang="en-US" sz="2000" dirty="0" smtClean="0"/>
              <a:t>one of the resonantly coupled levels is probed by tuning a second low-intensity laser in the vicinity of the transition frequency between this resonantly coupled level and a third level in the atom, a doublet spectrum, called the </a:t>
            </a:r>
            <a:r>
              <a:rPr lang="en-US" sz="2000" dirty="0" err="1" smtClean="0"/>
              <a:t>Autler</a:t>
            </a:r>
            <a:r>
              <a:rPr lang="en-US" sz="2000" dirty="0" smtClean="0"/>
              <a:t>-Townes doublet, is observed.</a:t>
            </a:r>
            <a:r>
              <a:rPr lang="en-US" sz="2000" dirty="0" smtClean="0"/>
              <a:t> </a:t>
            </a:r>
          </a:p>
          <a:p>
            <a:r>
              <a:rPr lang="en-US" sz="2000" dirty="0" smtClean="0"/>
              <a:t>In </a:t>
            </a:r>
            <a:r>
              <a:rPr lang="en-US" sz="2000" dirty="0" smtClean="0"/>
              <a:t>Fig. 7, a ground </a:t>
            </a:r>
            <a:r>
              <a:rPr lang="en-US" sz="2000" dirty="0" smtClean="0"/>
              <a:t>state      </a:t>
            </a:r>
            <a:r>
              <a:rPr lang="en-US" sz="2000" dirty="0" smtClean="0"/>
              <a:t>and an excited </a:t>
            </a:r>
            <a:r>
              <a:rPr lang="en-US" sz="2000" dirty="0" smtClean="0"/>
              <a:t>state      </a:t>
            </a:r>
            <a:r>
              <a:rPr lang="en-US" sz="2000" dirty="0" smtClean="0"/>
              <a:t>is resonantly driven by an intense field with a Rabi frequency </a:t>
            </a:r>
            <a:r>
              <a:rPr lang="en-US" sz="2000" dirty="0" smtClean="0"/>
              <a:t>of       </a:t>
            </a:r>
            <a:r>
              <a:rPr lang="en-US" sz="2000" dirty="0" smtClean="0"/>
              <a:t>.</a:t>
            </a:r>
            <a:r>
              <a:rPr lang="en-US" sz="2000" dirty="0" smtClean="0"/>
              <a:t> </a:t>
            </a:r>
          </a:p>
          <a:p>
            <a:r>
              <a:rPr lang="en-US" sz="2000" dirty="0" smtClean="0"/>
              <a:t>The </a:t>
            </a:r>
            <a:r>
              <a:rPr lang="en-US" sz="2000" dirty="0" smtClean="0"/>
              <a:t>two levels and the driving field form </a:t>
            </a:r>
            <a:r>
              <a:rPr lang="en-US" sz="2000" dirty="0" smtClean="0"/>
              <a:t>dressed states  </a:t>
            </a:r>
          </a:p>
          <a:p>
            <a:pPr>
              <a:buNone/>
            </a:pPr>
            <a:r>
              <a:rPr lang="en-US" sz="2000" dirty="0" smtClean="0"/>
              <a:t>				       , where </a:t>
            </a:r>
            <a:r>
              <a:rPr lang="en-US" sz="2000" i="1" dirty="0" err="1" smtClean="0"/>
              <a:t>n</a:t>
            </a:r>
            <a:r>
              <a:rPr lang="en-US" sz="2000" dirty="0" smtClean="0"/>
              <a:t> represents the number of energy quanta in the dressed state.</a:t>
            </a:r>
            <a:r>
              <a:rPr lang="en-US" sz="2000" dirty="0" smtClean="0"/>
              <a:t> </a:t>
            </a:r>
          </a:p>
          <a:p>
            <a:r>
              <a:rPr lang="en-US" sz="2000" dirty="0" smtClean="0"/>
              <a:t>A </a:t>
            </a:r>
            <a:r>
              <a:rPr lang="en-US" sz="2000" dirty="0" smtClean="0"/>
              <a:t>third </a:t>
            </a:r>
            <a:r>
              <a:rPr lang="en-US" sz="2000" dirty="0" smtClean="0"/>
              <a:t>level      </a:t>
            </a:r>
            <a:r>
              <a:rPr lang="en-US" sz="2000" dirty="0" smtClean="0"/>
              <a:t>can then be labeled </a:t>
            </a:r>
            <a:r>
              <a:rPr lang="en-US" sz="2000" dirty="0" smtClean="0"/>
              <a:t>as         . </a:t>
            </a:r>
            <a:r>
              <a:rPr lang="en-US" sz="2000" dirty="0" smtClean="0"/>
              <a:t>Then the transition from the dressed doublet </a:t>
            </a:r>
            <a:r>
              <a:rPr lang="en-US" sz="2000" dirty="0" smtClean="0"/>
              <a:t>to         </a:t>
            </a:r>
            <a:r>
              <a:rPr lang="en-US" sz="2000" dirty="0" smtClean="0"/>
              <a:t>state can occur at two frequencies</a:t>
            </a:r>
            <a:r>
              <a:rPr lang="en-US" sz="2000" dirty="0" smtClean="0"/>
              <a:t>,                 </a:t>
            </a:r>
            <a:r>
              <a:rPr lang="en-US" sz="2000" dirty="0" smtClean="0"/>
              <a:t>, </a:t>
            </a:r>
            <a:r>
              <a:rPr lang="en-US" sz="2000" dirty="0" smtClean="0"/>
              <a:t>where       is </a:t>
            </a:r>
            <a:r>
              <a:rPr lang="en-US" sz="2000" dirty="0" smtClean="0"/>
              <a:t>the unperturbed transition frequency from </a:t>
            </a:r>
            <a:r>
              <a:rPr lang="en-US" sz="2000" dirty="0" smtClean="0"/>
              <a:t>     to      </a:t>
            </a:r>
            <a:r>
              <a:rPr lang="en-US" sz="2000" dirty="0" smtClean="0"/>
              <a:t>.</a:t>
            </a:r>
            <a:r>
              <a:rPr lang="ko-KR" altLang="en-US" sz="2000" dirty="0" smtClean="0"/>
              <a:t> </a:t>
            </a:r>
            <a:endParaRPr lang="ko-KR" altLang="en-US" sz="2000" dirty="0"/>
          </a:p>
        </p:txBody>
      </p:sp>
      <p:graphicFrame>
        <p:nvGraphicFramePr>
          <p:cNvPr id="265220" name="Object 4"/>
          <p:cNvGraphicFramePr>
            <a:graphicFrameLocks noChangeAspect="1"/>
          </p:cNvGraphicFramePr>
          <p:nvPr/>
        </p:nvGraphicFramePr>
        <p:xfrm>
          <a:off x="3719626" y="3550555"/>
          <a:ext cx="292100" cy="311150"/>
        </p:xfrm>
        <a:graphic>
          <a:graphicData uri="http://schemas.openxmlformats.org/presentationml/2006/ole">
            <p:oleObj spid="_x0000_s265220" name="Equation" r:id="rId3" imgW="203200" imgH="215900" progId="Equation.3">
              <p:embed/>
            </p:oleObj>
          </a:graphicData>
        </a:graphic>
      </p:graphicFrame>
      <p:graphicFrame>
        <p:nvGraphicFramePr>
          <p:cNvPr id="6" name="Object 4"/>
          <p:cNvGraphicFramePr>
            <a:graphicFrameLocks noChangeAspect="1"/>
          </p:cNvGraphicFramePr>
          <p:nvPr/>
        </p:nvGraphicFramePr>
        <p:xfrm>
          <a:off x="6436520" y="3559855"/>
          <a:ext cx="255587" cy="274637"/>
        </p:xfrm>
        <a:graphic>
          <a:graphicData uri="http://schemas.openxmlformats.org/presentationml/2006/ole">
            <p:oleObj spid="_x0000_s265221" name="Equation" r:id="rId4" imgW="177800" imgH="190500" progId="Equation.3">
              <p:embed/>
            </p:oleObj>
          </a:graphicData>
        </a:graphic>
      </p:graphicFrame>
      <p:graphicFrame>
        <p:nvGraphicFramePr>
          <p:cNvPr id="265222" name="Object 6"/>
          <p:cNvGraphicFramePr>
            <a:graphicFrameLocks noChangeAspect="1"/>
          </p:cNvGraphicFramePr>
          <p:nvPr/>
        </p:nvGraphicFramePr>
        <p:xfrm>
          <a:off x="6673849" y="3888918"/>
          <a:ext cx="338138" cy="277813"/>
        </p:xfrm>
        <a:graphic>
          <a:graphicData uri="http://schemas.openxmlformats.org/presentationml/2006/ole">
            <p:oleObj spid="_x0000_s265222" name="Equation" r:id="rId5" imgW="215900" imgH="177800" progId="Equation.3">
              <p:embed/>
            </p:oleObj>
          </a:graphicData>
        </a:graphic>
      </p:graphicFrame>
      <p:graphicFrame>
        <p:nvGraphicFramePr>
          <p:cNvPr id="265223" name="Object 7"/>
          <p:cNvGraphicFramePr>
            <a:graphicFrameLocks noChangeAspect="1"/>
          </p:cNvGraphicFramePr>
          <p:nvPr/>
        </p:nvGraphicFramePr>
        <p:xfrm>
          <a:off x="1027226" y="4572000"/>
          <a:ext cx="2692400" cy="369888"/>
        </p:xfrm>
        <a:graphic>
          <a:graphicData uri="http://schemas.openxmlformats.org/presentationml/2006/ole">
            <p:oleObj spid="_x0000_s265223" name="Equation" r:id="rId6" imgW="1752600" imgH="241300" progId="Equation.3">
              <p:embed/>
            </p:oleObj>
          </a:graphicData>
        </a:graphic>
      </p:graphicFrame>
      <p:graphicFrame>
        <p:nvGraphicFramePr>
          <p:cNvPr id="265224" name="Object 8"/>
          <p:cNvGraphicFramePr>
            <a:graphicFrameLocks noChangeAspect="1"/>
          </p:cNvGraphicFramePr>
          <p:nvPr/>
        </p:nvGraphicFramePr>
        <p:xfrm>
          <a:off x="2382837" y="5259387"/>
          <a:ext cx="284163" cy="284163"/>
        </p:xfrm>
        <a:graphic>
          <a:graphicData uri="http://schemas.openxmlformats.org/presentationml/2006/ole">
            <p:oleObj spid="_x0000_s265224" name="Equation" r:id="rId7" imgW="190500" imgH="190500" progId="Equation.3">
              <p:embed/>
            </p:oleObj>
          </a:graphicData>
        </a:graphic>
      </p:graphicFrame>
      <p:graphicFrame>
        <p:nvGraphicFramePr>
          <p:cNvPr id="265225" name="Object 9"/>
          <p:cNvGraphicFramePr>
            <a:graphicFrameLocks noChangeAspect="1"/>
          </p:cNvGraphicFramePr>
          <p:nvPr/>
        </p:nvGraphicFramePr>
        <p:xfrm>
          <a:off x="5392737" y="5257800"/>
          <a:ext cx="474663" cy="285750"/>
        </p:xfrm>
        <a:graphic>
          <a:graphicData uri="http://schemas.openxmlformats.org/presentationml/2006/ole">
            <p:oleObj spid="_x0000_s265225" name="Equation" r:id="rId8" imgW="317500" imgH="190500" progId="Equation.3">
              <p:embed/>
            </p:oleObj>
          </a:graphicData>
        </a:graphic>
      </p:graphicFrame>
      <p:graphicFrame>
        <p:nvGraphicFramePr>
          <p:cNvPr id="265226" name="Object 10"/>
          <p:cNvGraphicFramePr>
            <a:graphicFrameLocks noChangeAspect="1"/>
          </p:cNvGraphicFramePr>
          <p:nvPr/>
        </p:nvGraphicFramePr>
        <p:xfrm>
          <a:off x="2410050" y="5902322"/>
          <a:ext cx="1096963" cy="303213"/>
        </p:xfrm>
        <a:graphic>
          <a:graphicData uri="http://schemas.openxmlformats.org/presentationml/2006/ole">
            <p:oleObj spid="_x0000_s265226" name="Equation" r:id="rId9" imgW="736600" imgH="203200" progId="Equation.3">
              <p:embed/>
            </p:oleObj>
          </a:graphicData>
        </a:graphic>
      </p:graphicFrame>
      <p:graphicFrame>
        <p:nvGraphicFramePr>
          <p:cNvPr id="265227" name="Object 11"/>
          <p:cNvGraphicFramePr>
            <a:graphicFrameLocks noChangeAspect="1"/>
          </p:cNvGraphicFramePr>
          <p:nvPr/>
        </p:nvGraphicFramePr>
        <p:xfrm>
          <a:off x="4456678" y="5891212"/>
          <a:ext cx="338138" cy="300038"/>
        </p:xfrm>
        <a:graphic>
          <a:graphicData uri="http://schemas.openxmlformats.org/presentationml/2006/ole">
            <p:oleObj spid="_x0000_s265227" name="Equation" r:id="rId10" imgW="228600" imgH="203200" progId="Equation.3">
              <p:embed/>
            </p:oleObj>
          </a:graphicData>
        </a:graphic>
      </p:graphicFrame>
      <p:graphicFrame>
        <p:nvGraphicFramePr>
          <p:cNvPr id="14" name="Object 9"/>
          <p:cNvGraphicFramePr>
            <a:graphicFrameLocks noChangeAspect="1"/>
          </p:cNvGraphicFramePr>
          <p:nvPr/>
        </p:nvGraphicFramePr>
        <p:xfrm>
          <a:off x="4123871" y="5562146"/>
          <a:ext cx="474663" cy="285750"/>
        </p:xfrm>
        <a:graphic>
          <a:graphicData uri="http://schemas.openxmlformats.org/presentationml/2006/ole">
            <p:oleObj spid="_x0000_s265228" name="Equation" r:id="rId11" imgW="317500" imgH="190500" progId="Equation.3">
              <p:embed/>
            </p:oleObj>
          </a:graphicData>
        </a:graphic>
      </p:graphicFrame>
      <p:graphicFrame>
        <p:nvGraphicFramePr>
          <p:cNvPr id="15" name="Object 4"/>
          <p:cNvGraphicFramePr>
            <a:graphicFrameLocks noChangeAspect="1"/>
          </p:cNvGraphicFramePr>
          <p:nvPr/>
        </p:nvGraphicFramePr>
        <p:xfrm>
          <a:off x="2748639" y="6183992"/>
          <a:ext cx="292100" cy="311150"/>
        </p:xfrm>
        <a:graphic>
          <a:graphicData uri="http://schemas.openxmlformats.org/presentationml/2006/ole">
            <p:oleObj spid="_x0000_s265229" name="Equation" r:id="rId12" imgW="203200" imgH="215900" progId="Equation.3">
              <p:embed/>
            </p:oleObj>
          </a:graphicData>
        </a:graphic>
      </p:graphicFrame>
      <p:graphicFrame>
        <p:nvGraphicFramePr>
          <p:cNvPr id="16" name="Object 8"/>
          <p:cNvGraphicFramePr>
            <a:graphicFrameLocks noChangeAspect="1"/>
          </p:cNvGraphicFramePr>
          <p:nvPr/>
        </p:nvGraphicFramePr>
        <p:xfrm>
          <a:off x="3383073" y="6174695"/>
          <a:ext cx="284163" cy="284163"/>
        </p:xfrm>
        <a:graphic>
          <a:graphicData uri="http://schemas.openxmlformats.org/presentationml/2006/ole">
            <p:oleObj spid="_x0000_s265230" name="Equation" r:id="rId13" imgW="190500" imgH="190500" progId="Equation.3">
              <p:embed/>
            </p:oleObj>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257800"/>
            <a:ext cx="8305800" cy="1219200"/>
          </a:xfrm>
        </p:spPr>
        <p:txBody>
          <a:bodyPr>
            <a:noAutofit/>
          </a:bodyPr>
          <a:lstStyle/>
          <a:p>
            <a:pPr algn="ctr"/>
            <a:r>
              <a:rPr lang="en-US" sz="2400" b="1" dirty="0" smtClean="0"/>
              <a:t>Fig. 7.</a:t>
            </a:r>
            <a:r>
              <a:rPr lang="en-US" sz="2400" dirty="0" smtClean="0"/>
              <a:t> </a:t>
            </a:r>
            <a:r>
              <a:rPr lang="en-US" sz="2400" dirty="0" err="1" smtClean="0"/>
              <a:t>Autler</a:t>
            </a:r>
            <a:r>
              <a:rPr lang="en-US" sz="2400" dirty="0" smtClean="0"/>
              <a:t>-Townes Splitting.</a:t>
            </a:r>
            <a:endParaRPr lang="ko-KR" altLang="en-US" sz="2400" dirty="0"/>
          </a:p>
        </p:txBody>
      </p:sp>
      <p:pic>
        <p:nvPicPr>
          <p:cNvPr id="4" name="Picture 3" descr="fig7.tiff"/>
          <p:cNvPicPr>
            <a:picLocks noChangeAspect="1"/>
          </p:cNvPicPr>
          <p:nvPr/>
        </p:nvPicPr>
        <p:blipFill>
          <a:blip r:embed="rId2"/>
          <a:stretch>
            <a:fillRect/>
          </a:stretch>
        </p:blipFill>
        <p:spPr>
          <a:xfrm>
            <a:off x="533400" y="1219200"/>
            <a:ext cx="8069398" cy="38862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Technic.thmx</Template>
  <TotalTime>904</TotalTime>
  <Words>1183</Words>
  <Application>Microsoft Macintosh PowerPoint</Application>
  <PresentationFormat>On-screen Show (4:3)</PresentationFormat>
  <Paragraphs>95</Paragraphs>
  <Slides>16</Slides>
  <Notes>1</Notes>
  <HiddenSlides>0</HiddenSlides>
  <MMClips>0</MMClips>
  <ScaleCrop>false</ScaleCrop>
  <HeadingPairs>
    <vt:vector size="6" baseType="variant">
      <vt:variant>
        <vt:lpstr>Design Template</vt:lpstr>
      </vt:variant>
      <vt:variant>
        <vt:i4>1</vt:i4>
      </vt:variant>
      <vt:variant>
        <vt:lpstr>Embedded OLE Servers</vt:lpstr>
      </vt:variant>
      <vt:variant>
        <vt:i4>1</vt:i4>
      </vt:variant>
      <vt:variant>
        <vt:lpstr>Slide Titles</vt:lpstr>
      </vt:variant>
      <vt:variant>
        <vt:i4>16</vt:i4>
      </vt:variant>
    </vt:vector>
  </HeadingPairs>
  <TitlesOfParts>
    <vt:vector size="18" baseType="lpstr">
      <vt:lpstr>Technic</vt:lpstr>
      <vt:lpstr>Microsoft Equation</vt:lpstr>
      <vt:lpstr>Atomic and Molecular Physics  Lecture 22</vt:lpstr>
      <vt:lpstr>3.8 Effects of Intense Laser Field</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3463-6078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AMP12</dc:title>
  <dc:creator>경원 안</dc:creator>
  <cp:keywords/>
  <cp:lastModifiedBy>Kyungwon An</cp:lastModifiedBy>
  <cp:revision>67</cp:revision>
  <dcterms:created xsi:type="dcterms:W3CDTF">2009-11-16T14:53:07Z</dcterms:created>
  <dcterms:modified xsi:type="dcterms:W3CDTF">2009-11-16T16:33:49Z</dcterms:modified>
</cp:coreProperties>
</file>