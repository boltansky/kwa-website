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embeddings/Microsoft_Equation15.bin" ContentType="application/vnd.openxmlformats-officedocument.oleObject"/>
  <Override PartName="/ppt/embeddings/Microsoft_Equation22.bin" ContentType="application/vnd.openxmlformats-officedocument.oleObject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embeddings/Microsoft_Equation28.bin" ContentType="application/vnd.openxmlformats-officedocument.oleObject"/>
  <Override PartName="/ppt/embeddings/Microsoft_Equation29.bin" ContentType="application/vnd.openxmlformats-officedocument.oleObject"/>
  <Override PartName="/ppt/embeddings/Microsoft_Equation34.bin" ContentType="application/vnd.openxmlformats-officedocument.oleObject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embeddings/Microsoft_Equation8.bin" ContentType="application/vnd.openxmlformats-officedocument.oleObject"/>
  <Override PartName="/ppt/embeddings/Microsoft_Equation16.bin" ContentType="application/vnd.openxmlformats-officedocument.oleObject"/>
  <Override PartName="/ppt/embeddings/Microsoft_Equation25.bin" ContentType="application/vnd.openxmlformats-officedocument.oleObject"/>
  <Override PartName="/ppt/embeddings/Microsoft_Equation20.bin" ContentType="application/vnd.openxmlformats-officedocument.oleObject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embeddings/Microsoft_Equation12.bin" ContentType="application/vnd.openxmlformats-officedocument.oleObject"/>
  <Override PartName="/ppt/embeddings/Microsoft_Equation14.bin" ContentType="application/vnd.openxmlformats-officedocument.oleObject"/>
  <Override PartName="/ppt/embeddings/Microsoft_Equation33.bin" ContentType="application/vnd.openxmlformats-officedocument.oleObject"/>
  <Override PartName="/ppt/embeddings/Microsoft_Equation19.bin" ContentType="application/vnd.openxmlformats-officedocument.oleObject"/>
  <Override PartName="/ppt/embeddings/Microsoft_Equation2.bin" ContentType="application/vnd.openxmlformats-officedocument.oleObject"/>
  <Override PartName="/ppt/embeddings/Microsoft_Equation11.bin" ContentType="application/vnd.openxmlformats-officedocument.oleObject"/>
  <Override PartName="/ppt/embeddings/Microsoft_Equation26.bin" ContentType="application/vnd.openxmlformats-officedocument.oleObject"/>
  <Override PartName="/ppt/embeddings/Microsoft_Equation4.bin" ContentType="application/vnd.openxmlformats-officedocument.oleObject"/>
  <Override PartName="/ppt/embeddings/Microsoft_Equation23.bin" ContentType="application/vnd.openxmlformats-officedocument.oleObject"/>
  <Override PartName="/ppt/embeddings/Microsoft_Equation10.bin" ContentType="application/vnd.openxmlformats-officedocument.oleObject"/>
  <Override PartName="/ppt/embeddings/Microsoft_Equation5.bin" ContentType="application/vnd.openxmlformats-officedocument.oleObject"/>
  <Default Extension="pict" ContentType="image/pict"/>
  <Override PartName="/ppt/embeddings/Microsoft_Equation7.bin" ContentType="application/vnd.openxmlformats-officedocument.oleObject"/>
  <Override PartName="/ppt/embeddings/Microsoft_Equation18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embeddings/Microsoft_Equation13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Override PartName="/ppt/embeddings/Microsoft_Equation31.bin" ContentType="application/vnd.openxmlformats-officedocument.oleObject"/>
  <Default Extension="jpe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embeddings/Microsoft_Equation24.bin" ContentType="application/vnd.openxmlformats-officedocument.oleObject"/>
  <Override PartName="/ppt/embeddings/Microsoft_Equation27.bin" ContentType="application/vnd.openxmlformats-officedocument.oleObject"/>
  <Override PartName="/ppt/embeddings/Microsoft_Equation30.bin" ContentType="application/vnd.openxmlformats-officedocument.oleObject"/>
  <Override PartName="/ppt/slides/slide8.xml" ContentType="application/vnd.openxmlformats-officedocument.presentationml.slide+xml"/>
  <Override PartName="/ppt/embeddings/Microsoft_Equation9.bin" ContentType="application/vnd.openxmlformats-officedocument.oleObject"/>
  <Default Extension="bin" ContentType="application/vnd.openxmlformats-officedocument.presentationml.printerSettings"/>
  <Override PartName="/ppt/embeddings/Microsoft_Equation6.bin" ContentType="application/vnd.openxmlformats-officedocument.oleObject"/>
  <Override PartName="/ppt/embeddings/Microsoft_Equation32.bin" ContentType="application/vnd.openxmlformats-officedocument.oleObject"/>
  <Override PartName="/ppt/slides/slide9.xml" ContentType="application/vnd.openxmlformats-officedocument.presentationml.slide+xml"/>
  <Override PartName="/ppt/embeddings/Microsoft_Equation3.bin" ContentType="application/vnd.openxmlformats-officedocument.oleObject"/>
  <Default Extension="rels" ContentType="application/vnd.openxmlformats-package.relationships+xml"/>
  <Override PartName="/ppt/embeddings/Microsoft_Equation17.bin" ContentType="application/vnd.openxmlformats-officedocument.oleObject"/>
  <Override PartName="/ppt/slides/slide6.xml" ContentType="application/vnd.openxmlformats-officedocument.presentationml.slide+xml"/>
  <Override PartName="/ppt/embeddings/Microsoft_Equation21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9" r:id="rId11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csShiftJIS"/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43" d="100"/>
          <a:sy n="143" d="100"/>
        </p:scale>
        <p:origin x="-12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viewProps" Target="viewProps.xml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tableStyles" Target="tableStyles.xml"/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2" Type="http://schemas.openxmlformats.org/officeDocument/2006/relationships/printerSettings" Target="printerSettings/printerSettings1.bin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pict"/><Relationship Id="rId1" Type="http://schemas.openxmlformats.org/officeDocument/2006/relationships/image" Target="../media/image1.pict"/><Relationship Id="rId2" Type="http://schemas.openxmlformats.org/officeDocument/2006/relationships/image" Target="../media/image2.pict"/><Relationship Id="rId3" Type="http://schemas.openxmlformats.org/officeDocument/2006/relationships/image" Target="../media/image3.pict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pict"/><Relationship Id="rId3" Type="http://schemas.openxmlformats.org/officeDocument/2006/relationships/image" Target="../media/image7.pict"/><Relationship Id="rId1" Type="http://schemas.openxmlformats.org/officeDocument/2006/relationships/image" Target="../media/image5.pict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pict"/><Relationship Id="rId1" Type="http://schemas.openxmlformats.org/officeDocument/2006/relationships/image" Target="../media/image8.pict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.pict"/><Relationship Id="rId1" Type="http://schemas.openxmlformats.org/officeDocument/2006/relationships/image" Target="../media/image10.pict"/><Relationship Id="rId2" Type="http://schemas.openxmlformats.org/officeDocument/2006/relationships/image" Target="../media/image11.pict"/><Relationship Id="rId3" Type="http://schemas.openxmlformats.org/officeDocument/2006/relationships/image" Target="../media/image12.pict"/><Relationship Id="rId5" Type="http://schemas.openxmlformats.org/officeDocument/2006/relationships/image" Target="../media/image14.pict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ict"/><Relationship Id="rId3" Type="http://schemas.openxmlformats.org/officeDocument/2006/relationships/image" Target="../media/image17.pict"/><Relationship Id="rId1" Type="http://schemas.openxmlformats.org/officeDocument/2006/relationships/image" Target="../media/image15.pict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3.pict"/><Relationship Id="rId4" Type="http://schemas.openxmlformats.org/officeDocument/2006/relationships/image" Target="../media/image21.pict"/><Relationship Id="rId1" Type="http://schemas.openxmlformats.org/officeDocument/2006/relationships/image" Target="../media/image18.pict"/><Relationship Id="rId2" Type="http://schemas.openxmlformats.org/officeDocument/2006/relationships/image" Target="../media/image19.pict"/><Relationship Id="rId3" Type="http://schemas.openxmlformats.org/officeDocument/2006/relationships/image" Target="../media/image20.pict"/><Relationship Id="rId5" Type="http://schemas.openxmlformats.org/officeDocument/2006/relationships/image" Target="../media/image22.pict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7.pict"/><Relationship Id="rId5" Type="http://schemas.openxmlformats.org/officeDocument/2006/relationships/image" Target="../media/image28.pict"/><Relationship Id="rId7" Type="http://schemas.openxmlformats.org/officeDocument/2006/relationships/image" Target="../media/image30.pict"/><Relationship Id="rId1" Type="http://schemas.openxmlformats.org/officeDocument/2006/relationships/image" Target="../media/image24.pict"/><Relationship Id="rId2" Type="http://schemas.openxmlformats.org/officeDocument/2006/relationships/image" Target="../media/image25.pict"/><Relationship Id="rId3" Type="http://schemas.openxmlformats.org/officeDocument/2006/relationships/image" Target="../media/image26.pict"/><Relationship Id="rId6" Type="http://schemas.openxmlformats.org/officeDocument/2006/relationships/image" Target="../media/image29.pict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34.pict"/><Relationship Id="rId1" Type="http://schemas.openxmlformats.org/officeDocument/2006/relationships/image" Target="../media/image31.pict"/><Relationship Id="rId2" Type="http://schemas.openxmlformats.org/officeDocument/2006/relationships/image" Target="../media/image32.pict"/><Relationship Id="rId3" Type="http://schemas.openxmlformats.org/officeDocument/2006/relationships/image" Target="../media/image33.pict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09.10.7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4.bin"/><Relationship Id="rId4" Type="http://schemas.openxmlformats.org/officeDocument/2006/relationships/oleObject" Target="../embeddings/Microsoft_Equation2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.bin"/><Relationship Id="rId5" Type="http://schemas.openxmlformats.org/officeDocument/2006/relationships/oleObject" Target="../embeddings/Microsoft_Equation3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6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5.bin"/><Relationship Id="rId5" Type="http://schemas.openxmlformats.org/officeDocument/2006/relationships/oleObject" Target="../embeddings/Microsoft_Equation7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9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8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1.bin"/><Relationship Id="rId5" Type="http://schemas.openxmlformats.org/officeDocument/2006/relationships/oleObject" Target="../embeddings/Microsoft_Equation12.bin"/><Relationship Id="rId7" Type="http://schemas.openxmlformats.org/officeDocument/2006/relationships/oleObject" Target="../embeddings/Microsoft_Equation14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0.bin"/><Relationship Id="rId6" Type="http://schemas.openxmlformats.org/officeDocument/2006/relationships/oleObject" Target="../embeddings/Microsoft_Equation13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6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5.bin"/><Relationship Id="rId5" Type="http://schemas.openxmlformats.org/officeDocument/2006/relationships/oleObject" Target="../embeddings/Microsoft_Equation1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23.bin"/><Relationship Id="rId4" Type="http://schemas.openxmlformats.org/officeDocument/2006/relationships/oleObject" Target="../embeddings/Microsoft_Equation19.bin"/><Relationship Id="rId5" Type="http://schemas.openxmlformats.org/officeDocument/2006/relationships/oleObject" Target="../embeddings/Microsoft_Equation20.bin"/><Relationship Id="rId7" Type="http://schemas.openxmlformats.org/officeDocument/2006/relationships/oleObject" Target="../embeddings/Microsoft_Equation22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8.bin"/><Relationship Id="rId6" Type="http://schemas.openxmlformats.org/officeDocument/2006/relationships/oleObject" Target="../embeddings/Microsoft_Equation2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29.bin"/><Relationship Id="rId4" Type="http://schemas.openxmlformats.org/officeDocument/2006/relationships/oleObject" Target="../embeddings/Microsoft_Equation25.bin"/><Relationship Id="rId5" Type="http://schemas.openxmlformats.org/officeDocument/2006/relationships/oleObject" Target="../embeddings/Microsoft_Equation26.bin"/><Relationship Id="rId7" Type="http://schemas.openxmlformats.org/officeDocument/2006/relationships/oleObject" Target="../embeddings/Microsoft_Equation28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30.bin"/><Relationship Id="rId3" Type="http://schemas.openxmlformats.org/officeDocument/2006/relationships/oleObject" Target="../embeddings/Microsoft_Equation24.bin"/><Relationship Id="rId6" Type="http://schemas.openxmlformats.org/officeDocument/2006/relationships/oleObject" Target="../embeddings/Microsoft_Equation27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34.bin"/><Relationship Id="rId4" Type="http://schemas.openxmlformats.org/officeDocument/2006/relationships/oleObject" Target="../embeddings/Microsoft_Equation32.bin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1.bin"/><Relationship Id="rId5" Type="http://schemas.openxmlformats.org/officeDocument/2006/relationships/oleObject" Target="../embeddings/Microsoft_Equation33.bin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/>
              <a:t>Atomic and Molecular Physics</a:t>
            </a:r>
            <a:r>
              <a:rPr altLang="ja-JP" sz="4400"/>
              <a:t/>
            </a:r>
            <a:br>
              <a:rPr altLang="ja-JP" sz="4400"/>
            </a:br>
            <a:r>
              <a:rPr altLang="ja-JP" sz="4400"/>
              <a:t/>
            </a:r>
            <a:br>
              <a:rPr altLang="ja-JP" sz="4400"/>
            </a:br>
            <a:r>
              <a:rPr altLang="ja-JP" sz="3200">
                <a:solidFill>
                  <a:srgbClr val="00FF00"/>
                </a:solidFill>
              </a:rPr>
              <a:t>Lecture 02</a:t>
            </a:r>
            <a:endParaRPr lang="ja-JP" altLang="en-US" sz="320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/>
              <a:t>Prof. Kyungwon An</a:t>
            </a:r>
          </a:p>
          <a:p>
            <a:r>
              <a:rPr lang="en-US" altLang="ja-JP"/>
              <a:t>Department of Physics and Astronomy</a:t>
            </a:r>
          </a:p>
          <a:p>
            <a:r>
              <a:rPr lang="en-US" altLang="ja-JP"/>
              <a:t>Seoul National University</a:t>
            </a:r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1143000"/>
          </a:xfrm>
        </p:spPr>
        <p:txBody>
          <a:bodyPr/>
          <a:lstStyle/>
          <a:p>
            <a:r>
              <a:rPr lang="en-US" altLang="ja-JP" smtClean="0"/>
              <a:t>Atomic Units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077200" cy="5334000"/>
          </a:xfrm>
        </p:spPr>
        <p:txBody>
          <a:bodyPr>
            <a:normAutofit/>
          </a:bodyPr>
          <a:lstStyle/>
          <a:p>
            <a:r>
              <a:rPr lang="en-US" sz="2400"/>
              <a:t>Consider the time-independent Schrödinger equation for hydrogen.</a:t>
            </a:r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Let </a:t>
            </a:r>
            <a:r>
              <a:rPr lang="en-US" sz="2400" i="1"/>
              <a:t>r</a:t>
            </a:r>
            <a:r>
              <a:rPr lang="en-US" sz="2400"/>
              <a:t>=</a:t>
            </a:r>
            <a:r>
              <a:rPr lang="en-US" sz="2400" i="1"/>
              <a:t>r’a</a:t>
            </a:r>
            <a:r>
              <a:rPr lang="en-US" sz="2400" baseline="-25000"/>
              <a:t>0</a:t>
            </a:r>
            <a:r>
              <a:rPr lang="en-US" sz="2400"/>
              <a:t>, </a:t>
            </a:r>
            <a:r>
              <a:rPr lang="en-US" sz="2400" i="1"/>
              <a:t>E</a:t>
            </a:r>
            <a:r>
              <a:rPr lang="en-US" sz="2400"/>
              <a:t>=</a:t>
            </a:r>
            <a:r>
              <a:rPr lang="en-US" sz="2400" i="1"/>
              <a:t>E’E</a:t>
            </a:r>
            <a:r>
              <a:rPr lang="en-US" sz="2400" baseline="-25000"/>
              <a:t>0</a:t>
            </a:r>
            <a:r>
              <a:rPr lang="en-US" sz="2400"/>
              <a:t>.</a:t>
            </a:r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We identify </a:t>
            </a:r>
          </a:p>
          <a:p>
            <a:pPr>
              <a:buNone/>
            </a:pPr>
            <a:r>
              <a:rPr lang="en-US" sz="2400"/>
              <a:t>						     	     , Bohr radius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								, the Hartree</a:t>
            </a:r>
            <a:r>
              <a:rPr lang="ko-KR" sz="2400"/>
              <a:t> </a:t>
            </a:r>
            <a:endParaRPr lang="ko-KR" altLang="en-US" sz="2400"/>
          </a:p>
        </p:txBody>
      </p:sp>
      <p:graphicFrame>
        <p:nvGraphicFramePr>
          <p:cNvPr id="210946" name="Object 2"/>
          <p:cNvGraphicFramePr>
            <a:graphicFrameLocks noChangeAspect="1"/>
          </p:cNvGraphicFramePr>
          <p:nvPr/>
        </p:nvGraphicFramePr>
        <p:xfrm>
          <a:off x="3505200" y="2209800"/>
          <a:ext cx="2235200" cy="687388"/>
        </p:xfrm>
        <a:graphic>
          <a:graphicData uri="http://schemas.openxmlformats.org/presentationml/2006/ole">
            <p:oleObj spid="_x0000_s210946" name="Equation" r:id="rId3" imgW="1485900" imgH="457200" progId="Equation.3">
              <p:embed/>
            </p:oleObj>
          </a:graphicData>
        </a:graphic>
      </p:graphicFrame>
      <p:graphicFrame>
        <p:nvGraphicFramePr>
          <p:cNvPr id="210947" name="Object 3"/>
          <p:cNvGraphicFramePr>
            <a:graphicFrameLocks noChangeAspect="1"/>
          </p:cNvGraphicFramePr>
          <p:nvPr/>
        </p:nvGraphicFramePr>
        <p:xfrm>
          <a:off x="1981200" y="3505200"/>
          <a:ext cx="5232400" cy="687388"/>
        </p:xfrm>
        <a:graphic>
          <a:graphicData uri="http://schemas.openxmlformats.org/presentationml/2006/ole">
            <p:oleObj spid="_x0000_s210947" name="Equation" r:id="rId4" imgW="3479800" imgH="457200" progId="Equation.3">
              <p:embed/>
            </p:oleObj>
          </a:graphicData>
        </a:graphic>
      </p:graphicFrame>
      <p:graphicFrame>
        <p:nvGraphicFramePr>
          <p:cNvPr id="210948" name="Object 4"/>
          <p:cNvGraphicFramePr>
            <a:graphicFrameLocks noChangeAspect="1"/>
          </p:cNvGraphicFramePr>
          <p:nvPr/>
        </p:nvGraphicFramePr>
        <p:xfrm>
          <a:off x="3252787" y="4665662"/>
          <a:ext cx="2309813" cy="592138"/>
        </p:xfrm>
        <a:graphic>
          <a:graphicData uri="http://schemas.openxmlformats.org/presentationml/2006/ole">
            <p:oleObj spid="_x0000_s210948" name="Equation" r:id="rId5" imgW="1536700" imgH="393700" progId="Equation.3">
              <p:embed/>
            </p:oleObj>
          </a:graphicData>
        </a:graphic>
      </p:graphicFrame>
      <p:graphicFrame>
        <p:nvGraphicFramePr>
          <p:cNvPr id="210949" name="Object 5"/>
          <p:cNvGraphicFramePr>
            <a:graphicFrameLocks noChangeAspect="1"/>
          </p:cNvGraphicFramePr>
          <p:nvPr/>
        </p:nvGraphicFramePr>
        <p:xfrm>
          <a:off x="1828800" y="5486400"/>
          <a:ext cx="4422775" cy="723900"/>
        </p:xfrm>
        <a:graphic>
          <a:graphicData uri="http://schemas.openxmlformats.org/presentationml/2006/ole">
            <p:oleObj spid="_x0000_s210949" name="Equation" r:id="rId6" imgW="2946400" imgH="482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Exercise 2</a:t>
            </a:r>
            <a:r>
              <a:rPr lang="ko-KR"/>
              <a:t> 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7924800" cy="1447800"/>
          </a:xfrm>
        </p:spPr>
        <p:txBody>
          <a:bodyPr>
            <a:normAutofit/>
          </a:bodyPr>
          <a:lstStyle/>
          <a:p>
            <a:r>
              <a:rPr lang="en-US" sz="2800"/>
              <a:t>Calculate the Rydberg constant to the 14</a:t>
            </a:r>
            <a:r>
              <a:rPr lang="en-US" sz="2800" baseline="30000"/>
              <a:t>th</a:t>
            </a:r>
            <a:r>
              <a:rPr lang="en-US" sz="2800"/>
              <a:t> digit with its error using the latest fundamental constants.</a:t>
            </a:r>
            <a:endParaRPr lang="ko-KR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34400" cy="1143000"/>
          </a:xfrm>
        </p:spPr>
        <p:txBody>
          <a:bodyPr>
            <a:noAutofit/>
          </a:bodyPr>
          <a:lstStyle/>
          <a:p>
            <a:r>
              <a:rPr lang="en-US" sz="4400"/>
              <a:t>Non-relativistic Theory of Hydrogen</a:t>
            </a:r>
            <a:r>
              <a:rPr lang="ko-KR" sz="4400"/>
              <a:t> </a:t>
            </a:r>
            <a:endParaRPr lang="ja-JP" altLang="en-US" sz="4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/>
              <a:t>Schrodinger equation in atomic unit</a:t>
            </a:r>
          </a:p>
          <a:p>
            <a:endParaRPr lang="ko-KR" altLang="en-US"/>
          </a:p>
          <a:p>
            <a:r>
              <a:rPr lang="en-US"/>
              <a:t>In spherical coordinates</a:t>
            </a:r>
          </a:p>
          <a:p>
            <a:endParaRPr lang="en-US" altLang="ko-KR"/>
          </a:p>
          <a:p>
            <a:endParaRPr lang="ko-KR" altLang="en-US"/>
          </a:p>
          <a:p>
            <a:r>
              <a:rPr lang="en-US"/>
              <a:t>Separation of variables </a:t>
            </a:r>
            <a:r>
              <a:rPr lang="en-US">
                <a:sym typeface="Symbol"/>
              </a:rPr>
              <a:t></a:t>
            </a:r>
            <a:r>
              <a:rPr lang="en-US"/>
              <a:t>=</a:t>
            </a:r>
            <a:r>
              <a:rPr lang="en-US" i="1"/>
              <a:t>RY</a:t>
            </a:r>
            <a:endParaRPr lang="ko-KR" altLang="en-US"/>
          </a:p>
          <a:p>
            <a:endParaRPr lang="ja-JP" altLang="en-US"/>
          </a:p>
        </p:txBody>
      </p:sp>
      <p:graphicFrame>
        <p:nvGraphicFramePr>
          <p:cNvPr id="29703" name="Object 7"/>
          <p:cNvGraphicFramePr>
            <a:graphicFrameLocks noChangeAspect="1"/>
          </p:cNvGraphicFramePr>
          <p:nvPr/>
        </p:nvGraphicFramePr>
        <p:xfrm>
          <a:off x="3276600" y="2133600"/>
          <a:ext cx="2039938" cy="647700"/>
        </p:xfrm>
        <a:graphic>
          <a:graphicData uri="http://schemas.openxmlformats.org/presentationml/2006/ole">
            <p:oleObj spid="_x0000_s29703" name="Equation" r:id="rId3" imgW="1358900" imgH="431800" progId="Equation.3">
              <p:embed/>
            </p:oleObj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/>
        </p:nvGraphicFramePr>
        <p:xfrm>
          <a:off x="2286000" y="3351212"/>
          <a:ext cx="4833938" cy="687388"/>
        </p:xfrm>
        <a:graphic>
          <a:graphicData uri="http://schemas.openxmlformats.org/presentationml/2006/ole">
            <p:oleObj spid="_x0000_s29704" name="Equation" r:id="rId4" imgW="3213100" imgH="457200" progId="Equation.3">
              <p:embed/>
            </p:oleObj>
          </a:graphicData>
        </a:graphic>
      </p:graphicFrame>
      <p:graphicFrame>
        <p:nvGraphicFramePr>
          <p:cNvPr id="29705" name="Object 9"/>
          <p:cNvGraphicFramePr>
            <a:graphicFrameLocks noChangeAspect="1"/>
          </p:cNvGraphicFramePr>
          <p:nvPr/>
        </p:nvGraphicFramePr>
        <p:xfrm>
          <a:off x="1371600" y="4953000"/>
          <a:ext cx="6510338" cy="687388"/>
        </p:xfrm>
        <a:graphic>
          <a:graphicData uri="http://schemas.openxmlformats.org/presentationml/2006/ole">
            <p:oleObj spid="_x0000_s29705" name="Equation" r:id="rId5" imgW="4330700" imgH="457200" progId="Equation.3">
              <p:embed/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001000" cy="5516563"/>
          </a:xfrm>
        </p:spPr>
        <p:txBody>
          <a:bodyPr>
            <a:normAutofit/>
          </a:bodyPr>
          <a:lstStyle/>
          <a:p>
            <a:r>
              <a:rPr lang="en-US" sz="2800"/>
              <a:t>The angular equation has regular solutions only if </a:t>
            </a:r>
          </a:p>
          <a:p>
            <a:endParaRPr lang="en-US" altLang="ko-KR" sz="2800"/>
          </a:p>
          <a:p>
            <a:endParaRPr lang="ko-KR" altLang="en-US" sz="2800"/>
          </a:p>
          <a:p>
            <a:pPr>
              <a:buNone/>
            </a:pPr>
            <a:r>
              <a:rPr lang="en-US" sz="2800"/>
              <a:t>    where </a:t>
            </a:r>
            <a:r>
              <a:rPr lang="en-US" sz="2800" i="1"/>
              <a:t>P</a:t>
            </a:r>
            <a:r>
              <a:rPr lang="en-US" sz="2800" i="1" baseline="-25000"/>
              <a:t>lm</a:t>
            </a:r>
            <a:r>
              <a:rPr lang="en-US" sz="2800"/>
              <a:t> are the normalized associated Legendre functions and </a:t>
            </a:r>
            <a:r>
              <a:rPr lang="en-US" sz="2800" i="1"/>
              <a:t>Y</a:t>
            </a:r>
            <a:r>
              <a:rPr lang="en-US" sz="2800" i="1" baseline="-25000"/>
              <a:t>lm</a:t>
            </a:r>
            <a:r>
              <a:rPr lang="en-US" sz="2800"/>
              <a:t> is called spherical harmonics. The resulting radial equation in atomic unit is</a:t>
            </a:r>
            <a:endParaRPr lang="ko-KR" altLang="en-US" sz="2800"/>
          </a:p>
        </p:txBody>
      </p:sp>
      <p:graphicFrame>
        <p:nvGraphicFramePr>
          <p:cNvPr id="214018" name="Object 2"/>
          <p:cNvGraphicFramePr>
            <a:graphicFrameLocks noChangeAspect="1"/>
          </p:cNvGraphicFramePr>
          <p:nvPr/>
        </p:nvGraphicFramePr>
        <p:xfrm>
          <a:off x="2514600" y="1752600"/>
          <a:ext cx="3775075" cy="571500"/>
        </p:xfrm>
        <a:graphic>
          <a:graphicData uri="http://schemas.openxmlformats.org/presentationml/2006/ole">
            <p:oleObj spid="_x0000_s214018" name="Equation" r:id="rId3" imgW="2514600" imgH="381000" progId="Equation.3">
              <p:embed/>
            </p:oleObj>
          </a:graphicData>
        </a:graphic>
      </p:graphicFrame>
      <p:graphicFrame>
        <p:nvGraphicFramePr>
          <p:cNvPr id="214019" name="Object 3"/>
          <p:cNvGraphicFramePr>
            <a:graphicFrameLocks noChangeAspect="1"/>
          </p:cNvGraphicFramePr>
          <p:nvPr/>
        </p:nvGraphicFramePr>
        <p:xfrm>
          <a:off x="2819400" y="4495800"/>
          <a:ext cx="3325813" cy="608013"/>
        </p:xfrm>
        <a:graphic>
          <a:graphicData uri="http://schemas.openxmlformats.org/presentationml/2006/ole">
            <p:oleObj spid="_x0000_s214019" name="Equation" r:id="rId4" imgW="2222500" imgH="406400" progId="Equation.3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1143000"/>
          </a:xfrm>
        </p:spPr>
        <p:txBody>
          <a:bodyPr/>
          <a:lstStyle/>
          <a:p>
            <a:r>
              <a:rPr lang="en-US" i="1">
                <a:latin typeface="Times New Roman"/>
                <a:cs typeface="Times New Roman"/>
              </a:rPr>
              <a:t>Power Series Solution</a:t>
            </a:r>
            <a:endParaRPr lang="ja-JP" altLang="en-US" i="1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153400" cy="4906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u="sng"/>
              <a:t>a) at large distance</a:t>
            </a:r>
            <a:r>
              <a:rPr lang="en-US"/>
              <a:t>, </a:t>
            </a:r>
            <a:r>
              <a:rPr lang="en-US" i="1"/>
              <a:t>r</a:t>
            </a:r>
            <a:r>
              <a:rPr lang="en-US"/>
              <a:t>&gt;&gt;1.</a:t>
            </a:r>
            <a:endParaRPr lang="ko-KR" altLang="en-US"/>
          </a:p>
          <a:p>
            <a:r>
              <a:rPr lang="en-US"/>
              <a:t>Consider bound states, </a:t>
            </a:r>
            <a:r>
              <a:rPr lang="en-US" i="1"/>
              <a:t>E</a:t>
            </a:r>
            <a:r>
              <a:rPr lang="en-US"/>
              <a:t>&lt;0. Let . </a:t>
            </a:r>
            <a:endParaRPr lang="ko-KR" altLang="en-US"/>
          </a:p>
          <a:p>
            <a:r>
              <a:rPr lang="en-US"/>
              <a:t>The solutions are         .  Try a non-diverging solution,             , where </a:t>
            </a:r>
            <a:r>
              <a:rPr lang="en-US" i="1"/>
              <a:t>f</a:t>
            </a:r>
            <a:r>
              <a:rPr lang="en-US"/>
              <a:t>(</a:t>
            </a:r>
            <a:r>
              <a:rPr lang="en-US" i="1"/>
              <a:t>r</a:t>
            </a:r>
            <a:r>
              <a:rPr lang="en-US"/>
              <a:t>) varies slowly at infinity.  </a:t>
            </a:r>
            <a:endParaRPr lang="ko-KR" altLang="en-US"/>
          </a:p>
          <a:p>
            <a:endParaRPr lang="en-US" altLang="ko-KR"/>
          </a:p>
          <a:p>
            <a:endParaRPr lang="ko-KR" altLang="en-US"/>
          </a:p>
          <a:p>
            <a:r>
              <a:rPr lang="en-US"/>
              <a:t>Show that the radial equation becomes</a:t>
            </a:r>
            <a:endParaRPr lang="ko-KR" altLang="en-US"/>
          </a:p>
        </p:txBody>
      </p:sp>
      <p:graphicFrame>
        <p:nvGraphicFramePr>
          <p:cNvPr id="204805" name="Object 5"/>
          <p:cNvGraphicFramePr>
            <a:graphicFrameLocks noChangeAspect="1"/>
          </p:cNvGraphicFramePr>
          <p:nvPr/>
        </p:nvGraphicFramePr>
        <p:xfrm>
          <a:off x="5402263" y="1447800"/>
          <a:ext cx="1249363" cy="207963"/>
        </p:xfrm>
        <a:graphic>
          <a:graphicData uri="http://schemas.openxmlformats.org/presentationml/2006/ole">
            <p:oleObj spid="_x0000_s204805" name="Equation" r:id="rId3" imgW="838200" imgH="139700" progId="Equation.3">
              <p:embed/>
            </p:oleObj>
          </a:graphicData>
        </a:graphic>
      </p:graphicFrame>
      <p:graphicFrame>
        <p:nvGraphicFramePr>
          <p:cNvPr id="204806" name="Object 6"/>
          <p:cNvGraphicFramePr>
            <a:graphicFrameLocks noChangeAspect="1"/>
          </p:cNvGraphicFramePr>
          <p:nvPr/>
        </p:nvGraphicFramePr>
        <p:xfrm>
          <a:off x="6781800" y="1905000"/>
          <a:ext cx="928688" cy="284163"/>
        </p:xfrm>
        <a:graphic>
          <a:graphicData uri="http://schemas.openxmlformats.org/presentationml/2006/ole">
            <p:oleObj spid="_x0000_s204806" name="Equation" r:id="rId4" imgW="622300" imgH="190500" progId="Equation.3">
              <p:embed/>
            </p:oleObj>
          </a:graphicData>
        </a:graphic>
      </p:graphicFrame>
      <p:graphicFrame>
        <p:nvGraphicFramePr>
          <p:cNvPr id="204807" name="Object 7"/>
          <p:cNvGraphicFramePr>
            <a:graphicFrameLocks noChangeAspect="1"/>
          </p:cNvGraphicFramePr>
          <p:nvPr/>
        </p:nvGraphicFramePr>
        <p:xfrm>
          <a:off x="3989492" y="2496838"/>
          <a:ext cx="763588" cy="247650"/>
        </p:xfrm>
        <a:graphic>
          <a:graphicData uri="http://schemas.openxmlformats.org/presentationml/2006/ole">
            <p:oleObj spid="_x0000_s204807" name="Equation" r:id="rId5" imgW="508000" imgH="165100" progId="Equation.3">
              <p:embed/>
            </p:oleObj>
          </a:graphicData>
        </a:graphic>
      </p:graphicFrame>
      <p:graphicFrame>
        <p:nvGraphicFramePr>
          <p:cNvPr id="204808" name="Object 8"/>
          <p:cNvGraphicFramePr>
            <a:graphicFrameLocks noChangeAspect="1"/>
          </p:cNvGraphicFramePr>
          <p:nvPr/>
        </p:nvGraphicFramePr>
        <p:xfrm>
          <a:off x="2438400" y="2931124"/>
          <a:ext cx="1195388" cy="307975"/>
        </p:xfrm>
        <a:graphic>
          <a:graphicData uri="http://schemas.openxmlformats.org/presentationml/2006/ole">
            <p:oleObj spid="_x0000_s204808" name="Equation" r:id="rId6" imgW="787400" imgH="203200" progId="Equation.3">
              <p:embed/>
            </p:oleObj>
          </a:graphicData>
        </a:graphic>
      </p:graphicFrame>
      <p:graphicFrame>
        <p:nvGraphicFramePr>
          <p:cNvPr id="204809" name="Object 9"/>
          <p:cNvGraphicFramePr>
            <a:graphicFrameLocks noChangeAspect="1"/>
          </p:cNvGraphicFramePr>
          <p:nvPr/>
        </p:nvGraphicFramePr>
        <p:xfrm>
          <a:off x="2667000" y="5518150"/>
          <a:ext cx="3778250" cy="608013"/>
        </p:xfrm>
        <a:graphic>
          <a:graphicData uri="http://schemas.openxmlformats.org/presentationml/2006/ole">
            <p:oleObj spid="_x0000_s204809" name="Equation" r:id="rId7" imgW="2527300" imgH="406400" progId="Equation.3">
              <p:embed/>
            </p:oleObj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457200" y="38862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Exercise 3</a:t>
            </a:r>
            <a:r>
              <a:rPr kumimoji="1" lang="ko-KR" sz="4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ja-JP" altLang="en-US" sz="4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153400" cy="5592763"/>
          </a:xfrm>
        </p:spPr>
        <p:txBody>
          <a:bodyPr/>
          <a:lstStyle/>
          <a:p>
            <a:pPr>
              <a:buNone/>
            </a:pPr>
            <a:r>
              <a:rPr lang="en-US" u="sng"/>
              <a:t>b) near origin</a:t>
            </a:r>
            <a:r>
              <a:rPr lang="en-US"/>
              <a:t>, </a:t>
            </a:r>
            <a:r>
              <a:rPr lang="en-US" i="1"/>
              <a:t>r</a:t>
            </a:r>
            <a:r>
              <a:rPr lang="en-US"/>
              <a:t>&lt;&lt;1.</a:t>
            </a:r>
            <a:endParaRPr lang="ko-KR" altLang="en-US"/>
          </a:p>
          <a:p>
            <a:endParaRPr lang="en-US"/>
          </a:p>
          <a:p>
            <a:endParaRPr lang="en-US"/>
          </a:p>
          <a:p>
            <a:r>
              <a:rPr lang="en-US"/>
              <a:t>Try </a:t>
            </a:r>
            <a:r>
              <a:rPr lang="en-US" i="1"/>
              <a:t>f</a:t>
            </a:r>
            <a:r>
              <a:rPr lang="en-US"/>
              <a:t>=</a:t>
            </a:r>
            <a:r>
              <a:rPr lang="en-US" i="1"/>
              <a:t>r</a:t>
            </a:r>
            <a:r>
              <a:rPr lang="en-US" i="1" baseline="30000"/>
              <a:t>k</a:t>
            </a:r>
            <a:r>
              <a:rPr lang="en-US"/>
              <a:t>.  Then, </a:t>
            </a:r>
            <a:r>
              <a:rPr lang="en-US" i="1"/>
              <a:t>k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-1)+2</a:t>
            </a:r>
            <a:r>
              <a:rPr lang="en-US" i="1"/>
              <a:t>k</a:t>
            </a:r>
            <a:r>
              <a:rPr lang="en-US"/>
              <a:t>-</a:t>
            </a:r>
            <a:r>
              <a:rPr lang="en-US" i="1"/>
              <a:t>l</a:t>
            </a:r>
            <a:r>
              <a:rPr lang="en-US"/>
              <a:t>(</a:t>
            </a:r>
            <a:r>
              <a:rPr lang="en-US" i="1"/>
              <a:t>l</a:t>
            </a:r>
            <a:r>
              <a:rPr lang="en-US"/>
              <a:t>+1)=0, and therefore, </a:t>
            </a:r>
            <a:r>
              <a:rPr lang="en-US" i="1"/>
              <a:t>k</a:t>
            </a:r>
            <a:r>
              <a:rPr lang="en-US"/>
              <a:t>=</a:t>
            </a:r>
            <a:r>
              <a:rPr lang="en-US" i="1"/>
              <a:t>l</a:t>
            </a:r>
            <a:r>
              <a:rPr lang="en-US"/>
              <a:t>, -</a:t>
            </a:r>
            <a:r>
              <a:rPr lang="en-US" i="1"/>
              <a:t>l</a:t>
            </a:r>
            <a:r>
              <a:rPr lang="en-US"/>
              <a:t>-1.</a:t>
            </a:r>
            <a:endParaRPr lang="ko-KR" altLang="en-US"/>
          </a:p>
          <a:p>
            <a:r>
              <a:rPr lang="en-US"/>
              <a:t>For a well behaved solution, k=l.  So, we write a power series</a:t>
            </a:r>
            <a:endParaRPr lang="ko-KR" alt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r>
              <a:rPr lang="en-US"/>
              <a:t>Show that</a:t>
            </a:r>
            <a:endParaRPr lang="ko-KR" altLang="en-US"/>
          </a:p>
        </p:txBody>
      </p:sp>
      <p:graphicFrame>
        <p:nvGraphicFramePr>
          <p:cNvPr id="205830" name="Object 6"/>
          <p:cNvGraphicFramePr>
            <a:graphicFrameLocks noChangeAspect="1"/>
          </p:cNvGraphicFramePr>
          <p:nvPr/>
        </p:nvGraphicFramePr>
        <p:xfrm>
          <a:off x="3505200" y="1219200"/>
          <a:ext cx="2209800" cy="552450"/>
        </p:xfrm>
        <a:graphic>
          <a:graphicData uri="http://schemas.openxmlformats.org/presentationml/2006/ole">
            <p:oleObj spid="_x0000_s205830" name="Equation" r:id="rId3" imgW="1473200" imgH="368300" progId="Equation.3">
              <p:embed/>
            </p:oleObj>
          </a:graphicData>
        </a:graphic>
      </p:graphicFrame>
      <p:graphicFrame>
        <p:nvGraphicFramePr>
          <p:cNvPr id="205831" name="Object 7"/>
          <p:cNvGraphicFramePr>
            <a:graphicFrameLocks noChangeAspect="1"/>
          </p:cNvGraphicFramePr>
          <p:nvPr/>
        </p:nvGraphicFramePr>
        <p:xfrm>
          <a:off x="4495800" y="3657600"/>
          <a:ext cx="1497013" cy="663575"/>
        </p:xfrm>
        <a:graphic>
          <a:graphicData uri="http://schemas.openxmlformats.org/presentationml/2006/ole">
            <p:oleObj spid="_x0000_s205831" name="Equation" r:id="rId4" imgW="1003300" imgH="444500" progId="Equation.3">
              <p:embed/>
            </p:oleObj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>
          <a:xfrm>
            <a:off x="457200" y="43434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Exercise 4</a:t>
            </a:r>
            <a:r>
              <a:rPr kumimoji="1" lang="ko-KR" sz="4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ja-JP" altLang="en-US" sz="4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05832" name="Object 8"/>
          <p:cNvGraphicFramePr>
            <a:graphicFrameLocks noChangeAspect="1"/>
          </p:cNvGraphicFramePr>
          <p:nvPr/>
        </p:nvGraphicFramePr>
        <p:xfrm>
          <a:off x="2819400" y="5334000"/>
          <a:ext cx="3076575" cy="608013"/>
        </p:xfrm>
        <a:graphic>
          <a:graphicData uri="http://schemas.openxmlformats.org/presentationml/2006/ole">
            <p:oleObj spid="_x0000_s205832" name="Equation" r:id="rId5" imgW="2057400" imgH="406400" progId="Equation.3">
              <p:embed/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153400" cy="5943600"/>
          </a:xfrm>
        </p:spPr>
        <p:txBody>
          <a:bodyPr>
            <a:normAutofit lnSpcReduction="10000"/>
          </a:bodyPr>
          <a:lstStyle/>
          <a:p>
            <a:r>
              <a:rPr lang="en-US" sz="2400"/>
              <a:t>In the limit of large </a:t>
            </a:r>
            <a:r>
              <a:rPr lang="en-US" sz="2400" i="1"/>
              <a:t>j</a:t>
            </a:r>
            <a:r>
              <a:rPr lang="en-US" sz="2400"/>
              <a:t>,             , which means </a:t>
            </a:r>
          </a:p>
          <a:p>
            <a:endParaRPr lang="en-US" sz="2400"/>
          </a:p>
          <a:p>
            <a:pPr>
              <a:buNone/>
            </a:pPr>
            <a:r>
              <a:rPr lang="ko-KR" altLang="en-US" sz="2400"/>
              <a:t/>
            </a:r>
            <a:br>
              <a:rPr lang="ko-KR" altLang="en-US" sz="2400"/>
            </a:br>
            <a:r>
              <a:rPr lang="en-US" sz="2400"/>
              <a:t>which is unacceptable.  Therefore, the series should terminate.  Suppose the highest power be </a:t>
            </a:r>
            <a:r>
              <a:rPr lang="en-US" sz="2400" i="1"/>
              <a:t>n</a:t>
            </a:r>
            <a:r>
              <a:rPr lang="en-US" sz="2400" i="1" baseline="-25000"/>
              <a:t>r</a:t>
            </a:r>
            <a:r>
              <a:rPr lang="en-US" sz="2400"/>
              <a:t> (radial quantum number, </a:t>
            </a:r>
            <a:r>
              <a:rPr lang="en-US" sz="2400" i="1"/>
              <a:t>n</a:t>
            </a:r>
            <a:r>
              <a:rPr lang="en-US" sz="2400" i="1" baseline="-25000"/>
              <a:t>r</a:t>
            </a:r>
            <a:r>
              <a:rPr lang="en-US" sz="2400"/>
              <a:t>=0, 1, 2,…). That means          .  Therefore, 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r>
              <a:rPr lang="ko-KR" altLang="en-US" sz="2400"/>
              <a:t/>
            </a:r>
            <a:br>
              <a:rPr lang="ko-KR" altLang="en-US" sz="2400"/>
            </a:br>
            <a:r>
              <a:rPr lang="en-US" sz="2400"/>
              <a:t>which is the Bohr formula with </a:t>
            </a:r>
            <a:r>
              <a:rPr lang="en-US" sz="2400" i="1"/>
              <a:t>n</a:t>
            </a:r>
            <a:r>
              <a:rPr lang="en-US" sz="2400"/>
              <a:t>=</a:t>
            </a:r>
            <a:r>
              <a:rPr lang="en-US" sz="2400" i="1"/>
              <a:t>l</a:t>
            </a:r>
            <a:r>
              <a:rPr lang="en-US" sz="2400"/>
              <a:t>+</a:t>
            </a:r>
            <a:r>
              <a:rPr lang="en-US" sz="2400" i="1"/>
              <a:t>t</a:t>
            </a:r>
            <a:r>
              <a:rPr lang="en-US" sz="2400"/>
              <a:t>=1,2,…, principal quantum number. Substituting  in the above recursion relation gives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endParaRPr lang="ko-KR" altLang="en-US" sz="2400"/>
          </a:p>
          <a:p>
            <a:pPr>
              <a:buNone/>
            </a:pPr>
            <a:r>
              <a:rPr lang="en-US" sz="2400"/>
              <a:t>    which is an alternating power series.</a:t>
            </a:r>
            <a:r>
              <a:rPr lang="ko-KR" sz="2400"/>
              <a:t> </a:t>
            </a:r>
            <a:endParaRPr lang="ko-KR" altLang="en-US" sz="2400"/>
          </a:p>
        </p:txBody>
      </p:sp>
      <p:graphicFrame>
        <p:nvGraphicFramePr>
          <p:cNvPr id="217093" name="Object 5"/>
          <p:cNvGraphicFramePr>
            <a:graphicFrameLocks noChangeAspect="1"/>
          </p:cNvGraphicFramePr>
          <p:nvPr/>
        </p:nvGraphicFramePr>
        <p:xfrm>
          <a:off x="3733800" y="504780"/>
          <a:ext cx="1042988" cy="606425"/>
        </p:xfrm>
        <a:graphic>
          <a:graphicData uri="http://schemas.openxmlformats.org/presentationml/2006/ole">
            <p:oleObj spid="_x0000_s217093" name="Equation" r:id="rId3" imgW="698500" imgH="406400" progId="Equation.3">
              <p:embed/>
            </p:oleObj>
          </a:graphicData>
        </a:graphic>
      </p:graphicFrame>
      <p:graphicFrame>
        <p:nvGraphicFramePr>
          <p:cNvPr id="217094" name="Object 6"/>
          <p:cNvGraphicFramePr>
            <a:graphicFrameLocks noChangeAspect="1"/>
          </p:cNvGraphicFramePr>
          <p:nvPr/>
        </p:nvGraphicFramePr>
        <p:xfrm>
          <a:off x="3276600" y="1292225"/>
          <a:ext cx="2601913" cy="307975"/>
        </p:xfrm>
        <a:graphic>
          <a:graphicData uri="http://schemas.openxmlformats.org/presentationml/2006/ole">
            <p:oleObj spid="_x0000_s217094" name="Equation" r:id="rId4" imgW="1714500" imgH="203200" progId="Equation.3">
              <p:embed/>
            </p:oleObj>
          </a:graphicData>
        </a:graphic>
      </p:graphicFrame>
      <p:graphicFrame>
        <p:nvGraphicFramePr>
          <p:cNvPr id="217095" name="Object 7"/>
          <p:cNvGraphicFramePr>
            <a:graphicFrameLocks noChangeAspect="1"/>
          </p:cNvGraphicFramePr>
          <p:nvPr/>
        </p:nvGraphicFramePr>
        <p:xfrm>
          <a:off x="6987531" y="2419604"/>
          <a:ext cx="792163" cy="309563"/>
        </p:xfrm>
        <a:graphic>
          <a:graphicData uri="http://schemas.openxmlformats.org/presentationml/2006/ole">
            <p:oleObj spid="_x0000_s217095" name="Equation" r:id="rId5" imgW="520700" imgH="203200" progId="Equation.3">
              <p:embed/>
            </p:oleObj>
          </a:graphicData>
        </a:graphic>
      </p:graphicFrame>
      <p:graphicFrame>
        <p:nvGraphicFramePr>
          <p:cNvPr id="217096" name="Object 8"/>
          <p:cNvGraphicFramePr>
            <a:graphicFrameLocks noChangeAspect="1"/>
          </p:cNvGraphicFramePr>
          <p:nvPr/>
        </p:nvGraphicFramePr>
        <p:xfrm>
          <a:off x="2353468" y="3055593"/>
          <a:ext cx="1846263" cy="552450"/>
        </p:xfrm>
        <a:graphic>
          <a:graphicData uri="http://schemas.openxmlformats.org/presentationml/2006/ole">
            <p:oleObj spid="_x0000_s217096" name="Equation" r:id="rId6" imgW="1231900" imgH="368300" progId="Equation.3">
              <p:embed/>
            </p:oleObj>
          </a:graphicData>
        </a:graphic>
      </p:graphicFrame>
      <p:graphicFrame>
        <p:nvGraphicFramePr>
          <p:cNvPr id="217097" name="Object 9"/>
          <p:cNvGraphicFramePr>
            <a:graphicFrameLocks noChangeAspect="1"/>
          </p:cNvGraphicFramePr>
          <p:nvPr/>
        </p:nvGraphicFramePr>
        <p:xfrm>
          <a:off x="4789488" y="2996855"/>
          <a:ext cx="2178050" cy="687388"/>
        </p:xfrm>
        <a:graphic>
          <a:graphicData uri="http://schemas.openxmlformats.org/presentationml/2006/ole">
            <p:oleObj spid="_x0000_s217097" name="Equation" r:id="rId7" imgW="1447800" imgH="457200" progId="Equation.3">
              <p:embed/>
            </p:oleObj>
          </a:graphicData>
        </a:graphic>
      </p:graphicFrame>
      <p:graphicFrame>
        <p:nvGraphicFramePr>
          <p:cNvPr id="217098" name="Object 10"/>
          <p:cNvGraphicFramePr>
            <a:graphicFrameLocks noChangeAspect="1"/>
          </p:cNvGraphicFramePr>
          <p:nvPr/>
        </p:nvGraphicFramePr>
        <p:xfrm>
          <a:off x="2971800" y="4953000"/>
          <a:ext cx="3246438" cy="608013"/>
        </p:xfrm>
        <a:graphic>
          <a:graphicData uri="http://schemas.openxmlformats.org/presentationml/2006/ole">
            <p:oleObj spid="_x0000_s217098" name="Equation" r:id="rId8" imgW="2171700" imgH="406400" progId="Equation.3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153400" cy="6096000"/>
          </a:xfrm>
        </p:spPr>
        <p:txBody>
          <a:bodyPr>
            <a:noAutofit/>
          </a:bodyPr>
          <a:lstStyle/>
          <a:p>
            <a:r>
              <a:rPr lang="en-US" sz="2000"/>
              <a:t>Introduce            .</a:t>
            </a:r>
            <a:endParaRPr lang="ko-KR" alt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pPr>
              <a:buNone/>
            </a:pPr>
            <a:r>
              <a:rPr lang="en-US" sz="2000"/>
              <a:t>     Therefore,</a:t>
            </a:r>
          </a:p>
          <a:p>
            <a:pPr>
              <a:buNone/>
            </a:pPr>
            <a:r>
              <a:rPr lang="en-US" sz="2000"/>
              <a:t>					</a:t>
            </a:r>
          </a:p>
          <a:p>
            <a:pPr>
              <a:buNone/>
            </a:pPr>
            <a:endParaRPr lang="en-US" sz="2000"/>
          </a:p>
          <a:p>
            <a:pPr>
              <a:buNone/>
            </a:pPr>
            <a:r>
              <a:rPr lang="en-US" sz="2000"/>
              <a:t>     where </a:t>
            </a:r>
            <a:r>
              <a:rPr lang="en-US" sz="2000" i="1"/>
              <a:t>C</a:t>
            </a:r>
            <a:r>
              <a:rPr lang="en-US" sz="2000"/>
              <a:t> is a normalization constant. The highest power of </a:t>
            </a:r>
            <a:r>
              <a:rPr lang="en-US" sz="2000" i="1"/>
              <a:t>G</a:t>
            </a:r>
            <a:r>
              <a:rPr lang="en-US" sz="2000"/>
              <a:t>(</a:t>
            </a:r>
            <a:r>
              <a:rPr lang="en-US" sz="2000" i="1"/>
              <a:t>r</a:t>
            </a:r>
            <a:r>
              <a:rPr lang="en-US" sz="2000"/>
              <a:t>) is                            . </a:t>
            </a:r>
            <a:r>
              <a:rPr lang="en-US" sz="2000" i="1"/>
              <a:t>G</a:t>
            </a:r>
            <a:r>
              <a:rPr lang="en-US" sz="2000"/>
              <a:t>(</a:t>
            </a:r>
            <a:r>
              <a:rPr lang="en-US" sz="2000" i="1"/>
              <a:t>r</a:t>
            </a:r>
            <a:r>
              <a:rPr lang="en-US" sz="2000"/>
              <a:t>) depends on </a:t>
            </a:r>
            <a:r>
              <a:rPr lang="en-US" sz="2000" i="1"/>
              <a:t>n</a:t>
            </a:r>
            <a:r>
              <a:rPr lang="en-US" sz="2000" i="1" baseline="-25000"/>
              <a:t>r</a:t>
            </a:r>
            <a:r>
              <a:rPr lang="en-US" sz="2000"/>
              <a:t> and </a:t>
            </a:r>
            <a:r>
              <a:rPr lang="en-US" sz="2000" i="1"/>
              <a:t>l</a:t>
            </a:r>
            <a:r>
              <a:rPr lang="en-US" sz="2000"/>
              <a:t>.</a:t>
            </a:r>
          </a:p>
          <a:p>
            <a:pPr>
              <a:buNone/>
            </a:pPr>
            <a:endParaRPr lang="en-US" sz="2000"/>
          </a:p>
          <a:p>
            <a:pPr>
              <a:buNone/>
            </a:pPr>
            <a:endParaRPr lang="en-US" sz="2000"/>
          </a:p>
          <a:p>
            <a:pPr>
              <a:buNone/>
            </a:pPr>
            <a:endParaRPr lang="en-US" sz="2000"/>
          </a:p>
          <a:p>
            <a:r>
              <a:rPr lang="en-US" sz="2000"/>
              <a:t>Show that </a:t>
            </a:r>
            <a:r>
              <a:rPr lang="en-US" sz="2000" i="1"/>
              <a:t>G</a:t>
            </a:r>
            <a:r>
              <a:rPr lang="en-US" sz="2000"/>
              <a:t>(</a:t>
            </a:r>
            <a:r>
              <a:rPr lang="en-US" sz="2000" i="1"/>
              <a:t>r</a:t>
            </a:r>
            <a:r>
              <a:rPr lang="en-US" sz="2000"/>
              <a:t>) can be written as                                   , where </a:t>
            </a:r>
            <a:r>
              <a:rPr lang="en-US" sz="2000" i="1"/>
              <a:t>F</a:t>
            </a:r>
            <a:r>
              <a:rPr lang="en-US" sz="2000"/>
              <a:t>(</a:t>
            </a:r>
            <a:r>
              <a:rPr lang="en-US" sz="2000" i="1"/>
              <a:t>a,b,x</a:t>
            </a:r>
            <a:r>
              <a:rPr lang="en-US" sz="2000"/>
              <a:t>) is the confluent hypergeometric function,</a:t>
            </a:r>
          </a:p>
          <a:p>
            <a:pPr>
              <a:buNone/>
            </a:pPr>
            <a:endParaRPr lang="en-US" sz="2000"/>
          </a:p>
          <a:p>
            <a:pPr>
              <a:buNone/>
            </a:pPr>
            <a:endParaRPr lang="en-US" sz="2000"/>
          </a:p>
          <a:p>
            <a:pPr>
              <a:buNone/>
            </a:pPr>
            <a:endParaRPr lang="en-US" altLang="ko-KR" sz="2000"/>
          </a:p>
        </p:txBody>
      </p:sp>
      <p:graphicFrame>
        <p:nvGraphicFramePr>
          <p:cNvPr id="218120" name="Object 8"/>
          <p:cNvGraphicFramePr>
            <a:graphicFrameLocks noChangeAspect="1"/>
          </p:cNvGraphicFramePr>
          <p:nvPr/>
        </p:nvGraphicFramePr>
        <p:xfrm>
          <a:off x="2133600" y="510486"/>
          <a:ext cx="744538" cy="247650"/>
        </p:xfrm>
        <a:graphic>
          <a:graphicData uri="http://schemas.openxmlformats.org/presentationml/2006/ole">
            <p:oleObj spid="_x0000_s218120" name="Equation" r:id="rId3" imgW="495300" imgH="165100" progId="Equation.3">
              <p:embed/>
            </p:oleObj>
          </a:graphicData>
        </a:graphic>
      </p:graphicFrame>
      <p:graphicFrame>
        <p:nvGraphicFramePr>
          <p:cNvPr id="218121" name="Object 9"/>
          <p:cNvGraphicFramePr>
            <a:graphicFrameLocks noChangeAspect="1"/>
          </p:cNvGraphicFramePr>
          <p:nvPr/>
        </p:nvGraphicFramePr>
        <p:xfrm>
          <a:off x="3200400" y="914400"/>
          <a:ext cx="2900363" cy="687388"/>
        </p:xfrm>
        <a:graphic>
          <a:graphicData uri="http://schemas.openxmlformats.org/presentationml/2006/ole">
            <p:oleObj spid="_x0000_s218121" name="Equation" r:id="rId4" imgW="1930400" imgH="457200" progId="Equation.3">
              <p:embed/>
            </p:oleObj>
          </a:graphicData>
        </a:graphic>
      </p:graphicFrame>
      <p:graphicFrame>
        <p:nvGraphicFramePr>
          <p:cNvPr id="218122" name="Object 10"/>
          <p:cNvGraphicFramePr>
            <a:graphicFrameLocks noChangeAspect="1"/>
          </p:cNvGraphicFramePr>
          <p:nvPr/>
        </p:nvGraphicFramePr>
        <p:xfrm>
          <a:off x="3124200" y="1676400"/>
          <a:ext cx="3095625" cy="608013"/>
        </p:xfrm>
        <a:graphic>
          <a:graphicData uri="http://schemas.openxmlformats.org/presentationml/2006/ole">
            <p:oleObj spid="_x0000_s218122" name="Equation" r:id="rId5" imgW="2070100" imgH="406400" progId="Equation.3">
              <p:embed/>
            </p:oleObj>
          </a:graphicData>
        </a:graphic>
      </p:graphicFrame>
      <p:graphicFrame>
        <p:nvGraphicFramePr>
          <p:cNvPr id="218123" name="Object 11"/>
          <p:cNvGraphicFramePr>
            <a:graphicFrameLocks noChangeAspect="1"/>
          </p:cNvGraphicFramePr>
          <p:nvPr/>
        </p:nvGraphicFramePr>
        <p:xfrm>
          <a:off x="2743200" y="2590800"/>
          <a:ext cx="3933825" cy="687388"/>
        </p:xfrm>
        <a:graphic>
          <a:graphicData uri="http://schemas.openxmlformats.org/presentationml/2006/ole">
            <p:oleObj spid="_x0000_s218123" name="Equation" r:id="rId6" imgW="2616200" imgH="457200" progId="Equation.3">
              <p:embed/>
            </p:oleObj>
          </a:graphicData>
        </a:graphic>
      </p:graphicFrame>
      <p:graphicFrame>
        <p:nvGraphicFramePr>
          <p:cNvPr id="218124" name="Object 12"/>
          <p:cNvGraphicFramePr>
            <a:graphicFrameLocks noChangeAspect="1"/>
          </p:cNvGraphicFramePr>
          <p:nvPr/>
        </p:nvGraphicFramePr>
        <p:xfrm>
          <a:off x="1212056" y="3693124"/>
          <a:ext cx="1843088" cy="268288"/>
        </p:xfrm>
        <a:graphic>
          <a:graphicData uri="http://schemas.openxmlformats.org/presentationml/2006/ole">
            <p:oleObj spid="_x0000_s218124" name="Equation" r:id="rId7" imgW="1219200" imgH="177800" progId="Equation.3">
              <p:embed/>
            </p:oleObj>
          </a:graphicData>
        </a:graphic>
      </p:graphicFrame>
      <p:sp>
        <p:nvSpPr>
          <p:cNvPr id="15" name="Title 1"/>
          <p:cNvSpPr txBox="1">
            <a:spLocks/>
          </p:cNvSpPr>
          <p:nvPr/>
        </p:nvSpPr>
        <p:spPr>
          <a:xfrm>
            <a:off x="457200" y="40386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Exercise 5</a:t>
            </a:r>
            <a:endParaRPr kumimoji="1" lang="ja-JP" altLang="en-US" sz="4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18125" name="Object 13"/>
          <p:cNvGraphicFramePr>
            <a:graphicFrameLocks noChangeAspect="1"/>
          </p:cNvGraphicFramePr>
          <p:nvPr/>
        </p:nvGraphicFramePr>
        <p:xfrm>
          <a:off x="4724400" y="5181600"/>
          <a:ext cx="2300288" cy="268288"/>
        </p:xfrm>
        <a:graphic>
          <a:graphicData uri="http://schemas.openxmlformats.org/presentationml/2006/ole">
            <p:oleObj spid="_x0000_s218125" name="Equation" r:id="rId8" imgW="1524000" imgH="177800" progId="Equation.3">
              <p:embed/>
            </p:oleObj>
          </a:graphicData>
        </a:graphic>
      </p:graphicFrame>
      <p:graphicFrame>
        <p:nvGraphicFramePr>
          <p:cNvPr id="218126" name="Object 14"/>
          <p:cNvGraphicFramePr>
            <a:graphicFrameLocks noChangeAspect="1"/>
          </p:cNvGraphicFramePr>
          <p:nvPr/>
        </p:nvGraphicFramePr>
        <p:xfrm>
          <a:off x="2133600" y="5845175"/>
          <a:ext cx="5038725" cy="631825"/>
        </p:xfrm>
        <a:graphic>
          <a:graphicData uri="http://schemas.openxmlformats.org/presentationml/2006/ole">
            <p:oleObj spid="_x0000_s218126" name="Equation" r:id="rId9" imgW="3340100" imgH="419100" progId="Equation.3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153400" cy="5257800"/>
          </a:xfrm>
        </p:spPr>
        <p:txBody>
          <a:bodyPr>
            <a:noAutofit/>
          </a:bodyPr>
          <a:lstStyle/>
          <a:p>
            <a:r>
              <a:rPr lang="en-US" sz="2400"/>
              <a:t>Let us evaluate the radial wave function         for </a:t>
            </a:r>
            <a:r>
              <a:rPr lang="en-US" sz="2400" i="1">
                <a:latin typeface="Times New Roman"/>
                <a:cs typeface="Times New Roman"/>
              </a:rPr>
              <a:t>n</a:t>
            </a:r>
            <a:r>
              <a:rPr lang="en-US" sz="2400">
                <a:latin typeface="Times New Roman"/>
                <a:cs typeface="Times New Roman"/>
              </a:rPr>
              <a:t>=1.</a:t>
            </a:r>
            <a:endParaRPr lang="ko-KR" altLang="en-US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i="1"/>
              <a:t>    </a:t>
            </a:r>
            <a:r>
              <a:rPr lang="en-US" sz="2400" i="1">
                <a:latin typeface="Times New Roman"/>
                <a:cs typeface="Times New Roman"/>
              </a:rPr>
              <a:t>n</a:t>
            </a:r>
            <a:r>
              <a:rPr lang="en-US" sz="2400">
                <a:latin typeface="Times New Roman"/>
                <a:cs typeface="Times New Roman"/>
              </a:rPr>
              <a:t>=1=</a:t>
            </a:r>
            <a:r>
              <a:rPr lang="en-US" sz="2400" i="1">
                <a:latin typeface="Times New Roman"/>
                <a:cs typeface="Times New Roman"/>
              </a:rPr>
              <a:t>t</a:t>
            </a:r>
            <a:r>
              <a:rPr lang="en-US" sz="2400">
                <a:latin typeface="Times New Roman"/>
                <a:cs typeface="Times New Roman"/>
              </a:rPr>
              <a:t>+</a:t>
            </a:r>
            <a:r>
              <a:rPr lang="en-US" sz="2400" i="1">
                <a:latin typeface="Times New Roman"/>
                <a:cs typeface="Times New Roman"/>
              </a:rPr>
              <a:t>l</a:t>
            </a:r>
            <a:r>
              <a:rPr lang="en-US" sz="2400">
                <a:latin typeface="Times New Roman"/>
                <a:cs typeface="Times New Roman"/>
              </a:rPr>
              <a:t>.</a:t>
            </a:r>
            <a:r>
              <a:rPr lang="en-US" sz="2400"/>
              <a:t> Since </a:t>
            </a:r>
            <a:r>
              <a:rPr lang="en-US" sz="2400" i="1">
                <a:latin typeface="Times New Roman"/>
                <a:cs typeface="Times New Roman"/>
              </a:rPr>
              <a:t>l</a:t>
            </a:r>
            <a:r>
              <a:rPr lang="en-US" sz="2400">
                <a:latin typeface="Times New Roman"/>
                <a:cs typeface="Times New Roman"/>
              </a:rPr>
              <a:t>&lt;</a:t>
            </a:r>
            <a:r>
              <a:rPr lang="en-US" sz="2400" i="1">
                <a:latin typeface="Times New Roman"/>
                <a:cs typeface="Times New Roman"/>
              </a:rPr>
              <a:t>n</a:t>
            </a:r>
            <a:r>
              <a:rPr lang="en-US" sz="2400">
                <a:latin typeface="Times New Roman"/>
                <a:cs typeface="Times New Roman"/>
              </a:rPr>
              <a:t>, </a:t>
            </a:r>
            <a:r>
              <a:rPr lang="en-US" sz="2400" i="1">
                <a:latin typeface="Times New Roman"/>
                <a:cs typeface="Times New Roman"/>
              </a:rPr>
              <a:t>l</a:t>
            </a:r>
            <a:r>
              <a:rPr lang="en-US" sz="2400">
                <a:latin typeface="Times New Roman"/>
                <a:cs typeface="Times New Roman"/>
              </a:rPr>
              <a:t>=0</a:t>
            </a:r>
            <a:r>
              <a:rPr lang="en-US" sz="2400"/>
              <a:t>, and thus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i="1">
                <a:latin typeface="Times New Roman"/>
                <a:cs typeface="Times New Roman"/>
              </a:rPr>
              <a:t>t</a:t>
            </a:r>
            <a:r>
              <a:rPr lang="en-US" sz="2400">
                <a:latin typeface="Times New Roman"/>
                <a:cs typeface="Times New Roman"/>
              </a:rPr>
              <a:t>=1=</a:t>
            </a:r>
            <a:r>
              <a:rPr lang="en-US" sz="2400" i="1">
                <a:latin typeface="Times New Roman"/>
                <a:cs typeface="Times New Roman"/>
              </a:rPr>
              <a:t>n</a:t>
            </a:r>
            <a:r>
              <a:rPr lang="en-US" sz="2400" i="1" baseline="-25000">
                <a:latin typeface="Times New Roman"/>
                <a:cs typeface="Times New Roman"/>
              </a:rPr>
              <a:t>r</a:t>
            </a:r>
            <a:r>
              <a:rPr lang="en-US" sz="2400">
                <a:latin typeface="Times New Roman"/>
                <a:cs typeface="Times New Roman"/>
              </a:rPr>
              <a:t>+1</a:t>
            </a:r>
            <a:r>
              <a:rPr lang="en-US" sz="2400"/>
              <a:t>, so </a:t>
            </a:r>
            <a:r>
              <a:rPr lang="en-US" sz="2400" i="1">
                <a:latin typeface="Times New Roman"/>
                <a:cs typeface="Times New Roman"/>
              </a:rPr>
              <a:t>n</a:t>
            </a:r>
            <a:r>
              <a:rPr lang="en-US" sz="2400" i="1" baseline="-25000">
                <a:latin typeface="Times New Roman"/>
                <a:cs typeface="Times New Roman"/>
              </a:rPr>
              <a:t>r</a:t>
            </a:r>
            <a:r>
              <a:rPr lang="en-US" sz="2400">
                <a:latin typeface="Times New Roman"/>
                <a:cs typeface="Times New Roman"/>
              </a:rPr>
              <a:t>=0.</a:t>
            </a:r>
            <a:r>
              <a:rPr lang="en-US" sz="2400"/>
              <a:t> Therefore, </a:t>
            </a:r>
            <a:r>
              <a:rPr lang="en-US" sz="2400" i="1">
                <a:latin typeface="Times New Roman"/>
                <a:cs typeface="Times New Roman"/>
              </a:rPr>
              <a:t>G</a:t>
            </a:r>
            <a:r>
              <a:rPr lang="en-US" sz="2400">
                <a:latin typeface="Times New Roman"/>
                <a:cs typeface="Times New Roman"/>
              </a:rPr>
              <a:t>=1.                                    , </a:t>
            </a:r>
            <a:r>
              <a:rPr lang="en-US" sz="2400"/>
              <a:t>where we used the relation         . 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endParaRPr lang="en-US" altLang="ko-KR" sz="2400"/>
          </a:p>
          <a:p>
            <a:r>
              <a:rPr lang="en-US" sz="2400"/>
              <a:t>Evaluate the radial wave function  for </a:t>
            </a:r>
            <a:r>
              <a:rPr lang="en-US" sz="2400" i="1">
                <a:latin typeface="Times New Roman"/>
                <a:cs typeface="Times New Roman"/>
              </a:rPr>
              <a:t>n</a:t>
            </a:r>
            <a:r>
              <a:rPr lang="en-US" sz="2400"/>
              <a:t>=2,3 for all  except for the normalization constant.</a:t>
            </a:r>
            <a:endParaRPr lang="ko-KR" altLang="en-US" sz="2400"/>
          </a:p>
          <a:p>
            <a:pPr>
              <a:buNone/>
            </a:pPr>
            <a:endParaRPr lang="ko-KR" altLang="en-US" sz="2400"/>
          </a:p>
          <a:p>
            <a:pPr>
              <a:buNone/>
            </a:pPr>
            <a:endParaRPr lang="ko-KR" altLang="en-US" sz="240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3048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</a:t>
            </a:r>
            <a:r>
              <a:rPr kumimoji="1" lang="en-US" sz="4600" b="1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1</a:t>
            </a:r>
            <a:endParaRPr kumimoji="1" lang="ja-JP" altLang="en-US" sz="4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20164" name="Object 4"/>
          <p:cNvGraphicFramePr>
            <a:graphicFrameLocks noChangeAspect="1"/>
          </p:cNvGraphicFramePr>
          <p:nvPr/>
        </p:nvGraphicFramePr>
        <p:xfrm>
          <a:off x="6400800" y="1518848"/>
          <a:ext cx="593725" cy="268288"/>
        </p:xfrm>
        <a:graphic>
          <a:graphicData uri="http://schemas.openxmlformats.org/presentationml/2006/ole">
            <p:oleObj spid="_x0000_s220164" name="Equation" r:id="rId3" imgW="393700" imgH="177800" progId="Equation.3">
              <p:embed/>
            </p:oleObj>
          </a:graphicData>
        </a:graphic>
      </p:graphicFrame>
      <p:graphicFrame>
        <p:nvGraphicFramePr>
          <p:cNvPr id="220165" name="Object 5"/>
          <p:cNvGraphicFramePr>
            <a:graphicFrameLocks noChangeAspect="1"/>
          </p:cNvGraphicFramePr>
          <p:nvPr/>
        </p:nvGraphicFramePr>
        <p:xfrm>
          <a:off x="3184525" y="2286000"/>
          <a:ext cx="2544763" cy="307975"/>
        </p:xfrm>
        <a:graphic>
          <a:graphicData uri="http://schemas.openxmlformats.org/presentationml/2006/ole">
            <p:oleObj spid="_x0000_s220165" name="Equation" r:id="rId4" imgW="1676400" imgH="203200" progId="Equation.3">
              <p:embed/>
            </p:oleObj>
          </a:graphicData>
        </a:graphic>
      </p:graphicFrame>
      <p:graphicFrame>
        <p:nvGraphicFramePr>
          <p:cNvPr id="220166" name="Object 6"/>
          <p:cNvGraphicFramePr>
            <a:graphicFrameLocks noChangeAspect="1"/>
          </p:cNvGraphicFramePr>
          <p:nvPr/>
        </p:nvGraphicFramePr>
        <p:xfrm>
          <a:off x="2555276" y="2725438"/>
          <a:ext cx="655638" cy="192088"/>
        </p:xfrm>
        <a:graphic>
          <a:graphicData uri="http://schemas.openxmlformats.org/presentationml/2006/ole">
            <p:oleObj spid="_x0000_s220166" name="Equation" r:id="rId5" imgW="431800" imgH="127000" progId="Equation.3">
              <p:embed/>
            </p:oleObj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457200" y="33528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Exercise</a:t>
            </a:r>
            <a:r>
              <a:rPr kumimoji="1" lang="en-US" sz="4600" b="1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6</a:t>
            </a:r>
            <a:endParaRPr kumimoji="1" lang="ja-JP" altLang="en-US" sz="4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20167" name="Object 7"/>
          <p:cNvGraphicFramePr>
            <a:graphicFrameLocks noChangeAspect="1"/>
          </p:cNvGraphicFramePr>
          <p:nvPr/>
        </p:nvGraphicFramePr>
        <p:xfrm>
          <a:off x="7742237" y="4454525"/>
          <a:ext cx="792163" cy="193675"/>
        </p:xfrm>
        <a:graphic>
          <a:graphicData uri="http://schemas.openxmlformats.org/presentationml/2006/ole">
            <p:oleObj spid="_x0000_s220167" name="Equation" r:id="rId6" imgW="520700" imgH="12700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124</TotalTime>
  <Words>489</Words>
  <Application>Microsoft Macintosh PowerPoint</Application>
  <PresentationFormat>On-screen Show (4:3)</PresentationFormat>
  <Paragraphs>76</Paragraphs>
  <Slides>10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Technic</vt:lpstr>
      <vt:lpstr>Microsoft Equation</vt:lpstr>
      <vt:lpstr>Atomic and Molecular Physics  Lecture 02</vt:lpstr>
      <vt:lpstr>Atomic Units</vt:lpstr>
      <vt:lpstr>Exercise 2 </vt:lpstr>
      <vt:lpstr>Non-relativistic Theory of Hydrogen </vt:lpstr>
      <vt:lpstr>Slide 5</vt:lpstr>
      <vt:lpstr>Power Series Solution</vt:lpstr>
      <vt:lpstr>Slide 7</vt:lpstr>
      <vt:lpstr>Slide 8</vt:lpstr>
      <vt:lpstr>Slide 9</vt:lpstr>
      <vt:lpstr>Slide 10</vt:lpstr>
    </vt:vector>
  </TitlesOfParts>
  <Company>3463-6078</Company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AMP02</dc:title>
  <dc:creator>경원 안</dc:creator>
  <cp:keywords/>
  <cp:lastModifiedBy>경원 안</cp:lastModifiedBy>
  <cp:revision>10</cp:revision>
  <dcterms:created xsi:type="dcterms:W3CDTF">2009-10-07T06:30:23Z</dcterms:created>
  <dcterms:modified xsi:type="dcterms:W3CDTF">2009-10-07T07:51:56Z</dcterms:modified>
</cp:coreProperties>
</file>