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ppt/embeddings/Microsoft_Equation38.bin" ContentType="application/vnd.openxmlformats-officedocument.oleObject"/>
  <Override PartName="/ppt/embeddings/Microsoft_Equation28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4.bin" ContentType="application/vnd.openxmlformats-officedocument.oleObject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35.bin" ContentType="application/vnd.openxmlformats-officedocument.oleObject"/>
  <Override PartName="/ppt/embeddings/Microsoft_Equation20.bin" ContentType="application/vnd.openxmlformats-officedocument.oleObject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33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6.bin" ContentType="application/vnd.openxmlformats-officedocument.oleObject"/>
  <Override PartName="/ppt/embeddings/Microsoft_Equation23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70" r:id="rId11"/>
    <p:sldId id="269" r:id="rId12"/>
    <p:sldId id="271" r:id="rId1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csShiftJIS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printerSettings" Target="printerSettings/printerSettings1.bin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viewProps" Target="view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Relationship Id="rId3" Type="http://schemas.openxmlformats.org/officeDocument/2006/relationships/image" Target="../media/image3.pict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ict"/><Relationship Id="rId3" Type="http://schemas.openxmlformats.org/officeDocument/2006/relationships/image" Target="../media/image7.pict"/><Relationship Id="rId1" Type="http://schemas.openxmlformats.org/officeDocument/2006/relationships/image" Target="../media/image5.pict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ict"/><Relationship Id="rId4" Type="http://schemas.openxmlformats.org/officeDocument/2006/relationships/image" Target="../media/image11.pict"/><Relationship Id="rId10" Type="http://schemas.openxmlformats.org/officeDocument/2006/relationships/image" Target="../media/image17.pict"/><Relationship Id="rId5" Type="http://schemas.openxmlformats.org/officeDocument/2006/relationships/image" Target="../media/image12.pict"/><Relationship Id="rId7" Type="http://schemas.openxmlformats.org/officeDocument/2006/relationships/image" Target="../media/image14.pict"/><Relationship Id="rId11" Type="http://schemas.openxmlformats.org/officeDocument/2006/relationships/image" Target="../media/image18.pict"/><Relationship Id="rId1" Type="http://schemas.openxmlformats.org/officeDocument/2006/relationships/image" Target="../media/image8.pict"/><Relationship Id="rId2" Type="http://schemas.openxmlformats.org/officeDocument/2006/relationships/image" Target="../media/image9.pict"/><Relationship Id="rId9" Type="http://schemas.openxmlformats.org/officeDocument/2006/relationships/image" Target="../media/image16.pict"/><Relationship Id="rId3" Type="http://schemas.openxmlformats.org/officeDocument/2006/relationships/image" Target="../media/image10.pict"/><Relationship Id="rId6" Type="http://schemas.openxmlformats.org/officeDocument/2006/relationships/image" Target="../media/image13.pict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ict"/><Relationship Id="rId4" Type="http://schemas.openxmlformats.org/officeDocument/2006/relationships/image" Target="../media/image22.pict"/><Relationship Id="rId5" Type="http://schemas.openxmlformats.org/officeDocument/2006/relationships/image" Target="../media/image23.pict"/><Relationship Id="rId7" Type="http://schemas.openxmlformats.org/officeDocument/2006/relationships/image" Target="../media/image12.pict"/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Relationship Id="rId6" Type="http://schemas.openxmlformats.org/officeDocument/2006/relationships/image" Target="../media/image24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ict"/><Relationship Id="rId3" Type="http://schemas.openxmlformats.org/officeDocument/2006/relationships/image" Target="../media/image28.pict"/><Relationship Id="rId1" Type="http://schemas.openxmlformats.org/officeDocument/2006/relationships/image" Target="../media/image26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ict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ict"/><Relationship Id="rId1" Type="http://schemas.openxmlformats.org/officeDocument/2006/relationships/image" Target="../media/image30.pict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ict"/><Relationship Id="rId1" Type="http://schemas.openxmlformats.org/officeDocument/2006/relationships/image" Target="../media/image32.pict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ict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8.pict"/><Relationship Id="rId1" Type="http://schemas.openxmlformats.org/officeDocument/2006/relationships/image" Target="../media/image35.pict"/><Relationship Id="rId2" Type="http://schemas.openxmlformats.org/officeDocument/2006/relationships/image" Target="../media/image36.pict"/><Relationship Id="rId3" Type="http://schemas.openxmlformats.org/officeDocument/2006/relationships/image" Target="../media/image37.pict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ict"/><Relationship Id="rId1" Type="http://schemas.openxmlformats.org/officeDocument/2006/relationships/image" Target="../media/image39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/>
              <a:pPr/>
              <a:t>09.10.6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4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3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9.bin"/><Relationship Id="rId7" Type="http://schemas.openxmlformats.org/officeDocument/2006/relationships/oleObject" Target="../embeddings/Microsoft_Equation12.bin"/><Relationship Id="rId11" Type="http://schemas.openxmlformats.org/officeDocument/2006/relationships/oleObject" Target="../embeddings/Microsoft_Equation16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Microsoft_Equation11.bin"/><Relationship Id="rId8" Type="http://schemas.openxmlformats.org/officeDocument/2006/relationships/oleObject" Target="../embeddings/Microsoft_Equation13.bin"/><Relationship Id="rId13" Type="http://schemas.openxmlformats.org/officeDocument/2006/relationships/oleObject" Target="../embeddings/Microsoft_Equation18.bin"/><Relationship Id="rId10" Type="http://schemas.openxmlformats.org/officeDocument/2006/relationships/oleObject" Target="../embeddings/Microsoft_Equation15.bin"/><Relationship Id="rId5" Type="http://schemas.openxmlformats.org/officeDocument/2006/relationships/oleObject" Target="../embeddings/Microsoft_Equation10.bin"/><Relationship Id="rId12" Type="http://schemas.openxmlformats.org/officeDocument/2006/relationships/oleObject" Target="../embeddings/Microsoft_Equation17.bin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14.bin"/><Relationship Id="rId3" Type="http://schemas.openxmlformats.org/officeDocument/2006/relationships/oleObject" Target="../embeddings/Microsoft_Equation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4.bin"/><Relationship Id="rId4" Type="http://schemas.openxmlformats.org/officeDocument/2006/relationships/oleObject" Target="../embeddings/Microsoft_Equation20.bin"/><Relationship Id="rId10" Type="http://schemas.openxmlformats.org/officeDocument/2006/relationships/oleObject" Target="../embeddings/Microsoft_Equation26.bin"/><Relationship Id="rId5" Type="http://schemas.openxmlformats.org/officeDocument/2006/relationships/oleObject" Target="../embeddings/Microsoft_Equation21.bin"/><Relationship Id="rId7" Type="http://schemas.openxmlformats.org/officeDocument/2006/relationships/oleObject" Target="../embeddings/Microsoft_Equation23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25.bin"/><Relationship Id="rId3" Type="http://schemas.openxmlformats.org/officeDocument/2006/relationships/oleObject" Target="../embeddings/Microsoft_Equation19.bin"/><Relationship Id="rId6" Type="http://schemas.openxmlformats.org/officeDocument/2006/relationships/oleObject" Target="../embeddings/Microsoft_Equation22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0.bin"/><Relationship Id="rId4" Type="http://schemas.openxmlformats.org/officeDocument/2006/relationships/oleObject" Target="../embeddings/Microsoft_Equation28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7.bin"/><Relationship Id="rId5" Type="http://schemas.openxmlformats.org/officeDocument/2006/relationships/oleObject" Target="../embeddings/Microsoft_Equation2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!OLE_LINK1" TargetMode="External"/><Relationship Id="rId1" Type="http://schemas.openxmlformats.org/officeDocument/2006/relationships/vmlDrawing" Target="../drawings/vmlDrawing6.v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32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oleObject" Target="!OLE_LINK3" TargetMode="External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!OLE_LINK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!OLE_LINK4" TargetMode="External"/><Relationship Id="rId1" Type="http://schemas.openxmlformats.org/officeDocument/2006/relationships/vmlDrawing" Target="../drawings/vmlDrawing9.v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6.bin"/><Relationship Id="rId4" Type="http://schemas.openxmlformats.org/officeDocument/2006/relationships/oleObject" Target="../embeddings/Microsoft_Equation34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3.bin"/><Relationship Id="rId5" Type="http://schemas.openxmlformats.org/officeDocument/2006/relationships/oleObject" Target="../embeddings/Microsoft_Equation35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38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7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/>
              <a:t>Atomic and Molecular Physics</a:t>
            </a:r>
            <a:r>
              <a:rPr altLang="ja-JP" sz="4400"/>
              <a:t/>
            </a:r>
            <a:br>
              <a:rPr altLang="ja-JP" sz="4400"/>
            </a:br>
            <a:r>
              <a:rPr altLang="ja-JP" sz="4400"/>
              <a:t/>
            </a:r>
            <a:br>
              <a:rPr altLang="ja-JP" sz="4400"/>
            </a:br>
            <a:r>
              <a:rPr altLang="ja-JP" sz="3200">
                <a:solidFill>
                  <a:srgbClr val="00FF00"/>
                </a:solidFill>
              </a:rPr>
              <a:t>Lecture 03</a:t>
            </a:r>
            <a:endParaRPr lang="ja-JP" altLang="en-US" sz="320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Prof. Kyungwon An</a:t>
            </a:r>
          </a:p>
          <a:p>
            <a:r>
              <a:rPr lang="en-US" altLang="ja-JP"/>
              <a:t>Department of Physics and Astronomy</a:t>
            </a:r>
          </a:p>
          <a:p>
            <a:r>
              <a:rPr lang="en-US" altLang="ja-JP"/>
              <a:t>Seoul National University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>
            <a:normAutofit/>
          </a:bodyPr>
          <a:lstStyle/>
          <a:p>
            <a:r>
              <a:rPr lang="en-US" i="1">
                <a:latin typeface="Times New Roman"/>
                <a:cs typeface="Times New Roman"/>
              </a:rPr>
              <a:t>Ladder Operation Solution</a:t>
            </a:r>
            <a:endParaRPr lang="ja-JP" altLang="en-US" i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077200" cy="5334000"/>
          </a:xfrm>
        </p:spPr>
        <p:txBody>
          <a:bodyPr>
            <a:normAutofit/>
          </a:bodyPr>
          <a:lstStyle/>
          <a:p>
            <a:r>
              <a:rPr lang="en-US" sz="2400"/>
              <a:t>It is an alternative method for obtaining the radial wavefunction due to Kramers. Let                  . The radial equation (with </a:t>
            </a:r>
            <a:r>
              <a:rPr lang="en-US" sz="2400" i="1"/>
              <a:t>Z</a:t>
            </a:r>
            <a:r>
              <a:rPr lang="en-US" sz="2400"/>
              <a:t>=1) becomes</a:t>
            </a:r>
            <a:endParaRPr lang="ko-KR" altLang="en-US" sz="2400"/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Define a Hamiltonian for the radial equation, </a:t>
            </a:r>
            <a:endParaRPr lang="ko-KR" alt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     then we get </a:t>
            </a:r>
            <a:endParaRPr lang="ko-KR" altLang="en-US" sz="2400"/>
          </a:p>
        </p:txBody>
      </p:sp>
      <p:graphicFrame>
        <p:nvGraphicFramePr>
          <p:cNvPr id="210950" name="Object 6"/>
          <p:cNvGraphicFramePr>
            <a:graphicFrameLocks noChangeAspect="1"/>
          </p:cNvGraphicFramePr>
          <p:nvPr/>
        </p:nvGraphicFramePr>
        <p:xfrm>
          <a:off x="5638800" y="1828800"/>
          <a:ext cx="1352550" cy="231775"/>
        </p:xfrm>
        <a:graphic>
          <a:graphicData uri="http://schemas.openxmlformats.org/presentationml/2006/ole">
            <p:oleObj spid="_x0000_s210950" name="Equation" r:id="rId3" imgW="889000" imgH="152400" progId="Equation.3">
              <p:embed/>
            </p:oleObj>
          </a:graphicData>
        </a:graphic>
      </p:graphicFrame>
      <p:graphicFrame>
        <p:nvGraphicFramePr>
          <p:cNvPr id="210951" name="Object 7"/>
          <p:cNvGraphicFramePr>
            <a:graphicFrameLocks noChangeAspect="1"/>
          </p:cNvGraphicFramePr>
          <p:nvPr/>
        </p:nvGraphicFramePr>
        <p:xfrm>
          <a:off x="3200400" y="2617787"/>
          <a:ext cx="2584450" cy="608013"/>
        </p:xfrm>
        <a:graphic>
          <a:graphicData uri="http://schemas.openxmlformats.org/presentationml/2006/ole">
            <p:oleObj spid="_x0000_s210951" name="Equation" r:id="rId4" imgW="1727200" imgH="406400" progId="Equation.3">
              <p:embed/>
            </p:oleObj>
          </a:graphicData>
        </a:graphic>
      </p:graphicFrame>
      <p:graphicFrame>
        <p:nvGraphicFramePr>
          <p:cNvPr id="210952" name="Object 8"/>
          <p:cNvGraphicFramePr>
            <a:graphicFrameLocks noChangeAspect="1"/>
          </p:cNvGraphicFramePr>
          <p:nvPr/>
        </p:nvGraphicFramePr>
        <p:xfrm>
          <a:off x="3227387" y="3825875"/>
          <a:ext cx="2411413" cy="593725"/>
        </p:xfrm>
        <a:graphic>
          <a:graphicData uri="http://schemas.openxmlformats.org/presentationml/2006/ole">
            <p:oleObj spid="_x0000_s210952" name="Equation" r:id="rId5" imgW="1600200" imgH="393700" progId="Equation.3">
              <p:embed/>
            </p:oleObj>
          </a:graphicData>
        </a:graphic>
      </p:graphicFrame>
      <p:graphicFrame>
        <p:nvGraphicFramePr>
          <p:cNvPr id="210953" name="Object 9"/>
          <p:cNvGraphicFramePr>
            <a:graphicFrameLocks noChangeAspect="1"/>
          </p:cNvGraphicFramePr>
          <p:nvPr/>
        </p:nvGraphicFramePr>
        <p:xfrm>
          <a:off x="3429000" y="5105400"/>
          <a:ext cx="2411413" cy="593725"/>
        </p:xfrm>
        <a:graphic>
          <a:graphicData uri="http://schemas.openxmlformats.org/presentationml/2006/ole">
            <p:oleObj spid="_x0000_s210953" name="Equation" r:id="rId6" imgW="1600200" imgH="393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7924800" cy="6019800"/>
          </a:xfrm>
        </p:spPr>
        <p:txBody>
          <a:bodyPr>
            <a:normAutofit/>
          </a:bodyPr>
          <a:lstStyle/>
          <a:p>
            <a:r>
              <a:rPr lang="en-US" sz="2400"/>
              <a:t>We define the following operators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    Then </a:t>
            </a:r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Consider</a:t>
            </a:r>
            <a:endParaRPr lang="ko-KR" altLang="en-US" sz="2400"/>
          </a:p>
        </p:txBody>
      </p:sp>
      <p:graphicFrame>
        <p:nvGraphicFramePr>
          <p:cNvPr id="211970" name="Object 2"/>
          <p:cNvGraphicFramePr>
            <a:graphicFrameLocks noChangeAspect="1"/>
          </p:cNvGraphicFramePr>
          <p:nvPr/>
        </p:nvGraphicFramePr>
        <p:xfrm>
          <a:off x="3581400" y="1066800"/>
          <a:ext cx="1676400" cy="1181100"/>
        </p:xfrm>
        <a:graphic>
          <a:graphicData uri="http://schemas.openxmlformats.org/presentationml/2006/ole">
            <p:oleObj spid="_x0000_s211970" name="Equation" r:id="rId3" imgW="1117600" imgH="787400" progId="Equation.3">
              <p:embed/>
            </p:oleObj>
          </a:graphicData>
        </a:graphic>
      </p:graphicFrame>
      <p:graphicFrame>
        <p:nvGraphicFramePr>
          <p:cNvPr id="211971" name="Object 3"/>
          <p:cNvGraphicFramePr>
            <a:graphicFrameLocks noChangeAspect="1"/>
          </p:cNvGraphicFramePr>
          <p:nvPr/>
        </p:nvGraphicFramePr>
        <p:xfrm>
          <a:off x="2419350" y="2667000"/>
          <a:ext cx="4362450" cy="1295400"/>
        </p:xfrm>
        <a:graphic>
          <a:graphicData uri="http://schemas.openxmlformats.org/presentationml/2006/ole">
            <p:oleObj spid="_x0000_s211971" name="Equation" r:id="rId4" imgW="2908300" imgH="863600" progId="Equation.3">
              <p:embed/>
            </p:oleObj>
          </a:graphicData>
        </a:graphic>
      </p:graphicFrame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2438400" y="4572000"/>
          <a:ext cx="4479925" cy="1735138"/>
        </p:xfrm>
        <a:graphic>
          <a:graphicData uri="http://schemas.openxmlformats.org/presentationml/2006/ole">
            <p:oleObj spid="_x0000_s211972" name="Equation" r:id="rId5" imgW="2984500" imgH="1155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/>
          </a:bodyPr>
          <a:lstStyle/>
          <a:p>
            <a:r>
              <a:rPr lang="en-US" sz="2800"/>
              <a:t>In other words,       is the eigenfunction of      , </a:t>
            </a:r>
          </a:p>
          <a:p>
            <a:pPr>
              <a:buNone/>
            </a:pPr>
            <a:r>
              <a:rPr lang="en-US" sz="2800"/>
              <a:t>                , but it has the same energy as   .  The operator     lowers </a:t>
            </a:r>
            <a:r>
              <a:rPr lang="en-US" sz="2800" i="1">
                <a:latin typeface="Times New Roman"/>
                <a:cs typeface="Times New Roman"/>
              </a:rPr>
              <a:t>l </a:t>
            </a:r>
            <a:r>
              <a:rPr lang="en-US" sz="2800"/>
              <a:t>by 1 while keeping the same energy.  Next, consider</a:t>
            </a:r>
          </a:p>
          <a:p>
            <a:pPr>
              <a:buNone/>
            </a:pPr>
            <a:endParaRPr lang="en-US" altLang="ko-KR" sz="2800"/>
          </a:p>
          <a:p>
            <a:pPr>
              <a:buNone/>
            </a:pPr>
            <a:endParaRPr lang="en-US" altLang="ko-KR" sz="2800"/>
          </a:p>
          <a:p>
            <a:pPr>
              <a:buNone/>
            </a:pPr>
            <a:endParaRPr lang="en-US" altLang="ko-KR" sz="2800"/>
          </a:p>
          <a:p>
            <a:pPr>
              <a:buNone/>
            </a:pPr>
            <a:endParaRPr lang="en-US" altLang="ko-KR" sz="2800"/>
          </a:p>
          <a:p>
            <a:pPr>
              <a:buNone/>
            </a:pPr>
            <a:endParaRPr lang="en-US" altLang="ko-KR" sz="2800"/>
          </a:p>
          <a:p>
            <a:pPr>
              <a:buNone/>
            </a:pPr>
            <a:r>
              <a:rPr lang="en-US" sz="2800"/>
              <a:t>           is the eigenfunction of    ,             , but it has the same energy as    .  The operator     raises </a:t>
            </a:r>
            <a:r>
              <a:rPr lang="en-US" sz="2800" i="1">
                <a:latin typeface="Times New Roman"/>
                <a:cs typeface="Times New Roman"/>
              </a:rPr>
              <a:t>l</a:t>
            </a:r>
            <a:r>
              <a:rPr lang="en-US" sz="2800"/>
              <a:t> by 1 while keeping the same energy.  </a:t>
            </a:r>
            <a:endParaRPr lang="ko-KR" altLang="en-US" sz="2800"/>
          </a:p>
          <a:p>
            <a:pPr>
              <a:buNone/>
            </a:pPr>
            <a:endParaRPr lang="ko-KR" altLang="en-US" sz="2800"/>
          </a:p>
        </p:txBody>
      </p:sp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3375025" y="756848"/>
          <a:ext cx="463550" cy="307975"/>
        </p:xfrm>
        <a:graphic>
          <a:graphicData uri="http://schemas.openxmlformats.org/presentationml/2006/ole">
            <p:oleObj spid="_x0000_s29706" name="Equation" r:id="rId3" imgW="304800" imgH="203200" progId="Equation.3">
              <p:embed/>
            </p:oleObj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7597775" y="787220"/>
          <a:ext cx="403225" cy="268288"/>
        </p:xfrm>
        <a:graphic>
          <a:graphicData uri="http://schemas.openxmlformats.org/presentationml/2006/ole">
            <p:oleObj spid="_x0000_s29707" name="Equation" r:id="rId4" imgW="266700" imgH="177800" progId="Equation.3">
              <p:embed/>
            </p:oleObj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/>
        </p:nvGraphicFramePr>
        <p:xfrm>
          <a:off x="974725" y="1279989"/>
          <a:ext cx="1158875" cy="309563"/>
        </p:xfrm>
        <a:graphic>
          <a:graphicData uri="http://schemas.openxmlformats.org/presentationml/2006/ole">
            <p:oleObj spid="_x0000_s29708" name="Equation" r:id="rId5" imgW="762000" imgH="203200" progId="Equation.3">
              <p:embed/>
            </p:oleObj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7086600" y="1295400"/>
          <a:ext cx="227013" cy="265113"/>
        </p:xfrm>
        <a:graphic>
          <a:graphicData uri="http://schemas.openxmlformats.org/presentationml/2006/ole">
            <p:oleObj spid="_x0000_s29709" name="Equation" r:id="rId6" imgW="152400" imgH="177800" progId="Equation.3">
              <p:embed/>
            </p:oleObj>
          </a:graphicData>
        </a:graphic>
      </p:graphicFrame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2397125" y="1694162"/>
          <a:ext cx="269875" cy="307975"/>
        </p:xfrm>
        <a:graphic>
          <a:graphicData uri="http://schemas.openxmlformats.org/presentationml/2006/ole">
            <p:oleObj spid="_x0000_s29710" name="Equation" r:id="rId7" imgW="177800" imgH="203200" progId="Equation.3">
              <p:embed/>
            </p:oleObj>
          </a:graphicData>
        </a:graphic>
      </p:graphicFrame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2087562" y="2514600"/>
          <a:ext cx="4999038" cy="2060575"/>
        </p:xfrm>
        <a:graphic>
          <a:graphicData uri="http://schemas.openxmlformats.org/presentationml/2006/ole">
            <p:oleObj spid="_x0000_s29711" name="Equation" r:id="rId8" imgW="3327400" imgH="1371600" progId="Equation.3">
              <p:embed/>
            </p:oleObj>
          </a:graphicData>
        </a:graphic>
      </p:graphicFrame>
      <p:graphicFrame>
        <p:nvGraphicFramePr>
          <p:cNvPr id="29712" name="Object 16"/>
          <p:cNvGraphicFramePr>
            <a:graphicFrameLocks noChangeAspect="1"/>
          </p:cNvGraphicFramePr>
          <p:nvPr/>
        </p:nvGraphicFramePr>
        <p:xfrm>
          <a:off x="4141443" y="5652833"/>
          <a:ext cx="349250" cy="271463"/>
        </p:xfrm>
        <a:graphic>
          <a:graphicData uri="http://schemas.openxmlformats.org/presentationml/2006/ole">
            <p:oleObj spid="_x0000_s29712" name="Equation" r:id="rId9" imgW="228600" imgH="177800" progId="Equation.3">
              <p:embed/>
            </p:oleObj>
          </a:graphicData>
        </a:graphic>
      </p:graphicFrame>
      <p:graphicFrame>
        <p:nvGraphicFramePr>
          <p:cNvPr id="29713" name="Object 17"/>
          <p:cNvGraphicFramePr>
            <a:graphicFrameLocks noChangeAspect="1"/>
          </p:cNvGraphicFramePr>
          <p:nvPr/>
        </p:nvGraphicFramePr>
        <p:xfrm>
          <a:off x="974725" y="5181600"/>
          <a:ext cx="579438" cy="309563"/>
        </p:xfrm>
        <a:graphic>
          <a:graphicData uri="http://schemas.openxmlformats.org/presentationml/2006/ole">
            <p:oleObj spid="_x0000_s29713" name="Equation" r:id="rId10" imgW="381000" imgH="203200" progId="Equation.3">
              <p:embed/>
            </p:oleObj>
          </a:graphicData>
        </a:graphic>
      </p:graphicFrame>
      <p:graphicFrame>
        <p:nvGraphicFramePr>
          <p:cNvPr id="29714" name="Object 18"/>
          <p:cNvGraphicFramePr>
            <a:graphicFrameLocks noChangeAspect="1"/>
          </p:cNvGraphicFramePr>
          <p:nvPr/>
        </p:nvGraphicFramePr>
        <p:xfrm>
          <a:off x="5181600" y="5226005"/>
          <a:ext cx="287338" cy="268288"/>
        </p:xfrm>
        <a:graphic>
          <a:graphicData uri="http://schemas.openxmlformats.org/presentationml/2006/ole">
            <p:oleObj spid="_x0000_s29714" name="Equation" r:id="rId11" imgW="190500" imgH="177800" progId="Equation.3">
              <p:embed/>
            </p:oleObj>
          </a:graphicData>
        </a:graphic>
      </p:graphicFrame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5697238" y="5199362"/>
          <a:ext cx="1158875" cy="309563"/>
        </p:xfrm>
        <a:graphic>
          <a:graphicData uri="http://schemas.openxmlformats.org/presentationml/2006/ole">
            <p:oleObj spid="_x0000_s29715" name="Equation" r:id="rId12" imgW="762000" imgH="203200" progId="Equation.3">
              <p:embed/>
            </p:oleObj>
          </a:graphicData>
        </a:graphic>
      </p:graphicFrame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6953250" y="5617309"/>
          <a:ext cx="266700" cy="304800"/>
        </p:xfrm>
        <a:graphic>
          <a:graphicData uri="http://schemas.openxmlformats.org/presentationml/2006/ole">
            <p:oleObj spid="_x0000_s29716" name="Equation" r:id="rId13" imgW="177800" imgH="20320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01000" cy="6019800"/>
          </a:xfrm>
        </p:spPr>
        <p:txBody>
          <a:bodyPr>
            <a:normAutofit/>
          </a:bodyPr>
          <a:lstStyle/>
          <a:p>
            <a:r>
              <a:rPr lang="en-US" sz="2000"/>
              <a:t>Since the Hamiltonian has a term proportional to </a:t>
            </a:r>
            <a:r>
              <a:rPr lang="en-US" sz="2000" i="1">
                <a:latin typeface="Times New Roman"/>
                <a:cs typeface="Times New Roman"/>
              </a:rPr>
              <a:t>l</a:t>
            </a:r>
            <a:r>
              <a:rPr lang="en-US" sz="2000">
                <a:latin typeface="Times New Roman"/>
                <a:cs typeface="Times New Roman"/>
              </a:rPr>
              <a:t>(</a:t>
            </a:r>
            <a:r>
              <a:rPr lang="en-US" sz="2000" i="1">
                <a:latin typeface="Times New Roman"/>
                <a:cs typeface="Times New Roman"/>
              </a:rPr>
              <a:t>l</a:t>
            </a:r>
            <a:r>
              <a:rPr lang="en-US" sz="2000">
                <a:latin typeface="Times New Roman"/>
                <a:cs typeface="Times New Roman"/>
              </a:rPr>
              <a:t>+1)</a:t>
            </a:r>
            <a:r>
              <a:rPr lang="en-US" sz="2000"/>
              <a:t>, for a given energy </a:t>
            </a:r>
            <a:r>
              <a:rPr lang="en-US" sz="2000" i="1">
                <a:latin typeface="Times New Roman"/>
                <a:cs typeface="Times New Roman"/>
              </a:rPr>
              <a:t>E</a:t>
            </a:r>
            <a:r>
              <a:rPr lang="en-US" sz="2000"/>
              <a:t>, there must be a maximum value of </a:t>
            </a:r>
            <a:r>
              <a:rPr lang="en-US" sz="2000" i="1">
                <a:latin typeface="Times New Roman"/>
                <a:cs typeface="Times New Roman"/>
              </a:rPr>
              <a:t>l</a:t>
            </a:r>
            <a:r>
              <a:rPr lang="en-US" sz="2000"/>
              <a:t> (let’s call it </a:t>
            </a:r>
            <a:r>
              <a:rPr lang="en-US" sz="2000" i="1">
                <a:latin typeface="Times New Roman"/>
                <a:cs typeface="Times New Roman"/>
              </a:rPr>
              <a:t>l</a:t>
            </a:r>
            <a:r>
              <a:rPr lang="en-US" sz="2000" i="1" baseline="-25000">
                <a:latin typeface="Times New Roman"/>
                <a:cs typeface="Times New Roman"/>
              </a:rPr>
              <a:t>max</a:t>
            </a:r>
            <a:r>
              <a:rPr lang="en-US" sz="2000"/>
              <a:t>) such that</a:t>
            </a:r>
            <a:endParaRPr lang="ko-KR" altLang="en-US" sz="2000"/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2000"/>
              <a:t>     Let                .  Then</a:t>
            </a:r>
            <a:endParaRPr lang="ko-KR" altLang="en-US" sz="2000"/>
          </a:p>
          <a:p>
            <a:endParaRPr lang="en-US" altLang="ko-KR" sz="2000"/>
          </a:p>
          <a:p>
            <a:endParaRPr lang="ko-KR" altLang="en-US" sz="2000"/>
          </a:p>
          <a:p>
            <a:r>
              <a:rPr lang="en-US" sz="2000"/>
              <a:t>whose solution is                      .</a:t>
            </a:r>
            <a:endParaRPr lang="ko-KR" altLang="en-US" sz="2000"/>
          </a:p>
          <a:p>
            <a:r>
              <a:rPr lang="en-US" sz="2000"/>
              <a:t>Furthermore,</a:t>
            </a:r>
            <a:endParaRPr lang="ko-KR" altLang="en-US" sz="2000"/>
          </a:p>
          <a:p>
            <a:endParaRPr lang="en-US" altLang="ko-KR" sz="2000"/>
          </a:p>
          <a:p>
            <a:endParaRPr lang="ko-KR" altLang="en-US" sz="2000"/>
          </a:p>
          <a:p>
            <a:r>
              <a:rPr lang="en-US" sz="2000"/>
              <a:t>Hence</a:t>
            </a:r>
          </a:p>
          <a:p>
            <a:pPr>
              <a:buNone/>
            </a:pPr>
            <a:r>
              <a:rPr lang="en-US" sz="2000"/>
              <a:t>    </a:t>
            </a:r>
          </a:p>
          <a:p>
            <a:pPr>
              <a:buNone/>
            </a:pPr>
            <a:r>
              <a:rPr lang="en-US" sz="2000"/>
              <a:t>     By successively applying       to the expression for      , we can generate solutions for lower values of </a:t>
            </a:r>
            <a:r>
              <a:rPr lang="en-US" sz="2000" i="1">
                <a:latin typeface="Times New Roman"/>
                <a:cs typeface="Times New Roman"/>
              </a:rPr>
              <a:t>l</a:t>
            </a:r>
            <a:r>
              <a:rPr lang="en-US" sz="2000"/>
              <a:t> having the same energy </a:t>
            </a:r>
            <a:r>
              <a:rPr lang="en-US" sz="2000" i="1">
                <a:latin typeface="Times New Roman"/>
                <a:cs typeface="Times New Roman"/>
              </a:rPr>
              <a:t>E</a:t>
            </a:r>
            <a:r>
              <a:rPr lang="en-US" sz="2000"/>
              <a:t> and the principal quantum number </a:t>
            </a:r>
            <a:r>
              <a:rPr lang="en-US" sz="2000" i="1">
                <a:latin typeface="Times New Roman"/>
                <a:cs typeface="Times New Roman"/>
              </a:rPr>
              <a:t>n</a:t>
            </a:r>
            <a:r>
              <a:rPr lang="en-US" sz="2000"/>
              <a:t>.</a:t>
            </a:r>
            <a:endParaRPr lang="ko-KR" altLang="en-US" sz="2000"/>
          </a:p>
        </p:txBody>
      </p:sp>
      <p:graphicFrame>
        <p:nvGraphicFramePr>
          <p:cNvPr id="214020" name="Object 4"/>
          <p:cNvGraphicFramePr>
            <a:graphicFrameLocks noChangeAspect="1"/>
          </p:cNvGraphicFramePr>
          <p:nvPr/>
        </p:nvGraphicFramePr>
        <p:xfrm>
          <a:off x="4152900" y="1600200"/>
          <a:ext cx="1244600" cy="339725"/>
        </p:xfrm>
        <a:graphic>
          <a:graphicData uri="http://schemas.openxmlformats.org/presentationml/2006/ole">
            <p:oleObj spid="_x0000_s214020" name="Equation" r:id="rId3" imgW="838200" imgH="228600" progId="Equation.3">
              <p:embed/>
            </p:oleObj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/>
        </p:nvGraphicFramePr>
        <p:xfrm>
          <a:off x="3276600" y="2514600"/>
          <a:ext cx="2886075" cy="608013"/>
        </p:xfrm>
        <a:graphic>
          <a:graphicData uri="http://schemas.openxmlformats.org/presentationml/2006/ole">
            <p:oleObj spid="_x0000_s214021" name="Equation" r:id="rId4" imgW="1930400" imgH="406400" progId="Equation.3">
              <p:embed/>
            </p:oleObj>
          </a:graphicData>
        </a:graphic>
      </p:graphicFrame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2989562" y="3321005"/>
          <a:ext cx="1411288" cy="309563"/>
        </p:xfrm>
        <a:graphic>
          <a:graphicData uri="http://schemas.openxmlformats.org/presentationml/2006/ole">
            <p:oleObj spid="_x0000_s214022" name="Equation" r:id="rId5" imgW="927100" imgH="203200" progId="Equation.3">
              <p:embed/>
            </p:oleObj>
          </a:graphicData>
        </a:graphic>
      </p:graphicFrame>
      <p:graphicFrame>
        <p:nvGraphicFramePr>
          <p:cNvPr id="214023" name="Object 7"/>
          <p:cNvGraphicFramePr>
            <a:graphicFrameLocks noChangeAspect="1"/>
          </p:cNvGraphicFramePr>
          <p:nvPr/>
        </p:nvGraphicFramePr>
        <p:xfrm>
          <a:off x="1371600" y="2268238"/>
          <a:ext cx="1014413" cy="268288"/>
        </p:xfrm>
        <a:graphic>
          <a:graphicData uri="http://schemas.openxmlformats.org/presentationml/2006/ole">
            <p:oleObj spid="_x0000_s214023" name="Equation" r:id="rId6" imgW="673100" imgH="177800" progId="Equation.3">
              <p:embed/>
            </p:oleObj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/>
        </p:nvGraphicFramePr>
        <p:xfrm>
          <a:off x="2386013" y="4038600"/>
          <a:ext cx="4386263" cy="608013"/>
        </p:xfrm>
        <a:graphic>
          <a:graphicData uri="http://schemas.openxmlformats.org/presentationml/2006/ole">
            <p:oleObj spid="_x0000_s214024" name="Equation" r:id="rId7" imgW="2933700" imgH="406400" progId="Equation.3">
              <p:embed/>
            </p:oleObj>
          </a:graphicData>
        </a:graphic>
      </p:graphicFrame>
      <p:graphicFrame>
        <p:nvGraphicFramePr>
          <p:cNvPr id="214025" name="Object 9"/>
          <p:cNvGraphicFramePr>
            <a:graphicFrameLocks noChangeAspect="1"/>
          </p:cNvGraphicFramePr>
          <p:nvPr/>
        </p:nvGraphicFramePr>
        <p:xfrm>
          <a:off x="4152900" y="4949481"/>
          <a:ext cx="971550" cy="552450"/>
        </p:xfrm>
        <a:graphic>
          <a:graphicData uri="http://schemas.openxmlformats.org/presentationml/2006/ole">
            <p:oleObj spid="_x0000_s214025" name="Equation" r:id="rId8" imgW="647700" imgH="368300" progId="Equation.3">
              <p:embed/>
            </p:oleObj>
          </a:graphicData>
        </a:graphic>
      </p:graphicFrame>
      <p:graphicFrame>
        <p:nvGraphicFramePr>
          <p:cNvPr id="214026" name="Object 10"/>
          <p:cNvGraphicFramePr>
            <a:graphicFrameLocks noChangeAspect="1"/>
          </p:cNvGraphicFramePr>
          <p:nvPr/>
        </p:nvGraphicFramePr>
        <p:xfrm>
          <a:off x="3886200" y="5528574"/>
          <a:ext cx="266700" cy="304800"/>
        </p:xfrm>
        <a:graphic>
          <a:graphicData uri="http://schemas.openxmlformats.org/presentationml/2006/ole">
            <p:oleObj spid="_x0000_s214026" name="Equation" r:id="rId9" imgW="177800" imgH="203200" progId="Equation.3">
              <p:embed/>
            </p:oleObj>
          </a:graphicData>
        </a:graphic>
      </p:graphicFrame>
      <p:graphicFrame>
        <p:nvGraphicFramePr>
          <p:cNvPr id="214027" name="Object 11"/>
          <p:cNvGraphicFramePr>
            <a:graphicFrameLocks noChangeAspect="1"/>
          </p:cNvGraphicFramePr>
          <p:nvPr/>
        </p:nvGraphicFramePr>
        <p:xfrm>
          <a:off x="6590507" y="5547324"/>
          <a:ext cx="363538" cy="268288"/>
        </p:xfrm>
        <a:graphic>
          <a:graphicData uri="http://schemas.openxmlformats.org/presentationml/2006/ole">
            <p:oleObj spid="_x0000_s214027" name="Equation" r:id="rId10" imgW="241300" imgH="17780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153400" cy="5486400"/>
          </a:xfrm>
        </p:spPr>
        <p:txBody>
          <a:bodyPr>
            <a:normAutofit lnSpcReduction="10000"/>
          </a:bodyPr>
          <a:lstStyle/>
          <a:p>
            <a:r>
              <a:rPr lang="en-US" sz="2400"/>
              <a:t>Let us calculate the radial wave functions         for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/>
              <a:t>=1 and 2. Neglect the normalization constant.</a:t>
            </a:r>
            <a:r>
              <a:rPr lang="ko-KR" sz="2400"/>
              <a:t> </a:t>
            </a:r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endParaRPr lang="en-US" altLang="ko-KR" sz="2400"/>
          </a:p>
          <a:p>
            <a:r>
              <a:rPr lang="en-US" sz="2400"/>
              <a:t>Using the above ladder operation, derive the radial wave functions         , except for the normalization constant, for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=3</a:t>
            </a:r>
            <a:r>
              <a:rPr lang="en-US" sz="2400"/>
              <a:t> for all           .</a:t>
            </a:r>
            <a:endParaRPr lang="ko-KR" altLang="en-US" sz="2400"/>
          </a:p>
          <a:p>
            <a:endParaRPr lang="ko-KR" altLang="en-US" sz="24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1143000"/>
          </a:xfrm>
        </p:spPr>
        <p:txBody>
          <a:bodyPr/>
          <a:lstStyle/>
          <a:p>
            <a:r>
              <a:rPr lang="en-US" altLang="ja-JP"/>
              <a:t>Example 2</a:t>
            </a:r>
            <a:endParaRPr lang="ja-JP" altLang="en-US"/>
          </a:p>
        </p:txBody>
      </p:sp>
      <p:graphicFrame>
        <p:nvGraphicFramePr>
          <p:cNvPr id="204810" name="Object 10"/>
          <p:cNvGraphicFramePr>
            <a:graphicFrameLocks noChangeAspect="1"/>
          </p:cNvGraphicFramePr>
          <p:nvPr/>
        </p:nvGraphicFramePr>
        <p:xfrm>
          <a:off x="6571214" y="1331428"/>
          <a:ext cx="593725" cy="268288"/>
        </p:xfrm>
        <a:graphic>
          <a:graphicData uri="http://schemas.openxmlformats.org/presentationml/2006/ole">
            <p:oleObj spid="_x0000_s204810" name="Equation" r:id="rId3" imgW="393700" imgH="177800" progId="Equation.3">
              <p:embed/>
            </p:oleObj>
          </a:graphicData>
        </a:graphic>
      </p:graphicFrame>
      <p:graphicFrame>
        <p:nvGraphicFramePr>
          <p:cNvPr id="204811" name="Object 11"/>
          <p:cNvGraphicFramePr>
            <a:graphicFrameLocks noChangeAspect="1"/>
          </p:cNvGraphicFramePr>
          <p:nvPr/>
        </p:nvGraphicFramePr>
        <p:xfrm>
          <a:off x="1447800" y="2133600"/>
          <a:ext cx="6362700" cy="2019300"/>
        </p:xfrm>
        <a:graphic>
          <a:graphicData uri="http://schemas.openxmlformats.org/presentationml/2006/ole">
            <p:oleObj spid="_x0000_s204811" name="Equation" r:id="rId4" imgW="4241800" imgH="1346200" progId="Equation.3">
              <p:embed/>
            </p:oleObj>
          </a:graphicData>
        </a:graphic>
      </p:graphicFrame>
      <p:sp>
        <p:nvSpPr>
          <p:cNvPr id="14" name="Title 10"/>
          <p:cNvSpPr txBox="1">
            <a:spLocks/>
          </p:cNvSpPr>
          <p:nvPr/>
        </p:nvSpPr>
        <p:spPr>
          <a:xfrm>
            <a:off x="457200" y="41910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 7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3066014" y="5625165"/>
          <a:ext cx="593725" cy="268288"/>
        </p:xfrm>
        <a:graphic>
          <a:graphicData uri="http://schemas.openxmlformats.org/presentationml/2006/ole">
            <p:oleObj spid="_x0000_s204812" name="Equation" r:id="rId5" imgW="393700" imgH="177800" progId="Equation.3">
              <p:embed/>
            </p:oleObj>
          </a:graphicData>
        </a:graphic>
      </p:graphicFrame>
      <p:graphicFrame>
        <p:nvGraphicFramePr>
          <p:cNvPr id="204813" name="Object 13"/>
          <p:cNvGraphicFramePr>
            <a:graphicFrameLocks noChangeAspect="1"/>
          </p:cNvGraphicFramePr>
          <p:nvPr/>
        </p:nvGraphicFramePr>
        <p:xfrm>
          <a:off x="4177849" y="5956502"/>
          <a:ext cx="792163" cy="193675"/>
        </p:xfrm>
        <a:graphic>
          <a:graphicData uri="http://schemas.openxmlformats.org/presentationml/2006/ole">
            <p:oleObj spid="_x0000_s204813" name="Equation" r:id="rId6" imgW="520700" imgH="1270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685799"/>
            <a:ext cx="4648200" cy="762001"/>
          </a:xfrm>
        </p:spPr>
        <p:txBody>
          <a:bodyPr/>
          <a:lstStyle/>
          <a:p>
            <a:pPr>
              <a:buNone/>
            </a:pPr>
            <a:r>
              <a:rPr lang="en-US" altLang="ko-KR"/>
              <a:t>Hydrogen wave functions</a:t>
            </a:r>
            <a:endParaRPr lang="ko-KR" alt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3048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Table 1</a:t>
            </a:r>
            <a:r>
              <a:rPr kumimoji="1" lang="ko-KR" sz="4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1387455" y="1447800"/>
          <a:ext cx="6537345" cy="4953000"/>
        </p:xfrm>
        <a:graphic>
          <a:graphicData uri="http://schemas.openxmlformats.org/presentationml/2006/ole">
            <p:oleObj spid="_x0000_s205833" name="Document" r:id="rId3" imgW="5397500" imgH="40894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153400" cy="4610100"/>
          </a:xfrm>
        </p:spPr>
        <p:txBody>
          <a:bodyPr>
            <a:normAutofit/>
          </a:bodyPr>
          <a:lstStyle/>
          <a:p>
            <a:pPr marL="493776" indent="-457200">
              <a:buNone/>
            </a:pPr>
            <a:r>
              <a:rPr lang="en-US" sz="2400" u="sng"/>
              <a:t>a) Degeneracy</a:t>
            </a:r>
          </a:p>
          <a:p>
            <a:pPr marL="493776" indent="-457200">
              <a:buNone/>
            </a:pPr>
            <a:r>
              <a:rPr lang="en-US" sz="2400"/>
              <a:t>	for term 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=0, 1,…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-1</a:t>
            </a:r>
            <a:r>
              <a:rPr lang="en-US" sz="2400"/>
              <a:t>, and </a:t>
            </a:r>
            <a:r>
              <a:rPr lang="en-US" sz="2400" i="1">
                <a:latin typeface="Times New Roman"/>
                <a:cs typeface="Times New Roman"/>
              </a:rPr>
              <a:t>m</a:t>
            </a:r>
            <a:r>
              <a:rPr lang="en-US" sz="2400">
                <a:latin typeface="Times New Roman"/>
                <a:cs typeface="Times New Roman"/>
              </a:rPr>
              <a:t>=-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, -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+1,…+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.</a:t>
            </a:r>
            <a:endParaRPr lang="ko-KR" alt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/>
              <a:t>     Total degeneracy=                  .</a:t>
            </a:r>
            <a:endParaRPr lang="ko-KR" altLang="en-US" sz="2400"/>
          </a:p>
          <a:p>
            <a:endParaRPr lang="en-US" sz="2400"/>
          </a:p>
          <a:p>
            <a:pPr>
              <a:buNone/>
            </a:pPr>
            <a:r>
              <a:rPr lang="en-US" sz="2400" u="sng"/>
              <a:t>b) Number of nodes</a:t>
            </a:r>
            <a:endParaRPr lang="ko-KR" altLang="en-US" sz="2400"/>
          </a:p>
          <a:p>
            <a:pPr>
              <a:buNone/>
            </a:pPr>
            <a:r>
              <a:rPr lang="en-US" sz="2400"/>
              <a:t>	number of radial nodes=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 i="1" baseline="-25000">
                <a:latin typeface="Times New Roman"/>
                <a:cs typeface="Times New Roman"/>
              </a:rPr>
              <a:t>r</a:t>
            </a:r>
            <a:r>
              <a:rPr lang="en-US" sz="2400">
                <a:latin typeface="Times New Roman"/>
                <a:cs typeface="Times New Roman"/>
              </a:rPr>
              <a:t>=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-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-</a:t>
            </a:r>
            <a:r>
              <a:rPr lang="en-US" sz="2400"/>
              <a:t>1 (spheres)</a:t>
            </a:r>
            <a:endParaRPr lang="ko-KR" altLang="en-US" sz="2400"/>
          </a:p>
          <a:p>
            <a:pPr>
              <a:buNone/>
            </a:pPr>
            <a:r>
              <a:rPr lang="en-US" sz="2400"/>
              <a:t>	number of angular nodes=</a:t>
            </a:r>
            <a:r>
              <a:rPr lang="en-US" sz="2400" i="1">
                <a:latin typeface="Times New Roman"/>
                <a:cs typeface="Times New Roman"/>
              </a:rPr>
              <a:t>l</a:t>
            </a:r>
            <a:r>
              <a:rPr lang="en-US" sz="2400">
                <a:latin typeface="Times New Roman"/>
                <a:cs typeface="Times New Roman"/>
              </a:rPr>
              <a:t>-|</a:t>
            </a:r>
            <a:r>
              <a:rPr lang="en-US" sz="2400" i="1">
                <a:latin typeface="Times New Roman"/>
                <a:cs typeface="Times New Roman"/>
              </a:rPr>
              <a:t>m</a:t>
            </a:r>
            <a:r>
              <a:rPr lang="en-US" sz="2400">
                <a:latin typeface="Times New Roman"/>
                <a:cs typeface="Times New Roman"/>
              </a:rPr>
              <a:t>|</a:t>
            </a:r>
            <a:r>
              <a:rPr lang="en-US" sz="2400"/>
              <a:t> (cones)</a:t>
            </a:r>
            <a:endParaRPr lang="ko-KR" altLang="en-US" sz="2400"/>
          </a:p>
          <a:p>
            <a:pPr>
              <a:buNone/>
            </a:pPr>
            <a:r>
              <a:rPr lang="en-US" sz="2400"/>
              <a:t>	total nodes=</a:t>
            </a:r>
            <a:r>
              <a:rPr lang="en-US" sz="2400" i="1">
                <a:latin typeface="Times New Roman"/>
                <a:cs typeface="Times New Roman"/>
              </a:rPr>
              <a:t>n</a:t>
            </a:r>
            <a:r>
              <a:rPr lang="en-US" sz="2400">
                <a:latin typeface="Times New Roman"/>
                <a:cs typeface="Times New Roman"/>
              </a:rPr>
              <a:t>-|</a:t>
            </a:r>
            <a:r>
              <a:rPr lang="en-US" sz="2400" i="1">
                <a:latin typeface="Times New Roman"/>
                <a:cs typeface="Times New Roman"/>
              </a:rPr>
              <a:t>m</a:t>
            </a:r>
            <a:r>
              <a:rPr lang="en-US" sz="2400">
                <a:latin typeface="Times New Roman"/>
                <a:cs typeface="Times New Roman"/>
              </a:rPr>
              <a:t>|-1</a:t>
            </a:r>
            <a:r>
              <a:rPr lang="en-US" sz="2400"/>
              <a:t>.</a:t>
            </a:r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 u="sng"/>
              <a:t>c) Normalization</a:t>
            </a:r>
            <a:endParaRPr lang="ko-KR" altLang="en-US" sz="2400" u="sng"/>
          </a:p>
          <a:p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ko-KR" altLang="en-US" sz="2400"/>
          </a:p>
          <a:p>
            <a:endParaRPr lang="ko-KR" altLang="en-US" sz="2400"/>
          </a:p>
        </p:txBody>
      </p:sp>
      <p:graphicFrame>
        <p:nvGraphicFramePr>
          <p:cNvPr id="217099" name="Object 11"/>
          <p:cNvGraphicFramePr>
            <a:graphicFrameLocks noChangeAspect="1"/>
          </p:cNvGraphicFramePr>
          <p:nvPr/>
        </p:nvGraphicFramePr>
        <p:xfrm>
          <a:off x="3581400" y="2093912"/>
          <a:ext cx="1357313" cy="649288"/>
        </p:xfrm>
        <a:graphic>
          <a:graphicData uri="http://schemas.openxmlformats.org/presentationml/2006/ole">
            <p:oleObj spid="_x0000_s217099" name="Equation" r:id="rId3" imgW="901700" imgH="431800" progId="Equation.3">
              <p:embed/>
            </p:oleObj>
          </a:graphicData>
        </a:graphic>
      </p:graphicFrame>
      <p:graphicFrame>
        <p:nvGraphicFramePr>
          <p:cNvPr id="217100" name="Object 12"/>
          <p:cNvGraphicFramePr>
            <a:graphicFrameLocks noChangeAspect="1"/>
          </p:cNvGraphicFramePr>
          <p:nvPr/>
        </p:nvGraphicFramePr>
        <p:xfrm>
          <a:off x="1295400" y="5829300"/>
          <a:ext cx="6704013" cy="495300"/>
        </p:xfrm>
        <a:graphic>
          <a:graphicData uri="http://schemas.openxmlformats.org/presentationml/2006/ole">
            <p:oleObj spid="_x0000_s217100" name="Equation" r:id="rId4" imgW="4470400" imgH="330200" progId="Equation.3">
              <p:embed/>
            </p:oleObj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381000" y="457200"/>
            <a:ext cx="8686800" cy="5334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lvl="0"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Some properties of hydrogenic wavefunctions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r>
              <a:rPr kumimoji="1" lang="ko-KR" sz="36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 </a:t>
            </a:r>
            <a:endParaRPr kumimoji="1" lang="ja-JP" altLang="en-US" sz="36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609600"/>
            <a:ext cx="3352800" cy="533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/>
              <a:t>Hydrogen radial functions</a:t>
            </a:r>
          </a:p>
          <a:p>
            <a:pPr>
              <a:buNone/>
            </a:pPr>
            <a:endParaRPr lang="en-US" altLang="ko-KR" sz="200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57200" y="1524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Fig. 2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18127" name="Object 15"/>
          <p:cNvGraphicFramePr>
            <a:graphicFrameLocks noChangeAspect="1"/>
          </p:cNvGraphicFramePr>
          <p:nvPr/>
        </p:nvGraphicFramePr>
        <p:xfrm>
          <a:off x="1343306" y="1600200"/>
          <a:ext cx="2768319" cy="4724400"/>
        </p:xfrm>
        <a:graphic>
          <a:graphicData uri="http://schemas.openxmlformats.org/presentationml/2006/ole">
            <p:oleObj spid="_x0000_s218127" name="Document" r:id="rId3" imgW="2717800" imgH="4025900" progId="Word.Document.12">
              <p:link updateAutomatic="1"/>
            </p:oleObj>
          </a:graphicData>
        </a:graphic>
      </p:graphicFrame>
      <p:graphicFrame>
        <p:nvGraphicFramePr>
          <p:cNvPr id="218128" name="Object 16"/>
          <p:cNvGraphicFramePr>
            <a:graphicFrameLocks noChangeAspect="1"/>
          </p:cNvGraphicFramePr>
          <p:nvPr/>
        </p:nvGraphicFramePr>
        <p:xfrm>
          <a:off x="4572000" y="1627188"/>
          <a:ext cx="2555875" cy="4740275"/>
        </p:xfrm>
        <a:graphic>
          <a:graphicData uri="http://schemas.openxmlformats.org/presentationml/2006/ole">
            <p:oleObj spid="_x0000_s218128" name="Document" r:id="rId4" imgW="2184400" imgH="40513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0" y="1143000"/>
            <a:ext cx="5181600" cy="5181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70000">
              <a:schemeClr val="accent1">
                <a:tint val="30000"/>
                <a:shade val="95000"/>
                <a:satMod val="300000"/>
                <a:alpha val="50000"/>
              </a:schemeClr>
            </a:glow>
            <a:outerShdw blurRad="50800" dist="381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609600"/>
            <a:ext cx="5334000" cy="533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/>
              <a:t>Angular nodes in spherical harmonics</a:t>
            </a:r>
            <a:r>
              <a:rPr lang="ko-KR" sz="2000"/>
              <a:t> </a:t>
            </a:r>
            <a:endParaRPr lang="en-US" altLang="ko-KR" sz="200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57200" y="1524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Fig. 3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1188" name="Object 4"/>
          <p:cNvGraphicFramePr>
            <a:graphicFrameLocks noChangeAspect="1"/>
          </p:cNvGraphicFramePr>
          <p:nvPr/>
        </p:nvGraphicFramePr>
        <p:xfrm>
          <a:off x="2133600" y="1264615"/>
          <a:ext cx="4648200" cy="4889907"/>
        </p:xfrm>
        <a:graphic>
          <a:graphicData uri="http://schemas.openxmlformats.org/presentationml/2006/ole">
            <p:oleObj spid="_x0000_s221188" name="Document" r:id="rId3" imgW="3175000" imgH="33401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1182"/>
            <a:ext cx="81534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/>
              <a:t>d) Mean values of </a:t>
            </a:r>
            <a:endParaRPr lang="ko-KR" altLang="en-US" sz="2400"/>
          </a:p>
          <a:p>
            <a:r>
              <a:rPr lang="en-US" sz="2400" i="1" u="sng"/>
              <a:t>j</a:t>
            </a:r>
            <a:r>
              <a:rPr lang="en-US" sz="2400" u="sng"/>
              <a:t>=-1</a:t>
            </a:r>
            <a:r>
              <a:rPr lang="en-US" sz="2400"/>
              <a:t>: </a:t>
            </a:r>
            <a:endParaRPr lang="ko-KR" altLang="en-US" sz="2400"/>
          </a:p>
          <a:p>
            <a:pPr>
              <a:buNone/>
            </a:pPr>
            <a:r>
              <a:rPr lang="en-US" sz="2400"/>
              <a:t>	Use the Virial Theorem,                  .</a:t>
            </a:r>
            <a:endParaRPr lang="ko-KR" altLang="en-US" sz="2400"/>
          </a:p>
          <a:p>
            <a:pPr>
              <a:buNone/>
            </a:pPr>
            <a:r>
              <a:rPr lang="en-US" sz="2400"/>
              <a:t>	For </a:t>
            </a:r>
            <a:r>
              <a:rPr lang="en-US" sz="2400" i="1"/>
              <a:t>V</a:t>
            </a:r>
            <a:r>
              <a:rPr lang="en-US" sz="2400"/>
              <a:t>=-</a:t>
            </a:r>
            <a:r>
              <a:rPr lang="en-US" sz="2400" i="1"/>
              <a:t>Z</a:t>
            </a:r>
            <a:r>
              <a:rPr lang="en-US" sz="2400"/>
              <a:t>/</a:t>
            </a:r>
            <a:r>
              <a:rPr lang="en-US" sz="2400" i="1"/>
              <a:t>r</a:t>
            </a:r>
            <a:r>
              <a:rPr lang="en-US" sz="2400"/>
              <a:t>,                and thus, </a:t>
            </a:r>
            <a:endParaRPr lang="ko-KR" altLang="en-US" sz="2400"/>
          </a:p>
          <a:p>
            <a:endParaRPr lang="ko-KR" alt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Prove the Virial Theorem.</a:t>
            </a:r>
            <a:endParaRPr lang="ko-KR" altLang="en-US" sz="240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42672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</a:t>
            </a:r>
            <a:r>
              <a:rPr kumimoji="1" lang="en-US" sz="4600" b="1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8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0168" name="Object 8"/>
          <p:cNvGraphicFramePr>
            <a:graphicFrameLocks noChangeAspect="1"/>
          </p:cNvGraphicFramePr>
          <p:nvPr/>
        </p:nvGraphicFramePr>
        <p:xfrm>
          <a:off x="3122313" y="584845"/>
          <a:ext cx="212725" cy="250825"/>
        </p:xfrm>
        <a:graphic>
          <a:graphicData uri="http://schemas.openxmlformats.org/presentationml/2006/ole">
            <p:oleObj spid="_x0000_s220168" name="Equation" r:id="rId3" imgW="139700" imgH="165100" progId="Equation.3">
              <p:embed/>
            </p:oleObj>
          </a:graphicData>
        </a:graphic>
      </p:graphicFrame>
      <p:graphicFrame>
        <p:nvGraphicFramePr>
          <p:cNvPr id="220169" name="Object 9"/>
          <p:cNvGraphicFramePr>
            <a:graphicFrameLocks noChangeAspect="1"/>
          </p:cNvGraphicFramePr>
          <p:nvPr/>
        </p:nvGraphicFramePr>
        <p:xfrm>
          <a:off x="4191000" y="1449987"/>
          <a:ext cx="1400175" cy="365125"/>
        </p:xfrm>
        <a:graphic>
          <a:graphicData uri="http://schemas.openxmlformats.org/presentationml/2006/ole">
            <p:oleObj spid="_x0000_s220169" name="Equation" r:id="rId4" imgW="927100" imgH="241300" progId="Equation.3">
              <p:embed/>
            </p:oleObj>
          </a:graphicData>
        </a:graphic>
      </p:graphicFrame>
      <p:graphicFrame>
        <p:nvGraphicFramePr>
          <p:cNvPr id="220170" name="Object 10"/>
          <p:cNvGraphicFramePr>
            <a:graphicFrameLocks noChangeAspect="1"/>
          </p:cNvGraphicFramePr>
          <p:nvPr/>
        </p:nvGraphicFramePr>
        <p:xfrm>
          <a:off x="2542875" y="1930101"/>
          <a:ext cx="1158875" cy="309563"/>
        </p:xfrm>
        <a:graphic>
          <a:graphicData uri="http://schemas.openxmlformats.org/presentationml/2006/ole">
            <p:oleObj spid="_x0000_s220170" name="Equation" r:id="rId5" imgW="762000" imgH="203200" progId="Equation.3">
              <p:embed/>
            </p:oleObj>
          </a:graphicData>
        </a:graphic>
      </p:graphicFrame>
      <p:graphicFrame>
        <p:nvGraphicFramePr>
          <p:cNvPr id="220171" name="Object 11"/>
          <p:cNvGraphicFramePr>
            <a:graphicFrameLocks noChangeAspect="1"/>
          </p:cNvGraphicFramePr>
          <p:nvPr/>
        </p:nvGraphicFramePr>
        <p:xfrm>
          <a:off x="2743200" y="2396182"/>
          <a:ext cx="3886200" cy="1295400"/>
        </p:xfrm>
        <a:graphic>
          <a:graphicData uri="http://schemas.openxmlformats.org/presentationml/2006/ole">
            <p:oleObj spid="_x0000_s220171" name="Equation" r:id="rId6" imgW="2590800" imgH="863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4605982"/>
          </a:xfrm>
        </p:spPr>
        <p:txBody>
          <a:bodyPr>
            <a:noAutofit/>
          </a:bodyPr>
          <a:lstStyle/>
          <a:p>
            <a:r>
              <a:rPr lang="en-US" sz="2400"/>
              <a:t>Prove the Hellman-Feyman Theorem, 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endParaRPr lang="en-US" sz="2400" b="1"/>
          </a:p>
          <a:p>
            <a:r>
              <a:rPr lang="en-US" sz="2400"/>
              <a:t>Use the Hellman-Feyman Theorem to show that 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7200" y="2286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</a:t>
            </a:r>
            <a:r>
              <a:rPr kumimoji="1" lang="en-US" sz="4600" b="1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9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2214" name="Object 6"/>
          <p:cNvGraphicFramePr>
            <a:graphicFrameLocks noChangeAspect="1"/>
          </p:cNvGraphicFramePr>
          <p:nvPr/>
        </p:nvGraphicFramePr>
        <p:xfrm>
          <a:off x="3124200" y="1600200"/>
          <a:ext cx="2763838" cy="647700"/>
        </p:xfrm>
        <a:graphic>
          <a:graphicData uri="http://schemas.openxmlformats.org/presentationml/2006/ole">
            <p:oleObj spid="_x0000_s222214" name="Equation" r:id="rId3" imgW="1841500" imgH="431800" progId="Equation.3">
              <p:embed/>
            </p:oleObj>
          </a:graphicData>
        </a:graphic>
      </p:graphicFrame>
      <p:graphicFrame>
        <p:nvGraphicFramePr>
          <p:cNvPr id="222215" name="Object 7"/>
          <p:cNvGraphicFramePr>
            <a:graphicFrameLocks noChangeAspect="1"/>
          </p:cNvGraphicFramePr>
          <p:nvPr/>
        </p:nvGraphicFramePr>
        <p:xfrm>
          <a:off x="3794918" y="4343400"/>
          <a:ext cx="931863" cy="609600"/>
        </p:xfrm>
        <a:graphic>
          <a:graphicData uri="http://schemas.openxmlformats.org/presentationml/2006/ole">
            <p:oleObj spid="_x0000_s222215" name="Equation" r:id="rId4" imgW="622300" imgH="406400" progId="Equation.3">
              <p:embed/>
            </p:oleObj>
          </a:graphicData>
        </a:graphic>
      </p:graphicFrame>
      <p:sp>
        <p:nvSpPr>
          <p:cNvPr id="11" name="Title 1"/>
          <p:cNvSpPr txBox="1">
            <a:spLocks/>
          </p:cNvSpPr>
          <p:nvPr/>
        </p:nvSpPr>
        <p:spPr>
          <a:xfrm>
            <a:off x="457200" y="2895600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Exercise</a:t>
            </a:r>
            <a:r>
              <a:rPr kumimoji="1" lang="en-US" sz="4600" b="1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10</a:t>
            </a:r>
            <a:endParaRPr kumimoji="1" lang="ja-JP" altLang="en-US" sz="4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208</TotalTime>
  <Words>426</Words>
  <Application>Microsoft Macintosh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8" baseType="variant">
      <vt:variant>
        <vt:lpstr>Design Template</vt:lpstr>
      </vt:variant>
      <vt:variant>
        <vt:i4>1</vt:i4>
      </vt:variant>
      <vt:variant>
        <vt:lpstr>Links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Technic</vt:lpstr>
      <vt:lpstr>!OLE_LINK1</vt:lpstr>
      <vt:lpstr>!OLE_LINK2</vt:lpstr>
      <vt:lpstr>!OLE_LINK3</vt:lpstr>
      <vt:lpstr>!OLE_LINK4</vt:lpstr>
      <vt:lpstr>Microsoft Equation</vt:lpstr>
      <vt:lpstr>Atomic and Molecular Physics  Lecture 03</vt:lpstr>
      <vt:lpstr>Ladder Operation Solution</vt:lpstr>
      <vt:lpstr>Slide 3</vt:lpstr>
      <vt:lpstr>Slide 4</vt:lpstr>
      <vt:lpstr>Slide 5</vt:lpstr>
      <vt:lpstr>Example 2</vt:lpstr>
      <vt:lpstr>Slide 7</vt:lpstr>
      <vt:lpstr>Slide 8</vt:lpstr>
      <vt:lpstr>Slide 9</vt:lpstr>
      <vt:lpstr>Slide 10</vt:lpstr>
      <vt:lpstr>Slide 11</vt:lpstr>
      <vt:lpstr>Slide 12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AMP03</dc:title>
  <dc:creator>경원 안</dc:creator>
  <cp:keywords/>
  <cp:lastModifiedBy>경원 안</cp:lastModifiedBy>
  <cp:revision>20</cp:revision>
  <dcterms:created xsi:type="dcterms:W3CDTF">2009-10-07T06:30:23Z</dcterms:created>
  <dcterms:modified xsi:type="dcterms:W3CDTF">2009-10-07T09:16:01Z</dcterms:modified>
</cp:coreProperties>
</file>