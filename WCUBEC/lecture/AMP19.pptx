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embeddings/Microsoft_Equation15.bin" ContentType="application/vnd.openxmlformats-officedocument.oleObject"/>
  <Override PartName="/ppt/embeddings/Microsoft_Equation22.bin" ContentType="application/vnd.openxmlformats-officedocument.oleObject"/>
  <Override PartName="/ppt/slides/slide2.xml" ContentType="application/vnd.openxmlformats-officedocument.presentationml.slide+xml"/>
  <Override PartName="/ppt/embeddings/Microsoft_Equation38.bin" ContentType="application/vnd.openxmlformats-officedocument.oleObject"/>
  <Override PartName="/ppt/embeddings/Microsoft_Equation28.bin" ContentType="application/vnd.openxmlformats-officedocument.oleObject"/>
  <Override PartName="/docProps/app.xml" ContentType="application/vnd.openxmlformats-officedocument.extended-properties+xml"/>
  <Override PartName="/ppt/embeddings/Microsoft_Equation29.bin" ContentType="application/vnd.openxmlformats-officedocument.oleObject"/>
  <Override PartName="/ppt/slides/slide11.xml" ContentType="application/vnd.openxmlformats-officedocument.presentationml.slide+xml"/>
  <Override PartName="/ppt/embeddings/Microsoft_Equation39.bin" ContentType="application/vnd.openxmlformats-officedocument.oleObject"/>
  <Override PartName="/ppt/embeddings/Microsoft_Equation34.bin" ContentType="application/vnd.openxmlformats-officedocument.oleObject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embeddings/Microsoft_Equation8.bin" ContentType="application/vnd.openxmlformats-officedocument.oleObject"/>
  <Override PartName="/ppt/embeddings/Microsoft_Equation16.bin" ContentType="application/vnd.openxmlformats-officedocument.oleObject"/>
  <Override PartName="/ppt/embeddings/Microsoft_Equation25.bin" ContentType="application/vnd.openxmlformats-officedocument.oleObject"/>
  <Override PartName="/ppt/embeddings/Microsoft_Equation35.bin" ContentType="application/vnd.openxmlformats-officedocument.oleObject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Default Extension="xml" ContentType="application/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embeddings/Microsoft_Equation12.bin" ContentType="application/vnd.openxmlformats-officedocument.oleObject"/>
  <Override PartName="/ppt/embeddings/Microsoft_Equation14.bin" ContentType="application/vnd.openxmlformats-officedocument.oleObject"/>
  <Override PartName="/ppt/embeddings/Microsoft_Equation20.bin" ContentType="application/vnd.openxmlformats-officedocument.oleObject"/>
  <Override PartName="/ppt/embeddings/Microsoft_Equation19.bin" ContentType="application/vnd.openxmlformats-officedocument.oleObject"/>
  <Override PartName="/ppt/embeddings/Microsoft_Equation2.bin" ContentType="application/vnd.openxmlformats-officedocument.oleObject"/>
  <Override PartName="/ppt/embeddings/Microsoft_Equation11.bin" ContentType="application/vnd.openxmlformats-officedocument.oleObject"/>
  <Override PartName="/ppt/embeddings/Microsoft_Equation26.bin" ContentType="application/vnd.openxmlformats-officedocument.oleObject"/>
  <Override PartName="/ppt/embeddings/Microsoft_Equation4.bin" ContentType="application/vnd.openxmlformats-officedocument.oleObject"/>
  <Override PartName="/ppt/embeddings/Microsoft_Equation33.bin" ContentType="application/vnd.openxmlformats-officedocument.oleObject"/>
  <Override PartName="/ppt/embeddings/Microsoft_Equation36.bin" ContentType="application/vnd.openxmlformats-officedocument.oleObject"/>
  <Override PartName="/ppt/embeddings/Microsoft_Equation23.bin" ContentType="application/vnd.openxmlformats-officedocument.oleObject"/>
  <Override PartName="/ppt/embeddings/Microsoft_Equation10.bin" ContentType="application/vnd.openxmlformats-officedocument.oleObject"/>
  <Override PartName="/ppt/embeddings/Microsoft_Equation5.bin" ContentType="application/vnd.openxmlformats-officedocument.oleObject"/>
  <Default Extension="pict" ContentType="image/pict"/>
  <Override PartName="/ppt/embeddings/Microsoft_Equation7.bin" ContentType="application/vnd.openxmlformats-officedocument.oleObject"/>
  <Override PartName="/ppt/embeddings/Microsoft_Equation18.bin" ContentType="application/vnd.openxmlformats-officedocument.oleObject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embeddings/Microsoft_Equation13.bin" ContentType="application/vnd.openxmlformats-officedocument.oleObject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Default Extension="vml" ContentType="application/vnd.openxmlformats-officedocument.vmlDrawing"/>
  <Override PartName="/ppt/embeddings/Microsoft_Equation31.bin" ContentType="application/vnd.openxmlformats-officedocument.oleObject"/>
  <Default Extension="jpeg" ContentType="image/jpe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embeddings/Microsoft_Equation1.bin" ContentType="application/vnd.openxmlformats-officedocument.oleObject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ppt/embeddings/Microsoft_Equation24.bin" ContentType="application/vnd.openxmlformats-officedocument.oleObject"/>
  <Override PartName="/ppt/embeddings/Microsoft_Equation27.bin" ContentType="application/vnd.openxmlformats-officedocument.oleObject"/>
  <Override PartName="/ppt/embeddings/Microsoft_Equation30.bin" ContentType="application/vnd.openxmlformats-officedocument.oleObject"/>
  <Override PartName="/ppt/slides/slide8.xml" ContentType="application/vnd.openxmlformats-officedocument.presentationml.slide+xml"/>
  <Override PartName="/ppt/embeddings/Microsoft_Equation9.bin" ContentType="application/vnd.openxmlformats-officedocument.oleObject"/>
  <Override PartName="/ppt/embeddings/Microsoft_Equation37.bin" ContentType="application/vnd.openxmlformats-officedocument.oleObject"/>
  <Default Extension="bin" ContentType="application/vnd.openxmlformats-officedocument.presentationml.printerSettings"/>
  <Override PartName="/ppt/embeddings/Microsoft_Equation6.bin" ContentType="application/vnd.openxmlformats-officedocument.oleObject"/>
  <Override PartName="/ppt/embeddings/Microsoft_Equation32.bin" ContentType="application/vnd.openxmlformats-officedocument.oleObject"/>
  <Override PartName="/ppt/slides/slide9.xml" ContentType="application/vnd.openxmlformats-officedocument.presentationml.slide+xml"/>
  <Override PartName="/ppt/embeddings/Microsoft_Equation3.bin" ContentType="application/vnd.openxmlformats-officedocument.oleObject"/>
  <Default Extension="rels" ContentType="application/vnd.openxmlformats-package.relationships+xml"/>
  <Override PartName="/ppt/embeddings/Microsoft_Equation17.bin" ContentType="application/vnd.openxmlformats-officedocument.oleObject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embeddings/Microsoft_Equation21.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829" r:id="rId1"/>
  </p:sldMasterIdLst>
  <p:notesMasterIdLst>
    <p:notesMasterId r:id="rId14"/>
  </p:notesMasterIdLst>
  <p:sldIdLst>
    <p:sldId id="256" r:id="rId2"/>
    <p:sldId id="277" r:id="rId3"/>
    <p:sldId id="273" r:id="rId4"/>
    <p:sldId id="266" r:id="rId5"/>
    <p:sldId id="275" r:id="rId6"/>
    <p:sldId id="281" r:id="rId7"/>
    <p:sldId id="285" r:id="rId8"/>
    <p:sldId id="276" r:id="rId9"/>
    <p:sldId id="279" r:id="rId10"/>
    <p:sldId id="280" r:id="rId11"/>
    <p:sldId id="286" r:id="rId12"/>
    <p:sldId id="287" r:id="rId13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webPr allowPng="1" organizeInFolders="0" useLongFilenames="0" imgSz="1024x768" encoding="windows-1252"/>
  <p:showPr showNarration="1" useTimings="0">
    <p:present/>
    <p:sldAll/>
    <p:penClr>
      <a:schemeClr val="tx1"/>
    </p:penClr>
  </p:showPr>
  <p:clrMru>
    <a:srgbClr val="00FF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 showOutlineIcons="0">
    <p:restoredLeft sz="15620"/>
    <p:restoredTop sz="94660"/>
  </p:normalViewPr>
  <p:slideViewPr>
    <p:cSldViewPr snapToObjects="1">
      <p:cViewPr varScale="1">
        <p:scale>
          <a:sx n="143" d="100"/>
          <a:sy n="143" d="100"/>
        </p:scale>
        <p:origin x="-125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7" Type="http://schemas.openxmlformats.org/officeDocument/2006/relationships/slide" Target="slides/slide6.xml"/><Relationship Id="rId11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6" Type="http://schemas.openxmlformats.org/officeDocument/2006/relationships/presProps" Target="presProps.xml"/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0" Type="http://schemas.openxmlformats.org/officeDocument/2006/relationships/slide" Target="slides/slide9.xml"/><Relationship Id="rId5" Type="http://schemas.openxmlformats.org/officeDocument/2006/relationships/slide" Target="slides/slide4.xml"/><Relationship Id="rId15" Type="http://schemas.openxmlformats.org/officeDocument/2006/relationships/printerSettings" Target="printerSettings/printerSettings1.bin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19" Type="http://schemas.openxmlformats.org/officeDocument/2006/relationships/tableStyles" Target="tableStyles.xml"/><Relationship Id="rId2" Type="http://schemas.openxmlformats.org/officeDocument/2006/relationships/slide" Target="slides/slide1.xml"/><Relationship Id="rId9" Type="http://schemas.openxmlformats.org/officeDocument/2006/relationships/slide" Target="slides/slide8.xml"/><Relationship Id="rId3" Type="http://schemas.openxmlformats.org/officeDocument/2006/relationships/slide" Target="slides/slide2.xml"/><Relationship Id="rId18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4.pict"/><Relationship Id="rId1" Type="http://schemas.openxmlformats.org/officeDocument/2006/relationships/image" Target="../media/image1.pict"/><Relationship Id="rId2" Type="http://schemas.openxmlformats.org/officeDocument/2006/relationships/image" Target="../media/image2.pict"/><Relationship Id="rId3" Type="http://schemas.openxmlformats.org/officeDocument/2006/relationships/image" Target="../media/image3.pict"/></Relationships>
</file>

<file path=ppt/drawings/_rels/vmlDrawing2.vml.rels><?xml version="1.0" encoding="UTF-8" standalone="yes"?>
<Relationships xmlns="http://schemas.openxmlformats.org/package/2006/relationships"><Relationship Id="rId4" Type="http://schemas.openxmlformats.org/officeDocument/2006/relationships/image" Target="../media/image8.pict"/><Relationship Id="rId1" Type="http://schemas.openxmlformats.org/officeDocument/2006/relationships/image" Target="../media/image5.pict"/><Relationship Id="rId2" Type="http://schemas.openxmlformats.org/officeDocument/2006/relationships/image" Target="../media/image6.pict"/><Relationship Id="rId3" Type="http://schemas.openxmlformats.org/officeDocument/2006/relationships/image" Target="../media/image7.pict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ict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13.pict"/><Relationship Id="rId1" Type="http://schemas.openxmlformats.org/officeDocument/2006/relationships/image" Target="../media/image10.pict"/><Relationship Id="rId2" Type="http://schemas.openxmlformats.org/officeDocument/2006/relationships/image" Target="../media/image11.pict"/><Relationship Id="rId3" Type="http://schemas.openxmlformats.org/officeDocument/2006/relationships/image" Target="../media/image12.pict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ict"/><Relationship Id="rId3" Type="http://schemas.openxmlformats.org/officeDocument/2006/relationships/image" Target="../media/image16.pict"/><Relationship Id="rId1" Type="http://schemas.openxmlformats.org/officeDocument/2006/relationships/image" Target="../media/image14.pict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ict"/><Relationship Id="rId1" Type="http://schemas.openxmlformats.org/officeDocument/2006/relationships/image" Target="../media/image17.pict"/></Relationships>
</file>

<file path=ppt/drawings/_rels/vmlDrawing7.vml.rels><?xml version="1.0" encoding="UTF-8" standalone="yes"?>
<Relationships xmlns="http://schemas.openxmlformats.org/package/2006/relationships"><Relationship Id="rId4" Type="http://schemas.openxmlformats.org/officeDocument/2006/relationships/image" Target="../media/image22.pict"/><Relationship Id="rId1" Type="http://schemas.openxmlformats.org/officeDocument/2006/relationships/image" Target="../media/image19.pict"/><Relationship Id="rId2" Type="http://schemas.openxmlformats.org/officeDocument/2006/relationships/image" Target="../media/image20.pict"/><Relationship Id="rId3" Type="http://schemas.openxmlformats.org/officeDocument/2006/relationships/image" Target="../media/image21.pict"/><Relationship Id="rId5" Type="http://schemas.openxmlformats.org/officeDocument/2006/relationships/image" Target="../media/image23.pict"/></Relationships>
</file>

<file path=ppt/drawings/_rels/vmlDrawing8.vml.rels><?xml version="1.0" encoding="UTF-8" standalone="yes"?>
<Relationships xmlns="http://schemas.openxmlformats.org/package/2006/relationships"><Relationship Id="rId4" Type="http://schemas.openxmlformats.org/officeDocument/2006/relationships/image" Target="../media/image27.pict"/><Relationship Id="rId1" Type="http://schemas.openxmlformats.org/officeDocument/2006/relationships/image" Target="../media/image24.pict"/><Relationship Id="rId2" Type="http://schemas.openxmlformats.org/officeDocument/2006/relationships/image" Target="../media/image25.pict"/><Relationship Id="rId3" Type="http://schemas.openxmlformats.org/officeDocument/2006/relationships/image" Target="../media/image26.pict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pict"/><Relationship Id="rId1" Type="http://schemas.openxmlformats.org/officeDocument/2006/relationships/image" Target="../media/image28.pict"/></Relationships>
</file>

<file path=ppt/drawings/_rels/vmlDrawing10.vml.rels><?xml version="1.0" encoding="UTF-8" standalone="yes"?>
<Relationships xmlns="http://schemas.openxmlformats.org/package/2006/relationships"><Relationship Id="rId4" Type="http://schemas.openxmlformats.org/officeDocument/2006/relationships/image" Target="../media/image32.pict"/><Relationship Id="rId1" Type="http://schemas.openxmlformats.org/officeDocument/2006/relationships/image" Target="../media/image29.pict"/><Relationship Id="rId2" Type="http://schemas.openxmlformats.org/officeDocument/2006/relationships/image" Target="../media/image30.pict"/><Relationship Id="rId3" Type="http://schemas.openxmlformats.org/officeDocument/2006/relationships/image" Target="../media/image31.pict"/></Relationships>
</file>

<file path=ppt/drawings/_rels/vmlDrawing11.vml.rels><?xml version="1.0" encoding="UTF-8" standalone="yes"?>
<Relationships xmlns="http://schemas.openxmlformats.org/package/2006/relationships"><Relationship Id="rId6" Type="http://schemas.openxmlformats.org/officeDocument/2006/relationships/image" Target="../media/image38.pict"/><Relationship Id="rId4" Type="http://schemas.openxmlformats.org/officeDocument/2006/relationships/image" Target="../media/image36.pict"/><Relationship Id="rId1" Type="http://schemas.openxmlformats.org/officeDocument/2006/relationships/image" Target="../media/image33.pict"/><Relationship Id="rId2" Type="http://schemas.openxmlformats.org/officeDocument/2006/relationships/image" Target="../media/image34.pict"/><Relationship Id="rId3" Type="http://schemas.openxmlformats.org/officeDocument/2006/relationships/image" Target="../media/image35.pict"/><Relationship Id="rId5" Type="http://schemas.openxmlformats.org/officeDocument/2006/relationships/image" Target="../media/image37.pict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04A24C-2BFC-4C63-AEAF-54CF7EFDB325}" type="datetimeFigureOut">
              <a:rPr/>
              <a:pPr/>
              <a:t>09.11.3</a:t>
            </a:fld>
            <a:endParaRPr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31D213-E5B0-467F-9AA1-56239E62CB84}" type="slidenum">
              <a:rPr/>
              <a:pPr/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31D213-E5B0-467F-9AA1-56239E62CB84}" type="slidenum">
              <a:rPr/>
              <a:pPr/>
              <a:t>2</a:t>
            </a:fld>
            <a:endParaRPr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altLang="ja-JP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09.11.4</a:t>
            </a:fld>
            <a:endParaRPr lang="ja-JP" alt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41667-7291-42E8-B00B-345BA5840895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09.11.4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B4A3-4212-4E39-93DE-E053E8F69C28}" type="datetimeFigureOut">
              <a:rPr lang="en-US" altLang="ja-JP" smtClean="0"/>
              <a:pPr/>
              <a:t>09.11.4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CDF73-85D2-4237-9B32-053DBDB0C312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09.11.4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09.11.4</a:t>
            </a:fld>
            <a:endParaRPr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09.11.4</a:t>
            </a:fld>
            <a:endParaRPr lang="ja-JP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09.11.4</a:t>
            </a:fld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09.11.4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altLang="ja-JP" dirty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66E5988B-D4EB-4E73-AE89-924C64C03B8C}" type="datetimeFigureOut">
              <a:rPr lang="ko-KR" altLang="ja-JP"/>
              <a:pPr/>
              <a:t>09.11.4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09.11.4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09.11.4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4" Type="http://schemas.openxmlformats.org/officeDocument/2006/relationships/slideLayout" Target="../slideLayouts/slideLayout4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altLang="ja-JP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altLang="ja-JP" smtClean="0"/>
              <a:t>Click to edit Master text styles</a:t>
            </a:r>
          </a:p>
          <a:p>
            <a:pPr lvl="1" eaLnBrk="1" latinLnBrk="0" hangingPunct="1"/>
            <a:r>
              <a:rPr kumimoji="0" lang="en-US" altLang="ja-JP" smtClean="0"/>
              <a:t>Second level</a:t>
            </a:r>
          </a:p>
          <a:p>
            <a:pPr lvl="2" eaLnBrk="1" latinLnBrk="0" hangingPunct="1"/>
            <a:r>
              <a:rPr kumimoji="0" lang="en-US" altLang="ja-JP" smtClean="0"/>
              <a:t>Third level</a:t>
            </a:r>
          </a:p>
          <a:p>
            <a:pPr lvl="3" eaLnBrk="1" latinLnBrk="0" hangingPunct="1"/>
            <a:r>
              <a:rPr kumimoji="0" lang="en-US" altLang="ja-JP" smtClean="0"/>
              <a:t>Fourth level</a:t>
            </a:r>
          </a:p>
          <a:p>
            <a:pPr lvl="4" eaLnBrk="1" latinLnBrk="0" hangingPunct="1"/>
            <a:r>
              <a:rPr kumimoji="0" lang="en-US" altLang="ja-JP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66E5988B-D4EB-4E73-AE89-924C64C03B8C}" type="datetimeFigureOut">
              <a:rPr lang="ko-KR" altLang="ja-JP"/>
              <a:pPr/>
              <a:t>09.11.4</a:t>
            </a:fld>
            <a:endParaRPr lang="ja-JP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</p:sldLayoutIdLst>
  <p:txStyles>
    <p:titleStyle>
      <a:lvl1pPr algn="l" rtl="0" eaLnBrk="1" latinLnBrk="0" hangingPunct="1">
        <a:spcBef>
          <a:spcPct val="0"/>
        </a:spcBef>
        <a:buNone/>
        <a:defRPr kumimoji="1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1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1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1.bin"/><Relationship Id="rId5" Type="http://schemas.openxmlformats.org/officeDocument/2006/relationships/oleObject" Target="../embeddings/Microsoft_Equation2.bin"/><Relationship Id="rId7" Type="http://schemas.openxmlformats.org/officeDocument/2006/relationships/oleObject" Target="../embeddings/Microsoft_Equation4.bin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6" Type="http://schemas.openxmlformats.org/officeDocument/2006/relationships/oleObject" Target="../embeddings/Microsoft_Equation3.bin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oleObject" Target="../embeddings/Microsoft_Equation8.bin"/><Relationship Id="rId4" Type="http://schemas.openxmlformats.org/officeDocument/2006/relationships/oleObject" Target="../embeddings/Microsoft_Equation6.bin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5.bin"/><Relationship Id="rId5" Type="http://schemas.openxmlformats.org/officeDocument/2006/relationships/oleObject" Target="../embeddings/Microsoft_Equation7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9.bin"/><Relationship Id="rId1" Type="http://schemas.openxmlformats.org/officeDocument/2006/relationships/vmlDrawing" Target="../drawings/vmlDrawing3.v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oleObject" Target="../embeddings/Microsoft_Equation13.bin"/><Relationship Id="rId4" Type="http://schemas.openxmlformats.org/officeDocument/2006/relationships/oleObject" Target="../embeddings/Microsoft_Equation11.bin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0.bin"/><Relationship Id="rId5" Type="http://schemas.openxmlformats.org/officeDocument/2006/relationships/oleObject" Target="../embeddings/Microsoft_Equation12.bin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15.bin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4.bin"/><Relationship Id="rId5" Type="http://schemas.openxmlformats.org/officeDocument/2006/relationships/oleObject" Target="../embeddings/Microsoft_Equation16.bin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18.bin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7.bin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20.bin"/><Relationship Id="rId5" Type="http://schemas.openxmlformats.org/officeDocument/2006/relationships/oleObject" Target="../embeddings/Microsoft_Equation21.bin"/><Relationship Id="rId7" Type="http://schemas.openxmlformats.org/officeDocument/2006/relationships/oleObject" Target="../embeddings/Microsoft_Equation23.bin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9.bin"/><Relationship Id="rId6" Type="http://schemas.openxmlformats.org/officeDocument/2006/relationships/oleObject" Target="../embeddings/Microsoft_Equation22.bin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oleObject" Target="../embeddings/Microsoft_Equation27.bin"/><Relationship Id="rId4" Type="http://schemas.openxmlformats.org/officeDocument/2006/relationships/oleObject" Target="../embeddings/Microsoft_Equation25.bin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24.bin"/><Relationship Id="rId5" Type="http://schemas.openxmlformats.org/officeDocument/2006/relationships/oleObject" Target="../embeddings/Microsoft_Equation26.bin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29.bin"/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28.bin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oleObject" Target="../embeddings/Microsoft_Equation33.bin"/><Relationship Id="rId4" Type="http://schemas.openxmlformats.org/officeDocument/2006/relationships/oleObject" Target="../embeddings/Microsoft_Equation31.bin"/><Relationship Id="rId1" Type="http://schemas.openxmlformats.org/officeDocument/2006/relationships/vmlDrawing" Target="../drawings/vmlDrawing10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30.bin"/><Relationship Id="rId5" Type="http://schemas.openxmlformats.org/officeDocument/2006/relationships/oleObject" Target="../embeddings/Microsoft_Equation32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Equation39.bin"/><Relationship Id="rId4" Type="http://schemas.openxmlformats.org/officeDocument/2006/relationships/oleObject" Target="../embeddings/Microsoft_Equation35.bin"/><Relationship Id="rId5" Type="http://schemas.openxmlformats.org/officeDocument/2006/relationships/oleObject" Target="../embeddings/Microsoft_Equation36.bin"/><Relationship Id="rId7" Type="http://schemas.openxmlformats.org/officeDocument/2006/relationships/oleObject" Target="../embeddings/Microsoft_Equation38.bin"/><Relationship Id="rId1" Type="http://schemas.openxmlformats.org/officeDocument/2006/relationships/vmlDrawing" Target="../drawings/vmlDrawing11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34.bin"/><Relationship Id="rId6" Type="http://schemas.openxmlformats.org/officeDocument/2006/relationships/oleObject" Target="../embeddings/Microsoft_Equation37.bin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606040"/>
          </a:xfrm>
        </p:spPr>
        <p:txBody>
          <a:bodyPr>
            <a:noAutofit/>
          </a:bodyPr>
          <a:lstStyle/>
          <a:p>
            <a:r>
              <a:rPr lang="en-US" altLang="ja-JP" sz="4400" dirty="0"/>
              <a:t>Atomic and Molecular Physics</a:t>
            </a:r>
            <a:r>
              <a:rPr altLang="ja-JP" sz="4400" dirty="0"/>
              <a:t/>
            </a:r>
            <a:br>
              <a:rPr altLang="ja-JP" sz="4400" dirty="0"/>
            </a:br>
            <a:r>
              <a:rPr altLang="ja-JP" sz="4400" dirty="0"/>
              <a:t/>
            </a:r>
            <a:br>
              <a:rPr altLang="ja-JP" sz="4400" dirty="0"/>
            </a:br>
            <a:r>
              <a:rPr altLang="ja-JP" sz="3200" dirty="0">
                <a:solidFill>
                  <a:srgbClr val="00FF00"/>
                </a:solidFill>
              </a:rPr>
              <a:t>Lecture </a:t>
            </a:r>
            <a:r>
              <a:rPr altLang="ja-JP" sz="3200" dirty="0" smtClean="0">
                <a:solidFill>
                  <a:srgbClr val="00FF00"/>
                </a:solidFill>
              </a:rPr>
              <a:t>1</a:t>
            </a:r>
            <a:r>
              <a:rPr altLang="ja-JP" sz="3200" smtClean="0">
                <a:solidFill>
                  <a:srgbClr val="00FF00"/>
                </a:solidFill>
              </a:rPr>
              <a:t>9</a:t>
            </a:r>
            <a:endParaRPr lang="ja-JP" altLang="en-US" sz="3200" dirty="0">
              <a:solidFill>
                <a:srgbClr val="00FF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Prof. Kyungwon An</a:t>
            </a:r>
          </a:p>
          <a:p>
            <a:r>
              <a:rPr lang="en-US" altLang="ja-JP" dirty="0"/>
              <a:t>Department of Physics and Astronomy</a:t>
            </a:r>
          </a:p>
          <a:p>
            <a:r>
              <a:rPr lang="en-US" altLang="ja-JP" dirty="0"/>
              <a:t>Seoul National University</a:t>
            </a:r>
            <a:endParaRPr lang="ja-JP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8305800" cy="1096962"/>
          </a:xfrm>
        </p:spPr>
        <p:txBody>
          <a:bodyPr>
            <a:noAutofit/>
          </a:bodyPr>
          <a:lstStyle/>
          <a:p>
            <a:r>
              <a:rPr lang="en-US" sz="3600"/>
              <a:t>3.2 Interaction with the Radiation Fields</a:t>
            </a:r>
            <a:r>
              <a:rPr lang="ko-KR" sz="3600"/>
              <a:t> </a:t>
            </a:r>
            <a:endParaRPr lang="ja-JP" altLang="en-US" sz="3600" b="1" dirty="0">
              <a:latin typeface="+mn-lt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4953000"/>
          </a:xfrm>
        </p:spPr>
        <p:txBody>
          <a:bodyPr>
            <a:noAutofit/>
          </a:bodyPr>
          <a:lstStyle/>
          <a:p>
            <a:r>
              <a:rPr lang="en-US" sz="2000"/>
              <a:t>Total Hamiltonian can be written as</a:t>
            </a:r>
          </a:p>
          <a:p>
            <a:endParaRPr lang="en-US" altLang="ko-KR" sz="2000"/>
          </a:p>
          <a:p>
            <a:endParaRPr lang="en-US" altLang="ko-KR" sz="2000"/>
          </a:p>
          <a:p>
            <a:endParaRPr lang="ko-KR" altLang="en-US" sz="2000"/>
          </a:p>
          <a:p>
            <a:pPr>
              <a:buNone/>
            </a:pPr>
            <a:r>
              <a:rPr lang="en-US" sz="2000"/>
              <a:t>	where the interaction Hamiltonian is given by (for a single valence electron)</a:t>
            </a:r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endParaRPr lang="ko-KR" altLang="en-US" sz="2000"/>
          </a:p>
          <a:p>
            <a:pPr>
              <a:buNone/>
            </a:pPr>
            <a:r>
              <a:rPr lang="en-US" sz="2000"/>
              <a:t>	under the Coulomb gauge (             ). We shall concentrate on the leading term, which can be written as</a:t>
            </a:r>
            <a:r>
              <a:rPr lang="ko-KR" sz="2000"/>
              <a:t> </a:t>
            </a:r>
            <a:endParaRPr lang="ko-KR" altLang="en-US" sz="2000" dirty="0"/>
          </a:p>
        </p:txBody>
      </p:sp>
      <p:graphicFrame>
        <p:nvGraphicFramePr>
          <p:cNvPr id="15367" name="Object 7"/>
          <p:cNvGraphicFramePr>
            <a:graphicFrameLocks noChangeAspect="1"/>
          </p:cNvGraphicFramePr>
          <p:nvPr/>
        </p:nvGraphicFramePr>
        <p:xfrm>
          <a:off x="2600325" y="1447800"/>
          <a:ext cx="3997325" cy="1027112"/>
        </p:xfrm>
        <a:graphic>
          <a:graphicData uri="http://schemas.openxmlformats.org/presentationml/2006/ole">
            <p:oleObj spid="_x0000_s15367" name="Equation" r:id="rId4" imgW="2667000" imgH="685800" progId="Equation.3">
              <p:embed/>
            </p:oleObj>
          </a:graphicData>
        </a:graphic>
      </p:graphicFrame>
      <p:graphicFrame>
        <p:nvGraphicFramePr>
          <p:cNvPr id="15368" name="Object 8"/>
          <p:cNvGraphicFramePr>
            <a:graphicFrameLocks noChangeAspect="1"/>
          </p:cNvGraphicFramePr>
          <p:nvPr/>
        </p:nvGraphicFramePr>
        <p:xfrm>
          <a:off x="2209800" y="3276600"/>
          <a:ext cx="4822825" cy="1219200"/>
        </p:xfrm>
        <a:graphic>
          <a:graphicData uri="http://schemas.openxmlformats.org/presentationml/2006/ole">
            <p:oleObj spid="_x0000_s15368" name="Equation" r:id="rId5" imgW="3213100" imgH="812800" progId="Equation.3">
              <p:embed/>
            </p:oleObj>
          </a:graphicData>
        </a:graphic>
      </p:graphicFrame>
      <p:graphicFrame>
        <p:nvGraphicFramePr>
          <p:cNvPr id="15369" name="Object 9"/>
          <p:cNvGraphicFramePr>
            <a:graphicFrameLocks noChangeAspect="1"/>
          </p:cNvGraphicFramePr>
          <p:nvPr/>
        </p:nvGraphicFramePr>
        <p:xfrm>
          <a:off x="990600" y="5349875"/>
          <a:ext cx="7158038" cy="1127125"/>
        </p:xfrm>
        <a:graphic>
          <a:graphicData uri="http://schemas.openxmlformats.org/presentationml/2006/ole">
            <p:oleObj spid="_x0000_s15369" name="Equation" r:id="rId6" imgW="4762500" imgH="749300" progId="Equation.3">
              <p:embed/>
            </p:oleObj>
          </a:graphicData>
        </a:graphic>
      </p:graphicFrame>
      <p:graphicFrame>
        <p:nvGraphicFramePr>
          <p:cNvPr id="15370" name="Object 10"/>
          <p:cNvGraphicFramePr>
            <a:graphicFrameLocks noChangeAspect="1"/>
          </p:cNvGraphicFramePr>
          <p:nvPr/>
        </p:nvGraphicFramePr>
        <p:xfrm>
          <a:off x="4065243" y="4724400"/>
          <a:ext cx="881063" cy="192088"/>
        </p:xfrm>
        <a:graphic>
          <a:graphicData uri="http://schemas.openxmlformats.org/presentationml/2006/ole">
            <p:oleObj spid="_x0000_s15370" name="Equation" r:id="rId7" imgW="584200" imgH="1270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077200" cy="6172200"/>
          </a:xfrm>
        </p:spPr>
        <p:txBody>
          <a:bodyPr>
            <a:normAutofit/>
          </a:bodyPr>
          <a:lstStyle/>
          <a:p>
            <a:r>
              <a:rPr lang="en-US" sz="2400"/>
              <a:t>Since       is proportional to the annihilation operators, nonvanishing matrix elements corresponding to photon absorption are</a:t>
            </a:r>
          </a:p>
          <a:p>
            <a:pPr>
              <a:buNone/>
            </a:pPr>
            <a:endParaRPr lang="en-US" altLang="ko-KR" sz="2400"/>
          </a:p>
          <a:p>
            <a:pPr>
              <a:buNone/>
            </a:pPr>
            <a:endParaRPr lang="ko-KR" altLang="en-US" sz="2400"/>
          </a:p>
          <a:p>
            <a:pPr>
              <a:buNone/>
            </a:pPr>
            <a:r>
              <a:rPr lang="en-US" sz="2400"/>
              <a:t>	where </a:t>
            </a:r>
            <a:r>
              <a:rPr lang="en-US" sz="2400" i="1"/>
              <a:t>a</a:t>
            </a:r>
            <a:r>
              <a:rPr lang="en-US" sz="2400"/>
              <a:t> and </a:t>
            </a:r>
            <a:r>
              <a:rPr lang="en-US" sz="2400" i="1"/>
              <a:t>b</a:t>
            </a:r>
            <a:r>
              <a:rPr lang="en-US" sz="2400"/>
              <a:t> denote atomic states. The field state should be the same before and after except the </a:t>
            </a:r>
            <a:r>
              <a:rPr lang="en-US" sz="2400" b="1"/>
              <a:t>k</a:t>
            </a:r>
            <a:r>
              <a:rPr lang="en-US" sz="2400" i="1">
                <a:latin typeface="Symbol" charset="2"/>
                <a:cs typeface="Symbol" charset="2"/>
              </a:rPr>
              <a:t>l</a:t>
            </a:r>
            <a:r>
              <a:rPr lang="en-US" sz="2400"/>
              <a:t> mode, for which the number of photon has been decreased by 1 due to the absorption. </a:t>
            </a:r>
          </a:p>
          <a:p>
            <a:r>
              <a:rPr lang="en-US" sz="2400"/>
              <a:t>Similarly, nonvanishing matrix elements for      are in the form of</a:t>
            </a:r>
          </a:p>
          <a:p>
            <a:endParaRPr lang="en-US" altLang="ko-KR" sz="2400"/>
          </a:p>
          <a:p>
            <a:endParaRPr lang="ko-KR" altLang="en-US" sz="2400"/>
          </a:p>
          <a:p>
            <a:pPr>
              <a:buNone/>
            </a:pPr>
            <a:r>
              <a:rPr lang="en-US" sz="2400"/>
              <a:t>	corresponding to photon emission.</a:t>
            </a:r>
            <a:endParaRPr lang="ko-KR" altLang="en-US" sz="2400"/>
          </a:p>
        </p:txBody>
      </p:sp>
      <p:graphicFrame>
        <p:nvGraphicFramePr>
          <p:cNvPr id="245773" name="Object 13"/>
          <p:cNvGraphicFramePr>
            <a:graphicFrameLocks noChangeAspect="1"/>
          </p:cNvGraphicFramePr>
          <p:nvPr/>
        </p:nvGraphicFramePr>
        <p:xfrm>
          <a:off x="1814767" y="560043"/>
          <a:ext cx="403225" cy="307975"/>
        </p:xfrm>
        <a:graphic>
          <a:graphicData uri="http://schemas.openxmlformats.org/presentationml/2006/ole">
            <p:oleObj spid="_x0000_s245773" name="Equation" r:id="rId3" imgW="266700" imgH="203200" progId="Equation.3">
              <p:embed/>
            </p:oleObj>
          </a:graphicData>
        </a:graphic>
      </p:graphicFrame>
      <p:graphicFrame>
        <p:nvGraphicFramePr>
          <p:cNvPr id="245774" name="Object 14"/>
          <p:cNvGraphicFramePr>
            <a:graphicFrameLocks noChangeAspect="1"/>
          </p:cNvGraphicFramePr>
          <p:nvPr/>
        </p:nvGraphicFramePr>
        <p:xfrm>
          <a:off x="457200" y="1799870"/>
          <a:ext cx="8229600" cy="638530"/>
        </p:xfrm>
        <a:graphic>
          <a:graphicData uri="http://schemas.openxmlformats.org/presentationml/2006/ole">
            <p:oleObj spid="_x0000_s245774" name="Equation" r:id="rId4" imgW="5727700" imgH="444500" progId="Equation.3">
              <p:embed/>
            </p:oleObj>
          </a:graphicData>
        </a:graphic>
      </p:graphicFrame>
      <p:graphicFrame>
        <p:nvGraphicFramePr>
          <p:cNvPr id="245775" name="Object 15"/>
          <p:cNvGraphicFramePr>
            <a:graphicFrameLocks noChangeAspect="1"/>
          </p:cNvGraphicFramePr>
          <p:nvPr/>
        </p:nvGraphicFramePr>
        <p:xfrm>
          <a:off x="342900" y="5030031"/>
          <a:ext cx="8420100" cy="608769"/>
        </p:xfrm>
        <a:graphic>
          <a:graphicData uri="http://schemas.openxmlformats.org/presentationml/2006/ole">
            <p:oleObj spid="_x0000_s245775" name="Equation" r:id="rId5" imgW="6146800" imgH="444500" progId="Equation.3">
              <p:embed/>
            </p:oleObj>
          </a:graphicData>
        </a:graphic>
      </p:graphicFrame>
      <p:graphicFrame>
        <p:nvGraphicFramePr>
          <p:cNvPr id="245776" name="Object 16"/>
          <p:cNvGraphicFramePr>
            <a:graphicFrameLocks noChangeAspect="1"/>
          </p:cNvGraphicFramePr>
          <p:nvPr/>
        </p:nvGraphicFramePr>
        <p:xfrm>
          <a:off x="6781800" y="4132814"/>
          <a:ext cx="423863" cy="307975"/>
        </p:xfrm>
        <a:graphic>
          <a:graphicData uri="http://schemas.openxmlformats.org/presentationml/2006/ole">
            <p:oleObj spid="_x0000_s245776" name="Equation" r:id="rId6" imgW="279400" imgH="203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sz="4000" i="1">
                <a:latin typeface="Times New Roman"/>
                <a:cs typeface="Times New Roman"/>
              </a:rPr>
              <a:t>Electric Dipole Approximation</a:t>
            </a:r>
            <a:endParaRPr lang="ja-JP" altLang="en-US" sz="4000" i="1">
              <a:latin typeface="Times New Roman"/>
              <a:cs typeface="Times New Roman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417638"/>
            <a:ext cx="8305800" cy="4708525"/>
          </a:xfrm>
        </p:spPr>
        <p:txBody>
          <a:bodyPr>
            <a:normAutofit lnSpcReduction="10000"/>
          </a:bodyPr>
          <a:lstStyle/>
          <a:p>
            <a:r>
              <a:rPr lang="en-US"/>
              <a:t>If the atomic dimension is negligibly small compared to the wavelength (long wave-length limit), the exponential factor can be approximated by         . </a:t>
            </a:r>
          </a:p>
          <a:p>
            <a:r>
              <a:rPr lang="en-US"/>
              <a:t>The higher order multipoles in a series ex-pansion of the vector potential scale as </a:t>
            </a:r>
            <a:r>
              <a:rPr lang="en-US" i="1"/>
              <a:t>d</a:t>
            </a:r>
            <a:r>
              <a:rPr lang="en-US"/>
              <a:t>/</a:t>
            </a:r>
            <a:r>
              <a:rPr lang="en-US" i="1">
                <a:latin typeface="Symbol" charset="2"/>
                <a:cs typeface="Symbol" charset="2"/>
              </a:rPr>
              <a:t>l</a:t>
            </a:r>
            <a:r>
              <a:rPr lang="en-US"/>
              <a:t> with </a:t>
            </a:r>
            <a:r>
              <a:rPr lang="en-US" i="1"/>
              <a:t>d</a:t>
            </a:r>
            <a:r>
              <a:rPr lang="en-US"/>
              <a:t> the dimension of the atom. </a:t>
            </a:r>
          </a:p>
          <a:p>
            <a:r>
              <a:rPr lang="en-US"/>
              <a:t>Therefore, the long wavelength limit is equi-valent to the electric dipole approximation (E1). </a:t>
            </a:r>
            <a:endParaRPr lang="ja-JP" altLang="en-US"/>
          </a:p>
        </p:txBody>
      </p:sp>
      <p:graphicFrame>
        <p:nvGraphicFramePr>
          <p:cNvPr id="207920" name="Object 48"/>
          <p:cNvGraphicFramePr>
            <a:graphicFrameLocks noChangeAspect="1"/>
          </p:cNvGraphicFramePr>
          <p:nvPr/>
        </p:nvGraphicFramePr>
        <p:xfrm>
          <a:off x="3886200" y="2800350"/>
          <a:ext cx="798513" cy="247650"/>
        </p:xfrm>
        <a:graphic>
          <a:graphicData uri="http://schemas.openxmlformats.org/presentationml/2006/ole">
            <p:oleObj spid="_x0000_s207920" name="Equation" r:id="rId3" imgW="533400" imgH="1651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305800" cy="5410200"/>
          </a:xfrm>
        </p:spPr>
        <p:txBody>
          <a:bodyPr>
            <a:noAutofit/>
          </a:bodyPr>
          <a:lstStyle/>
          <a:p>
            <a:r>
              <a:rPr lang="en-US" sz="2400"/>
              <a:t>Since </a:t>
            </a:r>
          </a:p>
          <a:p>
            <a:endParaRPr lang="en-US" altLang="ko-KR" sz="2400"/>
          </a:p>
          <a:p>
            <a:endParaRPr lang="ko-KR" altLang="en-US" sz="2400"/>
          </a:p>
          <a:p>
            <a:pPr>
              <a:buNone/>
            </a:pPr>
            <a:r>
              <a:rPr lang="en-US" sz="2400"/>
              <a:t>	where                          (</a:t>
            </a:r>
            <a:r>
              <a:rPr lang="en-US" sz="2400" i="1"/>
              <a:t>a</a:t>
            </a:r>
            <a:r>
              <a:rPr lang="en-US" sz="2400"/>
              <a:t>: lower level, </a:t>
            </a:r>
            <a:r>
              <a:rPr lang="en-US" sz="2400" i="1"/>
              <a:t>b</a:t>
            </a:r>
            <a:r>
              <a:rPr lang="en-US" sz="2400"/>
              <a:t>: upper level) for photon absorption to occur, and therefore,</a:t>
            </a:r>
          </a:p>
          <a:p>
            <a:endParaRPr lang="en-US" altLang="ko-KR" sz="2400"/>
          </a:p>
          <a:p>
            <a:endParaRPr lang="en-US" altLang="ko-KR" sz="2400"/>
          </a:p>
          <a:p>
            <a:r>
              <a:rPr lang="en-US" sz="2400"/>
              <a:t>Likewise,</a:t>
            </a:r>
            <a:r>
              <a:rPr lang="ko-KR" sz="2400"/>
              <a:t> </a:t>
            </a:r>
            <a:endParaRPr lang="ko-KR" altLang="en-US" sz="2400"/>
          </a:p>
          <a:p>
            <a:endParaRPr lang="ko-KR" altLang="en-US" sz="2400"/>
          </a:p>
          <a:p>
            <a:endParaRPr lang="en-US" altLang="ko-KR" sz="2400"/>
          </a:p>
          <a:p>
            <a:pPr>
              <a:buNone/>
            </a:pPr>
            <a:r>
              <a:rPr lang="en-US" altLang="ko-KR" sz="2400"/>
              <a:t>	Note the minus sign.</a:t>
            </a:r>
            <a:endParaRPr lang="en-US" altLang="ko-KR" sz="2400"/>
          </a:p>
        </p:txBody>
      </p:sp>
      <p:graphicFrame>
        <p:nvGraphicFramePr>
          <p:cNvPr id="225303" name="Object 23"/>
          <p:cNvGraphicFramePr>
            <a:graphicFrameLocks noChangeAspect="1"/>
          </p:cNvGraphicFramePr>
          <p:nvPr/>
        </p:nvGraphicFramePr>
        <p:xfrm>
          <a:off x="1428750" y="1447800"/>
          <a:ext cx="6472238" cy="763588"/>
        </p:xfrm>
        <a:graphic>
          <a:graphicData uri="http://schemas.openxmlformats.org/presentationml/2006/ole">
            <p:oleObj spid="_x0000_s225303" name="Equation" r:id="rId3" imgW="4305300" imgH="508000" progId="Equation.3">
              <p:embed/>
            </p:oleObj>
          </a:graphicData>
        </a:graphic>
      </p:graphicFrame>
      <p:graphicFrame>
        <p:nvGraphicFramePr>
          <p:cNvPr id="225304" name="Object 24"/>
          <p:cNvGraphicFramePr>
            <a:graphicFrameLocks noChangeAspect="1"/>
          </p:cNvGraphicFramePr>
          <p:nvPr/>
        </p:nvGraphicFramePr>
        <p:xfrm>
          <a:off x="1865312" y="2379962"/>
          <a:ext cx="2033588" cy="268288"/>
        </p:xfrm>
        <a:graphic>
          <a:graphicData uri="http://schemas.openxmlformats.org/presentationml/2006/ole">
            <p:oleObj spid="_x0000_s225304" name="Equation" r:id="rId4" imgW="1346200" imgH="177800" progId="Equation.3">
              <p:embed/>
            </p:oleObj>
          </a:graphicData>
        </a:graphic>
      </p:graphicFrame>
      <p:graphicFrame>
        <p:nvGraphicFramePr>
          <p:cNvPr id="225305" name="Object 25"/>
          <p:cNvGraphicFramePr>
            <a:graphicFrameLocks noChangeAspect="1"/>
          </p:cNvGraphicFramePr>
          <p:nvPr/>
        </p:nvGraphicFramePr>
        <p:xfrm>
          <a:off x="2393950" y="3133725"/>
          <a:ext cx="4445000" cy="612775"/>
        </p:xfrm>
        <a:graphic>
          <a:graphicData uri="http://schemas.openxmlformats.org/presentationml/2006/ole">
            <p:oleObj spid="_x0000_s225305" name="Equation" r:id="rId5" imgW="2946400" imgH="406400" progId="Equation.3">
              <p:embed/>
            </p:oleObj>
          </a:graphicData>
        </a:graphic>
      </p:graphicFrame>
      <p:graphicFrame>
        <p:nvGraphicFramePr>
          <p:cNvPr id="225306" name="Object 26"/>
          <p:cNvGraphicFramePr>
            <a:graphicFrameLocks noChangeAspect="1"/>
          </p:cNvGraphicFramePr>
          <p:nvPr/>
        </p:nvGraphicFramePr>
        <p:xfrm>
          <a:off x="2133600" y="4419600"/>
          <a:ext cx="5035550" cy="611188"/>
        </p:xfrm>
        <a:graphic>
          <a:graphicData uri="http://schemas.openxmlformats.org/presentationml/2006/ole">
            <p:oleObj spid="_x0000_s225306" name="Equation" r:id="rId6" imgW="3340100" imgH="4064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467600" cy="944562"/>
          </a:xfrm>
        </p:spPr>
        <p:txBody>
          <a:bodyPr>
            <a:noAutofit/>
          </a:bodyPr>
          <a:lstStyle/>
          <a:p>
            <a:r>
              <a:rPr lang="en-US" sz="4400" dirty="0" smtClean="0">
                <a:latin typeface="Arial"/>
                <a:cs typeface="Arial"/>
              </a:rPr>
              <a:t>Exercise 4</a:t>
            </a:r>
            <a:endParaRPr lang="ja-JP" altLang="en-US" sz="4400" dirty="0">
              <a:latin typeface="Arial"/>
              <a:cs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534400" cy="1905000"/>
          </a:xfrm>
        </p:spPr>
        <p:txBody>
          <a:bodyPr>
            <a:noAutofit/>
          </a:bodyPr>
          <a:lstStyle/>
          <a:p>
            <a:r>
              <a:rPr lang="en-US" sz="2400"/>
              <a:t>Show that </a:t>
            </a:r>
          </a:p>
          <a:p>
            <a:endParaRPr lang="ko-KR" altLang="en-US" sz="2400"/>
          </a:p>
          <a:p>
            <a:pPr>
              <a:buNone/>
            </a:pPr>
            <a:r>
              <a:rPr lang="en-US" sz="2400"/>
              <a:t>	where </a:t>
            </a:r>
            <a:r>
              <a:rPr lang="en-US" sz="2400" i="1"/>
              <a:t>i</a:t>
            </a:r>
            <a:r>
              <a:rPr lang="en-US" sz="2400"/>
              <a:t> and </a:t>
            </a:r>
            <a:r>
              <a:rPr lang="en-US" sz="2400" i="1"/>
              <a:t>f</a:t>
            </a:r>
            <a:r>
              <a:rPr lang="en-US" sz="2400"/>
              <a:t> represent initial and final states, respectively and       are given by</a:t>
            </a:r>
            <a:r>
              <a:rPr lang="ko-KR" sz="2400"/>
              <a:t> </a:t>
            </a:r>
            <a:endParaRPr lang="ko-KR" altLang="en-US" sz="2400"/>
          </a:p>
        </p:txBody>
      </p:sp>
      <p:graphicFrame>
        <p:nvGraphicFramePr>
          <p:cNvPr id="239637" name="Object 21"/>
          <p:cNvGraphicFramePr>
            <a:graphicFrameLocks noChangeAspect="1"/>
          </p:cNvGraphicFramePr>
          <p:nvPr/>
        </p:nvGraphicFramePr>
        <p:xfrm>
          <a:off x="2362200" y="1981200"/>
          <a:ext cx="4457700" cy="379413"/>
        </p:xfrm>
        <a:graphic>
          <a:graphicData uri="http://schemas.openxmlformats.org/presentationml/2006/ole">
            <p:oleObj spid="_x0000_s239637" name="Equation" r:id="rId3" imgW="2984500" imgH="254000" progId="Equation.3">
              <p:embed/>
            </p:oleObj>
          </a:graphicData>
        </a:graphic>
      </p:graphicFrame>
      <p:graphicFrame>
        <p:nvGraphicFramePr>
          <p:cNvPr id="239638" name="Object 22"/>
          <p:cNvGraphicFramePr>
            <a:graphicFrameLocks noChangeAspect="1"/>
          </p:cNvGraphicFramePr>
          <p:nvPr/>
        </p:nvGraphicFramePr>
        <p:xfrm>
          <a:off x="1981200" y="3429000"/>
          <a:ext cx="5238750" cy="609600"/>
        </p:xfrm>
        <a:graphic>
          <a:graphicData uri="http://schemas.openxmlformats.org/presentationml/2006/ole">
            <p:oleObj spid="_x0000_s239638" name="Equation" r:id="rId4" imgW="3492500" imgH="406400" progId="Equation.3">
              <p:embed/>
            </p:oleObj>
          </a:graphicData>
        </a:graphic>
      </p:graphicFrame>
      <p:graphicFrame>
        <p:nvGraphicFramePr>
          <p:cNvPr id="13" name="Object 22"/>
          <p:cNvGraphicFramePr>
            <a:graphicFrameLocks noChangeAspect="1"/>
          </p:cNvGraphicFramePr>
          <p:nvPr/>
        </p:nvGraphicFramePr>
        <p:xfrm>
          <a:off x="1596471" y="2895600"/>
          <a:ext cx="381000" cy="304800"/>
        </p:xfrm>
        <a:graphic>
          <a:graphicData uri="http://schemas.openxmlformats.org/presentationml/2006/ole">
            <p:oleObj spid="_x0000_s239639" name="Equation" r:id="rId5" imgW="254000" imgH="203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sz="4000" i="1">
                <a:latin typeface="Times New Roman"/>
                <a:cs typeface="Times New Roman"/>
              </a:rPr>
              <a:t>Unitary Transformation to the Form of Dipole Interaction</a:t>
            </a:r>
            <a:endParaRPr lang="ja-JP" altLang="en-US" sz="4000" i="1">
              <a:latin typeface="Times New Roman"/>
              <a:cs typeface="Times New Roman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676401"/>
            <a:ext cx="8305800" cy="4267200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Under a unitary transformation the Hamil-tonian </a:t>
            </a:r>
            <a:r>
              <a:rPr lang="en-US" i="1"/>
              <a:t>H</a:t>
            </a:r>
            <a:r>
              <a:rPr lang="en-US"/>
              <a:t> can be cast in a form of electric dipole interaction. Consider a unitary operator</a:t>
            </a:r>
          </a:p>
          <a:p>
            <a:pPr>
              <a:buNone/>
            </a:pPr>
            <a:endParaRPr lang="ko-KR" altLang="en-US"/>
          </a:p>
          <a:p>
            <a:r>
              <a:rPr lang="en-US" i="1"/>
              <a:t>Within a region of atomic dimension</a:t>
            </a:r>
            <a:r>
              <a:rPr lang="en-US"/>
              <a:t> </a:t>
            </a:r>
            <a:r>
              <a:rPr lang="en-US" i="1"/>
              <a:t>the position dependence in </a:t>
            </a:r>
            <a:r>
              <a:rPr lang="en-US" b="1"/>
              <a:t>A</a:t>
            </a:r>
            <a:r>
              <a:rPr lang="en-US" i="1"/>
              <a:t> can be neglected</a:t>
            </a:r>
            <a:r>
              <a:rPr lang="en-US"/>
              <a:t>.  This assumption is equivalent to the long wavelength limit. </a:t>
            </a:r>
          </a:p>
          <a:p>
            <a:r>
              <a:rPr lang="en-US"/>
              <a:t>We perform the unitary operation on the Schrödinger equation:</a:t>
            </a:r>
            <a:r>
              <a:rPr lang="ko-KR"/>
              <a:t> </a:t>
            </a:r>
            <a:endParaRPr lang="ja-JP" altLang="en-US"/>
          </a:p>
        </p:txBody>
      </p:sp>
      <p:graphicFrame>
        <p:nvGraphicFramePr>
          <p:cNvPr id="259075" name="Object 3"/>
          <p:cNvGraphicFramePr>
            <a:graphicFrameLocks noChangeAspect="1"/>
          </p:cNvGraphicFramePr>
          <p:nvPr/>
        </p:nvGraphicFramePr>
        <p:xfrm>
          <a:off x="3276600" y="2971800"/>
          <a:ext cx="2509837" cy="339725"/>
        </p:xfrm>
        <a:graphic>
          <a:graphicData uri="http://schemas.openxmlformats.org/presentationml/2006/ole">
            <p:oleObj spid="_x0000_s259075" name="Equation" r:id="rId3" imgW="1689100" imgH="228600" progId="Equation.3">
              <p:embed/>
            </p:oleObj>
          </a:graphicData>
        </a:graphic>
      </p:graphicFrame>
      <p:graphicFrame>
        <p:nvGraphicFramePr>
          <p:cNvPr id="259076" name="Object 4"/>
          <p:cNvGraphicFramePr>
            <a:graphicFrameLocks noChangeAspect="1"/>
          </p:cNvGraphicFramePr>
          <p:nvPr/>
        </p:nvGraphicFramePr>
        <p:xfrm>
          <a:off x="3810000" y="5926137"/>
          <a:ext cx="1236663" cy="550863"/>
        </p:xfrm>
        <a:graphic>
          <a:graphicData uri="http://schemas.openxmlformats.org/presentationml/2006/ole">
            <p:oleObj spid="_x0000_s259076" name="Equation" r:id="rId4" imgW="825500" imgH="3683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305800" cy="6248400"/>
          </a:xfrm>
        </p:spPr>
        <p:txBody>
          <a:bodyPr>
            <a:noAutofit/>
          </a:bodyPr>
          <a:lstStyle/>
          <a:p>
            <a:r>
              <a:rPr lang="en-US" sz="2200"/>
              <a:t>Since</a:t>
            </a:r>
          </a:p>
          <a:p>
            <a:endParaRPr lang="en-US" altLang="ko-KR" sz="2200"/>
          </a:p>
          <a:p>
            <a:endParaRPr lang="en-US" altLang="ko-KR" sz="2200"/>
          </a:p>
          <a:p>
            <a:endParaRPr lang="ko-KR" altLang="en-US" sz="2200"/>
          </a:p>
          <a:p>
            <a:r>
              <a:rPr lang="en-US" sz="2200"/>
              <a:t>the Schrödinger equation is transformed to</a:t>
            </a:r>
            <a:endParaRPr lang="ko-KR" altLang="en-US" sz="2200"/>
          </a:p>
          <a:p>
            <a:pPr>
              <a:buNone/>
            </a:pPr>
            <a:endParaRPr lang="en-US" sz="2200"/>
          </a:p>
          <a:p>
            <a:r>
              <a:rPr lang="en-US" sz="2200"/>
              <a:t>where</a:t>
            </a:r>
          </a:p>
          <a:p>
            <a:endParaRPr lang="en-US" altLang="ko-KR" sz="2200"/>
          </a:p>
          <a:p>
            <a:endParaRPr lang="ko-KR" altLang="en-US" sz="2200"/>
          </a:p>
          <a:p>
            <a:r>
              <a:rPr lang="en-US" sz="2200"/>
              <a:t>Then our Hamiltonian</a:t>
            </a:r>
          </a:p>
          <a:p>
            <a:endParaRPr lang="en-US" altLang="ko-KR" sz="2200"/>
          </a:p>
          <a:p>
            <a:endParaRPr lang="ko-KR" altLang="en-US" sz="2200"/>
          </a:p>
          <a:p>
            <a:r>
              <a:rPr lang="en-US" sz="2200"/>
              <a:t>which corresponds to both </a:t>
            </a:r>
            <a:r>
              <a:rPr lang="en-US" sz="2200" i="1"/>
              <a:t>H</a:t>
            </a:r>
            <a:r>
              <a:rPr lang="en-US" sz="2200" i="1" baseline="-25000"/>
              <a:t>atom</a:t>
            </a:r>
            <a:r>
              <a:rPr lang="en-US" sz="2200"/>
              <a:t> and </a:t>
            </a:r>
            <a:r>
              <a:rPr lang="en-US" sz="2200" i="1"/>
              <a:t>H</a:t>
            </a:r>
            <a:r>
              <a:rPr lang="en-US" sz="2200" i="1" baseline="-25000"/>
              <a:t>int</a:t>
            </a:r>
            <a:r>
              <a:rPr lang="en-US" sz="2200"/>
              <a:t> before, is transformed to</a:t>
            </a:r>
            <a:r>
              <a:rPr lang="ko-KR" sz="2200"/>
              <a:t> </a:t>
            </a:r>
            <a:endParaRPr lang="en-US" sz="2200" dirty="0" smtClean="0"/>
          </a:p>
        </p:txBody>
      </p:sp>
      <p:graphicFrame>
        <p:nvGraphicFramePr>
          <p:cNvPr id="226330" name="Object 26"/>
          <p:cNvGraphicFramePr>
            <a:graphicFrameLocks noChangeAspect="1"/>
          </p:cNvGraphicFramePr>
          <p:nvPr/>
        </p:nvGraphicFramePr>
        <p:xfrm>
          <a:off x="1981200" y="533400"/>
          <a:ext cx="5383213" cy="1255713"/>
        </p:xfrm>
        <a:graphic>
          <a:graphicData uri="http://schemas.openxmlformats.org/presentationml/2006/ole">
            <p:oleObj spid="_x0000_s226330" name="Equation" r:id="rId3" imgW="3594100" imgH="838200" progId="Equation.3">
              <p:embed/>
            </p:oleObj>
          </a:graphicData>
        </a:graphic>
      </p:graphicFrame>
      <p:graphicFrame>
        <p:nvGraphicFramePr>
          <p:cNvPr id="226331" name="Object 27"/>
          <p:cNvGraphicFramePr>
            <a:graphicFrameLocks noChangeAspect="1"/>
          </p:cNvGraphicFramePr>
          <p:nvPr/>
        </p:nvGraphicFramePr>
        <p:xfrm>
          <a:off x="3998912" y="2362200"/>
          <a:ext cx="1335088" cy="555625"/>
        </p:xfrm>
        <a:graphic>
          <a:graphicData uri="http://schemas.openxmlformats.org/presentationml/2006/ole">
            <p:oleObj spid="_x0000_s226331" name="Equation" r:id="rId4" imgW="889000" imgH="368300" progId="Equation.3">
              <p:embed/>
            </p:oleObj>
          </a:graphicData>
        </a:graphic>
      </p:graphicFrame>
      <p:graphicFrame>
        <p:nvGraphicFramePr>
          <p:cNvPr id="226332" name="Object 28"/>
          <p:cNvGraphicFramePr>
            <a:graphicFrameLocks noChangeAspect="1"/>
          </p:cNvGraphicFramePr>
          <p:nvPr/>
        </p:nvGraphicFramePr>
        <p:xfrm>
          <a:off x="3048000" y="3257550"/>
          <a:ext cx="3222625" cy="552450"/>
        </p:xfrm>
        <a:graphic>
          <a:graphicData uri="http://schemas.openxmlformats.org/presentationml/2006/ole">
            <p:oleObj spid="_x0000_s226332" name="Equation" r:id="rId5" imgW="2146300" imgH="368300" progId="Equation.3">
              <p:embed/>
            </p:oleObj>
          </a:graphicData>
        </a:graphic>
      </p:graphicFrame>
      <p:graphicFrame>
        <p:nvGraphicFramePr>
          <p:cNvPr id="226333" name="Object 29"/>
          <p:cNvGraphicFramePr>
            <a:graphicFrameLocks noChangeAspect="1"/>
          </p:cNvGraphicFramePr>
          <p:nvPr/>
        </p:nvGraphicFramePr>
        <p:xfrm>
          <a:off x="3465512" y="4419600"/>
          <a:ext cx="1868488" cy="647700"/>
        </p:xfrm>
        <a:graphic>
          <a:graphicData uri="http://schemas.openxmlformats.org/presentationml/2006/ole">
            <p:oleObj spid="_x0000_s226333" name="Equation" r:id="rId6" imgW="1244600" imgH="431800" progId="Equation.3">
              <p:embed/>
            </p:oleObj>
          </a:graphicData>
        </a:graphic>
      </p:graphicFrame>
      <p:graphicFrame>
        <p:nvGraphicFramePr>
          <p:cNvPr id="226334" name="Object 30"/>
          <p:cNvGraphicFramePr>
            <a:graphicFrameLocks noChangeAspect="1"/>
          </p:cNvGraphicFramePr>
          <p:nvPr/>
        </p:nvGraphicFramePr>
        <p:xfrm>
          <a:off x="2819400" y="5905500"/>
          <a:ext cx="3390900" cy="647700"/>
        </p:xfrm>
        <a:graphic>
          <a:graphicData uri="http://schemas.openxmlformats.org/presentationml/2006/ole">
            <p:oleObj spid="_x0000_s226334" name="Equation" r:id="rId7" imgW="2260600" imgH="431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305800" cy="5878513"/>
          </a:xfrm>
        </p:spPr>
        <p:txBody>
          <a:bodyPr>
            <a:noAutofit/>
          </a:bodyPr>
          <a:lstStyle/>
          <a:p>
            <a:r>
              <a:rPr lang="en-US" sz="2400"/>
              <a:t>Consider</a:t>
            </a:r>
          </a:p>
          <a:p>
            <a:endParaRPr lang="en-US" altLang="ko-KR" sz="2400"/>
          </a:p>
          <a:p>
            <a:endParaRPr lang="ko-KR" altLang="en-US" sz="2400"/>
          </a:p>
          <a:p>
            <a:r>
              <a:rPr lang="en-US" sz="2400"/>
              <a:t>Thus</a:t>
            </a:r>
          </a:p>
          <a:p>
            <a:endParaRPr lang="en-US" altLang="ko-KR" sz="2400"/>
          </a:p>
          <a:p>
            <a:endParaRPr lang="ko-KR" altLang="en-US" sz="2400"/>
          </a:p>
          <a:p>
            <a:r>
              <a:rPr lang="en-US" sz="2400"/>
              <a:t>and therefore,</a:t>
            </a:r>
          </a:p>
          <a:p>
            <a:endParaRPr lang="en-US" altLang="ko-KR" sz="2400"/>
          </a:p>
          <a:p>
            <a:endParaRPr lang="en-US" altLang="ko-KR" sz="2400"/>
          </a:p>
          <a:p>
            <a:pPr>
              <a:buNone/>
            </a:pPr>
            <a:r>
              <a:rPr lang="en-US" sz="2400"/>
              <a:t>	where </a:t>
            </a:r>
            <a:r>
              <a:rPr lang="en-US" sz="2400" b="1"/>
              <a:t>d</a:t>
            </a:r>
            <a:r>
              <a:rPr lang="en-US" sz="2400"/>
              <a:t>=-</a:t>
            </a:r>
            <a:r>
              <a:rPr lang="en-US" sz="2400" i="1"/>
              <a:t>e</a:t>
            </a:r>
            <a:r>
              <a:rPr lang="en-US" sz="2400" b="1"/>
              <a:t>r</a:t>
            </a:r>
            <a:r>
              <a:rPr lang="en-US" sz="2400"/>
              <a:t> is the electric dipole moment operator. This result is consistent with the result of Exercise 4. However, it should be noted that the Hamiltonian </a:t>
            </a:r>
            <a:r>
              <a:rPr lang="en-US" sz="2400" i="1"/>
              <a:t>H</a:t>
            </a:r>
            <a:r>
              <a:rPr lang="en-US" sz="2400"/>
              <a:t> contains not only the electric dipole term       but also higher order terms.</a:t>
            </a:r>
            <a:r>
              <a:rPr lang="ko-KR" sz="2400"/>
              <a:t> </a:t>
            </a:r>
            <a:r>
              <a:rPr lang="en-US" sz="2400"/>
              <a:t> </a:t>
            </a:r>
            <a:endParaRPr lang="ko-KR" altLang="en-US" sz="2400"/>
          </a:p>
        </p:txBody>
      </p:sp>
      <p:graphicFrame>
        <p:nvGraphicFramePr>
          <p:cNvPr id="251925" name="Object 21"/>
          <p:cNvGraphicFramePr>
            <a:graphicFrameLocks noChangeAspect="1"/>
          </p:cNvGraphicFramePr>
          <p:nvPr/>
        </p:nvGraphicFramePr>
        <p:xfrm>
          <a:off x="1077913" y="915988"/>
          <a:ext cx="7121525" cy="608012"/>
        </p:xfrm>
        <a:graphic>
          <a:graphicData uri="http://schemas.openxmlformats.org/presentationml/2006/ole">
            <p:oleObj spid="_x0000_s251925" name="Equation" r:id="rId3" imgW="4762500" imgH="406400" progId="Equation.3">
              <p:embed/>
            </p:oleObj>
          </a:graphicData>
        </a:graphic>
      </p:graphicFrame>
      <p:graphicFrame>
        <p:nvGraphicFramePr>
          <p:cNvPr id="251926" name="Object 22"/>
          <p:cNvGraphicFramePr>
            <a:graphicFrameLocks noChangeAspect="1"/>
          </p:cNvGraphicFramePr>
          <p:nvPr/>
        </p:nvGraphicFramePr>
        <p:xfrm>
          <a:off x="3048000" y="2324100"/>
          <a:ext cx="3162300" cy="647700"/>
        </p:xfrm>
        <a:graphic>
          <a:graphicData uri="http://schemas.openxmlformats.org/presentationml/2006/ole">
            <p:oleObj spid="_x0000_s251926" name="Equation" r:id="rId4" imgW="2108200" imgH="431800" progId="Equation.3">
              <p:embed/>
            </p:oleObj>
          </a:graphicData>
        </a:graphic>
      </p:graphicFrame>
      <p:graphicFrame>
        <p:nvGraphicFramePr>
          <p:cNvPr id="251927" name="Object 23"/>
          <p:cNvGraphicFramePr>
            <a:graphicFrameLocks noChangeAspect="1"/>
          </p:cNvGraphicFramePr>
          <p:nvPr/>
        </p:nvGraphicFramePr>
        <p:xfrm>
          <a:off x="2286000" y="3529013"/>
          <a:ext cx="4795838" cy="592137"/>
        </p:xfrm>
        <a:graphic>
          <a:graphicData uri="http://schemas.openxmlformats.org/presentationml/2006/ole">
            <p:oleObj spid="_x0000_s251927" name="Equation" r:id="rId5" imgW="3187700" imgH="393700" progId="Equation.3">
              <p:embed/>
            </p:oleObj>
          </a:graphicData>
        </a:graphic>
      </p:graphicFrame>
      <p:graphicFrame>
        <p:nvGraphicFramePr>
          <p:cNvPr id="251928" name="Object 24"/>
          <p:cNvGraphicFramePr>
            <a:graphicFrameLocks noChangeAspect="1"/>
          </p:cNvGraphicFramePr>
          <p:nvPr/>
        </p:nvGraphicFramePr>
        <p:xfrm>
          <a:off x="6477000" y="5598124"/>
          <a:ext cx="477838" cy="249238"/>
        </p:xfrm>
        <a:graphic>
          <a:graphicData uri="http://schemas.openxmlformats.org/presentationml/2006/ole">
            <p:oleObj spid="_x0000_s251928" name="Equation" r:id="rId6" imgW="317500" imgH="1651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305800" cy="3048000"/>
          </a:xfrm>
        </p:spPr>
        <p:txBody>
          <a:bodyPr>
            <a:noAutofit/>
          </a:bodyPr>
          <a:lstStyle/>
          <a:p>
            <a:r>
              <a:rPr lang="en-US" sz="2400"/>
              <a:t>This seeming contradiction is resolved by the fact that  was obtained with the assumption that </a:t>
            </a:r>
            <a:r>
              <a:rPr lang="en-US" sz="2400" b="1"/>
              <a:t>A</a:t>
            </a:r>
            <a:r>
              <a:rPr lang="en-US" sz="2400"/>
              <a:t> is position-independent, which is consistent with the long wavelength limit or the dipole approximation,          . </a:t>
            </a:r>
          </a:p>
          <a:p>
            <a:r>
              <a:rPr lang="en-US" sz="2400"/>
              <a:t>Although </a:t>
            </a:r>
            <a:r>
              <a:rPr lang="en-US" sz="2400" i="1"/>
              <a:t>H</a:t>
            </a:r>
            <a:r>
              <a:rPr lang="en-US" sz="2400"/>
              <a:t> seems to include higher order terms, those higher order terms were neglected in practice in the transformation process. </a:t>
            </a:r>
            <a:endParaRPr lang="ko-KR" altLang="en-US" sz="2400"/>
          </a:p>
        </p:txBody>
      </p:sp>
      <p:graphicFrame>
        <p:nvGraphicFramePr>
          <p:cNvPr id="238606" name="Object 14"/>
          <p:cNvGraphicFramePr>
            <a:graphicFrameLocks noChangeAspect="1"/>
          </p:cNvGraphicFramePr>
          <p:nvPr/>
        </p:nvGraphicFramePr>
        <p:xfrm>
          <a:off x="8305800" y="838200"/>
          <a:ext cx="279400" cy="204788"/>
        </p:xfrm>
        <a:graphic>
          <a:graphicData uri="http://schemas.openxmlformats.org/presentationml/2006/ole">
            <p:oleObj spid="_x0000_s238606" name="Equation" r:id="rId3" imgW="190500" imgH="139700" progId="Equation.3">
              <p:embed/>
            </p:oleObj>
          </a:graphicData>
        </a:graphic>
      </p:graphicFrame>
      <p:graphicFrame>
        <p:nvGraphicFramePr>
          <p:cNvPr id="238607" name="Object 15"/>
          <p:cNvGraphicFramePr>
            <a:graphicFrameLocks noChangeAspect="1"/>
          </p:cNvGraphicFramePr>
          <p:nvPr/>
        </p:nvGraphicFramePr>
        <p:xfrm>
          <a:off x="7010400" y="1887238"/>
          <a:ext cx="798513" cy="247650"/>
        </p:xfrm>
        <a:graphic>
          <a:graphicData uri="http://schemas.openxmlformats.org/presentationml/2006/ole">
            <p:oleObj spid="_x0000_s238607" name="Equation" r:id="rId4" imgW="533400" imgH="1651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sz="4000" i="1">
                <a:latin typeface="Times New Roman"/>
                <a:cs typeface="Times New Roman"/>
              </a:rPr>
              <a:t>Magnetic Dipole (M1) Interactions</a:t>
            </a:r>
            <a:endParaRPr lang="ja-JP" altLang="en-US" sz="4000" i="1">
              <a:latin typeface="Times New Roman"/>
              <a:cs typeface="Times New Roman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417638"/>
            <a:ext cx="8305800" cy="4906962"/>
          </a:xfrm>
        </p:spPr>
        <p:txBody>
          <a:bodyPr>
            <a:normAutofit fontScale="85000" lnSpcReduction="20000"/>
          </a:bodyPr>
          <a:lstStyle/>
          <a:p>
            <a:r>
              <a:rPr lang="en-US"/>
              <a:t>The next higher approximation is                  .</a:t>
            </a:r>
          </a:p>
          <a:p>
            <a:r>
              <a:rPr lang="en-US"/>
              <a:t>Consider</a:t>
            </a:r>
          </a:p>
          <a:p>
            <a:endParaRPr lang="en-US"/>
          </a:p>
          <a:p>
            <a:endParaRPr lang="en-US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/>
              <a:t>where               is the magnetic moment associated with the orbital angular momentum </a:t>
            </a:r>
            <a:r>
              <a:rPr lang="en-US" b="1"/>
              <a:t>L</a:t>
            </a:r>
            <a:r>
              <a:rPr lang="en-US"/>
              <a:t>. </a:t>
            </a:r>
            <a:endParaRPr lang="ko-KR" altLang="en-US"/>
          </a:p>
          <a:p>
            <a:endParaRPr lang="ko-KR" altLang="en-US"/>
          </a:p>
        </p:txBody>
      </p:sp>
      <p:graphicFrame>
        <p:nvGraphicFramePr>
          <p:cNvPr id="260099" name="Object 3"/>
          <p:cNvGraphicFramePr>
            <a:graphicFrameLocks noChangeAspect="1"/>
          </p:cNvGraphicFramePr>
          <p:nvPr/>
        </p:nvGraphicFramePr>
        <p:xfrm>
          <a:off x="5905500" y="1524000"/>
          <a:ext cx="1447800" cy="247650"/>
        </p:xfrm>
        <a:graphic>
          <a:graphicData uri="http://schemas.openxmlformats.org/presentationml/2006/ole">
            <p:oleObj spid="_x0000_s260099" name="Equation" r:id="rId3" imgW="965200" imgH="165100" progId="Equation.3">
              <p:embed/>
            </p:oleObj>
          </a:graphicData>
        </a:graphic>
      </p:graphicFrame>
      <p:graphicFrame>
        <p:nvGraphicFramePr>
          <p:cNvPr id="260100" name="Object 4"/>
          <p:cNvGraphicFramePr>
            <a:graphicFrameLocks noChangeAspect="1"/>
          </p:cNvGraphicFramePr>
          <p:nvPr/>
        </p:nvGraphicFramePr>
        <p:xfrm>
          <a:off x="1600200" y="2362200"/>
          <a:ext cx="6103938" cy="893763"/>
        </p:xfrm>
        <a:graphic>
          <a:graphicData uri="http://schemas.openxmlformats.org/presentationml/2006/ole">
            <p:oleObj spid="_x0000_s260100" name="Equation" r:id="rId4" imgW="4076700" imgH="596900" progId="Equation.3">
              <p:embed/>
            </p:oleObj>
          </a:graphicData>
        </a:graphic>
      </p:graphicFrame>
      <p:graphicFrame>
        <p:nvGraphicFramePr>
          <p:cNvPr id="260101" name="Object 5"/>
          <p:cNvGraphicFramePr>
            <a:graphicFrameLocks noChangeAspect="1"/>
          </p:cNvGraphicFramePr>
          <p:nvPr/>
        </p:nvGraphicFramePr>
        <p:xfrm>
          <a:off x="685800" y="3427412"/>
          <a:ext cx="7680325" cy="1754188"/>
        </p:xfrm>
        <a:graphic>
          <a:graphicData uri="http://schemas.openxmlformats.org/presentationml/2006/ole">
            <p:oleObj spid="_x0000_s260101" name="Equation" r:id="rId5" imgW="5118100" imgH="1168400" progId="Equation.3">
              <p:embed/>
            </p:oleObj>
          </a:graphicData>
        </a:graphic>
      </p:graphicFrame>
      <p:graphicFrame>
        <p:nvGraphicFramePr>
          <p:cNvPr id="260102" name="Object 6"/>
          <p:cNvGraphicFramePr>
            <a:graphicFrameLocks noChangeAspect="1"/>
          </p:cNvGraphicFramePr>
          <p:nvPr/>
        </p:nvGraphicFramePr>
        <p:xfrm>
          <a:off x="1981200" y="5486400"/>
          <a:ext cx="1116013" cy="269875"/>
        </p:xfrm>
        <a:graphic>
          <a:graphicData uri="http://schemas.openxmlformats.org/presentationml/2006/ole">
            <p:oleObj spid="_x0000_s260102" name="Equation" r:id="rId6" imgW="736600" imgH="177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1"/>
            <a:ext cx="8305800" cy="5181599"/>
          </a:xfrm>
        </p:spPr>
        <p:txBody>
          <a:bodyPr>
            <a:noAutofit/>
          </a:bodyPr>
          <a:lstStyle/>
          <a:p>
            <a:r>
              <a:rPr lang="en-US" sz="2200"/>
              <a:t>The interaction Hamiltonian corresponding to </a:t>
            </a:r>
            <a:r>
              <a:rPr lang="en-US" sz="2200" i="1"/>
              <a:t>O</a:t>
            </a:r>
            <a:r>
              <a:rPr lang="en-US" sz="2200" i="1" baseline="-25000"/>
              <a:t>A</a:t>
            </a:r>
            <a:r>
              <a:rPr lang="en-US" sz="2200"/>
              <a:t> can be written as</a:t>
            </a:r>
          </a:p>
          <a:p>
            <a:endParaRPr lang="ko-KR" altLang="en-US" sz="2200"/>
          </a:p>
          <a:p>
            <a:endParaRPr lang="ko-KR" altLang="en-US" sz="2200"/>
          </a:p>
          <a:p>
            <a:pPr>
              <a:buNone/>
            </a:pPr>
            <a:r>
              <a:rPr lang="en-US" sz="2200"/>
              <a:t>	where       is the term containing      in the magnetic field operator (see Exercise 3), and thus corresponds to the magnetic dipole interaction. </a:t>
            </a:r>
          </a:p>
          <a:p>
            <a:r>
              <a:rPr lang="en-US" sz="2200"/>
              <a:t>Since the spin interaction term in the interaction Hamiltonian can be written as</a:t>
            </a:r>
          </a:p>
          <a:p>
            <a:endParaRPr lang="en-US" altLang="ko-KR" sz="2200"/>
          </a:p>
          <a:p>
            <a:endParaRPr lang="en-US" altLang="ko-KR" sz="2200"/>
          </a:p>
          <a:p>
            <a:endParaRPr lang="en-US" altLang="ko-KR" sz="2200"/>
          </a:p>
          <a:p>
            <a:r>
              <a:rPr lang="en-US" altLang="ko-KR" sz="2200"/>
              <a:t>Similarly,</a:t>
            </a:r>
            <a:r>
              <a:rPr lang="ko-KR" sz="2200"/>
              <a:t> </a:t>
            </a:r>
            <a:endParaRPr lang="ko-KR" altLang="en-US" sz="2200"/>
          </a:p>
        </p:txBody>
      </p:sp>
      <p:graphicFrame>
        <p:nvGraphicFramePr>
          <p:cNvPr id="261126" name="Object 6"/>
          <p:cNvGraphicFramePr>
            <a:graphicFrameLocks noChangeAspect="1"/>
          </p:cNvGraphicFramePr>
          <p:nvPr/>
        </p:nvGraphicFramePr>
        <p:xfrm>
          <a:off x="1752600" y="1219200"/>
          <a:ext cx="5875337" cy="703263"/>
        </p:xfrm>
        <a:graphic>
          <a:graphicData uri="http://schemas.openxmlformats.org/presentationml/2006/ole">
            <p:oleObj spid="_x0000_s261126" name="Equation" r:id="rId3" imgW="3924300" imgH="469900" progId="Equation.3">
              <p:embed/>
            </p:oleObj>
          </a:graphicData>
        </a:graphic>
      </p:graphicFrame>
      <p:graphicFrame>
        <p:nvGraphicFramePr>
          <p:cNvPr id="261127" name="Object 7"/>
          <p:cNvGraphicFramePr>
            <a:graphicFrameLocks noChangeAspect="1"/>
          </p:cNvGraphicFramePr>
          <p:nvPr/>
        </p:nvGraphicFramePr>
        <p:xfrm>
          <a:off x="1828800" y="2016724"/>
          <a:ext cx="365125" cy="307975"/>
        </p:xfrm>
        <a:graphic>
          <a:graphicData uri="http://schemas.openxmlformats.org/presentationml/2006/ole">
            <p:oleObj spid="_x0000_s261127" name="Equation" r:id="rId4" imgW="241300" imgH="203200" progId="Equation.3">
              <p:embed/>
            </p:oleObj>
          </a:graphicData>
        </a:graphic>
      </p:graphicFrame>
      <p:graphicFrame>
        <p:nvGraphicFramePr>
          <p:cNvPr id="261128" name="Object 8"/>
          <p:cNvGraphicFramePr>
            <a:graphicFrameLocks noChangeAspect="1"/>
          </p:cNvGraphicFramePr>
          <p:nvPr/>
        </p:nvGraphicFramePr>
        <p:xfrm>
          <a:off x="5029200" y="2034486"/>
          <a:ext cx="330200" cy="271463"/>
        </p:xfrm>
        <a:graphic>
          <a:graphicData uri="http://schemas.openxmlformats.org/presentationml/2006/ole">
            <p:oleObj spid="_x0000_s261128" name="Equation" r:id="rId5" imgW="215900" imgH="177800" progId="Equation.3">
              <p:embed/>
            </p:oleObj>
          </a:graphicData>
        </a:graphic>
      </p:graphicFrame>
      <p:graphicFrame>
        <p:nvGraphicFramePr>
          <p:cNvPr id="261129" name="Object 9"/>
          <p:cNvGraphicFramePr>
            <a:graphicFrameLocks noChangeAspect="1"/>
          </p:cNvGraphicFramePr>
          <p:nvPr/>
        </p:nvGraphicFramePr>
        <p:xfrm>
          <a:off x="3200400" y="3362325"/>
          <a:ext cx="3200400" cy="552450"/>
        </p:xfrm>
        <a:graphic>
          <a:graphicData uri="http://schemas.openxmlformats.org/presentationml/2006/ole">
            <p:oleObj spid="_x0000_s261129" name="Equation" r:id="rId6" imgW="2133600" imgH="368300" progId="Equation.3">
              <p:embed/>
            </p:oleObj>
          </a:graphicData>
        </a:graphic>
      </p:graphicFrame>
      <p:graphicFrame>
        <p:nvGraphicFramePr>
          <p:cNvPr id="261130" name="Object 10"/>
          <p:cNvGraphicFramePr>
            <a:graphicFrameLocks noChangeAspect="1"/>
          </p:cNvGraphicFramePr>
          <p:nvPr/>
        </p:nvGraphicFramePr>
        <p:xfrm>
          <a:off x="1828800" y="3985314"/>
          <a:ext cx="5588000" cy="1027113"/>
        </p:xfrm>
        <a:graphic>
          <a:graphicData uri="http://schemas.openxmlformats.org/presentationml/2006/ole">
            <p:oleObj spid="_x0000_s261130" name="Equation" r:id="rId7" imgW="3733800" imgH="685800" progId="Equation.3">
              <p:embed/>
            </p:oleObj>
          </a:graphicData>
        </a:graphic>
      </p:graphicFrame>
      <p:graphicFrame>
        <p:nvGraphicFramePr>
          <p:cNvPr id="261131" name="Object 11"/>
          <p:cNvGraphicFramePr>
            <a:graphicFrameLocks noChangeAspect="1"/>
          </p:cNvGraphicFramePr>
          <p:nvPr/>
        </p:nvGraphicFramePr>
        <p:xfrm>
          <a:off x="1609725" y="5410200"/>
          <a:ext cx="6180138" cy="1027113"/>
        </p:xfrm>
        <a:graphic>
          <a:graphicData uri="http://schemas.openxmlformats.org/presentationml/2006/ole">
            <p:oleObj spid="_x0000_s261131" name="Equation" r:id="rId8" imgW="4127500" imgH="685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Technic.thmx</Template>
  <TotalTime>901</TotalTime>
  <Words>545</Words>
  <Application>Microsoft Macintosh PowerPoint</Application>
  <PresentationFormat>On-screen Show (4:3)</PresentationFormat>
  <Paragraphs>93</Paragraphs>
  <Slides>12</Slides>
  <Notes>1</Notes>
  <HiddenSlides>0</HiddenSlides>
  <MMClips>0</MMClips>
  <ScaleCrop>false</ScaleCrop>
  <HeadingPairs>
    <vt:vector size="6" baseType="variant">
      <vt:variant>
        <vt:lpstr>Design Template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Technic</vt:lpstr>
      <vt:lpstr>Microsoft Equation</vt:lpstr>
      <vt:lpstr>Equation</vt:lpstr>
      <vt:lpstr>Atomic and Molecular Physics  Lecture 19</vt:lpstr>
      <vt:lpstr>3.2 Interaction with the Radiation Fields </vt:lpstr>
      <vt:lpstr>Slide 3</vt:lpstr>
      <vt:lpstr>Electric Dipole Approximation</vt:lpstr>
      <vt:lpstr>Slide 5</vt:lpstr>
      <vt:lpstr>Exercise 4</vt:lpstr>
      <vt:lpstr>Unitary Transformation to the Form of Dipole Interaction</vt:lpstr>
      <vt:lpstr>Slide 8</vt:lpstr>
      <vt:lpstr>Slide 9</vt:lpstr>
      <vt:lpstr>Slide 10</vt:lpstr>
      <vt:lpstr>Magnetic Dipole (M1) Interactions</vt:lpstr>
      <vt:lpstr>Slide 12</vt:lpstr>
    </vt:vector>
  </TitlesOfParts>
  <Company>3463-6078</Company>
  <LinksUpToDate>false</LinksUpToDate>
  <SharedDoc>false</SharedDoc>
  <HyperlinksChanged>false</HyperlinksChanged>
  <AppVersion>12.0258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 -  AMP12</dc:title>
  <dc:creator>경원 안</dc:creator>
  <cp:keywords/>
  <cp:lastModifiedBy>경원 안</cp:lastModifiedBy>
  <cp:revision>71</cp:revision>
  <dcterms:created xsi:type="dcterms:W3CDTF">2009-11-04T08:56:46Z</dcterms:created>
  <dcterms:modified xsi:type="dcterms:W3CDTF">2009-11-04T10:18:01Z</dcterms:modified>
</cp:coreProperties>
</file>